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6" r:id="rId10"/>
    <p:sldId id="265" r:id="rId11"/>
    <p:sldId id="264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0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C0BBC-979E-471E-A1A1-27BB3B2B1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11BD0C-CEE3-4F16-9393-5EB19C700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C10BE-36DB-4B79-B2F3-DDEC4255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EE978-F50B-483A-BD2E-1F8D3226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02128A-4D1C-456E-9028-28D00E68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56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5884F-480F-45AA-B717-D19A889F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8754FB-5281-4518-9646-7F9CB4CDB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50E18D-4286-4592-9CB0-CAA53C55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8AE6D5-3274-4060-ACFD-07CD513BF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24092A-6AF6-46DE-8E8D-F9F222B6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67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26A4A-C8DE-4495-B8A0-31C6F3F6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E7C5D1-631A-4CA7-9C89-F8DC10C97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02E6E9-2499-4872-B0DF-0B593305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52AD36-B78C-45DE-8DB1-8163BECB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254DE-E73E-45F3-A3FD-B6D65205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4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E008E-7AD0-446C-873C-1AAEBE5C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7618E4-B189-4AD2-82AE-3BE9507E2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0B3DAA-040C-4B1A-AA84-80312A7C1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DB932-1E2A-4AA9-82C9-BB0D32BD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02CDE8-6C21-4256-9212-B72958E67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C2EF9E-904F-41BF-BD6E-FA467461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9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D6907-1A75-42C6-808C-A09CFB4C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D835F7-1436-49AD-ADF6-C33D7D6F7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024AC-D4E1-43A5-8F4C-7879EED03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50D2A6-6991-49A9-8A6C-28936827F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E2FE32F-CFA1-4EC4-8F6B-8F4AD5F15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932738-C1DC-4C0B-9B7D-91666FD0D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379B8F-6168-47DA-8C09-86AD7AD4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BA300F-6336-43A9-B927-1D45939B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969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D97F7-111C-46C6-8598-678B7A722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E122AE-F433-4957-A694-15C3CAAA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1AA457-3E32-431C-AD47-F5B86828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194D9D-9B48-44DE-9315-FEDD6D510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415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7DE037-4C50-4BDA-BED0-97EE2F8B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B656E6-CD1B-4B9C-B7F6-3EBD4EACD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5D7158-85B0-4EB6-9E13-8D2B51A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0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21832-3D79-4224-8915-9F507220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1BD56-C28D-4D22-B695-BA7F3FBB3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0C6591-78F9-46A0-8867-DFF5AE12F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3280B8-AE34-4BFE-AC31-F09E55CE4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5F0564-791A-4929-8BDC-298AF11CB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B6DF46-5927-4FC7-AFA8-5283D4CA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22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A3010-A35B-4388-AC1A-E14D6C3A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014A5A-4950-47C6-B890-C7E38E17F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C20E9A-7E65-4956-8721-879C6B2C1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04BF14-8C7A-4C28-9699-5FB3A628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261DE6-201A-4893-A9AC-68CE4302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2E2CD8-F2E2-4A48-BB11-37A59E5B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52729-3BBB-44BA-9A3D-2303BF8D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AF2B26-C83A-4FE2-BD1B-92BA051E4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B85EF1-940E-4A2C-9FB7-CFAA48B0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5EB6D-0024-48B0-A54D-0A6AFBDD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A319E6-8BDC-4222-9EAD-D2164A1C0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95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3754F94-5E0F-44E3-9E1E-28AD8D23DD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1D9C8D-FA20-40D8-B906-0C5AF08DC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13232C-CAAC-480C-9B9D-52A40BB9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941F2-2A72-4791-9D8C-634E8850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61ED03-AA66-44CD-BC70-90462607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20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6EA67C-AA85-4004-8588-A069AE47B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9C7961-BAA4-4C7B-8A05-C9831226E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9D6EFE-2EF9-41BA-A6A9-C209CB7B7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E8C75-54C4-4C7D-BC35-797E0B944DAB}" type="datetimeFigureOut">
              <a:rPr lang="ko-KR" altLang="en-US" smtClean="0"/>
              <a:t>2025-03-25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E81FE8-8EA8-4097-862E-517AC42F5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134120-198A-4D1E-BAC5-E8E7F7DDE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9696E-FD64-40FD-9597-4713CAF474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31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andomnerdtutorials.com/esp32-bluetooth-low-energy-ble-arduino-id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eartcom/ESP32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andomnerdtutorials.com/esp32-bluetooth-low-energy-ble-arduino-id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565089B-F8C5-47EE-A7E1-7CAAD0CBD537}"/>
              </a:ext>
            </a:extLst>
          </p:cNvPr>
          <p:cNvSpPr/>
          <p:nvPr/>
        </p:nvSpPr>
        <p:spPr>
          <a:xfrm>
            <a:off x="0" y="0"/>
            <a:ext cx="12192000" cy="272415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400" b="1" dirty="0">
                <a:solidFill>
                  <a:schemeClr val="bg1">
                    <a:lumMod val="95000"/>
                  </a:schemeClr>
                </a:solidFill>
              </a:rPr>
              <a:t>Getting Started with ESP32</a:t>
            </a:r>
          </a:p>
          <a:p>
            <a:pPr algn="ctr"/>
            <a:r>
              <a:rPr lang="en-US" altLang="ko-KR" sz="5400" b="1" dirty="0">
                <a:solidFill>
                  <a:schemeClr val="bg1">
                    <a:lumMod val="95000"/>
                  </a:schemeClr>
                </a:solidFill>
              </a:rPr>
              <a:t>BLE on Arduino IDE</a:t>
            </a:r>
            <a:endParaRPr lang="ko-KR" altLang="en-US" sz="54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6B0897-7733-5E22-EB73-61249450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4150"/>
            <a:ext cx="12192000" cy="4133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B83328-0413-E299-E19A-6494CB011612}"/>
              </a:ext>
            </a:extLst>
          </p:cNvPr>
          <p:cNvSpPr txBox="1"/>
          <p:nvPr/>
        </p:nvSpPr>
        <p:spPr>
          <a:xfrm>
            <a:off x="1787324" y="2354818"/>
            <a:ext cx="8663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ESP32 Bluetooth Low Energy (BLE) on Arduino IDE | Random Nerd Tutorials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D334E-4268-DC4A-C351-201BCF94D0B5}"/>
              </a:ext>
            </a:extLst>
          </p:cNvPr>
          <p:cNvSpPr txBox="1"/>
          <p:nvPr/>
        </p:nvSpPr>
        <p:spPr>
          <a:xfrm>
            <a:off x="4809308" y="6381597"/>
            <a:ext cx="4047309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hlinkClick r:id="rId4"/>
              </a:rPr>
              <a:t>https://github.com/heartcom/ESP32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655839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565089B-F8C5-47EE-A7E1-7CAAD0CBD537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What is Bluetooth Low Energy?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7BAFC7-D71A-E1A9-42F9-D8834CB33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492" y="2223870"/>
            <a:ext cx="7535327" cy="2248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D5CC02-6D2E-D67E-4954-F6BE8776B300}"/>
              </a:ext>
            </a:extLst>
          </p:cNvPr>
          <p:cNvSpPr txBox="1"/>
          <p:nvPr/>
        </p:nvSpPr>
        <p:spPr>
          <a:xfrm>
            <a:off x="0" y="6488668"/>
            <a:ext cx="874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3"/>
              </a:rPr>
              <a:t>ESP32 Bluetooth Low Energy (BLE) on Arduino IDE | Random Nerd Tutorials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460846-71E2-C282-C2D9-947C10D92EC3}"/>
              </a:ext>
            </a:extLst>
          </p:cNvPr>
          <p:cNvSpPr txBox="1"/>
          <p:nvPr/>
        </p:nvSpPr>
        <p:spPr>
          <a:xfrm>
            <a:off x="289367" y="813304"/>
            <a:ext cx="5267789" cy="748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짧은 거리</a:t>
            </a:r>
            <a:r>
              <a:rPr lang="en-US" altLang="ko-KR" dirty="0"/>
              <a:t>, </a:t>
            </a:r>
            <a:r>
              <a:rPr lang="ko-KR" altLang="en-US" dirty="0"/>
              <a:t>짧은 데이터 셋</a:t>
            </a:r>
            <a:r>
              <a:rPr lang="en-US" altLang="ko-KR" dirty="0"/>
              <a:t>, </a:t>
            </a:r>
            <a:r>
              <a:rPr lang="ko-KR" altLang="en-US" dirty="0"/>
              <a:t>저 전력 전송</a:t>
            </a:r>
            <a:endParaRPr lang="en-US" altLang="ko-KR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기존 버전 블루투스에 비해 </a:t>
            </a:r>
            <a:r>
              <a:rPr lang="en-US" altLang="ko-KR" dirty="0"/>
              <a:t>100</a:t>
            </a:r>
            <a:r>
              <a:rPr lang="ko-KR" altLang="en-US" dirty="0"/>
              <a:t>배 이상 저전력</a:t>
            </a:r>
          </a:p>
        </p:txBody>
      </p:sp>
    </p:spTree>
    <p:extLst>
      <p:ext uri="{BB962C8B-B14F-4D97-AF65-F5344CB8AC3E}">
        <p14:creationId xmlns:p14="http://schemas.microsoft.com/office/powerpoint/2010/main" val="187147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C031-65E1-9690-1999-6E542C32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92B214D-7F89-7CBC-5632-CC4A97893652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What is Bluetooth Low Energy?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4782513-E2DD-5255-B551-19BB8A939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150" y="656492"/>
            <a:ext cx="7747026" cy="620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1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E6C5C-C6FC-3352-6C75-534DAA046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DED21DA-A42C-1E8B-AAC8-A16F7B1E26D1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응용 분야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2EF087-89CE-76AB-DA2D-407F3F96F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762" y="2077399"/>
            <a:ext cx="7344800" cy="1962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EFB3D5-F323-5232-7884-A174BCBE2CD6}"/>
              </a:ext>
            </a:extLst>
          </p:cNvPr>
          <p:cNvSpPr txBox="1"/>
          <p:nvPr/>
        </p:nvSpPr>
        <p:spPr>
          <a:xfrm>
            <a:off x="289367" y="813304"/>
            <a:ext cx="8308749" cy="748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적은 데이터를 가까운 거리로 전송하는데 최적</a:t>
            </a:r>
            <a:endParaRPr lang="en-US" altLang="ko-KR" dirty="0"/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Healthcare, fitness, tracking beacons, security, home automation industries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326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29D45-A130-D6A2-1B7F-C221C5D91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75AF56A-D8A0-B4BC-8C36-DB99C088F718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Server and Client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338B69-EF9E-EEC7-FACD-71B1DD1ADC46}"/>
              </a:ext>
            </a:extLst>
          </p:cNvPr>
          <p:cNvSpPr txBox="1"/>
          <p:nvPr/>
        </p:nvSpPr>
        <p:spPr>
          <a:xfrm>
            <a:off x="289367" y="813304"/>
            <a:ext cx="9548320" cy="2133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BLE</a:t>
            </a:r>
            <a:r>
              <a:rPr lang="ko-KR" altLang="en-US" dirty="0"/>
              <a:t>는 </a:t>
            </a:r>
            <a:r>
              <a:rPr lang="en-US" altLang="ko-KR" dirty="0"/>
              <a:t>Server </a:t>
            </a:r>
            <a:r>
              <a:rPr lang="ko-KR" altLang="en-US" dirty="0"/>
              <a:t>혹은 </a:t>
            </a:r>
            <a:r>
              <a:rPr lang="en-US" altLang="ko-KR" dirty="0"/>
              <a:t>Client</a:t>
            </a:r>
            <a:r>
              <a:rPr lang="ko-KR" altLang="en-US" dirty="0"/>
              <a:t>로 동작할 수 있고</a:t>
            </a:r>
            <a:r>
              <a:rPr lang="en-US" altLang="ko-KR" dirty="0"/>
              <a:t>, ESP32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가지 동작 모드를 모두 지원한다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서버는 자신의 존재를 광고하여 다른 장치가 이를 찾을 수 있도록 하며</a:t>
            </a:r>
            <a:r>
              <a:rPr lang="en-US" altLang="ko-KR" dirty="0"/>
              <a:t>,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클라이언트가 읽을 수 있는 데이터를 포함하고 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클라이언트는 주변 장치를 스캔하고</a:t>
            </a:r>
            <a:r>
              <a:rPr lang="en-US" altLang="ko-KR" dirty="0"/>
              <a:t>,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원하는 서버를 찾으면 연결을 설정한 후 수신 데이터를 수신한다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이를 </a:t>
            </a:r>
            <a:r>
              <a:rPr lang="en-US" altLang="ko-KR" dirty="0"/>
              <a:t>point-to-point </a:t>
            </a:r>
            <a:r>
              <a:rPr lang="ko-KR" altLang="en-US" dirty="0"/>
              <a:t>통신이라고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C2E775-B322-A6D0-4E5A-A1F4C74F9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232" y="3096599"/>
            <a:ext cx="7630590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ECE30-8AFC-B8A8-9140-6F79E1D45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451D487-0730-6D36-1CA9-D921B8AD3B68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GATT . Generic Attribute Profile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087CC8-B65E-2BDE-03B9-B868395B5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79" y="2064968"/>
            <a:ext cx="5353797" cy="4191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FEBEE5-C0E3-E2FD-5DB7-65AB109EBF49}"/>
              </a:ext>
            </a:extLst>
          </p:cNvPr>
          <p:cNvSpPr txBox="1"/>
          <p:nvPr/>
        </p:nvSpPr>
        <p:spPr>
          <a:xfrm>
            <a:off x="289367" y="813304"/>
            <a:ext cx="10871887" cy="1094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GATT</a:t>
            </a:r>
            <a:r>
              <a:rPr lang="ko-KR" altLang="en-US" dirty="0"/>
              <a:t>는 </a:t>
            </a:r>
            <a:r>
              <a:rPr lang="en-US" altLang="ko-KR" b="1" dirty="0"/>
              <a:t>Generic Attributes</a:t>
            </a:r>
            <a:r>
              <a:rPr lang="ko-KR" altLang="en-US" dirty="0"/>
              <a:t>의 약자로</a:t>
            </a:r>
            <a:r>
              <a:rPr lang="en-US" altLang="ko-KR" dirty="0"/>
              <a:t>, </a:t>
            </a:r>
            <a:r>
              <a:rPr lang="ko-KR" altLang="en-US" dirty="0"/>
              <a:t>연결된 </a:t>
            </a:r>
            <a:r>
              <a:rPr lang="en-US" altLang="ko-KR" dirty="0"/>
              <a:t>BLE </a:t>
            </a:r>
            <a:r>
              <a:rPr lang="ko-KR" altLang="en-US" dirty="0"/>
              <a:t>장치에 노출되는 계층적 데이터 구조를 정의한다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즉</a:t>
            </a:r>
            <a:r>
              <a:rPr lang="en-US" altLang="ko-KR" dirty="0"/>
              <a:t>, GATT</a:t>
            </a:r>
            <a:r>
              <a:rPr lang="ko-KR" altLang="en-US" dirty="0"/>
              <a:t>는 두 개의 </a:t>
            </a:r>
            <a:r>
              <a:rPr lang="en-US" altLang="ko-KR" dirty="0"/>
              <a:t>BLE </a:t>
            </a:r>
            <a:r>
              <a:rPr lang="ko-KR" altLang="en-US" dirty="0"/>
              <a:t>장치가 표준 메시지를 송수신하는 방식을 결정한다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이 계층 구조를 이해하는 것은 </a:t>
            </a:r>
            <a:r>
              <a:rPr lang="en-US" altLang="ko-KR" dirty="0"/>
              <a:t>BLE</a:t>
            </a:r>
            <a:r>
              <a:rPr lang="ko-KR" altLang="en-US" dirty="0"/>
              <a:t>를 활용하고 애플리케이션을 개발하는 데 있어 중요한 개념이다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E24142-E7E7-C2BC-CDA7-1D31A915633A}"/>
              </a:ext>
            </a:extLst>
          </p:cNvPr>
          <p:cNvSpPr txBox="1"/>
          <p:nvPr/>
        </p:nvSpPr>
        <p:spPr>
          <a:xfrm>
            <a:off x="5725310" y="2303362"/>
            <a:ext cx="6352573" cy="2830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Profile</a:t>
            </a:r>
            <a:r>
              <a:rPr lang="ko-KR" altLang="en-US" sz="1600" dirty="0"/>
              <a:t>은 하나 이상의 </a:t>
            </a:r>
            <a:r>
              <a:rPr lang="en-US" altLang="ko-KR" sz="1600" dirty="0"/>
              <a:t>Service</a:t>
            </a:r>
            <a:r>
              <a:rPr lang="ko-KR" altLang="en-US" sz="1600" dirty="0"/>
              <a:t>를 가지고 있다</a:t>
            </a:r>
            <a:r>
              <a:rPr lang="en-US" altLang="ko-KR" sz="1600" dirty="0"/>
              <a:t>. 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모든 </a:t>
            </a:r>
            <a:r>
              <a:rPr lang="en-US" altLang="ko-KR" sz="1600" dirty="0"/>
              <a:t>Service</a:t>
            </a:r>
            <a:r>
              <a:rPr lang="ko-KR" altLang="en-US" sz="1600" dirty="0"/>
              <a:t>는 적어도 하나의 </a:t>
            </a:r>
            <a:r>
              <a:rPr lang="en-US" altLang="ko-KR" sz="1600" dirty="0"/>
              <a:t>characteristic </a:t>
            </a:r>
            <a:r>
              <a:rPr lang="ko-KR" altLang="en-US" sz="1600" dirty="0"/>
              <a:t>가지고 있다</a:t>
            </a:r>
            <a:r>
              <a:rPr lang="en-US" altLang="ko-KR" sz="1600" dirty="0"/>
              <a:t>. 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Service</a:t>
            </a:r>
            <a:r>
              <a:rPr lang="ko-KR" altLang="en-US" sz="1600" dirty="0"/>
              <a:t>는 센서 값 읽기</a:t>
            </a:r>
            <a:r>
              <a:rPr lang="en-US" altLang="ko-KR" sz="1600" dirty="0"/>
              <a:t>, </a:t>
            </a:r>
            <a:r>
              <a:rPr lang="ko-KR" altLang="en-US" sz="1600" dirty="0"/>
              <a:t>정보 수집 등을 한다</a:t>
            </a:r>
            <a:r>
              <a:rPr lang="en-US" altLang="ko-KR" sz="1600" dirty="0"/>
              <a:t>. 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Characteristic </a:t>
            </a:r>
            <a:r>
              <a:rPr lang="ko-KR" altLang="en-US" sz="1600" dirty="0"/>
              <a:t>에 실제 데이터 값이 저장되어 있다</a:t>
            </a:r>
            <a:r>
              <a:rPr lang="en-US" altLang="ko-KR" sz="1600" dirty="0"/>
              <a:t>. 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Characteristic</a:t>
            </a:r>
            <a:r>
              <a:rPr lang="ko-KR" altLang="en-US" sz="1600" dirty="0"/>
              <a:t>은 </a:t>
            </a:r>
            <a:br>
              <a:rPr lang="en-US" altLang="ko-KR" sz="1600" dirty="0"/>
            </a:br>
            <a:r>
              <a:rPr lang="en-US" altLang="ko-KR" sz="1600" dirty="0"/>
              <a:t>Broadcast, Read, Write, Notify, Indicate </a:t>
            </a:r>
            <a:r>
              <a:rPr lang="ko-KR" altLang="en-US" sz="1600" dirty="0"/>
              <a:t>등의 속성 값을 가진다</a:t>
            </a:r>
            <a:r>
              <a:rPr lang="en-US" altLang="ko-KR" sz="1600" dirty="0"/>
              <a:t>. </a:t>
            </a: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UUID(Universally Unique Identifier) </a:t>
            </a:r>
            <a:r>
              <a:rPr lang="ko-KR" altLang="en-US" sz="1600" dirty="0"/>
              <a:t>는 </a:t>
            </a:r>
            <a:r>
              <a:rPr lang="en-US" altLang="ko-KR" sz="1600" dirty="0"/>
              <a:t>128bit </a:t>
            </a:r>
            <a:r>
              <a:rPr lang="ko-KR" altLang="en-US" sz="1600" dirty="0"/>
              <a:t>숫자로 구성되며</a:t>
            </a:r>
            <a:br>
              <a:rPr lang="en-US" altLang="ko-KR" sz="1600" dirty="0"/>
            </a:br>
            <a:r>
              <a:rPr lang="en-US" altLang="ko-KR" sz="1600" dirty="0"/>
              <a:t>SIG(Bluetooth Special Interest Group)</a:t>
            </a:r>
            <a:r>
              <a:rPr lang="ko-KR" altLang="en-US" sz="1600" dirty="0"/>
              <a:t>에서 지정하고 있으나</a:t>
            </a:r>
            <a:r>
              <a:rPr lang="en-US" altLang="ko-KR" sz="1600" dirty="0"/>
              <a:t>, </a:t>
            </a:r>
            <a:br>
              <a:rPr lang="en-US" altLang="ko-KR" sz="1600" dirty="0"/>
            </a:br>
            <a:r>
              <a:rPr lang="ko-KR" altLang="en-US" sz="1600" dirty="0"/>
              <a:t>사용자가 특정 </a:t>
            </a:r>
            <a:r>
              <a:rPr lang="en-US" altLang="ko-KR" sz="1600" dirty="0" err="1"/>
              <a:t>uuid</a:t>
            </a:r>
            <a:r>
              <a:rPr lang="ko-KR" altLang="en-US" sz="1600" dirty="0"/>
              <a:t>를 만들 수도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5312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88FEA-2BBA-AD1A-119E-B857446F0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BB8814D-B570-2FAD-4FC8-C5D4AA42496C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with ESP32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ESP32 BLE Scan   1/3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E6C5D-44B4-31AD-4B83-0F47966163C7}"/>
              </a:ext>
            </a:extLst>
          </p:cNvPr>
          <p:cNvSpPr txBox="1"/>
          <p:nvPr/>
        </p:nvSpPr>
        <p:spPr>
          <a:xfrm>
            <a:off x="289367" y="813304"/>
            <a:ext cx="5314212" cy="4023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파일 </a:t>
            </a:r>
            <a:r>
              <a:rPr lang="en-US" altLang="ko-KR" dirty="0"/>
              <a:t>&gt; </a:t>
            </a:r>
            <a:r>
              <a:rPr lang="ko-KR" altLang="en-US" dirty="0"/>
              <a:t>예제 </a:t>
            </a:r>
            <a:r>
              <a:rPr lang="en-US" altLang="ko-KR" dirty="0"/>
              <a:t>&gt; ESP32_BLE_Arduino &gt; </a:t>
            </a:r>
            <a:r>
              <a:rPr lang="en-US" altLang="ko-KR" dirty="0" err="1"/>
              <a:t>BLE_scan</a:t>
            </a:r>
            <a:endParaRPr lang="ko-KR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2AF545-332A-6658-463B-7DBCE741B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61" y="1210314"/>
            <a:ext cx="9824484" cy="4571573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BLEDevice.h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BLEUtils.h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BLEScan.h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BLEAdvertisedDevice.h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scanTime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BLEScan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pBLEScan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MyAdvertisedDeviceCallbacks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BLEAdvertisedDeviceCallbacks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onResult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BLEAdvertisedDevice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advertisedDevice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Advertised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 %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\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advertisedDevice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c_str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58775" marR="0" lvl="0" indent="-185738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095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8034-2FE0-88BD-55ED-B7649EC8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594BB2E-AAA9-2894-E12B-9347A43DA67C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with ESP32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ESP32 BLE Scan   2/3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7009ED6-CDC6-7FEB-B631-53F4B14B2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4142"/>
            <a:ext cx="10048905" cy="3802131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Scanning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..."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BLEDevice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pBLEScan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BLEDevice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getScan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pBLEScan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setAdvertisedDeviceCallbacks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MyAdvertisedDeviceCallbacks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pBLEScan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setActiveScan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active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uses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more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power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but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faster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pBLEScan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pBLEScan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setWindow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99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less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equal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value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185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10842-A425-489C-4520-3CE072EC9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E9A196A-EB3A-9E21-7385-0353CE64B2B9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setWindow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() , </a:t>
            </a:r>
            <a:r>
              <a:rPr lang="en-US" altLang="ko-KR" sz="2000" b="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setInterval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()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C02138E-66B9-9AF8-8856-8AF7D14433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218719"/>
              </p:ext>
            </p:extLst>
          </p:nvPr>
        </p:nvGraphicFramePr>
        <p:xfrm>
          <a:off x="665537" y="925149"/>
          <a:ext cx="10533294" cy="369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663">
                  <a:extLst>
                    <a:ext uri="{9D8B030D-6E8A-4147-A177-3AD203B41FA5}">
                      <a16:colId xmlns:a16="http://schemas.microsoft.com/office/drawing/2014/main" val="797050823"/>
                    </a:ext>
                  </a:extLst>
                </a:gridCol>
                <a:gridCol w="4140485">
                  <a:extLst>
                    <a:ext uri="{9D8B030D-6E8A-4147-A177-3AD203B41FA5}">
                      <a16:colId xmlns:a16="http://schemas.microsoft.com/office/drawing/2014/main" val="2256214843"/>
                    </a:ext>
                  </a:extLst>
                </a:gridCol>
                <a:gridCol w="4315146">
                  <a:extLst>
                    <a:ext uri="{9D8B030D-6E8A-4147-A177-3AD203B41FA5}">
                      <a16:colId xmlns:a16="http://schemas.microsoft.com/office/drawing/2014/main" val="2814523227"/>
                    </a:ext>
                  </a:extLst>
                </a:gridCol>
              </a:tblGrid>
              <a:tr h="73964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Interval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Window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693881"/>
                  </a:ext>
                </a:extLst>
              </a:tr>
              <a:tr h="7396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의미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BLE</a:t>
                      </a:r>
                      <a:r>
                        <a:rPr lang="ko-KR" altLang="en-US" dirty="0"/>
                        <a:t>가 스캔을 시작하는 간격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BLE</a:t>
                      </a:r>
                      <a:r>
                        <a:rPr lang="ko-KR" altLang="en-US" dirty="0"/>
                        <a:t>가 실제 신호를 듣는 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430769"/>
                  </a:ext>
                </a:extLst>
              </a:tr>
              <a:tr h="7396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최소 </a:t>
                      </a:r>
                      <a:r>
                        <a:rPr lang="en-US" altLang="ko-KR" dirty="0"/>
                        <a:t>2.5msec ~ </a:t>
                      </a:r>
                      <a:r>
                        <a:rPr lang="ko-KR" altLang="en-US" dirty="0"/>
                        <a:t>최대 </a:t>
                      </a:r>
                      <a:r>
                        <a:rPr lang="en-US" altLang="ko-KR" dirty="0"/>
                        <a:t>10.24sec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최소 </a:t>
                      </a:r>
                      <a:r>
                        <a:rPr lang="en-US" altLang="ko-KR" dirty="0"/>
                        <a:t>2.5msec ~ </a:t>
                      </a:r>
                      <a:r>
                        <a:rPr lang="ko-KR" altLang="en-US" dirty="0"/>
                        <a:t>최대 </a:t>
                      </a:r>
                      <a:r>
                        <a:rPr lang="en-US" altLang="ko-KR" dirty="0" err="1"/>
                        <a:t>setInterval</a:t>
                      </a:r>
                      <a:r>
                        <a:rPr lang="en-US" altLang="ko-KR" dirty="0"/>
                        <a:t>() </a:t>
                      </a:r>
                      <a:r>
                        <a:rPr lang="ko-KR" altLang="en-US" dirty="0"/>
                        <a:t>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1899721"/>
                  </a:ext>
                </a:extLst>
              </a:tr>
              <a:tr h="7396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권장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setWindow</a:t>
                      </a:r>
                      <a:r>
                        <a:rPr lang="en-US" altLang="ko-KR" dirty="0"/>
                        <a:t>()</a:t>
                      </a:r>
                      <a:r>
                        <a:rPr lang="ko-KR" altLang="en-US" dirty="0"/>
                        <a:t>보다 커야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setInterval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보다 작거나 같아야 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6064303"/>
                  </a:ext>
                </a:extLst>
              </a:tr>
              <a:tr h="7396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전력 소비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값이 크면</a:t>
                      </a:r>
                      <a:r>
                        <a:rPr lang="en-US" altLang="ko-KR" dirty="0"/>
                        <a:t>, BLE </a:t>
                      </a:r>
                      <a:r>
                        <a:rPr lang="ko-KR" altLang="en-US" dirty="0"/>
                        <a:t>검색 빈도가 낮아져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전력 소비 감소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값이 크면</a:t>
                      </a:r>
                      <a:r>
                        <a:rPr lang="en-US" altLang="ko-KR" dirty="0"/>
                        <a:t>, BLE</a:t>
                      </a:r>
                      <a:r>
                        <a:rPr lang="ko-KR" altLang="en-US" dirty="0"/>
                        <a:t>를 듣는 시간이 증가하여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전력 소비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76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528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2D6AD-A682-F665-ABDC-3D9E6875D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9ADBCA6-EF28-FA4B-582A-DCA3DF7914B0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with ESP32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ESP32 BLE Scan   3/3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54CDA2-4B99-DA33-6AA8-0645B8D58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80993"/>
            <a:ext cx="9600064" cy="3417410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here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repeatedly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BLEScanResults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foundDevices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pBLEScan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scanTime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"Devices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foundDevices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getCount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pBLEScan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clearResults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results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fromBLEScan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450850" marR="0" lvl="0" indent="-277813" algn="l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9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19594-058B-681C-8B21-8FEBF9C3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B143F8E-99F7-E849-2E43-129B2BB55FBE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with ESP32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ESP32 BLE Scan :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동작 결과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6F4438-FA65-E27D-4909-E09253CF2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2337"/>
            <a:ext cx="12192000" cy="4208651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D5457EA-66C7-31A6-151C-BF8CE359E39A}"/>
              </a:ext>
            </a:extLst>
          </p:cNvPr>
          <p:cNvCxnSpPr/>
          <p:nvPr/>
        </p:nvCxnSpPr>
        <p:spPr>
          <a:xfrm>
            <a:off x="0" y="4911047"/>
            <a:ext cx="1077759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905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9E524-7DF1-A67B-AB79-C1B9C488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D288637-E7AE-25F5-FCDE-3229F199DAA0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Quiz :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특정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MAC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주소 값을 가지는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단말기 데이터 표시하기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1C7CC-5AFB-77C3-6D74-E8094D4BBEDC}"/>
              </a:ext>
            </a:extLst>
          </p:cNvPr>
          <p:cNvSpPr txBox="1"/>
          <p:nvPr/>
        </p:nvSpPr>
        <p:spPr>
          <a:xfrm>
            <a:off x="113015" y="844972"/>
            <a:ext cx="84031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3A0DFB"/>
                </a:solidFill>
              </a:rPr>
              <a:t>온도</a:t>
            </a:r>
            <a:r>
              <a:rPr lang="en-US" altLang="ko-KR" sz="1600" b="1" dirty="0">
                <a:solidFill>
                  <a:srgbClr val="3A0DFB"/>
                </a:solidFill>
              </a:rPr>
              <a:t>, </a:t>
            </a:r>
            <a:r>
              <a:rPr lang="ko-KR" altLang="en-US" sz="1600" b="1" dirty="0">
                <a:solidFill>
                  <a:srgbClr val="3A0DFB"/>
                </a:solidFill>
              </a:rPr>
              <a:t>습도를 전송하는 </a:t>
            </a:r>
            <a:r>
              <a:rPr lang="en-US" altLang="ko-KR" sz="1600" b="1" dirty="0">
                <a:solidFill>
                  <a:srgbClr val="3A0DFB"/>
                </a:solidFill>
              </a:rPr>
              <a:t>BLE </a:t>
            </a:r>
            <a:r>
              <a:rPr lang="ko-KR" altLang="en-US" sz="1600" b="1" dirty="0">
                <a:solidFill>
                  <a:srgbClr val="3A0DFB"/>
                </a:solidFill>
              </a:rPr>
              <a:t>단말기 값을 </a:t>
            </a:r>
            <a:r>
              <a:rPr lang="ko-KR" altLang="en-US" sz="1600" b="1" dirty="0" err="1">
                <a:solidFill>
                  <a:srgbClr val="3A0DFB"/>
                </a:solidFill>
              </a:rPr>
              <a:t>파싱하여</a:t>
            </a:r>
            <a:r>
              <a:rPr lang="ko-KR" altLang="en-US" sz="1600" b="1" dirty="0">
                <a:solidFill>
                  <a:srgbClr val="3A0DFB"/>
                </a:solidFill>
              </a:rPr>
              <a:t> </a:t>
            </a:r>
            <a:r>
              <a:rPr lang="en-US" altLang="ko-KR" sz="1600" b="1" dirty="0">
                <a:solidFill>
                  <a:srgbClr val="3A0DFB"/>
                </a:solidFill>
              </a:rPr>
              <a:t>MAC </a:t>
            </a:r>
            <a:r>
              <a:rPr lang="ko-KR" altLang="en-US" sz="1600" b="1" dirty="0">
                <a:solidFill>
                  <a:srgbClr val="3A0DFB"/>
                </a:solidFill>
              </a:rPr>
              <a:t>주소</a:t>
            </a:r>
            <a:r>
              <a:rPr lang="en-US" altLang="ko-KR" sz="1600" b="1" dirty="0">
                <a:solidFill>
                  <a:srgbClr val="3A0DFB"/>
                </a:solidFill>
              </a:rPr>
              <a:t>, </a:t>
            </a:r>
            <a:r>
              <a:rPr lang="ko-KR" altLang="en-US" sz="1600" b="1" dirty="0">
                <a:solidFill>
                  <a:srgbClr val="3A0DFB"/>
                </a:solidFill>
              </a:rPr>
              <a:t>온도</a:t>
            </a:r>
            <a:r>
              <a:rPr lang="en-US" altLang="ko-KR" sz="1600" b="1" dirty="0">
                <a:solidFill>
                  <a:srgbClr val="3A0DFB"/>
                </a:solidFill>
              </a:rPr>
              <a:t>, </a:t>
            </a:r>
            <a:r>
              <a:rPr lang="ko-KR" altLang="en-US" sz="1600" b="1" dirty="0">
                <a:solidFill>
                  <a:srgbClr val="3A0DFB"/>
                </a:solidFill>
              </a:rPr>
              <a:t>습도를 출력해보자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5C5C13-083C-C459-3D30-4E958C31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010490" y="4631150"/>
            <a:ext cx="2350290" cy="17643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B03F50-3123-D76B-1CBD-F28FCBE97118}"/>
              </a:ext>
            </a:extLst>
          </p:cNvPr>
          <p:cNvSpPr txBox="1"/>
          <p:nvPr/>
        </p:nvSpPr>
        <p:spPr>
          <a:xfrm>
            <a:off x="438801" y="1290080"/>
            <a:ext cx="11629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Advertised</a:t>
            </a:r>
            <a:r>
              <a:rPr lang="ko-KR" altLang="en-US" dirty="0"/>
              <a:t> </a:t>
            </a:r>
            <a:r>
              <a:rPr lang="ko-KR" altLang="en-US" dirty="0" err="1"/>
              <a:t>Device</a:t>
            </a:r>
            <a:r>
              <a:rPr lang="ko-KR" altLang="en-US" dirty="0"/>
              <a:t>: </a:t>
            </a:r>
            <a:r>
              <a:rPr lang="ko-KR" altLang="en-US" dirty="0" err="1"/>
              <a:t>Name</a:t>
            </a:r>
            <a:r>
              <a:rPr lang="ko-KR" altLang="en-US" dirty="0"/>
              <a:t>: </a:t>
            </a:r>
            <a:r>
              <a:rPr lang="ko-KR" altLang="en-US" dirty="0" err="1"/>
              <a:t>sps</a:t>
            </a:r>
            <a:r>
              <a:rPr lang="ko-KR" altLang="en-US" dirty="0"/>
              <a:t>, </a:t>
            </a:r>
            <a:r>
              <a:rPr lang="ko-KR" altLang="en-US" dirty="0" err="1"/>
              <a:t>Address</a:t>
            </a:r>
            <a:r>
              <a:rPr lang="ko-KR" altLang="en-US" dirty="0"/>
              <a:t>: fb:3f:8f:97:09:57, </a:t>
            </a:r>
            <a:r>
              <a:rPr lang="ko-KR" altLang="en-US" dirty="0" err="1"/>
              <a:t>manufacturer</a:t>
            </a:r>
            <a:r>
              <a:rPr lang="ko-KR" altLang="en-US" dirty="0"/>
              <a:t> </a:t>
            </a:r>
            <a:r>
              <a:rPr lang="ko-KR" altLang="en-US" dirty="0" err="1"/>
              <a:t>data</a:t>
            </a:r>
            <a:r>
              <a:rPr lang="ko-KR" altLang="en-US" dirty="0"/>
              <a:t>: 6b09f70c0106095408,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4E020B-24E6-B4A2-B3DC-D5E022DF316E}"/>
              </a:ext>
            </a:extLst>
          </p:cNvPr>
          <p:cNvSpPr txBox="1"/>
          <p:nvPr/>
        </p:nvSpPr>
        <p:spPr>
          <a:xfrm>
            <a:off x="438801" y="1661279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manufacturer</a:t>
            </a:r>
            <a:r>
              <a:rPr lang="ko-KR" altLang="en-US" dirty="0"/>
              <a:t> </a:t>
            </a:r>
            <a:r>
              <a:rPr lang="ko-KR" altLang="en-US" dirty="0" err="1"/>
              <a:t>data</a:t>
            </a:r>
            <a:r>
              <a:rPr lang="ko-KR" altLang="en-US" dirty="0"/>
              <a:t>: 6b09f70c0106095408,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2E1280-A5C5-CCE9-88AA-F224FFCC5D31}"/>
              </a:ext>
            </a:extLst>
          </p:cNvPr>
          <p:cNvSpPr txBox="1"/>
          <p:nvPr/>
        </p:nvSpPr>
        <p:spPr>
          <a:xfrm>
            <a:off x="2434523" y="2244620"/>
            <a:ext cx="609420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u="sng" dirty="0"/>
              <a:t>6b09</a:t>
            </a:r>
            <a:r>
              <a:rPr lang="ko-KR" altLang="en-US" dirty="0"/>
              <a:t>   </a:t>
            </a:r>
            <a:r>
              <a:rPr lang="ko-KR" altLang="en-US" u="sng" dirty="0"/>
              <a:t>f70c</a:t>
            </a:r>
            <a:r>
              <a:rPr lang="ko-KR" altLang="en-US" dirty="0"/>
              <a:t>    01 0609 54 08, </a:t>
            </a:r>
            <a:endParaRPr lang="en-US" altLang="ko-KR" dirty="0"/>
          </a:p>
          <a:p>
            <a:r>
              <a:rPr lang="ko-KR" altLang="en-US" sz="1600" b="1" dirty="0">
                <a:solidFill>
                  <a:srgbClr val="0033CC"/>
                </a:solidFill>
              </a:rPr>
              <a:t>온도     습도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7C5AC-901E-644F-9C34-23F8576868CE}"/>
              </a:ext>
            </a:extLst>
          </p:cNvPr>
          <p:cNvSpPr txBox="1"/>
          <p:nvPr/>
        </p:nvSpPr>
        <p:spPr>
          <a:xfrm>
            <a:off x="2434523" y="3127194"/>
            <a:ext cx="4673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온도 </a:t>
            </a:r>
            <a:r>
              <a:rPr lang="en-US" altLang="ko-KR" dirty="0"/>
              <a:t>:   6b09 = 0x096b = 2411 </a:t>
            </a:r>
            <a:r>
              <a:rPr lang="en-US" altLang="ko-KR" dirty="0">
                <a:sym typeface="Wingdings" panose="05000000000000000000" pitchFamily="2" charset="2"/>
              </a:rPr>
              <a:t> 24.11℃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습도 </a:t>
            </a:r>
            <a:r>
              <a:rPr lang="en-US" altLang="ko-KR" dirty="0">
                <a:sym typeface="Wingdings" panose="05000000000000000000" pitchFamily="2" charset="2"/>
              </a:rPr>
              <a:t>:   f70c  = 0x0cf7  = 3319  33.19%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985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6F2B-7C99-4349-1AA5-13E331518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8E23517-EB85-D823-89E1-9095CD3771F5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Quiz :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특정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MAC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주소 값을 가지는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단말기 데이터 표시하기 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풀이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28E7C8-996B-54C2-0887-99482CB9CD84}"/>
              </a:ext>
            </a:extLst>
          </p:cNvPr>
          <p:cNvSpPr txBox="1"/>
          <p:nvPr/>
        </p:nvSpPr>
        <p:spPr>
          <a:xfrm>
            <a:off x="290815" y="797644"/>
            <a:ext cx="56825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A0DFB"/>
                </a:solidFill>
              </a:rPr>
              <a:t>먼저 </a:t>
            </a:r>
            <a:r>
              <a:rPr lang="en-US" altLang="ko-KR" sz="2000" b="1" dirty="0">
                <a:solidFill>
                  <a:srgbClr val="3A0DFB"/>
                </a:solidFill>
              </a:rPr>
              <a:t>device name</a:t>
            </a:r>
            <a:r>
              <a:rPr lang="ko-KR" altLang="en-US" sz="2000" b="1" dirty="0">
                <a:solidFill>
                  <a:srgbClr val="3A0DFB"/>
                </a:solidFill>
              </a:rPr>
              <a:t>이 </a:t>
            </a:r>
            <a:r>
              <a:rPr lang="en-US" altLang="ko-KR" sz="2000" b="1" dirty="0">
                <a:solidFill>
                  <a:srgbClr val="3A0DFB"/>
                </a:solidFill>
              </a:rPr>
              <a:t>“</a:t>
            </a:r>
            <a:r>
              <a:rPr lang="en-US" altLang="ko-KR" sz="2000" b="1" dirty="0" err="1">
                <a:solidFill>
                  <a:srgbClr val="3A0DFB"/>
                </a:solidFill>
              </a:rPr>
              <a:t>sps</a:t>
            </a:r>
            <a:r>
              <a:rPr lang="en-US" altLang="ko-KR" sz="2000" b="1" dirty="0">
                <a:solidFill>
                  <a:srgbClr val="3A0DFB"/>
                </a:solidFill>
              </a:rPr>
              <a:t>”</a:t>
            </a:r>
            <a:r>
              <a:rPr lang="ko-KR" altLang="en-US" sz="2000" b="1" dirty="0">
                <a:solidFill>
                  <a:srgbClr val="3A0DFB"/>
                </a:solidFill>
              </a:rPr>
              <a:t> 인 </a:t>
            </a:r>
            <a:r>
              <a:rPr lang="en-US" altLang="ko-KR" sz="2000" b="1" dirty="0">
                <a:solidFill>
                  <a:srgbClr val="3A0DFB"/>
                </a:solidFill>
              </a:rPr>
              <a:t>packet</a:t>
            </a:r>
            <a:r>
              <a:rPr lang="ko-KR" altLang="en-US" sz="2000" b="1" dirty="0">
                <a:solidFill>
                  <a:srgbClr val="3A0DFB"/>
                </a:solidFill>
              </a:rPr>
              <a:t>만 출력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6A6F1A-DEB0-B356-BDA1-20AB76E02C47}"/>
              </a:ext>
            </a:extLst>
          </p:cNvPr>
          <p:cNvSpPr txBox="1"/>
          <p:nvPr/>
        </p:nvSpPr>
        <p:spPr>
          <a:xfrm>
            <a:off x="485304" y="1397675"/>
            <a:ext cx="10677995" cy="27512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ko-KR" altLang="en-US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const </a:t>
            </a:r>
            <a:r>
              <a:rPr lang="ko-KR" altLang="en-US" sz="2400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char</a:t>
            </a:r>
            <a:r>
              <a:rPr lang="ko-KR" altLang="en-US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* </a:t>
            </a:r>
            <a:r>
              <a:rPr lang="ko-KR" altLang="en-US" sz="2400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BlePacket</a:t>
            </a:r>
            <a:r>
              <a:rPr lang="ko-KR" altLang="en-US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;</a:t>
            </a:r>
            <a:endParaRPr lang="en-US" altLang="ko-KR" sz="2400" dirty="0">
              <a:latin typeface="Consolas" panose="020B06090202040302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>
              <a:lnSpc>
                <a:spcPts val="3000"/>
              </a:lnSpc>
            </a:pPr>
            <a:endParaRPr lang="en-US" altLang="ko-KR" sz="2400" dirty="0">
              <a:latin typeface="Consolas" panose="020B06090202040302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pPr>
              <a:lnSpc>
                <a:spcPts val="3000"/>
              </a:lnSpc>
            </a:pPr>
            <a:r>
              <a:rPr lang="en-US" altLang="ko-KR" sz="2400" dirty="0" err="1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BlePacket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= </a:t>
            </a:r>
            <a:r>
              <a:rPr lang="en-US" altLang="ko-KR" sz="2400" dirty="0" err="1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advertisedDevice.toString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().</a:t>
            </a:r>
            <a:r>
              <a:rPr lang="en-US" altLang="ko-KR" sz="2400" dirty="0" err="1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c_str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();</a:t>
            </a:r>
          </a:p>
          <a:p>
            <a:pPr>
              <a:lnSpc>
                <a:spcPts val="3000"/>
              </a:lnSpc>
            </a:pPr>
            <a:r>
              <a:rPr lang="en-US" altLang="ko-KR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char*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US" altLang="ko-KR" sz="2400" dirty="0" err="1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deviceName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= </a:t>
            </a:r>
            <a:r>
              <a:rPr lang="en-US" altLang="ko-KR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strstr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sz="2400" dirty="0" err="1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BlePacket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, "</a:t>
            </a:r>
            <a:r>
              <a:rPr lang="en-US" altLang="ko-KR" sz="2400" dirty="0" err="1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sps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");</a:t>
            </a:r>
          </a:p>
          <a:p>
            <a:pPr>
              <a:lnSpc>
                <a:spcPts val="3000"/>
              </a:lnSpc>
            </a:pP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if(</a:t>
            </a:r>
            <a:r>
              <a:rPr lang="en-US" altLang="ko-KR" sz="2400" dirty="0" err="1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deviceName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!= NULL){</a:t>
            </a:r>
          </a:p>
          <a:p>
            <a:pPr>
              <a:lnSpc>
                <a:spcPts val="3000"/>
              </a:lnSpc>
            </a:pP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   </a:t>
            </a:r>
            <a:r>
              <a:rPr lang="en-US" altLang="ko-KR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Serial.println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sz="2400" dirty="0" err="1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deviceName</a:t>
            </a: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);</a:t>
            </a:r>
          </a:p>
          <a:p>
            <a:pPr>
              <a:lnSpc>
                <a:spcPts val="3000"/>
              </a:lnSpc>
            </a:pPr>
            <a:r>
              <a:rPr lang="en-US" altLang="ko-KR" sz="2400" dirty="0">
                <a:latin typeface="Consolas" panose="020B06090202040302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}</a:t>
            </a:r>
            <a:endParaRPr lang="ko-KR" altLang="en-US" sz="2400" dirty="0">
              <a:latin typeface="Consolas" panose="020B0609020204030204" pitchFamily="49" charset="0"/>
              <a:cs typeface="Cascadia Code Light" panose="020B0609020000020004" pitchFamily="49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376503E-6847-D0D4-F22F-5DBF3E323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66" y="4363090"/>
            <a:ext cx="7487695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3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E647B-E862-6DAF-936C-15029DC1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DDA5788-69A4-ACFB-8767-7A691469B102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Quiz :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특정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MAC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주소 값을 가지는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단말기 데이터 표시하기 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풀이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F8A861-61E2-E5BA-EC41-69C44F98C0B2}"/>
              </a:ext>
            </a:extLst>
          </p:cNvPr>
          <p:cNvSpPr txBox="1"/>
          <p:nvPr/>
        </p:nvSpPr>
        <p:spPr>
          <a:xfrm>
            <a:off x="290815" y="797644"/>
            <a:ext cx="7692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A0DFB"/>
                </a:solidFill>
              </a:rPr>
              <a:t>manufacturer data; </a:t>
            </a:r>
            <a:r>
              <a:rPr lang="ko-KR" altLang="en-US" sz="2000" b="1" dirty="0">
                <a:solidFill>
                  <a:srgbClr val="3A0DFB"/>
                </a:solidFill>
              </a:rPr>
              <a:t>뒤에 있는 온도</a:t>
            </a:r>
            <a:r>
              <a:rPr lang="en-US" altLang="ko-KR" sz="2000" b="1" dirty="0">
                <a:solidFill>
                  <a:srgbClr val="3A0DFB"/>
                </a:solidFill>
              </a:rPr>
              <a:t>, </a:t>
            </a:r>
            <a:r>
              <a:rPr lang="ko-KR" altLang="en-US" sz="2000" b="1" dirty="0">
                <a:solidFill>
                  <a:srgbClr val="3A0DFB"/>
                </a:solidFill>
              </a:rPr>
              <a:t>습도 값을 </a:t>
            </a:r>
            <a:r>
              <a:rPr lang="en-US" altLang="ko-KR" sz="2000" b="1" dirty="0">
                <a:solidFill>
                  <a:srgbClr val="3A0DFB"/>
                </a:solidFill>
              </a:rPr>
              <a:t>parsing </a:t>
            </a:r>
            <a:r>
              <a:rPr lang="ko-KR" altLang="en-US" sz="2000" b="1" dirty="0">
                <a:solidFill>
                  <a:srgbClr val="3A0DFB"/>
                </a:solidFill>
              </a:rPr>
              <a:t>한다</a:t>
            </a:r>
            <a:r>
              <a:rPr lang="en-US" altLang="ko-KR" sz="2000" b="1" dirty="0">
                <a:solidFill>
                  <a:srgbClr val="3A0DFB"/>
                </a:solidFill>
              </a:rPr>
              <a:t>.</a:t>
            </a:r>
            <a:endParaRPr lang="ko-KR" altLang="en-US" sz="2000" b="1" dirty="0">
              <a:solidFill>
                <a:srgbClr val="3A0DF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648E20-11B2-CC59-A6E7-A21B0E1249D7}"/>
              </a:ext>
            </a:extLst>
          </p:cNvPr>
          <p:cNvSpPr txBox="1"/>
          <p:nvPr/>
        </p:nvSpPr>
        <p:spPr>
          <a:xfrm>
            <a:off x="0" y="1338906"/>
            <a:ext cx="12192000" cy="50568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char*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deviceName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strstr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BlePacket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, "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sps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");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if(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deviceName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!= NULL){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Serial.println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deviceName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char*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strstr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deviceName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, "data:");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Serial.println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if(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!= NULL){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[0]=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atohex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[8]);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[1]=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atohex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[9]);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[2]=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atohex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[6]);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[3]=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atohex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[7]);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temperature = 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[0]&lt;&lt;16)+(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[1]&lt;&lt;8)+(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[2]&lt;&lt;4)+(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[3]);            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temperaturef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= (float)(temperature * 0.01);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Serial.printf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("temperature = %.2f \n",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temperaturef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);            </a:t>
            </a:r>
            <a:endParaRPr lang="ko-KR" altLang="en-US" dirty="0">
              <a:latin typeface="Consolas" panose="020B06090202040302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870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C76C-5B7E-4118-5F9C-2816B159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C85696-CD20-F216-D8AC-B23896E60955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Quiz :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특정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MAC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주소 값을 가지는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단말기 데이터 표시하기 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풀이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92B744-2193-6029-8467-2CDFEDA9028B}"/>
              </a:ext>
            </a:extLst>
          </p:cNvPr>
          <p:cNvSpPr txBox="1"/>
          <p:nvPr/>
        </p:nvSpPr>
        <p:spPr>
          <a:xfrm>
            <a:off x="290815" y="797644"/>
            <a:ext cx="7692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3A0DFB"/>
                </a:solidFill>
              </a:rPr>
              <a:t>manufacturer data; </a:t>
            </a:r>
            <a:r>
              <a:rPr lang="ko-KR" altLang="en-US" sz="2000" b="1" dirty="0">
                <a:solidFill>
                  <a:srgbClr val="3A0DFB"/>
                </a:solidFill>
              </a:rPr>
              <a:t>뒤에 있는 온도</a:t>
            </a:r>
            <a:r>
              <a:rPr lang="en-US" altLang="ko-KR" sz="2000" b="1" dirty="0">
                <a:solidFill>
                  <a:srgbClr val="3A0DFB"/>
                </a:solidFill>
              </a:rPr>
              <a:t>, </a:t>
            </a:r>
            <a:r>
              <a:rPr lang="ko-KR" altLang="en-US" sz="2000" b="1" dirty="0">
                <a:solidFill>
                  <a:srgbClr val="3A0DFB"/>
                </a:solidFill>
              </a:rPr>
              <a:t>습도 값을 </a:t>
            </a:r>
            <a:r>
              <a:rPr lang="en-US" altLang="ko-KR" sz="2000" b="1" dirty="0">
                <a:solidFill>
                  <a:srgbClr val="3A0DFB"/>
                </a:solidFill>
              </a:rPr>
              <a:t>parsing </a:t>
            </a:r>
            <a:r>
              <a:rPr lang="ko-KR" altLang="en-US" sz="2000" b="1" dirty="0">
                <a:solidFill>
                  <a:srgbClr val="3A0DFB"/>
                </a:solidFill>
              </a:rPr>
              <a:t>한다</a:t>
            </a:r>
            <a:r>
              <a:rPr lang="en-US" altLang="ko-KR" sz="2000" b="1" dirty="0">
                <a:solidFill>
                  <a:srgbClr val="3A0DFB"/>
                </a:solidFill>
              </a:rPr>
              <a:t>.</a:t>
            </a:r>
            <a:endParaRPr lang="ko-KR" altLang="en-US" sz="2000" b="1" dirty="0">
              <a:solidFill>
                <a:srgbClr val="3A0DF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25229-E93F-F027-8115-C5A63F6A4D95}"/>
              </a:ext>
            </a:extLst>
          </p:cNvPr>
          <p:cNvSpPr txBox="1"/>
          <p:nvPr/>
        </p:nvSpPr>
        <p:spPr>
          <a:xfrm>
            <a:off x="0" y="1338906"/>
            <a:ext cx="12192000" cy="351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[0]=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atohex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[12]);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[1]=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atohex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[13]);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[2]=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atohex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[10]);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[3]=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atohex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FactData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[11]);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humidity = 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[0]&lt;&lt;16)+(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[1]&lt;&lt;8)+(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[2]&lt;&lt;4)+(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humiData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[3]);      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humidityf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= (float)(humidity * 0.01);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  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Serial.printf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("humidity = %.2f\n", </a:t>
            </a:r>
            <a:r>
              <a:rPr lang="en-US" altLang="ko-KR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humidityf</a:t>
            </a: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);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   }</a:t>
            </a:r>
          </a:p>
          <a:p>
            <a:pPr>
              <a:lnSpc>
                <a:spcPts val="3000"/>
              </a:lnSpc>
            </a:pPr>
            <a:r>
              <a:rPr lang="en-US" altLang="ko-KR" dirty="0">
                <a:latin typeface="Consolas" panose="020B0609020204030204" pitchFamily="49" charset="0"/>
                <a:cs typeface="Cascadia Code Light" panose="020B0609020000020004" pitchFamily="49" charset="0"/>
              </a:rPr>
              <a:t>      }</a:t>
            </a:r>
            <a:endParaRPr lang="ko-KR" altLang="en-US" dirty="0">
              <a:latin typeface="Consolas" panose="020B06090202040302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839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93D60-832F-B372-63EE-8B63A158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E4BC459-E891-686F-2B87-22694F1B7501}"/>
              </a:ext>
            </a:extLst>
          </p:cNvPr>
          <p:cNvSpPr/>
          <p:nvPr/>
        </p:nvSpPr>
        <p:spPr>
          <a:xfrm>
            <a:off x="0" y="0"/>
            <a:ext cx="12192000" cy="65649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280988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Quiz :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특정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MAC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주소 값을 가지는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BLE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단말기 데이터 표시하기  </a:t>
            </a:r>
            <a:r>
              <a:rPr lang="en-US" altLang="ko-KR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chemeClr val="bg1">
                    <a:lumMod val="95000"/>
                  </a:schemeClr>
                </a:solidFill>
                <a:latin typeface="+mn-ea"/>
                <a:sym typeface="Wingdings" panose="05000000000000000000" pitchFamily="2" charset="2"/>
              </a:rPr>
              <a:t>풀이</a:t>
            </a:r>
            <a:endParaRPr lang="ko-KR" altLang="en-US" sz="2000" b="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F45CC2-3794-FE34-04A8-3EC2652DD484}"/>
              </a:ext>
            </a:extLst>
          </p:cNvPr>
          <p:cNvSpPr txBox="1"/>
          <p:nvPr/>
        </p:nvSpPr>
        <p:spPr>
          <a:xfrm>
            <a:off x="290815" y="797644"/>
            <a:ext cx="15888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b="1" dirty="0">
                <a:solidFill>
                  <a:srgbClr val="3A0DFB"/>
                </a:solidFill>
              </a:rPr>
              <a:t>출력 결과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2384A1-FB52-49AB-1EBB-395152CE3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09" y="1338906"/>
            <a:ext cx="10537266" cy="5290494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FBEB120-15AB-2187-A09B-FBE0A82485B6}"/>
              </a:ext>
            </a:extLst>
          </p:cNvPr>
          <p:cNvSpPr/>
          <p:nvPr/>
        </p:nvSpPr>
        <p:spPr>
          <a:xfrm>
            <a:off x="533400" y="2679700"/>
            <a:ext cx="2565400" cy="533400"/>
          </a:xfrm>
          <a:prstGeom prst="roundRect">
            <a:avLst/>
          </a:prstGeom>
          <a:noFill/>
          <a:ln>
            <a:solidFill>
              <a:srgbClr val="3A0D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629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7572</TotalTime>
  <Words>1095</Words>
  <Application>Microsoft Office PowerPoint</Application>
  <PresentationFormat>와이드스크린</PresentationFormat>
  <Paragraphs>127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Dev DW</dc:creator>
  <cp:lastModifiedBy>Dev DW</cp:lastModifiedBy>
  <cp:revision>350</cp:revision>
  <dcterms:created xsi:type="dcterms:W3CDTF">2024-12-18T06:51:20Z</dcterms:created>
  <dcterms:modified xsi:type="dcterms:W3CDTF">2025-03-25T12:17:59Z</dcterms:modified>
</cp:coreProperties>
</file>