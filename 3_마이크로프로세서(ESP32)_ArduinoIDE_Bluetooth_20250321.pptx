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  <p:sldId id="261" r:id="rId7"/>
    <p:sldId id="273" r:id="rId8"/>
    <p:sldId id="274" r:id="rId9"/>
    <p:sldId id="275" r:id="rId10"/>
    <p:sldId id="276" r:id="rId11"/>
    <p:sldId id="277" r:id="rId12"/>
    <p:sldId id="278" r:id="rId13"/>
    <p:sldId id="279" r:id="rId14"/>
    <p:sldId id="280" r:id="rId15"/>
    <p:sldId id="281" r:id="rId16"/>
    <p:sldId id="282" r:id="rId17"/>
    <p:sldId id="283" r:id="rId18"/>
    <p:sldId id="284" r:id="rId19"/>
    <p:sldId id="285" r:id="rId20"/>
    <p:sldId id="286" r:id="rId21"/>
    <p:sldId id="287" r:id="rId22"/>
    <p:sldId id="288" r:id="rId23"/>
    <p:sldId id="289" r:id="rId24"/>
    <p:sldId id="290" r:id="rId25"/>
    <p:sldId id="291" r:id="rId26"/>
    <p:sldId id="292" r:id="rId27"/>
    <p:sldId id="293" r:id="rId28"/>
    <p:sldId id="294" r:id="rId29"/>
    <p:sldId id="295" r:id="rId30"/>
    <p:sldId id="296" r:id="rId31"/>
    <p:sldId id="262" r:id="rId32"/>
    <p:sldId id="272" r:id="rId33"/>
    <p:sldId id="263" r:id="rId34"/>
    <p:sldId id="266" r:id="rId35"/>
    <p:sldId id="265" r:id="rId36"/>
    <p:sldId id="264" r:id="rId37"/>
    <p:sldId id="267" r:id="rId38"/>
    <p:sldId id="268" r:id="rId39"/>
    <p:sldId id="269" r:id="rId40"/>
    <p:sldId id="271" r:id="rId41"/>
    <p:sldId id="270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0D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98" autoAdjust="0"/>
    <p:restoredTop sz="94660"/>
  </p:normalViewPr>
  <p:slideViewPr>
    <p:cSldViewPr snapToGrid="0">
      <p:cViewPr varScale="1">
        <p:scale>
          <a:sx n="96" d="100"/>
          <a:sy n="96" d="100"/>
        </p:scale>
        <p:origin x="96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0C0BBC-979E-471E-A1A1-27BB3B2B1B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911BD0C-CEE3-4F16-9393-5EB19C7000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7C10BE-36DB-4B79-B2F3-DDEC4255C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E8C75-54C4-4C7D-BC35-797E0B944DAB}" type="datetimeFigureOut">
              <a:rPr lang="ko-KR" altLang="en-US" smtClean="0"/>
              <a:t>2025-04-06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9EE978-F50B-483A-BD2E-1F8D322628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02128A-4D1C-456E-9028-28D00E68C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9696E-FD64-40FD-9597-4713CAF474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563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55884F-480F-45AA-B717-D19A889F7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8754FB-5281-4518-9646-7F9CB4CDBE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50E18D-4286-4592-9CB0-CAA53C558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E8C75-54C4-4C7D-BC35-797E0B944DAB}" type="datetimeFigureOut">
              <a:rPr lang="ko-KR" altLang="en-US" smtClean="0"/>
              <a:t>2025-04-06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28AE6D5-3274-4060-ACFD-07CD513BF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24092A-6AF6-46DE-8E8D-F9F222B6E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9696E-FD64-40FD-9597-4713CAF474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76741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126A4A-C8DE-4495-B8A0-31C6F3F64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E7C5D1-631A-4CA7-9C89-F8DC10C970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2E6E9-2499-4872-B0DF-0B593305C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E8C75-54C4-4C7D-BC35-797E0B944DAB}" type="datetimeFigureOut">
              <a:rPr lang="ko-KR" altLang="en-US" smtClean="0"/>
              <a:t>2025-04-06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A52AD36-B78C-45DE-8DB1-8163BECB5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3254DE-E73E-45F3-A3FD-B6D65205D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9696E-FD64-40FD-9597-4713CAF474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2146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5E008E-7AD0-446C-873C-1AAEBE5C4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37618E4-B189-4AD2-82AE-3BE9507E2F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10B3DAA-040C-4B1A-AA84-80312A7C10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06DB932-1E2A-4AA9-82C9-BB0D32BD4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E8C75-54C4-4C7D-BC35-797E0B944DAB}" type="datetimeFigureOut">
              <a:rPr lang="ko-KR" altLang="en-US" smtClean="0"/>
              <a:t>2025-04-06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902CDE8-6C21-4256-9212-B72958E67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CC2EF9E-904F-41BF-BD6E-FA4674612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9696E-FD64-40FD-9597-4713CAF474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9906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CD6907-1A75-42C6-808C-A09CFB4C01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D835F7-1436-49AD-ADF6-C33D7D6F72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C024AC-D4E1-43A5-8F4C-7879EED030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B50D2A6-6991-49A9-8A6C-28936827FC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E2FE32F-CFA1-4EC4-8F6B-8F4AD5F159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B932738-C1DC-4C0B-9B7D-91666FD0D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E8C75-54C4-4C7D-BC35-797E0B944DAB}" type="datetimeFigureOut">
              <a:rPr lang="ko-KR" altLang="en-US" smtClean="0"/>
              <a:t>2025-04-06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A379B8F-6168-47DA-8C09-86AD7AD4A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1BA300F-6336-43A9-B927-1D45939BC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9696E-FD64-40FD-9597-4713CAF474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0969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9D97F7-111C-46C6-8598-678B7A722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BE122AE-F433-4957-A694-15C3CAAA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E8C75-54C4-4C7D-BC35-797E0B944DAB}" type="datetimeFigureOut">
              <a:rPr lang="ko-KR" altLang="en-US" smtClean="0"/>
              <a:t>2025-04-06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1AA457-3E32-431C-AD47-F5B868289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194D9D-9B48-44DE-9315-FEDD6D510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9696E-FD64-40FD-9597-4713CAF474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4158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57DE037-4C50-4BDA-BED0-97EE2F8B9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E8C75-54C4-4C7D-BC35-797E0B944DAB}" type="datetimeFigureOut">
              <a:rPr lang="ko-KR" altLang="en-US" smtClean="0"/>
              <a:t>2025-04-06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FB656E6-CD1B-4B9C-B7F6-3EBD4EACD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5D7158-85B0-4EB6-9E13-8D2B51A7A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9696E-FD64-40FD-9597-4713CAF474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34003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721832-3D79-4224-8915-9F5072205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01BD56-C28D-4D22-B695-BA7F3FBB3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E0C6591-78F9-46A0-8867-DFF5AE12F5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33280B8-AE34-4BFE-AC31-F09E55CE4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E8C75-54C4-4C7D-BC35-797E0B944DAB}" type="datetimeFigureOut">
              <a:rPr lang="ko-KR" altLang="en-US" smtClean="0"/>
              <a:t>2025-04-06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5F0564-791A-4929-8BDC-298AF11CB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0B6DF46-5927-4FC7-AFA8-5283D4CA5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9696E-FD64-40FD-9597-4713CAF474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42255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AA3010-A35B-4388-AC1A-E14D6C3AD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9014A5A-4950-47C6-B890-C7E38E17FE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4C20E9A-7E65-4956-8721-879C6B2C10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604BF14-8C7A-4C28-9699-5FB3A628A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E8C75-54C4-4C7D-BC35-797E0B944DAB}" type="datetimeFigureOut">
              <a:rPr lang="ko-KR" altLang="en-US" smtClean="0"/>
              <a:t>2025-04-06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A261DE6-201A-4893-A9AC-68CE4302F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C2E2CD8-F2E2-4A48-BB11-37A59E5BB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9696E-FD64-40FD-9597-4713CAF474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618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C52729-3BBB-44BA-9A3D-2303BF8D4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7AF2B26-C83A-4FE2-BD1B-92BA051E41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FB85EF1-940E-4A2C-9FB7-CFAA48B00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E8C75-54C4-4C7D-BC35-797E0B944DAB}" type="datetimeFigureOut">
              <a:rPr lang="ko-KR" altLang="en-US" smtClean="0"/>
              <a:t>2025-04-06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05EB6D-0024-48B0-A54D-0A6AFBDDF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A319E6-8BDC-4222-9EAD-D2164A1C0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9696E-FD64-40FD-9597-4713CAF474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7959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3754F94-5E0F-44E3-9E1E-28AD8D23DD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01D9C8D-FA20-40D8-B906-0C5AF08DC3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13232C-CAAC-480C-9B9D-52A40BB9E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E8C75-54C4-4C7D-BC35-797E0B944DAB}" type="datetimeFigureOut">
              <a:rPr lang="ko-KR" altLang="en-US" smtClean="0"/>
              <a:t>2025-04-06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0941F2-2A72-4791-9D8C-634E88505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61ED03-AA66-44CD-BC70-904626078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89696E-FD64-40FD-9597-4713CAF474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0206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E6EA67C-AA85-4004-8588-A069AE47B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79C7961-BAA4-4C7B-8A05-C9831226EB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89D6EFE-2EF9-41BA-A6A9-C209CB7B76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CE8C75-54C4-4C7D-BC35-797E0B944DAB}" type="datetimeFigureOut">
              <a:rPr lang="ko-KR" altLang="en-US" smtClean="0"/>
              <a:t>2025-04-06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CE81FE8-8EA8-4097-862E-517AC42F59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134120-198A-4D1E-BAC5-E8E7F7DDEE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89696E-FD64-40FD-9597-4713CAF474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3314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eartcom/ESP32" TargetMode="External"/><Relationship Id="rId2" Type="http://schemas.openxmlformats.org/officeDocument/2006/relationships/hyperlink" Target="https://randomnerdtutorials.com/esp32-bluetooth-low-energy-ble-arduino-id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randomnerdtutorials.com/esp32-bluetooth-low-energy-ble-arduino-ide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uuidgenerator.net/" TargetMode="Externa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randomnerdtutorials.com/esp32-ble-server-environmental-sensing-service/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btprodspecificationrefs.blob.core.windows.net/assigned-numbers/Assigned%20Number%20Types/Assigned_Numbers.pdf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btprodspecificationrefs.blob.core.windows.net/assigned-numbers/Assigned%20Number%20Types/Assigned_Numbers.pdf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programmingdigest.com/esp32-ble-temperature-and-humidity-monitoring-system-using-dht11-sensor/" TargetMode="Externa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programmingdigest.com/esp32-ble-temperature-and-humidity-monitoring-system-using-dht11-sensor/" TargetMode="Externa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0.png"/><Relationship Id="rId7" Type="http://schemas.openxmlformats.org/officeDocument/2006/relationships/image" Target="../media/image1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andomnerdtutorials.com/esp32-ble-server-environmental-sensing-service/" TargetMode="Externa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565089B-F8C5-47EE-A7E1-7CAAD0CBD537}"/>
              </a:ext>
            </a:extLst>
          </p:cNvPr>
          <p:cNvSpPr/>
          <p:nvPr/>
        </p:nvSpPr>
        <p:spPr>
          <a:xfrm>
            <a:off x="0" y="0"/>
            <a:ext cx="12192000" cy="272415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5400" b="1" dirty="0">
                <a:solidFill>
                  <a:schemeClr val="bg1">
                    <a:lumMod val="95000"/>
                  </a:schemeClr>
                </a:solidFill>
              </a:rPr>
              <a:t>Getting Started with ESP32</a:t>
            </a:r>
          </a:p>
          <a:p>
            <a:pPr algn="ctr"/>
            <a:r>
              <a:rPr lang="en-US" altLang="ko-KR" sz="5400" b="1" dirty="0">
                <a:solidFill>
                  <a:schemeClr val="bg1">
                    <a:lumMod val="95000"/>
                  </a:schemeClr>
                </a:solidFill>
              </a:rPr>
              <a:t>BLE on Arduino IDE</a:t>
            </a:r>
            <a:endParaRPr lang="ko-KR" altLang="en-US" sz="54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B83328-0413-E299-E19A-6494CB011612}"/>
              </a:ext>
            </a:extLst>
          </p:cNvPr>
          <p:cNvSpPr txBox="1"/>
          <p:nvPr/>
        </p:nvSpPr>
        <p:spPr>
          <a:xfrm>
            <a:off x="1787324" y="2354818"/>
            <a:ext cx="86636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ESP32 Bluetooth Low Energy (BLE) on Arduino IDE | Random Nerd Tutorials</a:t>
            </a:r>
            <a:endParaRPr lang="ko-KR" altLang="en-US" b="1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ED334E-4268-DC4A-C351-201BCF94D0B5}"/>
              </a:ext>
            </a:extLst>
          </p:cNvPr>
          <p:cNvSpPr txBox="1"/>
          <p:nvPr/>
        </p:nvSpPr>
        <p:spPr>
          <a:xfrm>
            <a:off x="1023729" y="5078968"/>
            <a:ext cx="10485783" cy="83099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4800" dirty="0">
                <a:hlinkClick r:id="rId3"/>
              </a:rPr>
              <a:t>https://github.com/heartcom/ESP32</a:t>
            </a:r>
            <a:endParaRPr lang="ko-KR" altLang="en-US" sz="4800" dirty="0"/>
          </a:p>
        </p:txBody>
      </p:sp>
    </p:spTree>
    <p:extLst>
      <p:ext uri="{BB962C8B-B14F-4D97-AF65-F5344CB8AC3E}">
        <p14:creationId xmlns:p14="http://schemas.microsoft.com/office/powerpoint/2010/main" val="6558393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565089B-F8C5-47EE-A7E1-7CAAD0CBD537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What is Bluetooth Low Energy?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E7BAFC7-D71A-E1A9-42F9-D8834CB33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492" y="2223870"/>
            <a:ext cx="7535327" cy="2248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1D5CC02-6D2E-D67E-4954-F6BE8776B300}"/>
              </a:ext>
            </a:extLst>
          </p:cNvPr>
          <p:cNvSpPr txBox="1"/>
          <p:nvPr/>
        </p:nvSpPr>
        <p:spPr>
          <a:xfrm>
            <a:off x="0" y="6488668"/>
            <a:ext cx="87446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linkClick r:id="rId3"/>
              </a:rPr>
              <a:t>ESP32 Bluetooth Low Energy (BLE) on Arduino IDE | Random Nerd Tutorials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460846-71E2-C282-C2D9-947C10D92EC3}"/>
              </a:ext>
            </a:extLst>
          </p:cNvPr>
          <p:cNvSpPr txBox="1"/>
          <p:nvPr/>
        </p:nvSpPr>
        <p:spPr>
          <a:xfrm>
            <a:off x="289367" y="813304"/>
            <a:ext cx="5267789" cy="748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짧은 거리</a:t>
            </a:r>
            <a:r>
              <a:rPr lang="en-US" altLang="ko-KR" dirty="0"/>
              <a:t>, </a:t>
            </a:r>
            <a:r>
              <a:rPr lang="ko-KR" altLang="en-US" dirty="0"/>
              <a:t>짧은 데이터 셋</a:t>
            </a:r>
            <a:r>
              <a:rPr lang="en-US" altLang="ko-KR" dirty="0"/>
              <a:t>, </a:t>
            </a:r>
            <a:r>
              <a:rPr lang="ko-KR" altLang="en-US" dirty="0"/>
              <a:t>저 전력 전송</a:t>
            </a:r>
            <a:endParaRPr lang="en-US" altLang="ko-KR" dirty="0"/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기존 버전 블루투스에 비해 </a:t>
            </a:r>
            <a:r>
              <a:rPr lang="en-US" altLang="ko-KR" dirty="0"/>
              <a:t>100</a:t>
            </a:r>
            <a:r>
              <a:rPr lang="ko-KR" altLang="en-US" dirty="0"/>
              <a:t>배 이상 저전력</a:t>
            </a:r>
          </a:p>
        </p:txBody>
      </p:sp>
    </p:spTree>
    <p:extLst>
      <p:ext uri="{BB962C8B-B14F-4D97-AF65-F5344CB8AC3E}">
        <p14:creationId xmlns:p14="http://schemas.microsoft.com/office/powerpoint/2010/main" val="1871479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CC031-65E1-9690-1999-6E542C324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92B214D-7F89-7CBC-5632-CC4A97893652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What is Bluetooth Low Energy?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4782513-E2DD-5255-B551-19BB8A9390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3150" y="656492"/>
            <a:ext cx="7747026" cy="6201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211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E6C5C-C6FC-3352-6C75-534DAA046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DED21DA-A42C-1E8B-AAC8-A16F7B1E26D1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BLE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응용 분야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92EF087-89CE-76AB-DA2D-407F3F96F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3762" y="2077399"/>
            <a:ext cx="7344800" cy="19624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3EFB3D5-F323-5232-7884-A174BCBE2CD6}"/>
              </a:ext>
            </a:extLst>
          </p:cNvPr>
          <p:cNvSpPr txBox="1"/>
          <p:nvPr/>
        </p:nvSpPr>
        <p:spPr>
          <a:xfrm>
            <a:off x="289367" y="813304"/>
            <a:ext cx="8308749" cy="748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적은 데이터를 가까운 거리로 전송하는데 최적</a:t>
            </a:r>
            <a:endParaRPr lang="en-US" altLang="ko-KR" dirty="0"/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Healthcare, fitness, tracking beacons, security, home automation industries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632650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29D45-A130-D6A2-1B7F-C221C5D91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75AF56A-D8A0-B4BC-8C36-DB99C088F718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BLE Server and Client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338B69-EF9E-EEC7-FACD-71B1DD1ADC46}"/>
              </a:ext>
            </a:extLst>
          </p:cNvPr>
          <p:cNvSpPr txBox="1"/>
          <p:nvPr/>
        </p:nvSpPr>
        <p:spPr>
          <a:xfrm>
            <a:off x="289367" y="813304"/>
            <a:ext cx="9548320" cy="21335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BLE</a:t>
            </a:r>
            <a:r>
              <a:rPr lang="ko-KR" altLang="en-US" dirty="0"/>
              <a:t>는 </a:t>
            </a:r>
            <a:r>
              <a:rPr lang="en-US" altLang="ko-KR" dirty="0"/>
              <a:t>Server </a:t>
            </a:r>
            <a:r>
              <a:rPr lang="ko-KR" altLang="en-US" dirty="0"/>
              <a:t>혹은 </a:t>
            </a:r>
            <a:r>
              <a:rPr lang="en-US" altLang="ko-KR" dirty="0"/>
              <a:t>Client</a:t>
            </a:r>
            <a:r>
              <a:rPr lang="ko-KR" altLang="en-US" dirty="0"/>
              <a:t>로 동작할 수 있고</a:t>
            </a:r>
            <a:r>
              <a:rPr lang="en-US" altLang="ko-KR" dirty="0"/>
              <a:t>, ESP32</a:t>
            </a:r>
            <a:r>
              <a:rPr lang="ko-KR" altLang="en-US" dirty="0"/>
              <a:t>는 </a:t>
            </a:r>
            <a:r>
              <a:rPr lang="en-US" altLang="ko-KR" dirty="0"/>
              <a:t>2</a:t>
            </a:r>
            <a:r>
              <a:rPr lang="ko-KR" altLang="en-US" dirty="0"/>
              <a:t>가지 동작 모드를 모두 지원한다</a:t>
            </a:r>
            <a:r>
              <a:rPr lang="en-US" altLang="ko-KR" dirty="0"/>
              <a:t>.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서버는 자신의 존재를 광고하여 다른 장치가 이를 찾을 수 있도록 하며</a:t>
            </a:r>
            <a:r>
              <a:rPr lang="en-US" altLang="ko-KR" dirty="0"/>
              <a:t>,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클라이언트가 읽을 수 있는 데이터를 포함하고 있다</a:t>
            </a:r>
            <a:r>
              <a:rPr lang="en-US" altLang="ko-KR" dirty="0"/>
              <a:t>.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클라이언트는 주변 장치를 스캔하고</a:t>
            </a:r>
            <a:r>
              <a:rPr lang="en-US" altLang="ko-KR" dirty="0"/>
              <a:t>,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원하는 서버를 찾으면 연결을 설정한 후 수신 데이터를 수신한다</a:t>
            </a:r>
            <a:r>
              <a:rPr lang="en-US" altLang="ko-KR" dirty="0"/>
              <a:t>.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이를 </a:t>
            </a:r>
            <a:r>
              <a:rPr lang="en-US" altLang="ko-KR" dirty="0"/>
              <a:t>point-to-point </a:t>
            </a:r>
            <a:r>
              <a:rPr lang="ko-KR" altLang="en-US" dirty="0"/>
              <a:t>통신이라고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8C2E775-B322-A6D0-4E5A-A1F4C74F90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8232" y="3096599"/>
            <a:ext cx="7630590" cy="16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42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ECE30-8AFC-B8A8-9140-6F79E1D45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451D487-0730-6D36-1CA9-D921B8AD3B68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GATT . Generic Attribute Profile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C087CC8-B65E-2BDE-03B9-B868395B5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579" y="2064968"/>
            <a:ext cx="5353797" cy="41915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6FEBEE5-C0E3-E2FD-5DB7-65AB109EBF49}"/>
              </a:ext>
            </a:extLst>
          </p:cNvPr>
          <p:cNvSpPr txBox="1"/>
          <p:nvPr/>
        </p:nvSpPr>
        <p:spPr>
          <a:xfrm>
            <a:off x="289367" y="813304"/>
            <a:ext cx="10871887" cy="10948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GATT</a:t>
            </a:r>
            <a:r>
              <a:rPr lang="ko-KR" altLang="en-US" dirty="0"/>
              <a:t>는 </a:t>
            </a:r>
            <a:r>
              <a:rPr lang="en-US" altLang="ko-KR" b="1" dirty="0"/>
              <a:t>Generic Attributes</a:t>
            </a:r>
            <a:r>
              <a:rPr lang="ko-KR" altLang="en-US" dirty="0"/>
              <a:t>의 약자로</a:t>
            </a:r>
            <a:r>
              <a:rPr lang="en-US" altLang="ko-KR" dirty="0"/>
              <a:t>, </a:t>
            </a:r>
            <a:r>
              <a:rPr lang="ko-KR" altLang="en-US" dirty="0"/>
              <a:t>연결된 </a:t>
            </a:r>
            <a:r>
              <a:rPr lang="en-US" altLang="ko-KR" dirty="0"/>
              <a:t>BLE </a:t>
            </a:r>
            <a:r>
              <a:rPr lang="ko-KR" altLang="en-US" dirty="0"/>
              <a:t>장치에 노출되는 계층적 데이터 구조를 정의한다</a:t>
            </a:r>
            <a:r>
              <a:rPr lang="en-US" altLang="ko-KR" dirty="0"/>
              <a:t>.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즉</a:t>
            </a:r>
            <a:r>
              <a:rPr lang="en-US" altLang="ko-KR" dirty="0"/>
              <a:t>, GATT</a:t>
            </a:r>
            <a:r>
              <a:rPr lang="ko-KR" altLang="en-US" dirty="0"/>
              <a:t>는 두 개의 </a:t>
            </a:r>
            <a:r>
              <a:rPr lang="en-US" altLang="ko-KR" dirty="0"/>
              <a:t>BLE </a:t>
            </a:r>
            <a:r>
              <a:rPr lang="ko-KR" altLang="en-US" dirty="0"/>
              <a:t>장치가 표준 메시지를 송수신하는 방식을 결정한다</a:t>
            </a:r>
            <a:r>
              <a:rPr lang="en-US" altLang="ko-KR" dirty="0"/>
              <a:t>.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이 계층 구조를 이해하는 것은 </a:t>
            </a:r>
            <a:r>
              <a:rPr lang="en-US" altLang="ko-KR" dirty="0"/>
              <a:t>BLE</a:t>
            </a:r>
            <a:r>
              <a:rPr lang="ko-KR" altLang="en-US" dirty="0"/>
              <a:t>를 활용하고 애플리케이션을 개발하는 데 있어 중요한 개념이다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E24142-E7E7-C2BC-CDA7-1D31A915633A}"/>
              </a:ext>
            </a:extLst>
          </p:cNvPr>
          <p:cNvSpPr txBox="1"/>
          <p:nvPr/>
        </p:nvSpPr>
        <p:spPr>
          <a:xfrm>
            <a:off x="5725310" y="2303362"/>
            <a:ext cx="6352573" cy="28300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Profile</a:t>
            </a:r>
            <a:r>
              <a:rPr lang="ko-KR" altLang="en-US" sz="1600" dirty="0"/>
              <a:t>은 하나 이상의 </a:t>
            </a:r>
            <a:r>
              <a:rPr lang="en-US" altLang="ko-KR" sz="1600" dirty="0"/>
              <a:t>Service</a:t>
            </a:r>
            <a:r>
              <a:rPr lang="ko-KR" altLang="en-US" sz="1600" dirty="0"/>
              <a:t>를 가지고 있다</a:t>
            </a:r>
            <a:r>
              <a:rPr lang="en-US" altLang="ko-KR" sz="1600" dirty="0"/>
              <a:t>. </a:t>
            </a:r>
          </a:p>
          <a:p>
            <a:pPr marL="285750" indent="-285750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모든 </a:t>
            </a:r>
            <a:r>
              <a:rPr lang="en-US" altLang="ko-KR" sz="1600" dirty="0"/>
              <a:t>Service</a:t>
            </a:r>
            <a:r>
              <a:rPr lang="ko-KR" altLang="en-US" sz="1600" dirty="0"/>
              <a:t>는 적어도 하나의 </a:t>
            </a:r>
            <a:r>
              <a:rPr lang="en-US" altLang="ko-KR" sz="1600" dirty="0"/>
              <a:t>characteristic </a:t>
            </a:r>
            <a:r>
              <a:rPr lang="ko-KR" altLang="en-US" sz="1600" dirty="0"/>
              <a:t>가지고 있다</a:t>
            </a:r>
            <a:r>
              <a:rPr lang="en-US" altLang="ko-KR" sz="1600" dirty="0"/>
              <a:t>. </a:t>
            </a:r>
          </a:p>
          <a:p>
            <a:pPr marL="285750" indent="-285750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Service</a:t>
            </a:r>
            <a:r>
              <a:rPr lang="ko-KR" altLang="en-US" sz="1600" dirty="0"/>
              <a:t>는 센서 값 읽기</a:t>
            </a:r>
            <a:r>
              <a:rPr lang="en-US" altLang="ko-KR" sz="1600" dirty="0"/>
              <a:t>, </a:t>
            </a:r>
            <a:r>
              <a:rPr lang="ko-KR" altLang="en-US" sz="1600" dirty="0"/>
              <a:t>정보 수집 등을 한다</a:t>
            </a:r>
            <a:r>
              <a:rPr lang="en-US" altLang="ko-KR" sz="1600" dirty="0"/>
              <a:t>. </a:t>
            </a:r>
          </a:p>
          <a:p>
            <a:pPr marL="285750" indent="-285750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Characteristic </a:t>
            </a:r>
            <a:r>
              <a:rPr lang="ko-KR" altLang="en-US" sz="1600" dirty="0"/>
              <a:t>에 실제 데이터 값이 저장되어 있다</a:t>
            </a:r>
            <a:r>
              <a:rPr lang="en-US" altLang="ko-KR" sz="1600" dirty="0"/>
              <a:t>. </a:t>
            </a:r>
          </a:p>
          <a:p>
            <a:pPr marL="285750" indent="-285750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Characteristic</a:t>
            </a:r>
            <a:r>
              <a:rPr lang="ko-KR" altLang="en-US" sz="1600" dirty="0"/>
              <a:t>은 </a:t>
            </a:r>
            <a:br>
              <a:rPr lang="en-US" altLang="ko-KR" sz="1600" dirty="0"/>
            </a:br>
            <a:r>
              <a:rPr lang="en-US" altLang="ko-KR" sz="1600" dirty="0"/>
              <a:t>Broadcast, Read, Write, Notify, Indicate </a:t>
            </a:r>
            <a:r>
              <a:rPr lang="ko-KR" altLang="en-US" sz="1600" dirty="0"/>
              <a:t>등의 속성 값을 가진다</a:t>
            </a:r>
            <a:r>
              <a:rPr lang="en-US" altLang="ko-KR" sz="1600" dirty="0"/>
              <a:t>. </a:t>
            </a:r>
          </a:p>
          <a:p>
            <a:pPr marL="285750" indent="-285750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UUID(Universally Unique Identifier) </a:t>
            </a:r>
            <a:r>
              <a:rPr lang="ko-KR" altLang="en-US" sz="1600" dirty="0"/>
              <a:t>는 </a:t>
            </a:r>
            <a:r>
              <a:rPr lang="en-US" altLang="ko-KR" sz="1600" dirty="0"/>
              <a:t>128bit </a:t>
            </a:r>
            <a:r>
              <a:rPr lang="ko-KR" altLang="en-US" sz="1600" dirty="0"/>
              <a:t>숫자로 구성되며</a:t>
            </a:r>
            <a:br>
              <a:rPr lang="en-US" altLang="ko-KR" sz="1600" dirty="0"/>
            </a:br>
            <a:r>
              <a:rPr lang="en-US" altLang="ko-KR" sz="1600" dirty="0"/>
              <a:t>SIG(Bluetooth Special Interest Group)</a:t>
            </a:r>
            <a:r>
              <a:rPr lang="ko-KR" altLang="en-US" sz="1600" dirty="0"/>
              <a:t>에서 지정하고 있으나</a:t>
            </a:r>
            <a:r>
              <a:rPr lang="en-US" altLang="ko-KR" sz="1600" dirty="0"/>
              <a:t>, </a:t>
            </a:r>
            <a:br>
              <a:rPr lang="en-US" altLang="ko-KR" sz="1600" dirty="0"/>
            </a:br>
            <a:r>
              <a:rPr lang="ko-KR" altLang="en-US" sz="1600" dirty="0"/>
              <a:t>사용자가 특정 </a:t>
            </a:r>
            <a:r>
              <a:rPr lang="en-US" altLang="ko-KR" sz="1600" dirty="0" err="1"/>
              <a:t>uuid</a:t>
            </a:r>
            <a:r>
              <a:rPr lang="ko-KR" altLang="en-US" sz="1600" dirty="0"/>
              <a:t>를 만들 수도 있다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3531235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8E5C5-9897-AF20-BFDB-BE3554BA0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C8650A9-11A2-7FE5-8B24-40E948354BD9}"/>
              </a:ext>
            </a:extLst>
          </p:cNvPr>
          <p:cNvSpPr/>
          <p:nvPr/>
        </p:nvSpPr>
        <p:spPr>
          <a:xfrm>
            <a:off x="0" y="-1"/>
            <a:ext cx="12192000" cy="1548799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6212" algn="ctr"/>
            <a:r>
              <a:rPr lang="en-US" altLang="ko-KR" sz="4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ESP32 BLE Server</a:t>
            </a:r>
            <a:endParaRPr lang="ko-KR" altLang="en-US" sz="4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236D94-6A24-5B84-C261-7050A13615AB}"/>
              </a:ext>
            </a:extLst>
          </p:cNvPr>
          <p:cNvSpPr txBox="1"/>
          <p:nvPr/>
        </p:nvSpPr>
        <p:spPr>
          <a:xfrm>
            <a:off x="239671" y="1808700"/>
            <a:ext cx="9422003" cy="38648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파일 </a:t>
            </a:r>
            <a:r>
              <a:rPr lang="en-US" altLang="ko-KR" dirty="0"/>
              <a:t>&gt; </a:t>
            </a:r>
            <a:r>
              <a:rPr lang="ko-KR" altLang="en-US" dirty="0"/>
              <a:t>예제 </a:t>
            </a:r>
            <a:r>
              <a:rPr lang="en-US" altLang="ko-KR" dirty="0"/>
              <a:t>&gt; ESP32_BLE_Arduino &gt; </a:t>
            </a:r>
            <a:r>
              <a:rPr lang="en-US" altLang="ko-KR" dirty="0" err="1"/>
              <a:t>BLE_server</a:t>
            </a:r>
            <a:endParaRPr lang="en-US" altLang="ko-KR" dirty="0"/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ESP32</a:t>
            </a:r>
            <a:r>
              <a:rPr lang="ko-KR" altLang="en-US" dirty="0"/>
              <a:t>가 </a:t>
            </a:r>
            <a:r>
              <a:rPr lang="en-US" altLang="ko-KR" dirty="0"/>
              <a:t>SERVER</a:t>
            </a:r>
            <a:r>
              <a:rPr lang="ko-KR" altLang="en-US" dirty="0"/>
              <a:t>로 동작하며 다른 </a:t>
            </a:r>
            <a:r>
              <a:rPr lang="en-US" altLang="ko-KR" dirty="0"/>
              <a:t>BLE Client(ex: smartphone)</a:t>
            </a:r>
            <a:r>
              <a:rPr lang="ko-KR" altLang="en-US" dirty="0"/>
              <a:t>와 통신하는 방법을 시험</a:t>
            </a:r>
            <a:endParaRPr lang="en-US" altLang="ko-KR" dirty="0"/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절차</a:t>
            </a:r>
            <a:br>
              <a:rPr lang="en-US" altLang="ko-KR" dirty="0"/>
            </a:br>
            <a:r>
              <a:rPr lang="en-US" altLang="ko-KR" dirty="0"/>
              <a:t>1. Create a BLE Sever</a:t>
            </a:r>
            <a:br>
              <a:rPr lang="en-US" altLang="ko-KR" dirty="0"/>
            </a:br>
            <a:r>
              <a:rPr lang="en-US" altLang="ko-KR" dirty="0"/>
              <a:t>2. Create a BLE Service</a:t>
            </a:r>
            <a:br>
              <a:rPr lang="en-US" altLang="ko-KR" dirty="0"/>
            </a:br>
            <a:r>
              <a:rPr lang="en-US" altLang="ko-KR" dirty="0"/>
              <a:t>3. Create a BLE Characteristic on the Service</a:t>
            </a:r>
            <a:br>
              <a:rPr lang="en-US" altLang="ko-KR" dirty="0"/>
            </a:br>
            <a:r>
              <a:rPr lang="en-US" altLang="ko-KR" dirty="0"/>
              <a:t>4. Create a BLE Descriptor on the Characteristic</a:t>
            </a:r>
            <a:br>
              <a:rPr lang="en-US" altLang="ko-KR" dirty="0"/>
            </a:br>
            <a:r>
              <a:rPr lang="en-US" altLang="ko-KR" dirty="0"/>
              <a:t>5. Start the Service</a:t>
            </a:r>
            <a:br>
              <a:rPr lang="en-US" altLang="ko-KR" dirty="0"/>
            </a:br>
            <a:r>
              <a:rPr lang="en-US" altLang="ko-KR" dirty="0"/>
              <a:t>6. Start advertising, so it can be found by other devices.</a:t>
            </a:r>
          </a:p>
          <a:p>
            <a:pPr>
              <a:lnSpc>
                <a:spcPts val="2700"/>
              </a:lnSpc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25191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DCE0E-80D6-EBA9-28F7-F62B152F4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E3CEC35-930F-DC2B-2CB7-B5FFC68A0DC5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CODE : ESP32 BLE Server  1/3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8BCAA3-D459-B85F-3BF6-BBF9018858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56492"/>
            <a:ext cx="12230912" cy="4629281"/>
          </a:xfrm>
          <a:prstGeom prst="rect">
            <a:avLst/>
          </a:prstGeom>
          <a:solidFill>
            <a:srgbClr val="F5F2F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marR="0" lvl="0" indent="17780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Complete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Getting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Started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Guide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: </a:t>
            </a:r>
            <a:b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   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https://RandomNerdTutorials.com/esp32-bluetooth-low-energy-ble-arduino-ide/ </a:t>
            </a:r>
            <a:b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   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Based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Neil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Kolban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example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b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   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IDF: https://github.com/nkolban/esp32-snippets/blob/master/cpp_utils/tests/BLE%20Tests/SampleServer.cpp </a:t>
            </a:r>
            <a:b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</a:b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   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Ported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Arduino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ESP32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by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Evandro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Copercini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*/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17780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ko-KR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R="0" lvl="0" indent="17780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BLEDevice.h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17780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BLEUtils.h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17780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BLEServer.h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17780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See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the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following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generating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UUIDs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17780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https://www.uuidgenerator.net/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R="0" lvl="0" indent="17780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define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 SERVICE_UUID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"4fafc201-1fb5-459e-8fcc-c5c9c331914b"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17780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define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 CHARACTERISTIC_UUID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"beb5483e-36e1-4688-b7f5-ea07361b26a8"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C9D062-5D6B-C609-8CB7-918219858240}"/>
              </a:ext>
            </a:extLst>
          </p:cNvPr>
          <p:cNvSpPr txBox="1"/>
          <p:nvPr/>
        </p:nvSpPr>
        <p:spPr>
          <a:xfrm>
            <a:off x="126242" y="5757599"/>
            <a:ext cx="8048768" cy="615553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en-US" altLang="ko-KR" sz="1600" b="1" dirty="0"/>
              <a:t>UUID</a:t>
            </a:r>
            <a:r>
              <a:rPr lang="ko-KR" altLang="en-US" sz="1600" b="1" dirty="0"/>
              <a:t>는 위의 값을 그대로 사용해도 되고</a:t>
            </a:r>
            <a:r>
              <a:rPr lang="en-US" altLang="ko-KR" sz="1600" b="1" dirty="0"/>
              <a:t>, </a:t>
            </a:r>
            <a:r>
              <a:rPr lang="ko-KR" altLang="en-US" sz="1600" b="1" dirty="0"/>
              <a:t>아래 </a:t>
            </a:r>
            <a:r>
              <a:rPr lang="en-US" altLang="ko-KR" sz="1600" b="1" dirty="0"/>
              <a:t>UUID </a:t>
            </a:r>
            <a:r>
              <a:rPr lang="ko-KR" altLang="en-US" sz="1600" b="1" dirty="0"/>
              <a:t>생성 사이트를 사용하여도 된다</a:t>
            </a:r>
            <a:r>
              <a:rPr lang="en-US" altLang="ko-KR" sz="1600" b="1" dirty="0"/>
              <a:t>.</a:t>
            </a:r>
          </a:p>
          <a:p>
            <a:r>
              <a:rPr lang="ko-KR" altLang="en-US" b="1" dirty="0">
                <a:hlinkClick r:id="rId2"/>
              </a:rPr>
              <a:t>https://www.uuidgenerator.net/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3537193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122C5-7D5A-448F-94CF-C3F903AB8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EB7BC68-5A16-4C6A-A7FB-66C4F813E2E1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CODE : ESP32 BLE Server  2/3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977080A-EBE5-5985-BE87-DA9DE1E276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56492"/>
            <a:ext cx="9773509" cy="4125938"/>
          </a:xfrm>
          <a:prstGeom prst="rect">
            <a:avLst/>
          </a:prstGeom>
          <a:solidFill>
            <a:srgbClr val="F5F2F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marR="0" lvl="0" indent="27305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setup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27305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115200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27305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Starting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 BLE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work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!"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27305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BLEDevice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"MyESP32"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rgbClr val="3A0DFB"/>
                </a:solidFill>
                <a:effectLst/>
                <a:latin typeface="Consolas" panose="020B0609020204030204" pitchFamily="49" charset="0"/>
              </a:rPr>
              <a:t>// Set BLE device Name</a:t>
            </a:r>
          </a:p>
          <a:p>
            <a:pPr marR="0" lvl="0" indent="27305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ko-KR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R="0" lvl="0" indent="27305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BLEServer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pServer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BLEDevice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createServer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rgbClr val="3A0DFB"/>
                </a:solidFill>
                <a:effectLst/>
                <a:latin typeface="Consolas" panose="020B0609020204030204" pitchFamily="49" charset="0"/>
              </a:rPr>
              <a:t>// Set as Server</a:t>
            </a:r>
          </a:p>
          <a:p>
            <a:pPr marR="0" lvl="0" indent="27305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BLEService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pService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pServer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createService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SERVICE_UUID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27305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BLECharacteristic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pCharacteristic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pService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createCharacteristic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27305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                           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CHARACTERISTIC_UUID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27305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                           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BLECharacteristic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PROPERTY_READ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27305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  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BLECharacteristic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PROPERTY_WRITE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273050" algn="l" defTabSz="914400" rtl="0" eaLnBrk="0" fontAlgn="base" latinLnBrk="0" hangingPunct="0">
              <a:lnSpc>
                <a:spcPts val="27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ko-KR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65F39CE-0465-8721-1B67-177A817C6E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31" y="4586636"/>
            <a:ext cx="3705742" cy="2133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1318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BB461-768C-DD55-F88C-69B6B504F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76DD7EE-4C00-642C-4B9E-7B37191B5D04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CODE : ESP32 BLE Server   3/3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70DA14-2C2F-3B47-2652-F49632696F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56492"/>
            <a:ext cx="12210394" cy="6288645"/>
          </a:xfrm>
          <a:prstGeom prst="rect">
            <a:avLst/>
          </a:prstGeom>
          <a:solidFill>
            <a:srgbClr val="F5F2F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marR="0" lvl="0" indent="804863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804863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pCharacteristic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setValue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 World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says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Neil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rgbClr val="3A0DFB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altLang="ko-KR" dirty="0">
                <a:solidFill>
                  <a:srgbClr val="3A0DFB"/>
                </a:solidFill>
                <a:latin typeface="Consolas" panose="020B0609020204030204" pitchFamily="49" charset="0"/>
              </a:rPr>
              <a:t>service</a:t>
            </a:r>
            <a:r>
              <a:rPr lang="ko-KR" altLang="en-US" dirty="0">
                <a:solidFill>
                  <a:srgbClr val="3A0DFB"/>
                </a:solidFill>
                <a:latin typeface="Consolas" panose="020B0609020204030204" pitchFamily="49" charset="0"/>
              </a:rPr>
              <a:t>를 통해 전달하는 값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3A0DFB"/>
              </a:solidFill>
              <a:effectLst/>
              <a:latin typeface="Consolas" panose="020B0609020204030204" pitchFamily="49" charset="0"/>
            </a:endParaRPr>
          </a:p>
          <a:p>
            <a:pPr marR="0" lvl="0" indent="804863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pService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804863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BLEAdvertising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pAdvertising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pServer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getAdvertising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();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708090"/>
              </a:solidFill>
              <a:effectLst/>
              <a:latin typeface="Consolas" panose="020B0609020204030204" pitchFamily="49" charset="0"/>
            </a:endParaRPr>
          </a:p>
          <a:p>
            <a:pPr marR="0" lvl="0" indent="804863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dirty="0">
                <a:solidFill>
                  <a:srgbClr val="708090"/>
                </a:solidFill>
                <a:latin typeface="Consolas" panose="020B0609020204030204" pitchFamily="49" charset="0"/>
              </a:rPr>
              <a:t> 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still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is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working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backward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compatibility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804863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BLEAdvertising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pAdvertising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BLEDevice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getAdvertising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804863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pAdvertising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addServiceUUID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SERVICE_UUID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804863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pAdvertising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setScanResponse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804863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pAdvertising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setMinPreferred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0x06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functions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that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help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with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iPhone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connections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issue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804863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pAdvertising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setMinPreferred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0x12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804863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BLEDevice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startAdvertising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804863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Characteristic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defined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!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you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can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read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your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phone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!"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273050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indent="27305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loop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indent="27305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your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code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here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repeatedly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indent="27305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delay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2000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indent="27305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ko-KR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CCE0EE49-4A60-ACA3-AB9C-C36387618A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5F2F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3429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15AFF-19F7-918E-0558-B52A77440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D5A62D8-7162-35D5-9070-90702F5F4803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CODE : </a:t>
            </a:r>
            <a:r>
              <a:rPr lang="en-US" altLang="ko-KR" sz="2000" b="1" dirty="0" err="1">
                <a:solidFill>
                  <a:schemeClr val="bg1">
                    <a:lumMod val="95000"/>
                  </a:schemeClr>
                </a:solidFill>
                <a:latin typeface="+mn-ea"/>
              </a:rPr>
              <a:t>setMinPreferred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29850BC-0823-39B4-A282-147BD250FB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137" y="1093220"/>
            <a:ext cx="5498621" cy="710194"/>
          </a:xfrm>
          <a:prstGeom prst="rect">
            <a:avLst/>
          </a:prstGeom>
          <a:solidFill>
            <a:srgbClr val="F5F2F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marR="0" lvl="0" indent="804863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pAdvertising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setMinPreferred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0x06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R="0" lvl="0" indent="804863" algn="l" defTabSz="914400" rtl="0" eaLnBrk="0" fontAlgn="base" latinLnBrk="0" hangingPunct="0">
              <a:lnSpc>
                <a:spcPts val="29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pAdvertising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setMinPreferred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0x12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9D044E4E-D544-0562-344D-1DB4F3B1A4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5F2F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9B737A-2469-C195-BB32-B61B162CBFFB}"/>
              </a:ext>
            </a:extLst>
          </p:cNvPr>
          <p:cNvSpPr txBox="1"/>
          <p:nvPr/>
        </p:nvSpPr>
        <p:spPr>
          <a:xfrm>
            <a:off x="532263" y="2240142"/>
            <a:ext cx="8244565" cy="21279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BLE </a:t>
            </a:r>
            <a:r>
              <a:rPr lang="ko-KR" altLang="en-US" sz="1600" dirty="0"/>
              <a:t>연결 간격</a:t>
            </a:r>
            <a:r>
              <a:rPr lang="en-US" altLang="ko-KR" sz="1600" dirty="0"/>
              <a:t>(connection Interval) </a:t>
            </a:r>
            <a:r>
              <a:rPr lang="ko-KR" altLang="en-US" sz="1600" dirty="0"/>
              <a:t>설정하는 함수</a:t>
            </a:r>
            <a:endParaRPr lang="en-US" altLang="ko-KR" sz="1600" dirty="0"/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단위는 </a:t>
            </a:r>
            <a:r>
              <a:rPr lang="en-US" altLang="ko-KR" sz="1600" dirty="0"/>
              <a:t>msec </a:t>
            </a:r>
            <a:r>
              <a:rPr lang="ko-KR" altLang="en-US" sz="1600" dirty="0"/>
              <a:t>이며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설정값에</a:t>
            </a:r>
            <a:r>
              <a:rPr lang="ko-KR" altLang="en-US" sz="1600" dirty="0"/>
              <a:t> </a:t>
            </a:r>
            <a:r>
              <a:rPr lang="en-US" altLang="ko-KR" sz="1600" dirty="0"/>
              <a:t>1.25</a:t>
            </a:r>
            <a:r>
              <a:rPr lang="ko-KR" altLang="en-US" sz="1600" dirty="0"/>
              <a:t>를 곱해준다</a:t>
            </a:r>
            <a:r>
              <a:rPr lang="en-US" altLang="ko-KR" sz="1600" dirty="0"/>
              <a:t>.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0x06 = 6 x 1.25 = 7.5msec</a:t>
            </a:r>
            <a:br>
              <a:rPr lang="en-US" altLang="ko-KR" sz="1600" dirty="0"/>
            </a:br>
            <a:r>
              <a:rPr lang="en-US" altLang="ko-KR" sz="1600" dirty="0"/>
              <a:t>0x12 = 18 x 1.25 = 22.5mse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짧은 연결 간격은 배터리 소모 등 문제가 있으나 </a:t>
            </a:r>
            <a:r>
              <a:rPr lang="en-US" altLang="ko-KR" sz="1600" dirty="0"/>
              <a:t>Ios </a:t>
            </a:r>
            <a:r>
              <a:rPr lang="ko-KR" altLang="en-US" sz="1600" dirty="0"/>
              <a:t>에서는 짧은 연결 간격을 요구함</a:t>
            </a:r>
            <a:endParaRPr lang="en-US" altLang="ko-KR" sz="1600" dirty="0"/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사용 환경에 맞는 설정이 필요</a:t>
            </a:r>
          </a:p>
        </p:txBody>
      </p:sp>
    </p:spTree>
    <p:extLst>
      <p:ext uri="{BB962C8B-B14F-4D97-AF65-F5344CB8AC3E}">
        <p14:creationId xmlns:p14="http://schemas.microsoft.com/office/powerpoint/2010/main" val="35949205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254AF-4816-1181-CD17-0534702AE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87254BE-2EE9-BC50-CD1E-593173775259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동작 결과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9A36EC5E-4884-C738-F0BA-2D166B1B6D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5F2F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DEB5E50-B210-284E-7BBA-6C0F85079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303" y="1033256"/>
            <a:ext cx="5087060" cy="2962688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73D8664-C4B9-090E-18FA-00DCB80AD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5817" y="1033256"/>
            <a:ext cx="3772426" cy="4706007"/>
          </a:xfrm>
          <a:prstGeom prst="rect">
            <a:avLst/>
          </a:prstGeom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1C4A4BD8-F638-9DC3-8B34-1C58868A5B07}"/>
              </a:ext>
            </a:extLst>
          </p:cNvPr>
          <p:cNvSpPr/>
          <p:nvPr/>
        </p:nvSpPr>
        <p:spPr>
          <a:xfrm>
            <a:off x="7192370" y="5182529"/>
            <a:ext cx="3330054" cy="434500"/>
          </a:xfrm>
          <a:prstGeom prst="roundRect">
            <a:avLst/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36946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D95BD-EC2C-771C-822B-F1B6CDBBB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F05992C-9CC5-5F3D-8A4E-9E10A99F85D1}"/>
              </a:ext>
            </a:extLst>
          </p:cNvPr>
          <p:cNvSpPr/>
          <p:nvPr/>
        </p:nvSpPr>
        <p:spPr>
          <a:xfrm>
            <a:off x="0" y="0"/>
            <a:ext cx="12192000" cy="2715904"/>
          </a:xfrm>
          <a:prstGeom prst="rect">
            <a:avLst/>
          </a:prstGeom>
          <a:solidFill>
            <a:schemeClr val="accent3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6212" algn="ctr">
              <a:lnSpc>
                <a:spcPts val="7000"/>
              </a:lnSpc>
            </a:pPr>
            <a:r>
              <a:rPr lang="en-US" altLang="ko-KR" sz="44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ESP32 BLE Peripheral(Server):</a:t>
            </a:r>
          </a:p>
          <a:p>
            <a:pPr marL="176212" algn="ctr">
              <a:lnSpc>
                <a:spcPts val="7000"/>
              </a:lnSpc>
            </a:pPr>
            <a:r>
              <a:rPr lang="en-US" altLang="ko-KR" sz="44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Environmental Sensing Service</a:t>
            </a:r>
            <a:endParaRPr lang="ko-KR" altLang="en-US" sz="44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41544BD7-80AB-06C5-461A-6D396A717A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65" cy="276999"/>
          </a:xfrm>
          <a:prstGeom prst="rect">
            <a:avLst/>
          </a:prstGeom>
          <a:solidFill>
            <a:srgbClr val="F5F2F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C475B14-574E-54DC-625E-645DCB0B8B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835" y="2715904"/>
            <a:ext cx="7930165" cy="4142096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7EF27418-F717-650A-14D1-8B3BE1F21D3D}"/>
              </a:ext>
            </a:extLst>
          </p:cNvPr>
          <p:cNvSpPr/>
          <p:nvPr/>
        </p:nvSpPr>
        <p:spPr>
          <a:xfrm>
            <a:off x="0" y="2715904"/>
            <a:ext cx="4261705" cy="414209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238E34-8B05-4444-78D0-E53DB0A14D84}"/>
              </a:ext>
            </a:extLst>
          </p:cNvPr>
          <p:cNvSpPr txBox="1"/>
          <p:nvPr/>
        </p:nvSpPr>
        <p:spPr>
          <a:xfrm>
            <a:off x="96714" y="4923976"/>
            <a:ext cx="406827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000" dirty="0">
                <a:hlinkClick r:id="rId3"/>
              </a:rPr>
              <a:t>https://randomnerdtutorials.com/esp32-ble-server-environmental-sensing-service/</a:t>
            </a:r>
            <a:endParaRPr lang="ko-KR" alt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612AE3-0B5A-E0A9-410A-7A51B8B69983}"/>
              </a:ext>
            </a:extLst>
          </p:cNvPr>
          <p:cNvSpPr txBox="1"/>
          <p:nvPr/>
        </p:nvSpPr>
        <p:spPr>
          <a:xfrm flipH="1">
            <a:off x="96712" y="3195576"/>
            <a:ext cx="40682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400" b="1" dirty="0"/>
              <a:t>DHT11 </a:t>
            </a:r>
            <a:r>
              <a:rPr lang="en-US" altLang="ko-KR" sz="2400" b="1" dirty="0">
                <a:sym typeface="Wingdings" panose="05000000000000000000" pitchFamily="2" charset="2"/>
              </a:rPr>
              <a:t> Temp/Humi</a:t>
            </a:r>
            <a:br>
              <a:rPr lang="en-US" altLang="ko-KR" sz="2400" b="1" dirty="0">
                <a:sym typeface="Wingdings" panose="05000000000000000000" pitchFamily="2" charset="2"/>
              </a:rPr>
            </a:br>
            <a:r>
              <a:rPr lang="en-US" altLang="ko-KR" sz="2400" b="1" dirty="0">
                <a:sym typeface="Wingdings" panose="05000000000000000000" pitchFamily="2" charset="2"/>
              </a:rPr>
              <a:t>BLE</a:t>
            </a:r>
            <a:r>
              <a:rPr lang="ko-KR" altLang="en-US" sz="2400" b="1" dirty="0">
                <a:sym typeface="Wingdings" panose="05000000000000000000" pitchFamily="2" charset="2"/>
              </a:rPr>
              <a:t> 전송</a:t>
            </a:r>
            <a:endParaRPr lang="ko-KR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778324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18DC1-5924-E702-B58C-A07375B88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FE22EEE-845E-BCC5-4823-F472C44F9388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Project Overview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F813C9-9963-F718-13A1-A246158FEADA}"/>
              </a:ext>
            </a:extLst>
          </p:cNvPr>
          <p:cNvSpPr txBox="1"/>
          <p:nvPr/>
        </p:nvSpPr>
        <p:spPr>
          <a:xfrm>
            <a:off x="289367" y="813304"/>
            <a:ext cx="10166629" cy="748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 DHT11</a:t>
            </a:r>
            <a:r>
              <a:rPr lang="ko-KR" altLang="en-US" dirty="0"/>
              <a:t> 온도</a:t>
            </a:r>
            <a:r>
              <a:rPr lang="en-US" altLang="ko-KR" dirty="0"/>
              <a:t>, </a:t>
            </a:r>
            <a:r>
              <a:rPr lang="ko-KR" altLang="en-US" dirty="0"/>
              <a:t>습도 </a:t>
            </a:r>
            <a:r>
              <a:rPr lang="en-US" altLang="ko-KR" dirty="0"/>
              <a:t>2</a:t>
            </a:r>
            <a:r>
              <a:rPr lang="ko-KR" altLang="en-US" dirty="0"/>
              <a:t>개 센싱 값을 저장하는 </a:t>
            </a:r>
            <a:r>
              <a:rPr lang="en-US" altLang="ko-KR" dirty="0"/>
              <a:t>Characteristics</a:t>
            </a:r>
            <a:r>
              <a:rPr lang="ko-KR" altLang="en-US" dirty="0"/>
              <a:t>를 가지는 하나의 </a:t>
            </a:r>
            <a:r>
              <a:rPr lang="en-US" altLang="ko-KR" dirty="0"/>
              <a:t>Service</a:t>
            </a:r>
            <a:r>
              <a:rPr lang="ko-KR" altLang="en-US" dirty="0"/>
              <a:t>를 만든다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실제 온도 습도 값은  </a:t>
            </a:r>
            <a:r>
              <a:rPr lang="en-US" altLang="ko-KR" dirty="0"/>
              <a:t>characteristic </a:t>
            </a:r>
            <a:r>
              <a:rPr lang="en-US" altLang="ko-KR" dirty="0">
                <a:sym typeface="Wingdings" panose="05000000000000000000" pitchFamily="2" charset="2"/>
              </a:rPr>
              <a:t> value </a:t>
            </a:r>
            <a:r>
              <a:rPr lang="ko-KR" altLang="en-US" dirty="0">
                <a:sym typeface="Wingdings" panose="05000000000000000000" pitchFamily="2" charset="2"/>
              </a:rPr>
              <a:t>에 저장되며 </a:t>
            </a:r>
            <a:r>
              <a:rPr lang="en-US" altLang="ko-KR" dirty="0">
                <a:sym typeface="Wingdings" panose="05000000000000000000" pitchFamily="2" charset="2"/>
              </a:rPr>
              <a:t>notify</a:t>
            </a:r>
            <a:r>
              <a:rPr lang="ko-KR" altLang="en-US" dirty="0">
                <a:sym typeface="Wingdings" panose="05000000000000000000" pitchFamily="2" charset="2"/>
              </a:rPr>
              <a:t> 속성을 가지고 있다</a:t>
            </a:r>
            <a:r>
              <a:rPr lang="en-US" altLang="ko-KR" dirty="0">
                <a:sym typeface="Wingdings" panose="05000000000000000000" pitchFamily="2" charset="2"/>
              </a:rPr>
              <a:t>. 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6EC57EA-0855-8C2F-32B2-5622047D5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858" y="1561907"/>
            <a:ext cx="6620160" cy="526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5987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DB473-C884-5197-6A84-0F95F8F9F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B7442EA-AED4-B093-573E-F766A162BA86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UUID for the Environmental Sensing Profile and corresponding characteristics.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6AF21B-A419-BFBB-C426-EE9D8E539284}"/>
              </a:ext>
            </a:extLst>
          </p:cNvPr>
          <p:cNvSpPr txBox="1"/>
          <p:nvPr/>
        </p:nvSpPr>
        <p:spPr>
          <a:xfrm>
            <a:off x="289367" y="813304"/>
            <a:ext cx="7258397" cy="748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 </a:t>
            </a:r>
            <a:r>
              <a:rPr lang="ko-KR" altLang="en-US" dirty="0"/>
              <a:t>이번 실험에서는 </a:t>
            </a:r>
            <a:r>
              <a:rPr lang="en-US" altLang="ko-KR" dirty="0"/>
              <a:t>default UUIDs</a:t>
            </a:r>
            <a:r>
              <a:rPr lang="ko-KR" altLang="en-US" dirty="0"/>
              <a:t>를 사용한다</a:t>
            </a:r>
            <a:r>
              <a:rPr lang="en-US" altLang="ko-KR" dirty="0"/>
              <a:t>.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개별 서비스에 부여된 </a:t>
            </a:r>
            <a:r>
              <a:rPr lang="en-US" altLang="ko-KR" dirty="0"/>
              <a:t>UUID</a:t>
            </a:r>
            <a:r>
              <a:rPr lang="ko-KR" altLang="en-US" dirty="0"/>
              <a:t>는 다음 </a:t>
            </a:r>
            <a:r>
              <a:rPr lang="en-US" altLang="ko-KR" dirty="0"/>
              <a:t>WEB site</a:t>
            </a:r>
            <a:r>
              <a:rPr lang="ko-KR" altLang="en-US" dirty="0"/>
              <a:t>에서 확인할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9683EB-F129-B51D-5CA7-BA2D06993E75}"/>
              </a:ext>
            </a:extLst>
          </p:cNvPr>
          <p:cNvSpPr txBox="1"/>
          <p:nvPr/>
        </p:nvSpPr>
        <p:spPr>
          <a:xfrm>
            <a:off x="593677" y="1561907"/>
            <a:ext cx="113089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hlinkClick r:id="rId2"/>
              </a:rPr>
              <a:t>https://btprodspecificationrefs.blob.core.windows.net/assigned-numbers/Assigned%20Number%20Types/Assigned_Numbers.pdf</a:t>
            </a:r>
            <a:endParaRPr lang="ko-KR" altLang="en-US" sz="14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8B25527-328E-9304-D4B9-36C03AFDF1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935" y="2020789"/>
            <a:ext cx="6846829" cy="893065"/>
          </a:xfrm>
          <a:prstGeom prst="rect">
            <a:avLst/>
          </a:prstGeom>
        </p:spPr>
      </p:pic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3892C13-1B06-E316-6C5E-0252D800A409}"/>
              </a:ext>
            </a:extLst>
          </p:cNvPr>
          <p:cNvSpPr/>
          <p:nvPr/>
        </p:nvSpPr>
        <p:spPr>
          <a:xfrm>
            <a:off x="700935" y="2306472"/>
            <a:ext cx="6846829" cy="311815"/>
          </a:xfrm>
          <a:prstGeom prst="round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C6BDAF1-CECD-7581-1582-029C6A8DF0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77" y="3712611"/>
            <a:ext cx="9261437" cy="46307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0B827C9-EDBE-33CC-65DD-A736E2C494EB}"/>
              </a:ext>
            </a:extLst>
          </p:cNvPr>
          <p:cNvSpPr txBox="1"/>
          <p:nvPr/>
        </p:nvSpPr>
        <p:spPr>
          <a:xfrm>
            <a:off x="289367" y="3176210"/>
            <a:ext cx="3087384" cy="402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 Characteristics by Name</a:t>
            </a:r>
            <a:endParaRPr lang="ko-KR" altLang="en-US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0D3BEB1-6613-AF7D-7681-9B159D899D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934" y="4309729"/>
            <a:ext cx="9154179" cy="418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3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94EBC-130E-A3D3-0540-C053E05A2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B198C71-EAB5-5471-E6A1-F08DCBA3DC07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UUID for the Environmental Sensing Profile and corresponding characteristics.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EF3097-3E32-F00A-6D87-6516DA90CF1B}"/>
              </a:ext>
            </a:extLst>
          </p:cNvPr>
          <p:cNvSpPr txBox="1"/>
          <p:nvPr/>
        </p:nvSpPr>
        <p:spPr>
          <a:xfrm>
            <a:off x="289367" y="813304"/>
            <a:ext cx="7258397" cy="748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 </a:t>
            </a:r>
            <a:r>
              <a:rPr lang="ko-KR" altLang="en-US" dirty="0"/>
              <a:t>이번 실험에서는 </a:t>
            </a:r>
            <a:r>
              <a:rPr lang="en-US" altLang="ko-KR" dirty="0"/>
              <a:t>default UUIDs</a:t>
            </a:r>
            <a:r>
              <a:rPr lang="ko-KR" altLang="en-US" dirty="0"/>
              <a:t>를 사용한다</a:t>
            </a:r>
            <a:r>
              <a:rPr lang="en-US" altLang="ko-KR" dirty="0"/>
              <a:t>.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개별 서비스에 부여된 </a:t>
            </a:r>
            <a:r>
              <a:rPr lang="en-US" altLang="ko-KR" dirty="0"/>
              <a:t>UUID</a:t>
            </a:r>
            <a:r>
              <a:rPr lang="ko-KR" altLang="en-US" dirty="0"/>
              <a:t>는 다음 </a:t>
            </a:r>
            <a:r>
              <a:rPr lang="en-US" altLang="ko-KR" dirty="0"/>
              <a:t>WEB site</a:t>
            </a:r>
            <a:r>
              <a:rPr lang="ko-KR" altLang="en-US" dirty="0"/>
              <a:t>에서 확인할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63A9D0-2545-6395-F6F4-48AD3F16EF45}"/>
              </a:ext>
            </a:extLst>
          </p:cNvPr>
          <p:cNvSpPr txBox="1"/>
          <p:nvPr/>
        </p:nvSpPr>
        <p:spPr>
          <a:xfrm>
            <a:off x="593677" y="1561907"/>
            <a:ext cx="113089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hlinkClick r:id="rId2"/>
              </a:rPr>
              <a:t>https://btprodspecificationrefs.blob.core.windows.net/assigned-numbers/Assigned%20Number%20Types/Assigned_Numbers.pdf</a:t>
            </a:r>
            <a:endParaRPr lang="ko-KR" altLang="en-US" sz="14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218B0F8-BF14-1A96-9982-29E885DCEE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935" y="2020789"/>
            <a:ext cx="6846829" cy="893065"/>
          </a:xfrm>
          <a:prstGeom prst="rect">
            <a:avLst/>
          </a:prstGeom>
        </p:spPr>
      </p:pic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C4FD1241-D8DA-2B54-F28A-B95E33531A4B}"/>
              </a:ext>
            </a:extLst>
          </p:cNvPr>
          <p:cNvSpPr/>
          <p:nvPr/>
        </p:nvSpPr>
        <p:spPr>
          <a:xfrm>
            <a:off x="700935" y="2306472"/>
            <a:ext cx="6846829" cy="311815"/>
          </a:xfrm>
          <a:prstGeom prst="round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DB61229-9E36-4F98-6808-2554967976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77" y="3712611"/>
            <a:ext cx="9261437" cy="46307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55AFC4D-07BD-60F1-9C42-A7DAF9C92519}"/>
              </a:ext>
            </a:extLst>
          </p:cNvPr>
          <p:cNvSpPr txBox="1"/>
          <p:nvPr/>
        </p:nvSpPr>
        <p:spPr>
          <a:xfrm>
            <a:off x="289367" y="3176210"/>
            <a:ext cx="3087384" cy="402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 Characteristics by Name</a:t>
            </a:r>
            <a:endParaRPr lang="ko-KR" altLang="en-US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AF87BA58-F591-161D-9730-FE69FA4D95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934" y="4309729"/>
            <a:ext cx="9154179" cy="418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4263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68089-3A14-AE95-CB1B-A128391DA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21F3CD4-1E09-9E1C-1193-F42D5466685E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실습 예제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:  ESP32 BLE Temp &amp; </a:t>
            </a:r>
            <a:r>
              <a:rPr lang="en-US" altLang="ko-KR" sz="2000" b="1" dirty="0" err="1">
                <a:solidFill>
                  <a:schemeClr val="bg1">
                    <a:lumMod val="95000"/>
                  </a:schemeClr>
                </a:solidFill>
                <a:latin typeface="+mn-ea"/>
              </a:rPr>
              <a:t>Humi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 Monitoring System using DHT11 Sensor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800519-5BFC-81B7-9E93-1C6A66D64912}"/>
              </a:ext>
            </a:extLst>
          </p:cNvPr>
          <p:cNvSpPr txBox="1"/>
          <p:nvPr/>
        </p:nvSpPr>
        <p:spPr>
          <a:xfrm>
            <a:off x="333102" y="774115"/>
            <a:ext cx="108574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linkClick r:id="rId2"/>
              </a:rPr>
              <a:t>ESP32 BLE Temperature and Humidity Monitoring System using DHT11 Sensor</a:t>
            </a:r>
            <a:endParaRPr lang="ko-KR" altLang="en-US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2EE6B4EC-7173-81D7-15CE-9C2C7FF707B6}"/>
              </a:ext>
            </a:extLst>
          </p:cNvPr>
          <p:cNvGrpSpPr/>
          <p:nvPr/>
        </p:nvGrpSpPr>
        <p:grpSpPr>
          <a:xfrm>
            <a:off x="624197" y="1261070"/>
            <a:ext cx="7439940" cy="5488073"/>
            <a:chOff x="624197" y="1261070"/>
            <a:chExt cx="7439940" cy="5488073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F012B530-5ED5-3D41-1BE5-9A07B039BE5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4197" y="1261070"/>
              <a:ext cx="7029245" cy="5488073"/>
            </a:xfrm>
            <a:prstGeom prst="rect">
              <a:avLst/>
            </a:prstGeom>
          </p:spPr>
        </p:pic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5472C4B9-BE0C-0AAB-3450-7842CFF55A57}"/>
                </a:ext>
              </a:extLst>
            </p:cNvPr>
            <p:cNvSpPr/>
            <p:nvPr/>
          </p:nvSpPr>
          <p:spPr>
            <a:xfrm>
              <a:off x="6827520" y="1261070"/>
              <a:ext cx="1236617" cy="51547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9603037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C0113-8B4F-564C-E48A-A3DC2BBFA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ABF3F42-8F1F-C152-520F-C578769B9FE8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실습 예제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:  Hardware Circuit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4C83E7-1D73-2DEB-6893-E4E51BE75249}"/>
              </a:ext>
            </a:extLst>
          </p:cNvPr>
          <p:cNvSpPr txBox="1"/>
          <p:nvPr/>
        </p:nvSpPr>
        <p:spPr>
          <a:xfrm>
            <a:off x="285477" y="6317665"/>
            <a:ext cx="108574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linkClick r:id="rId2"/>
              </a:rPr>
              <a:t>ESP32 BLE Temperature and Humidity Monitoring System using DHT11 Sensor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8EF79C7-14B2-67A2-EFBD-7E86C3B2B2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7724" y="1266539"/>
            <a:ext cx="4486901" cy="4096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4411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C7B66-FD54-C318-C75A-8016065A3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6DF122B4-42E4-7FCB-C7D3-AE303D630902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Code  ¼                DHT11_BLE.ino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043FE9-D026-F819-745F-AF30244B7A4B}"/>
              </a:ext>
            </a:extLst>
          </p:cNvPr>
          <p:cNvSpPr txBox="1"/>
          <p:nvPr/>
        </p:nvSpPr>
        <p:spPr>
          <a:xfrm>
            <a:off x="183356" y="744647"/>
            <a:ext cx="6161460" cy="5755422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sz="1600" b="0" i="0" dirty="0">
                <a:solidFill>
                  <a:srgbClr val="B85C00"/>
                </a:solidFill>
                <a:effectLst/>
                <a:latin typeface="inherit"/>
              </a:rPr>
              <a:t>#include &lt;</a:t>
            </a:r>
            <a:r>
              <a:rPr lang="en-US" altLang="ko-KR" sz="1600" b="0" i="0" dirty="0" err="1">
                <a:solidFill>
                  <a:srgbClr val="B85C00"/>
                </a:solidFill>
                <a:effectLst/>
                <a:latin typeface="inherit"/>
              </a:rPr>
              <a:t>BLEDevice.h</a:t>
            </a:r>
            <a:r>
              <a:rPr lang="en-US" altLang="ko-KR" sz="1600" b="0" i="0" dirty="0">
                <a:solidFill>
                  <a:srgbClr val="B85C00"/>
                </a:solidFill>
                <a:effectLst/>
                <a:latin typeface="inherit"/>
              </a:rPr>
              <a:t>&gt;</a:t>
            </a:r>
            <a:endParaRPr lang="en-US" altLang="ko-KR" sz="1600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/>
            <a:r>
              <a:rPr lang="en-US" altLang="ko-KR" sz="1600" b="0" i="0" dirty="0">
                <a:solidFill>
                  <a:srgbClr val="B85C00"/>
                </a:solidFill>
                <a:effectLst/>
                <a:latin typeface="inherit"/>
              </a:rPr>
              <a:t>#include &lt;</a:t>
            </a:r>
            <a:r>
              <a:rPr lang="en-US" altLang="ko-KR" sz="1600" b="0" i="0" dirty="0" err="1">
                <a:solidFill>
                  <a:srgbClr val="B85C00"/>
                </a:solidFill>
                <a:effectLst/>
                <a:latin typeface="inherit"/>
              </a:rPr>
              <a:t>BLEServer.h</a:t>
            </a:r>
            <a:r>
              <a:rPr lang="en-US" altLang="ko-KR" sz="1600" b="0" i="0" dirty="0">
                <a:solidFill>
                  <a:srgbClr val="B85C00"/>
                </a:solidFill>
                <a:effectLst/>
                <a:latin typeface="inherit"/>
              </a:rPr>
              <a:t>&gt;</a:t>
            </a:r>
            <a:endParaRPr lang="en-US" altLang="ko-KR" sz="1600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B85C00"/>
                </a:solidFill>
                <a:effectLst/>
                <a:latin typeface="inherit"/>
              </a:rPr>
              <a:t>#include &lt;</a:t>
            </a:r>
            <a:r>
              <a:rPr lang="en-US" altLang="ko-KR" sz="1600" b="0" i="0" dirty="0" err="1">
                <a:solidFill>
                  <a:srgbClr val="B85C00"/>
                </a:solidFill>
                <a:effectLst/>
                <a:latin typeface="inherit"/>
              </a:rPr>
              <a:t>BLEUtils.h</a:t>
            </a:r>
            <a:r>
              <a:rPr lang="en-US" altLang="ko-KR" sz="1600" b="0" i="0" dirty="0">
                <a:solidFill>
                  <a:srgbClr val="B85C00"/>
                </a:solidFill>
                <a:effectLst/>
                <a:latin typeface="inherit"/>
              </a:rPr>
              <a:t>&gt;</a:t>
            </a:r>
            <a:endParaRPr lang="en-US" altLang="ko-KR" sz="1600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B85C00"/>
                </a:solidFill>
                <a:effectLst/>
                <a:latin typeface="inherit"/>
              </a:rPr>
              <a:t>#include &lt;BLE2902.h&gt;</a:t>
            </a:r>
            <a:endParaRPr lang="en-US" altLang="ko-KR" sz="1600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B85C00"/>
                </a:solidFill>
                <a:effectLst/>
                <a:latin typeface="inherit"/>
              </a:rPr>
              <a:t>#include &lt;</a:t>
            </a:r>
            <a:r>
              <a:rPr lang="en-US" altLang="ko-KR" sz="1600" b="0" i="0" dirty="0" err="1">
                <a:solidFill>
                  <a:srgbClr val="B85C00"/>
                </a:solidFill>
                <a:effectLst/>
                <a:latin typeface="inherit"/>
              </a:rPr>
              <a:t>DHT.h</a:t>
            </a:r>
            <a:r>
              <a:rPr lang="en-US" altLang="ko-KR" sz="1600" b="0" i="0" dirty="0">
                <a:solidFill>
                  <a:srgbClr val="B85C00"/>
                </a:solidFill>
                <a:effectLst/>
                <a:latin typeface="inherit"/>
              </a:rPr>
              <a:t>&gt;</a:t>
            </a:r>
            <a:endParaRPr lang="en-US" altLang="ko-KR" sz="1600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sz="1600" b="0" i="1" dirty="0">
                <a:solidFill>
                  <a:srgbClr val="999999"/>
                </a:solidFill>
                <a:effectLst/>
                <a:latin typeface="inherit"/>
              </a:rPr>
              <a:t>// DHT Sensor</a:t>
            </a:r>
            <a:endParaRPr lang="en-US" altLang="ko-KR" sz="1600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B85C00"/>
                </a:solidFill>
                <a:effectLst/>
                <a:latin typeface="inherit"/>
              </a:rPr>
              <a:t>#define DHTPIN 32     // Pin which is connected to the DHT sensor.</a:t>
            </a:r>
            <a:endParaRPr lang="en-US" altLang="ko-KR" sz="1600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B85C00"/>
                </a:solidFill>
                <a:effectLst/>
                <a:latin typeface="inherit"/>
              </a:rPr>
              <a:t>#define DHTTYPE DHT11 // DHT 11</a:t>
            </a:r>
            <a:endParaRPr lang="en-US" altLang="ko-KR" sz="1600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8080"/>
                </a:solidFill>
                <a:effectLst/>
                <a:latin typeface="inherit"/>
              </a:rPr>
              <a:t>DHT </a:t>
            </a:r>
            <a:r>
              <a:rPr lang="en-US" altLang="ko-KR" sz="1600" b="0" i="0" dirty="0" err="1">
                <a:solidFill>
                  <a:srgbClr val="008080"/>
                </a:solidFill>
                <a:effectLst/>
                <a:latin typeface="inherit"/>
              </a:rPr>
              <a:t>dht</a:t>
            </a:r>
            <a:r>
              <a:rPr lang="en-US" altLang="ko-KR" sz="1600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sz="1600" b="0" i="0" dirty="0">
                <a:solidFill>
                  <a:srgbClr val="002D7A"/>
                </a:solidFill>
                <a:effectLst/>
                <a:latin typeface="inherit"/>
              </a:rPr>
              <a:t>DHTPIN</a:t>
            </a:r>
            <a:r>
              <a:rPr lang="en-US" altLang="ko-KR" sz="1600" b="0" i="0" dirty="0">
                <a:solidFill>
                  <a:srgbClr val="333333"/>
                </a:solidFill>
                <a:effectLst/>
                <a:latin typeface="inherit"/>
              </a:rPr>
              <a:t>,</a:t>
            </a: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sz="1600" b="0" i="0" dirty="0">
                <a:solidFill>
                  <a:srgbClr val="002D7A"/>
                </a:solidFill>
                <a:effectLst/>
                <a:latin typeface="inherit"/>
              </a:rPr>
              <a:t>DHTTYPE</a:t>
            </a:r>
            <a:r>
              <a:rPr lang="en-US" altLang="ko-KR" sz="1600" b="0" i="0" dirty="0">
                <a:solidFill>
                  <a:srgbClr val="333333"/>
                </a:solidFill>
                <a:effectLst/>
                <a:latin typeface="inherit"/>
              </a:rPr>
              <a:t>);</a:t>
            </a:r>
            <a:endParaRPr lang="en-US" altLang="ko-KR" sz="1600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sz="1600" b="0" i="0" dirty="0" err="1">
                <a:solidFill>
                  <a:srgbClr val="008080"/>
                </a:solidFill>
                <a:effectLst/>
                <a:latin typeface="inherit"/>
              </a:rPr>
              <a:t>BLEServer</a:t>
            </a:r>
            <a:r>
              <a:rPr lang="en-US" altLang="ko-KR" sz="1600" b="0" i="0" dirty="0">
                <a:solidFill>
                  <a:srgbClr val="008080"/>
                </a:solidFill>
                <a:effectLst/>
                <a:latin typeface="inherit"/>
              </a:rPr>
              <a:t>*</a:t>
            </a: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sz="1600" b="0" i="0" dirty="0" err="1">
                <a:solidFill>
                  <a:srgbClr val="002D7A"/>
                </a:solidFill>
                <a:effectLst/>
                <a:latin typeface="inherit"/>
              </a:rPr>
              <a:t>pServer</a:t>
            </a:r>
            <a:r>
              <a:rPr lang="en-US" altLang="ko-KR" sz="1600" b="0" i="0" dirty="0">
                <a:solidFill>
                  <a:srgbClr val="333333"/>
                </a:solidFill>
                <a:effectLst/>
                <a:latin typeface="inherit"/>
              </a:rPr>
              <a:t>;</a:t>
            </a:r>
            <a:endParaRPr lang="en-US" altLang="ko-KR" sz="1600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sz="1600" b="0" i="0" dirty="0" err="1">
                <a:solidFill>
                  <a:srgbClr val="008080"/>
                </a:solidFill>
                <a:effectLst/>
                <a:latin typeface="inherit"/>
              </a:rPr>
              <a:t>BLECharacteristic</a:t>
            </a:r>
            <a:r>
              <a:rPr lang="en-US" altLang="ko-KR" sz="1600" b="0" i="0" dirty="0">
                <a:solidFill>
                  <a:srgbClr val="008080"/>
                </a:solidFill>
                <a:effectLst/>
                <a:latin typeface="inherit"/>
              </a:rPr>
              <a:t>*</a:t>
            </a: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sz="1600" b="0" i="0" dirty="0" err="1">
                <a:solidFill>
                  <a:srgbClr val="002D7A"/>
                </a:solidFill>
                <a:effectLst/>
                <a:latin typeface="inherit"/>
              </a:rPr>
              <a:t>pCharacteristic</a:t>
            </a:r>
            <a:r>
              <a:rPr lang="en-US" altLang="ko-KR" sz="1600" b="0" i="0" dirty="0">
                <a:solidFill>
                  <a:srgbClr val="333333"/>
                </a:solidFill>
                <a:effectLst/>
                <a:latin typeface="inherit"/>
              </a:rPr>
              <a:t>;</a:t>
            </a:r>
            <a:endParaRPr lang="en-US" altLang="ko-KR" sz="1600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sz="1600" b="1" i="0" dirty="0">
                <a:solidFill>
                  <a:srgbClr val="800080"/>
                </a:solidFill>
                <a:effectLst/>
                <a:latin typeface="inherit"/>
              </a:rPr>
              <a:t>bool</a:t>
            </a: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sz="1600" b="0" i="0" dirty="0" err="1">
                <a:solidFill>
                  <a:srgbClr val="002D7A"/>
                </a:solidFill>
                <a:effectLst/>
                <a:latin typeface="inherit"/>
              </a:rPr>
              <a:t>deviceConnected</a:t>
            </a: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 = </a:t>
            </a:r>
            <a:r>
              <a:rPr lang="en-US" altLang="ko-KR" sz="1600" b="1" i="0" dirty="0">
                <a:solidFill>
                  <a:srgbClr val="800080"/>
                </a:solidFill>
                <a:effectLst/>
                <a:latin typeface="inherit"/>
              </a:rPr>
              <a:t>false</a:t>
            </a:r>
            <a:r>
              <a:rPr lang="en-US" altLang="ko-KR" sz="1600" b="0" i="0" dirty="0">
                <a:solidFill>
                  <a:srgbClr val="333333"/>
                </a:solidFill>
                <a:effectLst/>
                <a:latin typeface="inherit"/>
              </a:rPr>
              <a:t>;</a:t>
            </a:r>
            <a:endParaRPr lang="en-US" altLang="ko-KR" sz="1600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sz="1600" b="1" i="0" dirty="0">
                <a:solidFill>
                  <a:srgbClr val="800080"/>
                </a:solidFill>
                <a:effectLst/>
                <a:latin typeface="inherit"/>
              </a:rPr>
              <a:t>bool</a:t>
            </a: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sz="1600" b="0" i="0" dirty="0" err="1">
                <a:solidFill>
                  <a:srgbClr val="002D7A"/>
                </a:solidFill>
                <a:effectLst/>
                <a:latin typeface="inherit"/>
              </a:rPr>
              <a:t>oldDeviceConnected</a:t>
            </a: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 = </a:t>
            </a:r>
            <a:r>
              <a:rPr lang="en-US" altLang="ko-KR" sz="1600" b="1" i="0" dirty="0">
                <a:solidFill>
                  <a:srgbClr val="800080"/>
                </a:solidFill>
                <a:effectLst/>
                <a:latin typeface="inherit"/>
              </a:rPr>
              <a:t>false</a:t>
            </a:r>
            <a:r>
              <a:rPr lang="en-US" altLang="ko-KR" sz="1600" b="0" i="0" dirty="0">
                <a:solidFill>
                  <a:srgbClr val="333333"/>
                </a:solidFill>
                <a:effectLst/>
                <a:latin typeface="inherit"/>
              </a:rPr>
              <a:t>;</a:t>
            </a:r>
            <a:endParaRPr lang="en-US" altLang="ko-KR" sz="1600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Monaco"/>
              </a:rPr>
              <a:t> </a:t>
            </a:r>
          </a:p>
          <a:p>
            <a:pPr algn="l">
              <a:buNone/>
            </a:pPr>
            <a:r>
              <a:rPr lang="en-US" altLang="ko-KR" sz="1600" b="1" i="0" dirty="0">
                <a:solidFill>
                  <a:srgbClr val="800080"/>
                </a:solidFill>
                <a:effectLst/>
                <a:latin typeface="inherit"/>
              </a:rPr>
              <a:t>class</a:t>
            </a: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sz="1600" b="0" i="0" dirty="0" err="1">
                <a:solidFill>
                  <a:srgbClr val="002D7A"/>
                </a:solidFill>
                <a:effectLst/>
                <a:latin typeface="inherit"/>
              </a:rPr>
              <a:t>MyServerCallbacks</a:t>
            </a: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: </a:t>
            </a:r>
            <a:r>
              <a:rPr lang="en-US" altLang="ko-KR" sz="1600" b="0" i="0" dirty="0">
                <a:solidFill>
                  <a:srgbClr val="800080"/>
                </a:solidFill>
                <a:effectLst/>
                <a:latin typeface="inherit"/>
              </a:rPr>
              <a:t>public</a:t>
            </a: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sz="1600" b="0" i="0" dirty="0" err="1">
                <a:solidFill>
                  <a:srgbClr val="008080"/>
                </a:solidFill>
                <a:effectLst/>
                <a:latin typeface="inherit"/>
              </a:rPr>
              <a:t>BLEServerCallbacks</a:t>
            </a: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sz="1600" b="0" i="0" dirty="0">
                <a:solidFill>
                  <a:srgbClr val="333333"/>
                </a:solidFill>
                <a:effectLst/>
                <a:latin typeface="inherit"/>
              </a:rPr>
              <a:t>{</a:t>
            </a:r>
            <a:endParaRPr lang="en-US" altLang="ko-KR" sz="1600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    </a:t>
            </a:r>
            <a:r>
              <a:rPr lang="en-US" altLang="ko-KR" sz="1600" b="1" i="0" dirty="0">
                <a:solidFill>
                  <a:srgbClr val="800080"/>
                </a:solidFill>
                <a:effectLst/>
                <a:latin typeface="inherit"/>
              </a:rPr>
              <a:t>void</a:t>
            </a: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sz="1600" b="0" i="0" dirty="0" err="1">
                <a:solidFill>
                  <a:srgbClr val="008080"/>
                </a:solidFill>
                <a:effectLst/>
                <a:latin typeface="inherit"/>
              </a:rPr>
              <a:t>onConnect</a:t>
            </a:r>
            <a:r>
              <a:rPr lang="en-US" altLang="ko-KR" sz="1600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sz="1600" b="0" i="0" dirty="0" err="1">
                <a:solidFill>
                  <a:srgbClr val="008080"/>
                </a:solidFill>
                <a:effectLst/>
                <a:latin typeface="inherit"/>
              </a:rPr>
              <a:t>BLEServer</a:t>
            </a:r>
            <a:r>
              <a:rPr lang="en-US" altLang="ko-KR" sz="1600" b="0" i="0" dirty="0">
                <a:solidFill>
                  <a:srgbClr val="008080"/>
                </a:solidFill>
                <a:effectLst/>
                <a:latin typeface="inherit"/>
              </a:rPr>
              <a:t>*</a:t>
            </a: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sz="1600" b="0" i="0" dirty="0" err="1">
                <a:solidFill>
                  <a:srgbClr val="002D7A"/>
                </a:solidFill>
                <a:effectLst/>
                <a:latin typeface="inherit"/>
              </a:rPr>
              <a:t>pServer</a:t>
            </a:r>
            <a:r>
              <a:rPr lang="en-US" altLang="ko-KR" sz="1600" b="0" i="0" dirty="0">
                <a:solidFill>
                  <a:srgbClr val="333333"/>
                </a:solidFill>
                <a:effectLst/>
                <a:latin typeface="inherit"/>
              </a:rPr>
              <a:t>)</a:t>
            </a: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sz="1600" b="0" i="0" dirty="0">
                <a:solidFill>
                  <a:srgbClr val="333333"/>
                </a:solidFill>
                <a:effectLst/>
                <a:latin typeface="inherit"/>
              </a:rPr>
              <a:t>{</a:t>
            </a:r>
            <a:endParaRPr lang="en-US" altLang="ko-KR" sz="1600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      </a:t>
            </a:r>
            <a:r>
              <a:rPr lang="en-US" altLang="ko-KR" sz="1600" b="0" i="0" dirty="0" err="1">
                <a:solidFill>
                  <a:srgbClr val="002D7A"/>
                </a:solidFill>
                <a:effectLst/>
                <a:latin typeface="inherit"/>
              </a:rPr>
              <a:t>deviceConnected</a:t>
            </a: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 = </a:t>
            </a:r>
            <a:r>
              <a:rPr lang="en-US" altLang="ko-KR" sz="1600" b="1" i="0" dirty="0">
                <a:solidFill>
                  <a:srgbClr val="800080"/>
                </a:solidFill>
                <a:effectLst/>
                <a:latin typeface="inherit"/>
              </a:rPr>
              <a:t>true</a:t>
            </a:r>
            <a:r>
              <a:rPr lang="en-US" altLang="ko-KR" sz="1600" b="0" i="0" dirty="0">
                <a:solidFill>
                  <a:srgbClr val="333333"/>
                </a:solidFill>
                <a:effectLst/>
                <a:latin typeface="inherit"/>
              </a:rPr>
              <a:t>;</a:t>
            </a:r>
            <a:endParaRPr lang="en-US" altLang="ko-KR" sz="1600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      </a:t>
            </a:r>
            <a:r>
              <a:rPr lang="en-US" altLang="ko-KR" sz="1600" b="0" i="0" dirty="0" err="1">
                <a:solidFill>
                  <a:srgbClr val="002D7A"/>
                </a:solidFill>
                <a:effectLst/>
                <a:latin typeface="inherit"/>
              </a:rPr>
              <a:t>BLEDevice</a:t>
            </a: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::</a:t>
            </a:r>
            <a:r>
              <a:rPr lang="en-US" altLang="ko-KR" sz="1600" b="0" i="0" dirty="0" err="1">
                <a:solidFill>
                  <a:srgbClr val="008080"/>
                </a:solidFill>
                <a:effectLst/>
                <a:latin typeface="inherit"/>
              </a:rPr>
              <a:t>startAdvertising</a:t>
            </a:r>
            <a:r>
              <a:rPr lang="en-US" altLang="ko-KR" sz="1600" b="0" i="0" dirty="0">
                <a:solidFill>
                  <a:srgbClr val="333333"/>
                </a:solidFill>
                <a:effectLst/>
                <a:latin typeface="inherit"/>
              </a:rPr>
              <a:t>();</a:t>
            </a:r>
            <a:endParaRPr lang="en-US" altLang="ko-KR" sz="1600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    </a:t>
            </a:r>
            <a:r>
              <a:rPr lang="en-US" altLang="ko-KR" sz="1600" b="0" i="0" dirty="0">
                <a:solidFill>
                  <a:srgbClr val="333333"/>
                </a:solidFill>
                <a:effectLst/>
                <a:latin typeface="inherit"/>
              </a:rPr>
              <a:t>};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Monaco"/>
              </a:rPr>
              <a:t> </a:t>
            </a:r>
          </a:p>
          <a:p>
            <a:pPr algn="l">
              <a:buNone/>
            </a:pP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    </a:t>
            </a:r>
            <a:r>
              <a:rPr lang="en-US" altLang="ko-KR" sz="1600" b="1" i="0" dirty="0">
                <a:solidFill>
                  <a:srgbClr val="800080"/>
                </a:solidFill>
                <a:effectLst/>
                <a:latin typeface="inherit"/>
              </a:rPr>
              <a:t>void</a:t>
            </a: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sz="1600" b="0" i="0" dirty="0" err="1">
                <a:solidFill>
                  <a:srgbClr val="008080"/>
                </a:solidFill>
                <a:effectLst/>
                <a:latin typeface="inherit"/>
              </a:rPr>
              <a:t>onDisconnect</a:t>
            </a:r>
            <a:r>
              <a:rPr lang="en-US" altLang="ko-KR" sz="1600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sz="1600" b="0" i="0" dirty="0" err="1">
                <a:solidFill>
                  <a:srgbClr val="008080"/>
                </a:solidFill>
                <a:effectLst/>
                <a:latin typeface="inherit"/>
              </a:rPr>
              <a:t>BLEServer</a:t>
            </a:r>
            <a:r>
              <a:rPr lang="en-US" altLang="ko-KR" sz="1600" b="0" i="0" dirty="0">
                <a:solidFill>
                  <a:srgbClr val="008080"/>
                </a:solidFill>
                <a:effectLst/>
                <a:latin typeface="inherit"/>
              </a:rPr>
              <a:t>*</a:t>
            </a: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sz="1600" b="0" i="0" dirty="0" err="1">
                <a:solidFill>
                  <a:srgbClr val="002D7A"/>
                </a:solidFill>
                <a:effectLst/>
                <a:latin typeface="inherit"/>
              </a:rPr>
              <a:t>pServer</a:t>
            </a:r>
            <a:r>
              <a:rPr lang="en-US" altLang="ko-KR" sz="1600" b="0" i="0" dirty="0">
                <a:solidFill>
                  <a:srgbClr val="333333"/>
                </a:solidFill>
                <a:effectLst/>
                <a:latin typeface="inherit"/>
              </a:rPr>
              <a:t>)</a:t>
            </a: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sz="1600" b="0" i="0" dirty="0">
                <a:solidFill>
                  <a:srgbClr val="333333"/>
                </a:solidFill>
                <a:effectLst/>
                <a:latin typeface="inherit"/>
              </a:rPr>
              <a:t>{</a:t>
            </a:r>
            <a:endParaRPr lang="en-US" altLang="ko-KR" sz="1600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      </a:t>
            </a:r>
            <a:r>
              <a:rPr lang="en-US" altLang="ko-KR" sz="1600" b="0" i="0" dirty="0" err="1">
                <a:solidFill>
                  <a:srgbClr val="002D7A"/>
                </a:solidFill>
                <a:effectLst/>
                <a:latin typeface="inherit"/>
              </a:rPr>
              <a:t>deviceConnected</a:t>
            </a: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 = </a:t>
            </a:r>
            <a:r>
              <a:rPr lang="en-US" altLang="ko-KR" sz="1600" b="1" i="0" dirty="0">
                <a:solidFill>
                  <a:srgbClr val="800080"/>
                </a:solidFill>
                <a:effectLst/>
                <a:latin typeface="inherit"/>
              </a:rPr>
              <a:t>false</a:t>
            </a:r>
            <a:r>
              <a:rPr lang="en-US" altLang="ko-KR" sz="1600" b="0" i="0" dirty="0">
                <a:solidFill>
                  <a:srgbClr val="333333"/>
                </a:solidFill>
                <a:effectLst/>
                <a:latin typeface="inherit"/>
              </a:rPr>
              <a:t>;</a:t>
            </a:r>
            <a:endParaRPr lang="en-US" altLang="ko-KR" sz="1600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6FE0"/>
                </a:solidFill>
                <a:effectLst/>
                <a:latin typeface="inherit"/>
              </a:rPr>
              <a:t>    </a:t>
            </a:r>
            <a:r>
              <a:rPr lang="en-US" altLang="ko-KR" sz="1600" b="0" i="0" dirty="0">
                <a:solidFill>
                  <a:srgbClr val="333333"/>
                </a:solidFill>
                <a:effectLst/>
                <a:latin typeface="inherit"/>
              </a:rPr>
              <a:t>}</a:t>
            </a:r>
            <a:endParaRPr lang="en-US" altLang="ko-KR" sz="1600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/>
            <a:r>
              <a:rPr lang="en-US" altLang="ko-KR" sz="1600" b="0" i="0" dirty="0">
                <a:solidFill>
                  <a:srgbClr val="333333"/>
                </a:solidFill>
                <a:effectLst/>
                <a:latin typeface="inherit"/>
              </a:rPr>
              <a:t>};</a:t>
            </a:r>
            <a:endParaRPr lang="en-US" altLang="ko-KR" sz="1600" b="0" i="0" dirty="0">
              <a:solidFill>
                <a:srgbClr val="000000"/>
              </a:solidFill>
              <a:effectLst/>
              <a:latin typeface="Monaco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E4017F-2CD5-6268-BD4B-1EB1D84DBBBA}"/>
              </a:ext>
            </a:extLst>
          </p:cNvPr>
          <p:cNvSpPr txBox="1"/>
          <p:nvPr/>
        </p:nvSpPr>
        <p:spPr>
          <a:xfrm>
            <a:off x="6344815" y="744647"/>
            <a:ext cx="5767092" cy="43674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altLang="ko-KR" sz="1200" dirty="0"/>
              <a:t>BLEDevice.h : BLE </a:t>
            </a:r>
            <a:r>
              <a:rPr lang="ko-KR" altLang="en-US" sz="1200" dirty="0"/>
              <a:t>통신을 위한 기본 </a:t>
            </a:r>
            <a:r>
              <a:rPr lang="en-US" altLang="ko-KR" sz="1200" dirty="0"/>
              <a:t>framework</a:t>
            </a:r>
            <a:r>
              <a:rPr lang="ko-KR" altLang="en-US" sz="1200" dirty="0"/>
              <a:t>와 기능 정의</a:t>
            </a:r>
            <a:endParaRPr lang="en-US" altLang="ko-KR" sz="12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altLang="ko-KR" sz="1200" dirty="0" err="1"/>
              <a:t>BLEServer.h</a:t>
            </a:r>
            <a:r>
              <a:rPr lang="en-US" altLang="ko-KR" sz="1200" dirty="0"/>
              <a:t> : BLE Server </a:t>
            </a:r>
            <a:r>
              <a:rPr lang="ko-KR" altLang="en-US" sz="1200" dirty="0"/>
              <a:t>기능 정의</a:t>
            </a:r>
            <a:r>
              <a:rPr lang="en-US" altLang="ko-KR" sz="1200" dirty="0"/>
              <a:t>, client</a:t>
            </a:r>
            <a:r>
              <a:rPr lang="ko-KR" altLang="en-US" sz="1200" dirty="0" err="1"/>
              <a:t>로부터연결</a:t>
            </a:r>
            <a:r>
              <a:rPr lang="en-US" altLang="ko-KR" sz="1200" dirty="0"/>
              <a:t>, </a:t>
            </a:r>
            <a:r>
              <a:rPr lang="ko-KR" altLang="en-US" sz="1200" dirty="0"/>
              <a:t>전송</a:t>
            </a:r>
            <a:r>
              <a:rPr lang="en-US" altLang="ko-KR" sz="1200" dirty="0"/>
              <a:t>, </a:t>
            </a:r>
            <a:r>
              <a:rPr lang="ko-KR" altLang="en-US" sz="1200" dirty="0"/>
              <a:t>수신 데이터 관리</a:t>
            </a:r>
            <a:endParaRPr lang="en-US" altLang="ko-KR" sz="12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altLang="ko-KR" sz="1200" dirty="0" err="1"/>
              <a:t>BLEUtils.h</a:t>
            </a:r>
            <a:r>
              <a:rPr lang="ko-KR" altLang="en-US" sz="1200" dirty="0"/>
              <a:t> </a:t>
            </a:r>
            <a:r>
              <a:rPr lang="en-US" altLang="ko-KR" sz="1200" dirty="0"/>
              <a:t>:</a:t>
            </a:r>
            <a:r>
              <a:rPr lang="ko-KR" altLang="en-US" sz="1200" dirty="0"/>
              <a:t>  </a:t>
            </a:r>
            <a:r>
              <a:rPr lang="en-US" altLang="ko-KR" sz="1200" dirty="0"/>
              <a:t>BLE </a:t>
            </a:r>
            <a:r>
              <a:rPr lang="ko-KR" altLang="en-US" sz="1200" dirty="0"/>
              <a:t>동작과 관련된 </a:t>
            </a:r>
            <a:r>
              <a:rPr lang="en-US" altLang="ko-KR" sz="1200" dirty="0"/>
              <a:t>debugging </a:t>
            </a:r>
            <a:r>
              <a:rPr lang="ko-KR" altLang="en-US" sz="1200" dirty="0"/>
              <a:t>도구 등 정의</a:t>
            </a:r>
            <a:endParaRPr lang="en-US" altLang="ko-KR" sz="12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altLang="ko-KR" sz="1200" dirty="0"/>
              <a:t>BLE2902 : BLE notify, indication </a:t>
            </a:r>
            <a:r>
              <a:rPr lang="ko-KR" altLang="en-US" sz="1200" dirty="0"/>
              <a:t>기능 정의</a:t>
            </a:r>
            <a:endParaRPr lang="en-US" altLang="ko-KR" sz="12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altLang="ko-KR" sz="1200" dirty="0"/>
              <a:t>UUID: 0x2922 = Client Characteristic Configuration Descriptor , CCCD)</a:t>
            </a: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altLang="ko-KR" sz="1200" dirty="0"/>
              <a:t>class </a:t>
            </a:r>
            <a:r>
              <a:rPr lang="en-US" altLang="ko-KR" sz="1200" dirty="0" err="1"/>
              <a:t>BLEServer</a:t>
            </a:r>
            <a:r>
              <a:rPr lang="en-US" altLang="ko-KR" sz="1200" dirty="0"/>
              <a:t> : public </a:t>
            </a:r>
            <a:r>
              <a:rPr lang="en-US" altLang="ko-KR" sz="1200" dirty="0" err="1"/>
              <a:t>BLEGattServer</a:t>
            </a:r>
            <a:br>
              <a:rPr lang="en-US" altLang="ko-KR" sz="1200" dirty="0"/>
            </a:br>
            <a:r>
              <a:rPr lang="en-US" altLang="ko-KR" sz="1200" dirty="0"/>
              <a:t>BLE serve</a:t>
            </a:r>
            <a:r>
              <a:rPr lang="ko-KR" altLang="en-US" sz="1200" dirty="0"/>
              <a:t>를 생성하고 </a:t>
            </a:r>
            <a:r>
              <a:rPr lang="en-US" altLang="ko-KR" sz="1200" dirty="0"/>
              <a:t>client</a:t>
            </a:r>
            <a:r>
              <a:rPr lang="ko-KR" altLang="en-US" sz="1200" dirty="0"/>
              <a:t>와 통신할 수 있도록 설정하는 객체</a:t>
            </a:r>
            <a:endParaRPr lang="en-US" altLang="ko-KR" sz="12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US" altLang="ko-KR" sz="12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altLang="ko-KR" sz="1200" dirty="0" err="1"/>
              <a:t>BLECharacteristic</a:t>
            </a:r>
            <a:r>
              <a:rPr lang="en-US" altLang="ko-KR" sz="1200" dirty="0"/>
              <a:t> : </a:t>
            </a:r>
            <a:r>
              <a:rPr lang="en-US" altLang="ko-KR" sz="1200" dirty="0" err="1"/>
              <a:t>BLEDevice.h</a:t>
            </a:r>
            <a:r>
              <a:rPr lang="ko-KR" altLang="en-US" sz="1200" dirty="0"/>
              <a:t>에서 정의한 </a:t>
            </a:r>
            <a:r>
              <a:rPr lang="en-US" altLang="ko-KR" sz="1200" dirty="0"/>
              <a:t>class</a:t>
            </a: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US" altLang="ko-KR" sz="12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altLang="ko-KR" sz="1200" dirty="0" err="1"/>
              <a:t>deviceConnected</a:t>
            </a:r>
            <a:r>
              <a:rPr lang="en-US" altLang="ko-KR" sz="1200" dirty="0"/>
              <a:t> : </a:t>
            </a:r>
            <a:r>
              <a:rPr lang="ko-KR" altLang="en-US" sz="1200" dirty="0"/>
              <a:t>현재 장치 연결 상태 표시</a:t>
            </a:r>
            <a:endParaRPr lang="en-US" altLang="ko-KR" sz="12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altLang="ko-KR" sz="1200" dirty="0" err="1"/>
              <a:t>oldDeviceConnected</a:t>
            </a:r>
            <a:r>
              <a:rPr lang="en-US" altLang="ko-KR" sz="1200" dirty="0"/>
              <a:t> : </a:t>
            </a:r>
            <a:r>
              <a:rPr lang="ko-KR" altLang="en-US" sz="1200" dirty="0"/>
              <a:t>이전 연결 상태를 저장</a:t>
            </a:r>
            <a:r>
              <a:rPr lang="en-US" altLang="ko-KR" sz="1200" dirty="0"/>
              <a:t>, </a:t>
            </a:r>
            <a:r>
              <a:rPr lang="ko-KR" altLang="en-US" sz="1200" dirty="0"/>
              <a:t>연결 상태 변화를 감지</a:t>
            </a:r>
            <a:endParaRPr lang="en-US" altLang="ko-KR" sz="12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endParaRPr lang="en-US" altLang="ko-KR" sz="1200" dirty="0"/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altLang="ko-KR" sz="1200" dirty="0" err="1"/>
              <a:t>MyServerCallbacks</a:t>
            </a:r>
            <a:r>
              <a:rPr lang="en-US" altLang="ko-KR" sz="1200" dirty="0"/>
              <a:t> : </a:t>
            </a:r>
            <a:r>
              <a:rPr lang="en-US" altLang="ko-KR" sz="1200" dirty="0" err="1"/>
              <a:t>BLEServerCallbacks</a:t>
            </a:r>
            <a:r>
              <a:rPr lang="en-US" altLang="ko-KR" sz="1200" dirty="0"/>
              <a:t> </a:t>
            </a:r>
            <a:r>
              <a:rPr lang="ko-KR" altLang="en-US" sz="1200" dirty="0"/>
              <a:t>클래스를 </a:t>
            </a:r>
            <a:r>
              <a:rPr lang="en-US" altLang="ko-KR" sz="1200" dirty="0"/>
              <a:t>override </a:t>
            </a:r>
            <a:r>
              <a:rPr lang="ko-KR" altLang="en-US" sz="1200" dirty="0"/>
              <a:t>하여 만든 </a:t>
            </a:r>
            <a:r>
              <a:rPr lang="en-US" altLang="ko-KR" sz="1200" dirty="0"/>
              <a:t>class</a:t>
            </a: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altLang="ko-KR" sz="1200" dirty="0" err="1"/>
              <a:t>BLEServerCallbakcs</a:t>
            </a:r>
            <a:r>
              <a:rPr lang="en-US" altLang="ko-KR" sz="1200" dirty="0"/>
              <a:t> </a:t>
            </a:r>
            <a:r>
              <a:rPr lang="ko-KR" altLang="en-US" sz="1200" dirty="0"/>
              <a:t>에는</a:t>
            </a:r>
            <a:r>
              <a:rPr lang="en-US" altLang="ko-KR" sz="1200" dirty="0"/>
              <a:t> </a:t>
            </a:r>
            <a:r>
              <a:rPr lang="en-US" altLang="ko-KR" sz="1200" dirty="0" err="1"/>
              <a:t>onConnect</a:t>
            </a:r>
            <a:r>
              <a:rPr lang="ko-KR" altLang="en-US" sz="1200" dirty="0"/>
              <a:t>와 </a:t>
            </a:r>
            <a:r>
              <a:rPr lang="en-US" altLang="ko-KR" sz="1200" dirty="0" err="1"/>
              <a:t>onDisconnect</a:t>
            </a:r>
            <a:r>
              <a:rPr lang="ko-KR" altLang="en-US" sz="1200" dirty="0"/>
              <a:t>가 가상 함수로 </a:t>
            </a:r>
            <a:br>
              <a:rPr lang="en-US" altLang="ko-KR" sz="1200" dirty="0"/>
            </a:br>
            <a:r>
              <a:rPr lang="ko-KR" altLang="en-US" sz="1200" dirty="0"/>
              <a:t>선언되어 있어 상속받은 클래스에서 </a:t>
            </a:r>
            <a:r>
              <a:rPr lang="en-US" altLang="ko-KR" sz="1200" dirty="0"/>
              <a:t>overriding(</a:t>
            </a:r>
            <a:r>
              <a:rPr lang="ko-KR" altLang="en-US" sz="1200" dirty="0"/>
              <a:t>재정의</a:t>
            </a:r>
            <a:r>
              <a:rPr lang="en-US" altLang="ko-KR" sz="1200" dirty="0"/>
              <a:t>)</a:t>
            </a:r>
            <a:r>
              <a:rPr lang="ko-KR" altLang="en-US" sz="1200" dirty="0"/>
              <a:t>하여 사용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CACC73-285D-E771-B720-40312F4F5F11}"/>
              </a:ext>
            </a:extLst>
          </p:cNvPr>
          <p:cNvSpPr txBox="1"/>
          <p:nvPr/>
        </p:nvSpPr>
        <p:spPr>
          <a:xfrm>
            <a:off x="6642054" y="5200470"/>
            <a:ext cx="5172615" cy="1015663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Consolas" panose="020B0609020204030204" pitchFamily="49" charset="0"/>
              </a:rPr>
              <a:t>class </a:t>
            </a:r>
            <a:r>
              <a:rPr lang="ko-KR" altLang="en-US" sz="1200" dirty="0" err="1">
                <a:latin typeface="Consolas" panose="020B0609020204030204" pitchFamily="49" charset="0"/>
              </a:rPr>
              <a:t>BLEServerCallbacks</a:t>
            </a:r>
            <a:r>
              <a:rPr lang="ko-KR" altLang="en-US" sz="1200" dirty="0">
                <a:latin typeface="Consolas" panose="020B0609020204030204" pitchFamily="49" charset="0"/>
              </a:rPr>
              <a:t> {</a:t>
            </a:r>
          </a:p>
          <a:p>
            <a:r>
              <a:rPr lang="ko-KR" altLang="en-US" sz="1200" dirty="0" err="1">
                <a:latin typeface="Consolas" panose="020B0609020204030204" pitchFamily="49" charset="0"/>
              </a:rPr>
              <a:t>public</a:t>
            </a:r>
            <a:r>
              <a:rPr lang="ko-KR" altLang="en-US" sz="1200" dirty="0">
                <a:latin typeface="Consolas" panose="020B0609020204030204" pitchFamily="49" charset="0"/>
              </a:rPr>
              <a:t>:</a:t>
            </a:r>
          </a:p>
          <a:p>
            <a:r>
              <a:rPr lang="ko-KR" altLang="en-US" sz="1200" dirty="0">
                <a:latin typeface="Consolas" panose="020B0609020204030204" pitchFamily="49" charset="0"/>
              </a:rPr>
              <a:t>    </a:t>
            </a:r>
            <a:r>
              <a:rPr lang="ko-KR" altLang="en-US" sz="1200" dirty="0" err="1">
                <a:latin typeface="Consolas" panose="020B0609020204030204" pitchFamily="49" charset="0"/>
              </a:rPr>
              <a:t>virtual</a:t>
            </a:r>
            <a:r>
              <a:rPr lang="ko-KR" altLang="en-US" sz="1200" dirty="0">
                <a:latin typeface="Consolas" panose="020B0609020204030204" pitchFamily="49" charset="0"/>
              </a:rPr>
              <a:t> void </a:t>
            </a:r>
            <a:r>
              <a:rPr lang="ko-KR" altLang="en-US" sz="1200" dirty="0" err="1">
                <a:latin typeface="Consolas" panose="020B0609020204030204" pitchFamily="49" charset="0"/>
              </a:rPr>
              <a:t>onConnect</a:t>
            </a:r>
            <a:r>
              <a:rPr lang="ko-KR" altLang="en-US" sz="1200" dirty="0">
                <a:latin typeface="Consolas" panose="020B0609020204030204" pitchFamily="49" charset="0"/>
              </a:rPr>
              <a:t>(</a:t>
            </a:r>
            <a:r>
              <a:rPr lang="ko-KR" altLang="en-US" sz="1200" dirty="0" err="1">
                <a:latin typeface="Consolas" panose="020B0609020204030204" pitchFamily="49" charset="0"/>
              </a:rPr>
              <a:t>BLEServer</a:t>
            </a:r>
            <a:r>
              <a:rPr lang="ko-KR" altLang="en-US" sz="1200" dirty="0">
                <a:latin typeface="Consolas" panose="020B0609020204030204" pitchFamily="49" charset="0"/>
              </a:rPr>
              <a:t>* </a:t>
            </a:r>
            <a:r>
              <a:rPr lang="ko-KR" altLang="en-US" sz="1200" dirty="0" err="1">
                <a:latin typeface="Consolas" panose="020B0609020204030204" pitchFamily="49" charset="0"/>
              </a:rPr>
              <a:t>pServer</a:t>
            </a:r>
            <a:r>
              <a:rPr lang="ko-KR" altLang="en-US" sz="1200" dirty="0">
                <a:latin typeface="Consolas" panose="020B0609020204030204" pitchFamily="49" charset="0"/>
              </a:rPr>
              <a:t>) {};</a:t>
            </a:r>
          </a:p>
          <a:p>
            <a:r>
              <a:rPr lang="ko-KR" altLang="en-US" sz="1200" dirty="0">
                <a:latin typeface="Consolas" panose="020B0609020204030204" pitchFamily="49" charset="0"/>
              </a:rPr>
              <a:t>    </a:t>
            </a:r>
            <a:r>
              <a:rPr lang="ko-KR" altLang="en-US" sz="1200" dirty="0" err="1">
                <a:latin typeface="Consolas" panose="020B0609020204030204" pitchFamily="49" charset="0"/>
              </a:rPr>
              <a:t>virtual</a:t>
            </a:r>
            <a:r>
              <a:rPr lang="ko-KR" altLang="en-US" sz="1200" dirty="0">
                <a:latin typeface="Consolas" panose="020B0609020204030204" pitchFamily="49" charset="0"/>
              </a:rPr>
              <a:t> void </a:t>
            </a:r>
            <a:r>
              <a:rPr lang="ko-KR" altLang="en-US" sz="1200" dirty="0" err="1">
                <a:latin typeface="Consolas" panose="020B0609020204030204" pitchFamily="49" charset="0"/>
              </a:rPr>
              <a:t>onDisconnect</a:t>
            </a:r>
            <a:r>
              <a:rPr lang="ko-KR" altLang="en-US" sz="1200" dirty="0">
                <a:latin typeface="Consolas" panose="020B0609020204030204" pitchFamily="49" charset="0"/>
              </a:rPr>
              <a:t>(</a:t>
            </a:r>
            <a:r>
              <a:rPr lang="ko-KR" altLang="en-US" sz="1200" dirty="0" err="1">
                <a:latin typeface="Consolas" panose="020B0609020204030204" pitchFamily="49" charset="0"/>
              </a:rPr>
              <a:t>BLEServer</a:t>
            </a:r>
            <a:r>
              <a:rPr lang="ko-KR" altLang="en-US" sz="1200" dirty="0">
                <a:latin typeface="Consolas" panose="020B0609020204030204" pitchFamily="49" charset="0"/>
              </a:rPr>
              <a:t>* </a:t>
            </a:r>
            <a:r>
              <a:rPr lang="ko-KR" altLang="en-US" sz="1200" dirty="0" err="1">
                <a:latin typeface="Consolas" panose="020B0609020204030204" pitchFamily="49" charset="0"/>
              </a:rPr>
              <a:t>pServer</a:t>
            </a:r>
            <a:r>
              <a:rPr lang="ko-KR" altLang="en-US" sz="1200" dirty="0">
                <a:latin typeface="Consolas" panose="020B0609020204030204" pitchFamily="49" charset="0"/>
              </a:rPr>
              <a:t>) {};</a:t>
            </a:r>
          </a:p>
          <a:p>
            <a:r>
              <a:rPr lang="ko-KR" altLang="en-US" sz="1200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1254380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9DEB3-2E28-DB7F-D779-D8576AC41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B3BC019-E742-2D55-DD15-7413C5810757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Code  2/4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E5D658-C022-4959-488E-419143C20C55}"/>
              </a:ext>
            </a:extLst>
          </p:cNvPr>
          <p:cNvSpPr txBox="1"/>
          <p:nvPr/>
        </p:nvSpPr>
        <p:spPr>
          <a:xfrm>
            <a:off x="0" y="656492"/>
            <a:ext cx="12192000" cy="5355312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b="1" i="0" dirty="0">
                <a:solidFill>
                  <a:srgbClr val="800080"/>
                </a:solidFill>
                <a:effectLst/>
                <a:latin typeface="inherit"/>
              </a:rPr>
              <a:t>void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0" dirty="0">
                <a:solidFill>
                  <a:srgbClr val="008080"/>
                </a:solidFill>
                <a:effectLst/>
                <a:latin typeface="inherit"/>
              </a:rPr>
              <a:t>setup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()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{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  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Serial</a:t>
            </a:r>
            <a:r>
              <a:rPr lang="en-US" altLang="ko-KR" b="0" i="0" dirty="0" err="1">
                <a:solidFill>
                  <a:srgbClr val="333333"/>
                </a:solidFill>
                <a:effectLst/>
                <a:latin typeface="inherit"/>
              </a:rPr>
              <a:t>.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begin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b="0" i="0" dirty="0">
                <a:solidFill>
                  <a:srgbClr val="009999"/>
                </a:solidFill>
                <a:effectLst/>
                <a:latin typeface="inherit"/>
              </a:rPr>
              <a:t>115200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);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   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BLEDevice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::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init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b="0" i="0" dirty="0">
                <a:solidFill>
                  <a:srgbClr val="DD1144"/>
                </a:solidFill>
                <a:effectLst/>
                <a:latin typeface="inherit"/>
              </a:rPr>
              <a:t>"</a:t>
            </a:r>
            <a:r>
              <a:rPr lang="en-US" altLang="ko-KR" b="0" i="0" dirty="0" err="1">
                <a:solidFill>
                  <a:srgbClr val="DD1144"/>
                </a:solidFill>
                <a:effectLst/>
                <a:latin typeface="inherit"/>
              </a:rPr>
              <a:t>SensorMonitor</a:t>
            </a:r>
            <a:r>
              <a:rPr lang="en-US" altLang="ko-KR" b="0" i="0" dirty="0">
                <a:solidFill>
                  <a:srgbClr val="DD1144"/>
                </a:solidFill>
                <a:effectLst/>
                <a:latin typeface="inherit"/>
              </a:rPr>
              <a:t>"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);             </a:t>
            </a:r>
            <a:r>
              <a:rPr lang="en-US" altLang="ko-KR" sz="1400" b="0" i="0" dirty="0">
                <a:solidFill>
                  <a:srgbClr val="3A0DFB"/>
                </a:solidFill>
                <a:effectLst/>
                <a:latin typeface="inherit"/>
              </a:rPr>
              <a:t>// </a:t>
            </a:r>
            <a:r>
              <a:rPr lang="ko-KR" altLang="en-US" sz="1400" b="0" i="0" dirty="0">
                <a:solidFill>
                  <a:srgbClr val="3A0DFB"/>
                </a:solidFill>
                <a:effectLst/>
                <a:latin typeface="inherit"/>
              </a:rPr>
              <a:t>스마트폰에 표시되는 </a:t>
            </a:r>
            <a:r>
              <a:rPr lang="en-US" altLang="ko-KR" sz="1400" b="0" i="0" dirty="0">
                <a:solidFill>
                  <a:srgbClr val="3A0DFB"/>
                </a:solidFill>
                <a:effectLst/>
                <a:latin typeface="inherit"/>
              </a:rPr>
              <a:t>BLE Device Name</a:t>
            </a:r>
            <a:endParaRPr lang="en-US" altLang="ko-KR" b="0" i="0" dirty="0">
              <a:solidFill>
                <a:srgbClr val="3A0DFB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   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pServer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= 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BLEDevice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::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createServer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();        </a:t>
            </a:r>
            <a:r>
              <a:rPr lang="en-US" altLang="ko-KR" sz="1400" b="0" i="0" dirty="0">
                <a:solidFill>
                  <a:srgbClr val="3A0DFB"/>
                </a:solidFill>
                <a:effectLst/>
                <a:latin typeface="inherit"/>
              </a:rPr>
              <a:t>// </a:t>
            </a:r>
            <a:r>
              <a:rPr lang="en-US" altLang="ko-KR" sz="1400" dirty="0">
                <a:solidFill>
                  <a:srgbClr val="3A0DFB"/>
                </a:solidFill>
                <a:latin typeface="inherit"/>
              </a:rPr>
              <a:t>BLE</a:t>
            </a:r>
            <a:r>
              <a:rPr lang="ko-KR" altLang="en-US" sz="1400" dirty="0">
                <a:solidFill>
                  <a:srgbClr val="3A0DFB"/>
                </a:solidFill>
                <a:latin typeface="inherit"/>
              </a:rPr>
              <a:t> 서버 생성</a:t>
            </a:r>
            <a:endParaRPr lang="en-US" altLang="ko-KR" b="0" i="0" dirty="0">
              <a:solidFill>
                <a:srgbClr val="3A0DFB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  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pServer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-&gt;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setCallbacks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new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MyServerCallbacks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());            </a:t>
            </a:r>
            <a:r>
              <a:rPr lang="en-US" altLang="ko-KR" sz="1400" b="0" i="0" dirty="0">
                <a:solidFill>
                  <a:srgbClr val="3A0DFB"/>
                </a:solidFill>
                <a:effectLst/>
                <a:latin typeface="inherit"/>
              </a:rPr>
              <a:t>// </a:t>
            </a:r>
            <a:r>
              <a:rPr lang="ko-KR" altLang="en-US" sz="1400" b="0" i="0" dirty="0">
                <a:solidFill>
                  <a:srgbClr val="3A0DFB"/>
                </a:solidFill>
                <a:effectLst/>
                <a:latin typeface="inherit"/>
              </a:rPr>
              <a:t>동적 메모리 할당으로 </a:t>
            </a:r>
            <a:r>
              <a:rPr lang="en-US" altLang="ko-KR" sz="1400" b="0" i="0" dirty="0">
                <a:solidFill>
                  <a:srgbClr val="3A0DFB"/>
                </a:solidFill>
                <a:effectLst/>
                <a:latin typeface="inherit"/>
              </a:rPr>
              <a:t>callbacks Instance </a:t>
            </a:r>
            <a:r>
              <a:rPr lang="ko-KR" altLang="en-US" sz="1400" b="0" i="0" dirty="0">
                <a:solidFill>
                  <a:srgbClr val="3A0DFB"/>
                </a:solidFill>
                <a:effectLst/>
                <a:latin typeface="inherit"/>
              </a:rPr>
              <a:t>생성</a:t>
            </a:r>
            <a:endParaRPr lang="en-US" altLang="ko-KR" sz="1400" b="0" i="0" dirty="0">
              <a:solidFill>
                <a:srgbClr val="3A0DFB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   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dht</a:t>
            </a:r>
            <a:r>
              <a:rPr lang="en-US" altLang="ko-KR" b="0" i="0" dirty="0" err="1">
                <a:solidFill>
                  <a:srgbClr val="333333"/>
                </a:solidFill>
                <a:effectLst/>
                <a:latin typeface="inherit"/>
              </a:rPr>
              <a:t>.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begin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();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Monaco"/>
              </a:rPr>
              <a:t> </a:t>
            </a: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  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BLEService</a:t>
            </a:r>
            <a:r>
              <a:rPr lang="en-US" altLang="ko-KR" b="0" i="0" dirty="0">
                <a:solidFill>
                  <a:srgbClr val="008080"/>
                </a:solidFill>
                <a:effectLst/>
                <a:latin typeface="inherit"/>
              </a:rPr>
              <a:t> *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pService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= 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pServer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-&gt;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createService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b="0" i="0" dirty="0">
                <a:solidFill>
                  <a:srgbClr val="DD1144"/>
                </a:solidFill>
                <a:effectLst/>
                <a:latin typeface="inherit"/>
              </a:rPr>
              <a:t>"0000180d-0000-1000-8000-00805f9b34fb"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);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   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pCharacteristic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= 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pService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-&gt;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createCharacteristic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      </a:t>
            </a:r>
            <a:r>
              <a:rPr lang="en-US" altLang="ko-KR" b="0" i="0" dirty="0">
                <a:solidFill>
                  <a:srgbClr val="DD1144"/>
                </a:solidFill>
                <a:effectLst/>
                <a:latin typeface="inherit"/>
              </a:rPr>
              <a:t>"00002a37-0000-1000-8000-00805f9b34fb"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,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     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BLECharacteristic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::</a:t>
            </a:r>
            <a:r>
              <a:rPr lang="en-US" altLang="ko-KR" b="0" i="0" dirty="0">
                <a:solidFill>
                  <a:srgbClr val="002D7A"/>
                </a:solidFill>
                <a:effectLst/>
                <a:latin typeface="inherit"/>
              </a:rPr>
              <a:t>PROPERTY_READ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| 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BLECharacteristic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::</a:t>
            </a:r>
            <a:r>
              <a:rPr lang="en-US" altLang="ko-KR" b="0" i="0" dirty="0">
                <a:solidFill>
                  <a:srgbClr val="002D7A"/>
                </a:solidFill>
                <a:effectLst/>
                <a:latin typeface="inherit"/>
              </a:rPr>
              <a:t>PROPERTY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_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Monaco"/>
              </a:rPr>
              <a:t>NOTIFY</a:t>
            </a: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 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);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Monaco"/>
              </a:rPr>
              <a:t> </a:t>
            </a: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  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pCharacteristic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-&gt;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addDescriptor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new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0" dirty="0">
                <a:solidFill>
                  <a:srgbClr val="008080"/>
                </a:solidFill>
                <a:effectLst/>
                <a:latin typeface="inherit"/>
              </a:rPr>
              <a:t>BLE2902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());      </a:t>
            </a:r>
            <a:r>
              <a:rPr lang="en-US" altLang="ko-KR" sz="1400" b="0" i="0" dirty="0">
                <a:solidFill>
                  <a:srgbClr val="3A0DFB"/>
                </a:solidFill>
                <a:effectLst/>
                <a:latin typeface="+mn-ea"/>
              </a:rPr>
              <a:t>// </a:t>
            </a:r>
            <a:r>
              <a:rPr lang="en-US" altLang="ko-KR" sz="1400" b="0" i="0" dirty="0" err="1">
                <a:solidFill>
                  <a:srgbClr val="3A0DFB"/>
                </a:solidFill>
                <a:effectLst/>
                <a:latin typeface="+mn-ea"/>
              </a:rPr>
              <a:t>Chracteristic</a:t>
            </a:r>
            <a:r>
              <a:rPr lang="ko-KR" altLang="en-US" sz="1400" b="0" i="0" dirty="0">
                <a:solidFill>
                  <a:srgbClr val="3A0DFB"/>
                </a:solidFill>
                <a:effectLst/>
                <a:latin typeface="+mn-ea"/>
              </a:rPr>
              <a:t>에 </a:t>
            </a:r>
            <a:r>
              <a:rPr lang="en-US" altLang="ko-KR" sz="1400" b="0" i="0" dirty="0">
                <a:solidFill>
                  <a:srgbClr val="3A0DFB"/>
                </a:solidFill>
                <a:effectLst/>
                <a:latin typeface="+mn-ea"/>
              </a:rPr>
              <a:t>descriptor</a:t>
            </a:r>
            <a:r>
              <a:rPr lang="ko-KR" altLang="en-US" sz="1400" b="0" i="0" dirty="0">
                <a:solidFill>
                  <a:srgbClr val="3A0DFB"/>
                </a:solidFill>
                <a:effectLst/>
                <a:latin typeface="+mn-ea"/>
              </a:rPr>
              <a:t>를 추가하여 </a:t>
            </a:r>
            <a:r>
              <a:rPr lang="en-US" altLang="ko-KR" sz="1400" b="0" i="0" dirty="0">
                <a:solidFill>
                  <a:srgbClr val="3A0DFB"/>
                </a:solidFill>
                <a:effectLst/>
                <a:latin typeface="+mn-ea"/>
              </a:rPr>
              <a:t>notifications, indications </a:t>
            </a:r>
            <a:r>
              <a:rPr lang="ko-KR" altLang="en-US" sz="1400" b="0" i="0" dirty="0">
                <a:solidFill>
                  <a:srgbClr val="3A0DFB"/>
                </a:solidFill>
                <a:effectLst/>
                <a:latin typeface="+mn-ea"/>
              </a:rPr>
              <a:t>활성화</a:t>
            </a:r>
            <a:endParaRPr lang="en-US" altLang="ko-KR" sz="1400" b="0" i="0" dirty="0">
              <a:solidFill>
                <a:srgbClr val="3A0DFB"/>
              </a:solidFill>
              <a:effectLst/>
              <a:latin typeface="+mn-ea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Monaco"/>
              </a:rPr>
              <a:t> </a:t>
            </a: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  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pService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-&gt;</a:t>
            </a:r>
            <a:r>
              <a:rPr lang="en-US" altLang="ko-KR" b="0" i="0" dirty="0">
                <a:solidFill>
                  <a:srgbClr val="008080"/>
                </a:solidFill>
                <a:effectLst/>
                <a:latin typeface="inherit"/>
              </a:rPr>
              <a:t>start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();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   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BLEAdvertising</a:t>
            </a:r>
            <a:r>
              <a:rPr lang="en-US" altLang="ko-KR" b="0" i="0" dirty="0">
                <a:solidFill>
                  <a:srgbClr val="008080"/>
                </a:solidFill>
                <a:effectLst/>
                <a:latin typeface="inherit"/>
              </a:rPr>
              <a:t> *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pAdvertising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= 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pServer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-&gt;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getAdvertising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();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  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pAdvertising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-&gt;</a:t>
            </a:r>
            <a:r>
              <a:rPr lang="en-US" altLang="ko-KR" b="0" i="0" dirty="0">
                <a:solidFill>
                  <a:srgbClr val="008080"/>
                </a:solidFill>
                <a:effectLst/>
                <a:latin typeface="inherit"/>
              </a:rPr>
              <a:t>start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();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}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</p:txBody>
      </p:sp>
    </p:spTree>
    <p:extLst>
      <p:ext uri="{BB962C8B-B14F-4D97-AF65-F5344CB8AC3E}">
        <p14:creationId xmlns:p14="http://schemas.microsoft.com/office/powerpoint/2010/main" val="42801786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20416-B45C-221F-6DFF-32840EB8A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815D94B-EBC8-C61B-0ACA-574B2DA24E8E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Code  3/4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CBEC3C-D6B4-F326-3C20-E7FB93C8CE6D}"/>
              </a:ext>
            </a:extLst>
          </p:cNvPr>
          <p:cNvSpPr txBox="1"/>
          <p:nvPr/>
        </p:nvSpPr>
        <p:spPr>
          <a:xfrm>
            <a:off x="9524" y="678375"/>
            <a:ext cx="12191999" cy="5909310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b="1" i="0" dirty="0">
                <a:solidFill>
                  <a:srgbClr val="800080"/>
                </a:solidFill>
                <a:effectLst/>
                <a:latin typeface="inherit"/>
              </a:rPr>
              <a:t>void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0" dirty="0">
                <a:solidFill>
                  <a:srgbClr val="008080"/>
                </a:solidFill>
                <a:effectLst/>
                <a:latin typeface="inherit"/>
              </a:rPr>
              <a:t>loop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()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{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if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deviceConnected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)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{                                    </a:t>
            </a:r>
            <a:r>
              <a:rPr lang="en-US" altLang="ko-KR" sz="1400" b="0" i="0" dirty="0">
                <a:solidFill>
                  <a:srgbClr val="3A0DFB"/>
                </a:solidFill>
                <a:effectLst/>
                <a:latin typeface="+mn-ea"/>
              </a:rPr>
              <a:t>// device</a:t>
            </a:r>
            <a:r>
              <a:rPr lang="ko-KR" altLang="en-US" sz="1400" b="0" i="0" dirty="0">
                <a:solidFill>
                  <a:srgbClr val="3A0DFB"/>
                </a:solidFill>
                <a:effectLst/>
                <a:latin typeface="+mn-ea"/>
              </a:rPr>
              <a:t> 연결되면 온도</a:t>
            </a:r>
            <a:r>
              <a:rPr lang="en-US" altLang="ko-KR" sz="1400" b="0" i="0" dirty="0">
                <a:solidFill>
                  <a:srgbClr val="3A0DFB"/>
                </a:solidFill>
                <a:effectLst/>
                <a:latin typeface="+mn-ea"/>
              </a:rPr>
              <a:t>, </a:t>
            </a:r>
            <a:r>
              <a:rPr lang="ko-KR" altLang="en-US" sz="1400" b="0" i="0" dirty="0">
                <a:solidFill>
                  <a:srgbClr val="3A0DFB"/>
                </a:solidFill>
                <a:effectLst/>
                <a:latin typeface="+mn-ea"/>
              </a:rPr>
              <a:t>습도를 읽는다</a:t>
            </a:r>
            <a:endParaRPr lang="en-US" altLang="ko-KR" b="0" i="0" dirty="0">
              <a:solidFill>
                <a:srgbClr val="3A0DFB"/>
              </a:solidFill>
              <a:effectLst/>
              <a:latin typeface="+mn-ea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 </a:t>
            </a:r>
            <a:r>
              <a:rPr lang="en-US" altLang="ko-KR" b="1" i="0" dirty="0">
                <a:solidFill>
                  <a:srgbClr val="800080"/>
                </a:solidFill>
                <a:effectLst/>
                <a:latin typeface="inherit"/>
              </a:rPr>
              <a:t>float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0" dirty="0">
                <a:solidFill>
                  <a:srgbClr val="002D7A"/>
                </a:solidFill>
                <a:effectLst/>
                <a:latin typeface="inherit"/>
              </a:rPr>
              <a:t>h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= 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dht</a:t>
            </a:r>
            <a:r>
              <a:rPr lang="en-US" altLang="ko-KR" b="0" i="0" dirty="0" err="1">
                <a:solidFill>
                  <a:srgbClr val="333333"/>
                </a:solidFill>
                <a:effectLst/>
                <a:latin typeface="inherit"/>
              </a:rPr>
              <a:t>.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readHumidity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();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 </a:t>
            </a:r>
            <a:r>
              <a:rPr lang="en-US" altLang="ko-KR" b="1" i="0" dirty="0">
                <a:solidFill>
                  <a:srgbClr val="800080"/>
                </a:solidFill>
                <a:effectLst/>
                <a:latin typeface="inherit"/>
              </a:rPr>
              <a:t>float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0" dirty="0">
                <a:solidFill>
                  <a:srgbClr val="002D7A"/>
                </a:solidFill>
                <a:effectLst/>
                <a:latin typeface="inherit"/>
              </a:rPr>
              <a:t>t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= 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dht</a:t>
            </a:r>
            <a:r>
              <a:rPr lang="en-US" altLang="ko-KR" b="0" i="0" dirty="0" err="1">
                <a:solidFill>
                  <a:srgbClr val="333333"/>
                </a:solidFill>
                <a:effectLst/>
                <a:latin typeface="inherit"/>
              </a:rPr>
              <a:t>.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readTemperature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();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Monaco"/>
              </a:rPr>
              <a:t> </a:t>
            </a: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 </a:t>
            </a:r>
            <a:r>
              <a:rPr lang="en-US" altLang="ko-KR" b="0" i="1" dirty="0">
                <a:solidFill>
                  <a:srgbClr val="999999"/>
                </a:solidFill>
                <a:effectLst/>
                <a:latin typeface="inherit"/>
              </a:rPr>
              <a:t>// Check if any reads failed and exit early (to try again).  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 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if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isnan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b="0" i="0" dirty="0">
                <a:solidFill>
                  <a:srgbClr val="002D7A"/>
                </a:solidFill>
                <a:effectLst/>
                <a:latin typeface="inherit"/>
              </a:rPr>
              <a:t>h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)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|| 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isnan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b="0" i="0" dirty="0">
                <a:solidFill>
                  <a:srgbClr val="002D7A"/>
                </a:solidFill>
                <a:effectLst/>
                <a:latin typeface="inherit"/>
              </a:rPr>
              <a:t>t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))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{            </a:t>
            </a:r>
            <a:r>
              <a:rPr lang="en-US" altLang="ko-KR" sz="1400" b="0" i="0" dirty="0">
                <a:solidFill>
                  <a:srgbClr val="3A0DFB"/>
                </a:solidFill>
                <a:effectLst/>
                <a:latin typeface="+mn-ea"/>
              </a:rPr>
              <a:t>// </a:t>
            </a:r>
            <a:r>
              <a:rPr lang="en-US" altLang="ko-KR" sz="1400" b="0" i="0" dirty="0" err="1">
                <a:solidFill>
                  <a:srgbClr val="3A0DFB"/>
                </a:solidFill>
                <a:effectLst/>
                <a:latin typeface="+mn-ea"/>
              </a:rPr>
              <a:t>isnan</a:t>
            </a:r>
            <a:r>
              <a:rPr lang="en-US" altLang="ko-KR" sz="1400" b="0" i="0" dirty="0">
                <a:solidFill>
                  <a:srgbClr val="3A0DFB"/>
                </a:solidFill>
                <a:effectLst/>
                <a:latin typeface="+mn-ea"/>
              </a:rPr>
              <a:t> = is Not a Number                                                 </a:t>
            </a: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   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Serial</a:t>
            </a:r>
            <a:r>
              <a:rPr lang="en-US" altLang="ko-KR" b="0" i="0" dirty="0" err="1">
                <a:solidFill>
                  <a:srgbClr val="333333"/>
                </a:solidFill>
                <a:effectLst/>
                <a:latin typeface="inherit"/>
              </a:rPr>
              <a:t>.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println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b="0" i="0" dirty="0">
                <a:solidFill>
                  <a:srgbClr val="DD1144"/>
                </a:solidFill>
                <a:effectLst/>
                <a:latin typeface="inherit"/>
              </a:rPr>
              <a:t>"Failed to read from DHT sensor!"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);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   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return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;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 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}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Monaco"/>
              </a:rPr>
              <a:t> </a:t>
            </a: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</a:t>
            </a:r>
            <a:r>
              <a:rPr lang="en-US" altLang="ko-KR" b="0" i="0" dirty="0">
                <a:solidFill>
                  <a:srgbClr val="3A0DFB"/>
                </a:solidFill>
                <a:effectLst/>
                <a:latin typeface="inherit"/>
              </a:rPr>
              <a:t> </a:t>
            </a:r>
            <a:r>
              <a:rPr lang="en-US" altLang="ko-KR" b="0" i="1" dirty="0">
                <a:solidFill>
                  <a:srgbClr val="3A0DFB"/>
                </a:solidFill>
                <a:effectLst/>
                <a:latin typeface="inherit"/>
              </a:rPr>
              <a:t>// Create a comma-separated string of temperature and humidity</a:t>
            </a:r>
            <a:endParaRPr lang="en-US" altLang="ko-KR" b="0" i="0" dirty="0">
              <a:solidFill>
                <a:srgbClr val="3A0DFB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 </a:t>
            </a:r>
            <a:r>
              <a:rPr lang="en-US" altLang="ko-KR" b="1" i="0" dirty="0">
                <a:solidFill>
                  <a:srgbClr val="800080"/>
                </a:solidFill>
                <a:effectLst/>
                <a:latin typeface="inherit"/>
              </a:rPr>
              <a:t>char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sensorData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[</a:t>
            </a:r>
            <a:r>
              <a:rPr lang="en-US" altLang="ko-KR" b="0" i="0" dirty="0">
                <a:solidFill>
                  <a:srgbClr val="009999"/>
                </a:solidFill>
                <a:effectLst/>
                <a:latin typeface="inherit"/>
              </a:rPr>
              <a:t>40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];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 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snprintf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sensorData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,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sizeof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sensorData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),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0" dirty="0">
                <a:solidFill>
                  <a:srgbClr val="DD1144"/>
                </a:solidFill>
                <a:effectLst/>
                <a:latin typeface="inherit"/>
              </a:rPr>
              <a:t>"%</a:t>
            </a:r>
            <a:r>
              <a:rPr lang="en-US" altLang="ko-KR" b="0" i="0" dirty="0" err="1">
                <a:solidFill>
                  <a:srgbClr val="DD1144"/>
                </a:solidFill>
                <a:effectLst/>
                <a:latin typeface="inherit"/>
              </a:rPr>
              <a:t>f,%f</a:t>
            </a:r>
            <a:r>
              <a:rPr lang="en-US" altLang="ko-KR" b="0" i="0" dirty="0">
                <a:solidFill>
                  <a:srgbClr val="DD1144"/>
                </a:solidFill>
                <a:effectLst/>
                <a:latin typeface="inherit"/>
              </a:rPr>
              <a:t>"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,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0" dirty="0">
                <a:solidFill>
                  <a:srgbClr val="002D7A"/>
                </a:solidFill>
                <a:effectLst/>
                <a:latin typeface="inherit"/>
              </a:rPr>
              <a:t>t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,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0" dirty="0">
                <a:solidFill>
                  <a:srgbClr val="002D7A"/>
                </a:solidFill>
                <a:effectLst/>
                <a:latin typeface="inherit"/>
              </a:rPr>
              <a:t>h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);      </a:t>
            </a:r>
            <a:r>
              <a:rPr lang="en-US" altLang="ko-KR" sz="1400" b="0" i="0" dirty="0">
                <a:solidFill>
                  <a:srgbClr val="3A0DFB"/>
                </a:solidFill>
                <a:effectLst/>
                <a:latin typeface="+mn-ea"/>
              </a:rPr>
              <a:t>// </a:t>
            </a:r>
            <a:r>
              <a:rPr lang="en-US" altLang="ko-KR" sz="1400" b="0" i="0" dirty="0" err="1">
                <a:solidFill>
                  <a:srgbClr val="3A0DFB"/>
                </a:solidFill>
                <a:effectLst/>
                <a:latin typeface="+mn-ea"/>
              </a:rPr>
              <a:t>snprintf</a:t>
            </a:r>
            <a:r>
              <a:rPr lang="en-US" altLang="ko-KR" sz="1400" b="0" i="0" dirty="0">
                <a:solidFill>
                  <a:srgbClr val="3A0DFB"/>
                </a:solidFill>
                <a:effectLst/>
                <a:latin typeface="+mn-ea"/>
              </a:rPr>
              <a:t> </a:t>
            </a:r>
            <a:r>
              <a:rPr lang="en-US" altLang="ko-KR" sz="1400" b="0" i="0" dirty="0">
                <a:solidFill>
                  <a:srgbClr val="3A0DFB"/>
                </a:solidFill>
                <a:effectLst/>
                <a:latin typeface="+mn-ea"/>
                <a:sym typeface="Wingdings" panose="05000000000000000000" pitchFamily="2" charset="2"/>
              </a:rPr>
              <a:t> </a:t>
            </a:r>
            <a:r>
              <a:rPr lang="en-US" altLang="ko-KR" sz="1400" b="0" i="0" dirty="0" err="1">
                <a:solidFill>
                  <a:srgbClr val="3A0DFB"/>
                </a:solidFill>
                <a:effectLst/>
                <a:latin typeface="+mn-ea"/>
                <a:sym typeface="Wingdings" panose="05000000000000000000" pitchFamily="2" charset="2"/>
              </a:rPr>
              <a:t>sn</a:t>
            </a:r>
            <a:r>
              <a:rPr lang="en-US" altLang="ko-KR" sz="1400" b="0" i="0" dirty="0">
                <a:solidFill>
                  <a:srgbClr val="3A0DFB"/>
                </a:solidFill>
                <a:effectLst/>
                <a:latin typeface="+mn-ea"/>
                <a:sym typeface="Wingdings" panose="05000000000000000000" pitchFamily="2" charset="2"/>
              </a:rPr>
              <a:t> = size + null-terminated , </a:t>
            </a:r>
            <a:r>
              <a:rPr lang="ko-KR" altLang="en-US" sz="1400" b="0" i="0" dirty="0">
                <a:solidFill>
                  <a:srgbClr val="3A0DFB"/>
                </a:solidFill>
                <a:effectLst/>
                <a:latin typeface="+mn-ea"/>
                <a:sym typeface="Wingdings" panose="05000000000000000000" pitchFamily="2" charset="2"/>
              </a:rPr>
              <a:t>버퍼 크기를 제한하여 </a:t>
            </a:r>
            <a:r>
              <a:rPr lang="en-US" altLang="ko-KR" sz="1400" b="0" i="0" dirty="0">
                <a:solidFill>
                  <a:srgbClr val="3A0DFB"/>
                </a:solidFill>
                <a:effectLst/>
                <a:latin typeface="+mn-ea"/>
                <a:sym typeface="Wingdings" panose="05000000000000000000" pitchFamily="2" charset="2"/>
              </a:rPr>
              <a:t>overflow </a:t>
            </a:r>
            <a:r>
              <a:rPr lang="ko-KR" altLang="en-US" sz="1400" b="0" i="0" dirty="0">
                <a:solidFill>
                  <a:srgbClr val="3A0DFB"/>
                </a:solidFill>
                <a:effectLst/>
                <a:latin typeface="+mn-ea"/>
                <a:sym typeface="Wingdings" panose="05000000000000000000" pitchFamily="2" charset="2"/>
              </a:rPr>
              <a:t>방</a:t>
            </a:r>
            <a:r>
              <a:rPr lang="ko-KR" altLang="en-US" sz="1400" dirty="0">
                <a:solidFill>
                  <a:srgbClr val="3A0DFB"/>
                </a:solidFill>
                <a:latin typeface="+mn-ea"/>
                <a:sym typeface="Wingdings" panose="05000000000000000000" pitchFamily="2" charset="2"/>
              </a:rPr>
              <a:t>지</a:t>
            </a:r>
            <a:endParaRPr lang="en-US" altLang="ko-KR" b="0" i="0" dirty="0">
              <a:solidFill>
                <a:srgbClr val="3A0DFB"/>
              </a:solidFill>
              <a:effectLst/>
              <a:latin typeface="+mn-ea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Monaco"/>
              </a:rPr>
              <a:t> </a:t>
            </a: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 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pCharacteristic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-&gt;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setValue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sensorData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);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 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pCharacteristic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-&gt;</a:t>
            </a:r>
            <a:r>
              <a:rPr lang="en-US" altLang="ko-KR" b="0" i="0" dirty="0">
                <a:solidFill>
                  <a:srgbClr val="008080"/>
                </a:solidFill>
                <a:effectLst/>
                <a:latin typeface="inherit"/>
              </a:rPr>
              <a:t>notify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();                                    </a:t>
            </a:r>
            <a:r>
              <a:rPr lang="en-US" altLang="ko-KR" sz="1400" b="0" i="0" dirty="0">
                <a:solidFill>
                  <a:srgbClr val="3A0DFB"/>
                </a:solidFill>
                <a:effectLst/>
                <a:latin typeface="+mn-ea"/>
              </a:rPr>
              <a:t>// </a:t>
            </a:r>
            <a:r>
              <a:rPr lang="en-US" altLang="ko-KR" sz="1400" dirty="0">
                <a:solidFill>
                  <a:srgbClr val="3A0DFB"/>
                </a:solidFill>
                <a:latin typeface="+mn-ea"/>
              </a:rPr>
              <a:t>notify()</a:t>
            </a:r>
            <a:r>
              <a:rPr lang="ko-KR" altLang="en-US" sz="1400" dirty="0">
                <a:solidFill>
                  <a:srgbClr val="3A0DFB"/>
                </a:solidFill>
                <a:latin typeface="+mn-ea"/>
              </a:rPr>
              <a:t> </a:t>
            </a:r>
            <a:r>
              <a:rPr lang="en-US" altLang="ko-KR" sz="1400" dirty="0">
                <a:solidFill>
                  <a:srgbClr val="3A0DFB"/>
                </a:solidFill>
                <a:latin typeface="+mn-ea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solidFill>
                  <a:srgbClr val="3A0DFB"/>
                </a:solidFill>
                <a:latin typeface="+mn-ea"/>
                <a:sym typeface="Wingdings" panose="05000000000000000000" pitchFamily="2" charset="2"/>
              </a:rPr>
              <a:t> 데이터 변경을 알리는 함수</a:t>
            </a:r>
            <a:endParaRPr lang="en-US" altLang="ko-KR" b="0" i="0" dirty="0">
              <a:solidFill>
                <a:srgbClr val="3A0DFB"/>
              </a:solidFill>
              <a:effectLst/>
              <a:latin typeface="+mn-ea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 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 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Serial</a:t>
            </a:r>
            <a:r>
              <a:rPr lang="en-US" altLang="ko-KR" b="0" i="0" dirty="0" err="1">
                <a:solidFill>
                  <a:srgbClr val="333333"/>
                </a:solidFill>
                <a:effectLst/>
                <a:latin typeface="inherit"/>
              </a:rPr>
              <a:t>.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println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b="0" i="0" dirty="0">
                <a:solidFill>
                  <a:srgbClr val="DD1144"/>
                </a:solidFill>
                <a:effectLst/>
                <a:latin typeface="inherit"/>
              </a:rPr>
              <a:t>"Sensor Data:"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);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 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Serial</a:t>
            </a:r>
            <a:r>
              <a:rPr lang="en-US" altLang="ko-KR" b="0" i="0" dirty="0" err="1">
                <a:solidFill>
                  <a:srgbClr val="333333"/>
                </a:solidFill>
                <a:effectLst/>
                <a:latin typeface="inherit"/>
              </a:rPr>
              <a:t>.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println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sensorData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);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Monaco"/>
              </a:rPr>
              <a:t> </a:t>
            </a:r>
          </a:p>
          <a:p>
            <a:pPr algn="l"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 </a:t>
            </a:r>
            <a:r>
              <a:rPr lang="en-US" altLang="ko-KR" b="0" i="0" dirty="0">
                <a:solidFill>
                  <a:srgbClr val="008080"/>
                </a:solidFill>
                <a:effectLst/>
                <a:latin typeface="inherit"/>
              </a:rPr>
              <a:t>delay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b="0" i="0" dirty="0">
                <a:solidFill>
                  <a:srgbClr val="009999"/>
                </a:solidFill>
                <a:effectLst/>
                <a:latin typeface="inherit"/>
              </a:rPr>
              <a:t>2000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);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1" dirty="0">
                <a:solidFill>
                  <a:srgbClr val="999999"/>
                </a:solidFill>
                <a:effectLst/>
                <a:latin typeface="inherit"/>
              </a:rPr>
              <a:t>// Adjust the update interval as needed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/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}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</p:txBody>
      </p:sp>
    </p:spTree>
    <p:extLst>
      <p:ext uri="{BB962C8B-B14F-4D97-AF65-F5344CB8AC3E}">
        <p14:creationId xmlns:p14="http://schemas.microsoft.com/office/powerpoint/2010/main" val="1369939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DB409-F350-9660-BBDF-35E5163AC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675787F-DA82-6EB2-CCC3-3AA5704E13E3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Code  4/4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12E5A0-012A-AAA7-B404-805F44DFF218}"/>
              </a:ext>
            </a:extLst>
          </p:cNvPr>
          <p:cNvSpPr txBox="1"/>
          <p:nvPr/>
        </p:nvSpPr>
        <p:spPr>
          <a:xfrm>
            <a:off x="0" y="748516"/>
            <a:ext cx="10506075" cy="4240905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l">
              <a:lnSpc>
                <a:spcPts val="2500"/>
              </a:lnSpc>
              <a:buNone/>
            </a:pPr>
            <a:r>
              <a:rPr lang="en-US" altLang="ko-KR" sz="1400" b="0" i="1" dirty="0">
                <a:solidFill>
                  <a:srgbClr val="3A0DFB"/>
                </a:solidFill>
                <a:effectLst/>
                <a:latin typeface="inherit"/>
              </a:rPr>
              <a:t>// </a:t>
            </a:r>
            <a:r>
              <a:rPr lang="ko-KR" altLang="en-US" sz="1400" b="0" i="1" dirty="0">
                <a:solidFill>
                  <a:srgbClr val="3A0DFB"/>
                </a:solidFill>
                <a:effectLst/>
                <a:latin typeface="inherit"/>
              </a:rPr>
              <a:t>장치가 이전에 연결되었지만</a:t>
            </a:r>
            <a:r>
              <a:rPr lang="en-US" altLang="ko-KR" sz="1400" b="0" i="1" dirty="0">
                <a:solidFill>
                  <a:srgbClr val="3A0DFB"/>
                </a:solidFill>
                <a:effectLst/>
                <a:latin typeface="inherit"/>
              </a:rPr>
              <a:t>, </a:t>
            </a:r>
            <a:r>
              <a:rPr lang="ko-KR" altLang="en-US" sz="1400" b="0" i="1" dirty="0">
                <a:solidFill>
                  <a:srgbClr val="3A0DFB"/>
                </a:solidFill>
                <a:effectLst/>
                <a:latin typeface="inherit"/>
              </a:rPr>
              <a:t>지금은 연결이 끊어진 경우</a:t>
            </a:r>
            <a:endParaRPr lang="en-US" altLang="ko-KR" sz="1400" b="0" i="1" dirty="0">
              <a:solidFill>
                <a:srgbClr val="3A0DFB"/>
              </a:solidFill>
              <a:effectLst/>
              <a:latin typeface="inherit"/>
            </a:endParaRPr>
          </a:p>
          <a:p>
            <a:pPr algn="l">
              <a:lnSpc>
                <a:spcPts val="2500"/>
              </a:lnSpc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if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!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deviceConnected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&amp;&amp; 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oldDeviceConnected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)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{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lnSpc>
                <a:spcPts val="2500"/>
              </a:lnSpc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   </a:t>
            </a:r>
            <a:r>
              <a:rPr lang="en-US" altLang="ko-KR" b="0" i="0" dirty="0">
                <a:solidFill>
                  <a:srgbClr val="008080"/>
                </a:solidFill>
                <a:effectLst/>
                <a:latin typeface="inherit"/>
              </a:rPr>
              <a:t>delay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b="0" i="0" dirty="0">
                <a:solidFill>
                  <a:srgbClr val="009999"/>
                </a:solidFill>
                <a:effectLst/>
                <a:latin typeface="inherit"/>
              </a:rPr>
              <a:t>500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);   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        </a:t>
            </a:r>
            <a:r>
              <a:rPr lang="en-US" altLang="ko-KR" b="0" i="1" dirty="0">
                <a:solidFill>
                  <a:srgbClr val="999999"/>
                </a:solidFill>
                <a:effectLst/>
                <a:latin typeface="inherit"/>
              </a:rPr>
              <a:t>// give the </a:t>
            </a:r>
            <a:r>
              <a:rPr lang="en-US" altLang="ko-KR" b="0" i="1" dirty="0" err="1">
                <a:solidFill>
                  <a:srgbClr val="999999"/>
                </a:solidFill>
                <a:effectLst/>
                <a:latin typeface="inherit"/>
              </a:rPr>
              <a:t>bluetooth</a:t>
            </a:r>
            <a:r>
              <a:rPr lang="en-US" altLang="ko-KR" b="0" i="1" dirty="0">
                <a:solidFill>
                  <a:srgbClr val="999999"/>
                </a:solidFill>
                <a:effectLst/>
                <a:latin typeface="inherit"/>
              </a:rPr>
              <a:t> stack the chance to get things ready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lnSpc>
                <a:spcPts val="2500"/>
              </a:lnSpc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   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pServer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-&gt;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startAdvertising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();         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1" dirty="0">
                <a:solidFill>
                  <a:srgbClr val="3A0DFB"/>
                </a:solidFill>
                <a:effectLst/>
                <a:latin typeface="inherit"/>
              </a:rPr>
              <a:t>// restart advertising</a:t>
            </a:r>
            <a:endParaRPr lang="en-US" altLang="ko-KR" b="0" i="0" dirty="0">
              <a:solidFill>
                <a:srgbClr val="3A0DFB"/>
              </a:solidFill>
              <a:effectLst/>
              <a:latin typeface="Monaco"/>
            </a:endParaRPr>
          </a:p>
          <a:p>
            <a:pPr algn="l">
              <a:lnSpc>
                <a:spcPts val="2500"/>
              </a:lnSpc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   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Serial</a:t>
            </a:r>
            <a:r>
              <a:rPr lang="en-US" altLang="ko-KR" b="0" i="0" dirty="0" err="1">
                <a:solidFill>
                  <a:srgbClr val="333333"/>
                </a:solidFill>
                <a:effectLst/>
                <a:latin typeface="inherit"/>
              </a:rPr>
              <a:t>.</a:t>
            </a:r>
            <a:r>
              <a:rPr lang="en-US" altLang="ko-KR" b="0" i="0" dirty="0" err="1">
                <a:solidFill>
                  <a:srgbClr val="008080"/>
                </a:solidFill>
                <a:effectLst/>
                <a:latin typeface="inherit"/>
              </a:rPr>
              <a:t>println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b="0" i="0" dirty="0">
                <a:solidFill>
                  <a:srgbClr val="DD1144"/>
                </a:solidFill>
                <a:effectLst/>
                <a:latin typeface="inherit"/>
              </a:rPr>
              <a:t>"start advertising"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);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lnSpc>
                <a:spcPts val="2500"/>
              </a:lnSpc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   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oldDeviceConnected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= 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deviceConnected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;               </a:t>
            </a:r>
            <a:r>
              <a:rPr lang="en-US" altLang="ko-KR" sz="1400" b="0" i="0" dirty="0">
                <a:solidFill>
                  <a:srgbClr val="3A0DFB"/>
                </a:solidFill>
                <a:effectLst/>
                <a:latin typeface="inherit"/>
              </a:rPr>
              <a:t>// </a:t>
            </a:r>
            <a:r>
              <a:rPr lang="ko-KR" altLang="en-US" sz="1400" b="0" i="0" dirty="0">
                <a:solidFill>
                  <a:srgbClr val="3A0DFB"/>
                </a:solidFill>
                <a:effectLst/>
                <a:latin typeface="inherit"/>
              </a:rPr>
              <a:t>연결 상태 추적을 위해 상태 </a:t>
            </a:r>
            <a:r>
              <a:rPr lang="en-US" altLang="ko-KR" sz="1400" b="0" i="0" dirty="0">
                <a:solidFill>
                  <a:srgbClr val="3A0DFB"/>
                </a:solidFill>
                <a:effectLst/>
                <a:latin typeface="inherit"/>
              </a:rPr>
              <a:t>update</a:t>
            </a:r>
            <a:endParaRPr lang="en-US" altLang="ko-KR" sz="1400" b="0" i="0" dirty="0">
              <a:solidFill>
                <a:srgbClr val="3A0DFB"/>
              </a:solidFill>
              <a:effectLst/>
              <a:latin typeface="Monaco"/>
            </a:endParaRPr>
          </a:p>
          <a:p>
            <a:pPr algn="l">
              <a:lnSpc>
                <a:spcPts val="2500"/>
              </a:lnSpc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}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lnSpc>
                <a:spcPts val="2500"/>
              </a:lnSpc>
              <a:buNone/>
            </a:pPr>
            <a:r>
              <a:rPr lang="en-US" altLang="ko-KR" sz="1400" b="0" i="0" dirty="0">
                <a:solidFill>
                  <a:srgbClr val="006FE0"/>
                </a:solidFill>
                <a:effectLst/>
                <a:latin typeface="inherit"/>
              </a:rPr>
              <a:t>  </a:t>
            </a:r>
            <a:r>
              <a:rPr lang="en-US" altLang="ko-KR" sz="1400" b="0" i="1" dirty="0">
                <a:solidFill>
                  <a:srgbClr val="3A0DFB"/>
                </a:solidFill>
                <a:effectLst/>
                <a:latin typeface="inherit"/>
              </a:rPr>
              <a:t>// </a:t>
            </a:r>
            <a:r>
              <a:rPr lang="ko-KR" altLang="en-US" sz="1400" i="1" dirty="0">
                <a:solidFill>
                  <a:srgbClr val="3A0DFB"/>
                </a:solidFill>
                <a:latin typeface="inherit"/>
              </a:rPr>
              <a:t>새로운 연결이라면</a:t>
            </a:r>
            <a:r>
              <a:rPr lang="en-US" altLang="ko-KR" sz="1400" i="1" dirty="0">
                <a:solidFill>
                  <a:srgbClr val="3A0DFB"/>
                </a:solidFill>
                <a:latin typeface="inherit"/>
              </a:rPr>
              <a:t>,</a:t>
            </a:r>
            <a:endParaRPr lang="en-US" altLang="ko-KR" sz="1400" b="0" i="0" dirty="0">
              <a:solidFill>
                <a:srgbClr val="3A0DFB"/>
              </a:solidFill>
              <a:effectLst/>
              <a:latin typeface="Monaco"/>
            </a:endParaRPr>
          </a:p>
          <a:p>
            <a:pPr algn="l">
              <a:lnSpc>
                <a:spcPts val="2500"/>
              </a:lnSpc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</a:t>
            </a:r>
            <a:r>
              <a:rPr lang="en-US" altLang="ko-KR" b="1" i="0" dirty="0">
                <a:solidFill>
                  <a:srgbClr val="000000"/>
                </a:solidFill>
                <a:effectLst/>
                <a:latin typeface="inherit"/>
              </a:rPr>
              <a:t>if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(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deviceConnected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&amp;&amp; !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oldDeviceConnected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)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{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lnSpc>
                <a:spcPts val="2500"/>
              </a:lnSpc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   </a:t>
            </a:r>
            <a:r>
              <a:rPr lang="en-US" altLang="ko-KR" b="0" i="1" dirty="0">
                <a:solidFill>
                  <a:srgbClr val="999999"/>
                </a:solidFill>
                <a:effectLst/>
                <a:latin typeface="inherit"/>
              </a:rPr>
              <a:t>// do stuff here on connecting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lnSpc>
                <a:spcPts val="2500"/>
              </a:lnSpc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    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oldDeviceConnected</a:t>
            </a: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 = </a:t>
            </a:r>
            <a:r>
              <a:rPr lang="en-US" altLang="ko-KR" b="0" i="0" dirty="0" err="1">
                <a:solidFill>
                  <a:srgbClr val="002D7A"/>
                </a:solidFill>
                <a:effectLst/>
                <a:latin typeface="inherit"/>
              </a:rPr>
              <a:t>deviceConnected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;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lnSpc>
                <a:spcPts val="2500"/>
              </a:lnSpc>
              <a:buNone/>
            </a:pPr>
            <a:r>
              <a:rPr lang="en-US" altLang="ko-KR" b="0" i="0" dirty="0">
                <a:solidFill>
                  <a:srgbClr val="006FE0"/>
                </a:solidFill>
                <a:effectLst/>
                <a:latin typeface="inherit"/>
              </a:rPr>
              <a:t>  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}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  <a:p>
            <a:pPr algn="l">
              <a:lnSpc>
                <a:spcPts val="2500"/>
              </a:lnSpc>
            </a:pPr>
            <a:r>
              <a:rPr lang="en-US" altLang="ko-KR" b="0" i="0" dirty="0">
                <a:solidFill>
                  <a:srgbClr val="333333"/>
                </a:solidFill>
                <a:effectLst/>
                <a:latin typeface="inherit"/>
              </a:rPr>
              <a:t>}</a:t>
            </a:r>
            <a:endParaRPr lang="en-US" altLang="ko-KR" b="0" i="0" dirty="0">
              <a:solidFill>
                <a:srgbClr val="000000"/>
              </a:solidFill>
              <a:effectLst/>
              <a:latin typeface="Monaco"/>
            </a:endParaRPr>
          </a:p>
        </p:txBody>
      </p:sp>
    </p:spTree>
    <p:extLst>
      <p:ext uri="{BB962C8B-B14F-4D97-AF65-F5344CB8AC3E}">
        <p14:creationId xmlns:p14="http://schemas.microsoft.com/office/powerpoint/2010/main" val="3091447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E8D5A-4010-A02A-3179-8835A6B6E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2623E7D-CD3F-3B17-404E-CBC5CE2CA278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동작 결과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772087B-1A9D-E840-CB89-CD5A5021E6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03" y="942628"/>
            <a:ext cx="5153744" cy="2486372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89DD69A-89D4-054D-E3C6-2C03972A7D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0160" y="4000100"/>
            <a:ext cx="1695687" cy="1705213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B5593A5-FD4A-192D-5990-8C5CD67710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2033" y="863963"/>
            <a:ext cx="3286584" cy="183858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2987782-8AE1-9670-E248-4B572143A376}"/>
              </a:ext>
            </a:extLst>
          </p:cNvPr>
          <p:cNvSpPr txBox="1"/>
          <p:nvPr/>
        </p:nvSpPr>
        <p:spPr>
          <a:xfrm>
            <a:off x="2396067" y="3121223"/>
            <a:ext cx="34097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3A0DFB"/>
                </a:solidFill>
              </a:rPr>
              <a:t>CONNECT </a:t>
            </a:r>
            <a:r>
              <a:rPr lang="ko-KR" altLang="en-US" sz="1400" b="1" dirty="0">
                <a:solidFill>
                  <a:srgbClr val="3A0DFB"/>
                </a:solidFill>
              </a:rPr>
              <a:t>하지 않으면 여기에서 </a:t>
            </a:r>
            <a:r>
              <a:rPr lang="en-US" altLang="ko-KR" sz="1400" b="1" dirty="0">
                <a:solidFill>
                  <a:srgbClr val="3A0DFB"/>
                </a:solidFill>
              </a:rPr>
              <a:t>STOP!</a:t>
            </a:r>
            <a:endParaRPr lang="ko-KR" altLang="en-US" sz="1400" b="1" dirty="0">
              <a:solidFill>
                <a:srgbClr val="3A0DFB"/>
              </a:solidFill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CB77792F-9CD4-929A-8E71-EFEC119C36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2033" y="2847415"/>
            <a:ext cx="3238952" cy="4010585"/>
          </a:xfrm>
          <a:prstGeom prst="rect">
            <a:avLst/>
          </a:prstGeom>
        </p:spPr>
      </p:pic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568BFA2-1B06-5A8A-3484-532798C96637}"/>
              </a:ext>
            </a:extLst>
          </p:cNvPr>
          <p:cNvSpPr/>
          <p:nvPr/>
        </p:nvSpPr>
        <p:spPr>
          <a:xfrm>
            <a:off x="6791325" y="6305550"/>
            <a:ext cx="2676525" cy="552450"/>
          </a:xfrm>
          <a:prstGeom prst="roundRect">
            <a:avLst/>
          </a:prstGeom>
          <a:noFill/>
          <a:ln w="317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2053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E09F2-A178-3374-7844-DD7706DEC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AE0C251-9E28-C6FC-ECDE-642623956B38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동작 결과 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  <a:sym typeface="Wingdings" panose="05000000000000000000" pitchFamily="2" charset="2"/>
              </a:rPr>
              <a:t> UUID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  <a:sym typeface="Wingdings" panose="05000000000000000000" pitchFamily="2" charset="2"/>
              </a:rPr>
              <a:t> 설정 문제로 다른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  <a:sym typeface="Wingdings" panose="05000000000000000000" pitchFamily="2" charset="2"/>
              </a:rPr>
              <a:t>Service name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  <a:sym typeface="Wingdings" panose="05000000000000000000" pitchFamily="2" charset="2"/>
              </a:rPr>
              <a:t>표시됨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81CF753C-E29A-FD83-1AD7-0EA842E6E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08" y="1028140"/>
            <a:ext cx="3238952" cy="4010585"/>
          </a:xfrm>
          <a:prstGeom prst="rect">
            <a:avLst/>
          </a:prstGeom>
        </p:spPr>
      </p:pic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C17A9F4F-D1E3-E6C2-2923-6AE2C070D422}"/>
              </a:ext>
            </a:extLst>
          </p:cNvPr>
          <p:cNvSpPr/>
          <p:nvPr/>
        </p:nvSpPr>
        <p:spPr>
          <a:xfrm>
            <a:off x="337908" y="3457575"/>
            <a:ext cx="1205142" cy="409575"/>
          </a:xfrm>
          <a:prstGeom prst="roundRect">
            <a:avLst/>
          </a:prstGeom>
          <a:noFill/>
          <a:ln w="317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3082AB3-0EF8-B23A-75AD-1244F1EDD7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5250" y="1693365"/>
            <a:ext cx="5677692" cy="30484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74B81E6-1248-0191-BE65-0D916C1496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5250" y="1997288"/>
            <a:ext cx="5611008" cy="276264"/>
          </a:xfrm>
          <a:prstGeom prst="rect">
            <a:avLst/>
          </a:prstGeom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D6EBA54-5931-936B-713B-0AAB0F53AFC0}"/>
              </a:ext>
            </a:extLst>
          </p:cNvPr>
          <p:cNvSpPr/>
          <p:nvPr/>
        </p:nvSpPr>
        <p:spPr>
          <a:xfrm>
            <a:off x="518882" y="4034010"/>
            <a:ext cx="1633767" cy="409575"/>
          </a:xfrm>
          <a:prstGeom prst="roundRect">
            <a:avLst/>
          </a:prstGeom>
          <a:noFill/>
          <a:ln w="317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E076B3-2F5D-9FD5-5342-9026D57D0870}"/>
              </a:ext>
            </a:extLst>
          </p:cNvPr>
          <p:cNvSpPr txBox="1"/>
          <p:nvPr/>
        </p:nvSpPr>
        <p:spPr>
          <a:xfrm>
            <a:off x="3905250" y="1285875"/>
            <a:ext cx="65285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C00000"/>
                </a:solidFill>
              </a:rPr>
              <a:t>Heart Rate </a:t>
            </a:r>
            <a:r>
              <a:rPr lang="en-US" altLang="ko-KR" dirty="0">
                <a:solidFill>
                  <a:srgbClr val="C00000"/>
                </a:solidFill>
                <a:sym typeface="Wingdings" panose="05000000000000000000" pitchFamily="2" charset="2"/>
              </a:rPr>
              <a:t> Environmental Sensing Service </a:t>
            </a:r>
            <a:r>
              <a:rPr lang="ko-KR" altLang="en-US" dirty="0">
                <a:solidFill>
                  <a:srgbClr val="C00000"/>
                </a:solidFill>
                <a:sym typeface="Wingdings" panose="05000000000000000000" pitchFamily="2" charset="2"/>
              </a:rPr>
              <a:t>로 수정 필요</a:t>
            </a:r>
            <a:endParaRPr lang="en-US" altLang="ko-KR" dirty="0">
              <a:solidFill>
                <a:srgbClr val="C00000"/>
              </a:solidFill>
              <a:sym typeface="Wingdings" panose="05000000000000000000" pitchFamily="2" charset="2"/>
            </a:endParaRPr>
          </a:p>
          <a:p>
            <a:endParaRPr lang="ko-KR" altLang="en-US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48DAE847-1D1F-4628-178A-CD6EBA4BAA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5297" y="2405698"/>
            <a:ext cx="5647645" cy="73665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CCA96D4-80D4-48E0-CC12-DAC6B9FA05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0894" y="3189769"/>
            <a:ext cx="5525269" cy="27626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A0BD8D7-2A9C-A2BF-8A05-525202886F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39658" y="3564548"/>
            <a:ext cx="5406506" cy="24699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6BFDA4E-FA02-D2E9-709E-56455A7F5C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39658" y="4538289"/>
            <a:ext cx="3485543" cy="1797576"/>
          </a:xfrm>
          <a:prstGeom prst="rect">
            <a:avLst/>
          </a:prstGeom>
        </p:spPr>
      </p:pic>
      <p:sp>
        <p:nvSpPr>
          <p:cNvPr id="6" name="화살표: 아래쪽 5">
            <a:extLst>
              <a:ext uri="{FF2B5EF4-FFF2-40B4-BE49-F238E27FC236}">
                <a16:creationId xmlns:a16="http://schemas.microsoft.com/office/drawing/2014/main" id="{35F4E4AF-B39E-E581-CEDD-2DAB92552AD4}"/>
              </a:ext>
            </a:extLst>
          </p:cNvPr>
          <p:cNvSpPr/>
          <p:nvPr/>
        </p:nvSpPr>
        <p:spPr>
          <a:xfrm>
            <a:off x="5782429" y="3938822"/>
            <a:ext cx="217283" cy="47219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86890F5D-0EE2-6426-1AAE-A3BBE641CAD2}"/>
              </a:ext>
            </a:extLst>
          </p:cNvPr>
          <p:cNvSpPr/>
          <p:nvPr/>
        </p:nvSpPr>
        <p:spPr>
          <a:xfrm>
            <a:off x="3935297" y="5232289"/>
            <a:ext cx="1388141" cy="409575"/>
          </a:xfrm>
          <a:prstGeom prst="roundRect">
            <a:avLst/>
          </a:prstGeom>
          <a:noFill/>
          <a:ln w="317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009F925-1E58-B192-F279-8F436F62E0B0}"/>
              </a:ext>
            </a:extLst>
          </p:cNvPr>
          <p:cNvSpPr/>
          <p:nvPr/>
        </p:nvSpPr>
        <p:spPr>
          <a:xfrm>
            <a:off x="3985574" y="4538288"/>
            <a:ext cx="1796855" cy="599468"/>
          </a:xfrm>
          <a:prstGeom prst="roundRect">
            <a:avLst/>
          </a:prstGeom>
          <a:noFill/>
          <a:ln w="317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19279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A7460-4FE2-0DAE-7BA9-3A4D87961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3120FE5-150E-FD07-7CA6-724EF275BAC5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온도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,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습도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UUID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를 분리해보자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81A7C3F-E7AA-E1AF-487C-BD7102231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68" y="1822076"/>
            <a:ext cx="3485543" cy="1797576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5D32DAD3-355C-1003-0508-908210B01A4B}"/>
              </a:ext>
            </a:extLst>
          </p:cNvPr>
          <p:cNvSpPr/>
          <p:nvPr/>
        </p:nvSpPr>
        <p:spPr>
          <a:xfrm>
            <a:off x="5042781" y="2392618"/>
            <a:ext cx="669956" cy="65649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02A7CC-9759-E421-C3A3-79A205B51B76}"/>
              </a:ext>
            </a:extLst>
          </p:cNvPr>
          <p:cNvSpPr txBox="1"/>
          <p:nvPr/>
        </p:nvSpPr>
        <p:spPr>
          <a:xfrm>
            <a:off x="1061068" y="4028792"/>
            <a:ext cx="46358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하나의 </a:t>
            </a:r>
            <a:r>
              <a:rPr lang="en-US" altLang="ko-KR" dirty="0" err="1"/>
              <a:t>Serivce</a:t>
            </a:r>
            <a:r>
              <a:rPr lang="en-US" altLang="ko-KR" dirty="0"/>
              <a:t> UUID</a:t>
            </a:r>
            <a:r>
              <a:rPr lang="ko-KR" altLang="en-US" dirty="0"/>
              <a:t>를 만들고</a:t>
            </a:r>
            <a:r>
              <a:rPr lang="en-US" altLang="ko-KR" dirty="0"/>
              <a:t>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그 아래 두 개의 </a:t>
            </a:r>
            <a:r>
              <a:rPr lang="en-US" altLang="ko-KR" dirty="0"/>
              <a:t>Characteristic</a:t>
            </a:r>
            <a:r>
              <a:rPr lang="ko-KR" altLang="en-US" dirty="0"/>
              <a:t>을 만든다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6D106296-D80B-ADBD-23DE-E379B20FF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9265" y="1094531"/>
            <a:ext cx="4001058" cy="4143953"/>
          </a:xfrm>
          <a:prstGeom prst="rect">
            <a:avLst/>
          </a:prstGeom>
        </p:spPr>
      </p:pic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6EE55233-467D-36ED-C55B-9709182A8A10}"/>
              </a:ext>
            </a:extLst>
          </p:cNvPr>
          <p:cNvSpPr/>
          <p:nvPr/>
        </p:nvSpPr>
        <p:spPr>
          <a:xfrm>
            <a:off x="1109106" y="2508575"/>
            <a:ext cx="1205142" cy="409575"/>
          </a:xfrm>
          <a:prstGeom prst="roundRect">
            <a:avLst/>
          </a:prstGeom>
          <a:noFill/>
          <a:ln w="317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7138064-F0EB-E908-C5BF-CE69D0A935CA}"/>
              </a:ext>
            </a:extLst>
          </p:cNvPr>
          <p:cNvSpPr/>
          <p:nvPr/>
        </p:nvSpPr>
        <p:spPr>
          <a:xfrm>
            <a:off x="6612104" y="3548215"/>
            <a:ext cx="1309677" cy="480577"/>
          </a:xfrm>
          <a:prstGeom prst="roundRect">
            <a:avLst/>
          </a:prstGeom>
          <a:noFill/>
          <a:ln w="317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9702761E-12B8-1F5B-AEAF-4D4A96B37E34}"/>
              </a:ext>
            </a:extLst>
          </p:cNvPr>
          <p:cNvSpPr/>
          <p:nvPr/>
        </p:nvSpPr>
        <p:spPr>
          <a:xfrm>
            <a:off x="6612104" y="1857946"/>
            <a:ext cx="1309677" cy="480577"/>
          </a:xfrm>
          <a:prstGeom prst="roundRect">
            <a:avLst/>
          </a:prstGeom>
          <a:noFill/>
          <a:ln w="317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77199DB-6576-A2F0-49D8-CF0422642F44}"/>
              </a:ext>
            </a:extLst>
          </p:cNvPr>
          <p:cNvSpPr txBox="1"/>
          <p:nvPr/>
        </p:nvSpPr>
        <p:spPr>
          <a:xfrm>
            <a:off x="219352" y="6404068"/>
            <a:ext cx="100110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linkClick r:id="rId4"/>
              </a:rPr>
              <a:t>ESP32 BLE Peripheral (Server): Environmental Sensing Service | Random Nerd Tutorials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45CE1D-97E9-B777-4748-F71DAC60846D}"/>
              </a:ext>
            </a:extLst>
          </p:cNvPr>
          <p:cNvSpPr txBox="1"/>
          <p:nvPr/>
        </p:nvSpPr>
        <p:spPr>
          <a:xfrm flipH="1">
            <a:off x="407858" y="5929568"/>
            <a:ext cx="9333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하기 예제는 </a:t>
            </a:r>
            <a:r>
              <a:rPr lang="en-US" altLang="ko-KR" dirty="0"/>
              <a:t>BME280</a:t>
            </a:r>
            <a:r>
              <a:rPr lang="ko-KR" altLang="en-US" dirty="0"/>
              <a:t>으로 되어 있어</a:t>
            </a:r>
            <a:r>
              <a:rPr lang="en-US" altLang="ko-KR" dirty="0"/>
              <a:t>, </a:t>
            </a:r>
            <a:r>
              <a:rPr lang="ko-KR" altLang="en-US" dirty="0"/>
              <a:t>다음 페이지 코드에서는</a:t>
            </a:r>
            <a:r>
              <a:rPr lang="en-US" altLang="ko-KR" dirty="0"/>
              <a:t> DHT11</a:t>
            </a:r>
            <a:r>
              <a:rPr lang="ko-KR" altLang="en-US" dirty="0"/>
              <a:t>로 수정함</a:t>
            </a:r>
          </a:p>
        </p:txBody>
      </p:sp>
    </p:spTree>
    <p:extLst>
      <p:ext uri="{BB962C8B-B14F-4D97-AF65-F5344CB8AC3E}">
        <p14:creationId xmlns:p14="http://schemas.microsoft.com/office/powerpoint/2010/main" val="19497935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8C08E-BD33-00CF-1398-80BD7B27C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03CAC82-3B0D-FF45-69D1-31A500EEFECC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Code   1/4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BA0CA5-ABB0-964D-A9DD-FB9F32C76DAB}"/>
              </a:ext>
            </a:extLst>
          </p:cNvPr>
          <p:cNvSpPr txBox="1"/>
          <p:nvPr/>
        </p:nvSpPr>
        <p:spPr>
          <a:xfrm>
            <a:off x="162963" y="735955"/>
            <a:ext cx="10715244" cy="5755422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Consolas" panose="020B0609020204030204" pitchFamily="49" charset="0"/>
              </a:rPr>
              <a:t>#include &lt;</a:t>
            </a:r>
            <a:r>
              <a:rPr lang="ko-KR" altLang="en-US" sz="1600" dirty="0" err="1">
                <a:latin typeface="Consolas" panose="020B0609020204030204" pitchFamily="49" charset="0"/>
              </a:rPr>
              <a:t>BLEDevice.h</a:t>
            </a:r>
            <a:r>
              <a:rPr lang="ko-KR" altLang="en-US" sz="1600" dirty="0">
                <a:latin typeface="Consolas" panose="020B0609020204030204" pitchFamily="49" charset="0"/>
              </a:rPr>
              <a:t>&gt;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#include &lt;</a:t>
            </a:r>
            <a:r>
              <a:rPr lang="ko-KR" altLang="en-US" sz="1600" dirty="0" err="1">
                <a:latin typeface="Consolas" panose="020B0609020204030204" pitchFamily="49" charset="0"/>
              </a:rPr>
              <a:t>BLEServer.h</a:t>
            </a:r>
            <a:r>
              <a:rPr lang="ko-KR" altLang="en-US" sz="1600" dirty="0">
                <a:latin typeface="Consolas" panose="020B0609020204030204" pitchFamily="49" charset="0"/>
              </a:rPr>
              <a:t>&gt;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#include &lt;</a:t>
            </a:r>
            <a:r>
              <a:rPr lang="ko-KR" altLang="en-US" sz="1600" dirty="0" err="1">
                <a:latin typeface="Consolas" panose="020B0609020204030204" pitchFamily="49" charset="0"/>
              </a:rPr>
              <a:t>BLEUtils.h</a:t>
            </a:r>
            <a:r>
              <a:rPr lang="ko-KR" altLang="en-US" sz="1600" dirty="0">
                <a:latin typeface="Consolas" panose="020B0609020204030204" pitchFamily="49" charset="0"/>
              </a:rPr>
              <a:t>&gt;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#include &lt;BLE2902.h&gt;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#include &lt;</a:t>
            </a:r>
            <a:r>
              <a:rPr lang="ko-KR" altLang="en-US" sz="1600" dirty="0" err="1">
                <a:latin typeface="Consolas" panose="020B0609020204030204" pitchFamily="49" charset="0"/>
              </a:rPr>
              <a:t>DHT.h</a:t>
            </a:r>
            <a:r>
              <a:rPr lang="ko-KR" altLang="en-US" sz="1600" dirty="0">
                <a:latin typeface="Consolas" panose="020B0609020204030204" pitchFamily="49" charset="0"/>
              </a:rPr>
              <a:t>&gt;</a:t>
            </a:r>
          </a:p>
          <a:p>
            <a:endParaRPr lang="ko-KR" altLang="en-US" sz="1600" dirty="0">
              <a:latin typeface="Consolas" panose="020B0609020204030204" pitchFamily="49" charset="0"/>
            </a:endParaRPr>
          </a:p>
          <a:p>
            <a:r>
              <a:rPr lang="ko-KR" altLang="en-US" sz="1600" dirty="0">
                <a:latin typeface="Consolas" panose="020B0609020204030204" pitchFamily="49" charset="0"/>
              </a:rPr>
              <a:t>// DHT </a:t>
            </a:r>
            <a:r>
              <a:rPr lang="ko-KR" altLang="en-US" sz="1600" dirty="0" err="1">
                <a:latin typeface="Consolas" panose="020B0609020204030204" pitchFamily="49" charset="0"/>
              </a:rPr>
              <a:t>Sensor</a:t>
            </a:r>
            <a:endParaRPr lang="ko-KR" altLang="en-US" sz="1600" dirty="0">
              <a:latin typeface="Consolas" panose="020B0609020204030204" pitchFamily="49" charset="0"/>
            </a:endParaRPr>
          </a:p>
          <a:p>
            <a:r>
              <a:rPr lang="ko-KR" altLang="en-US" sz="1600" dirty="0">
                <a:latin typeface="Consolas" panose="020B0609020204030204" pitchFamily="49" charset="0"/>
              </a:rPr>
              <a:t>#define DHTPIN 32     // </a:t>
            </a:r>
            <a:r>
              <a:rPr lang="ko-KR" altLang="en-US" sz="1600" dirty="0" err="1">
                <a:latin typeface="Consolas" panose="020B0609020204030204" pitchFamily="49" charset="0"/>
              </a:rPr>
              <a:t>Pin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which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is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connected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to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the</a:t>
            </a:r>
            <a:r>
              <a:rPr lang="ko-KR" altLang="en-US" sz="1600" dirty="0">
                <a:latin typeface="Consolas" panose="020B0609020204030204" pitchFamily="49" charset="0"/>
              </a:rPr>
              <a:t> DHT </a:t>
            </a:r>
            <a:r>
              <a:rPr lang="ko-KR" altLang="en-US" sz="1600" dirty="0" err="1">
                <a:latin typeface="Consolas" panose="020B0609020204030204" pitchFamily="49" charset="0"/>
              </a:rPr>
              <a:t>sensor</a:t>
            </a:r>
            <a:r>
              <a:rPr lang="ko-KR" altLang="en-US" sz="1600" dirty="0">
                <a:latin typeface="Consolas" panose="020B0609020204030204" pitchFamily="49" charset="0"/>
              </a:rPr>
              <a:t>.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#define DHTTYPE DHT11 // DHT 11</a:t>
            </a:r>
          </a:p>
          <a:p>
            <a:endParaRPr lang="ko-KR" altLang="en-US" sz="1600" dirty="0">
              <a:latin typeface="Consolas" panose="020B0609020204030204" pitchFamily="49" charset="0"/>
            </a:endParaRPr>
          </a:p>
          <a:p>
            <a:r>
              <a:rPr lang="ko-KR" altLang="en-US" sz="1600" dirty="0">
                <a:latin typeface="Consolas" panose="020B0609020204030204" pitchFamily="49" charset="0"/>
              </a:rPr>
              <a:t>DHT </a:t>
            </a:r>
            <a:r>
              <a:rPr lang="ko-KR" altLang="en-US" sz="1600" dirty="0" err="1">
                <a:latin typeface="Consolas" panose="020B0609020204030204" pitchFamily="49" charset="0"/>
              </a:rPr>
              <a:t>dht</a:t>
            </a:r>
            <a:r>
              <a:rPr lang="ko-KR" altLang="en-US" sz="1600" dirty="0">
                <a:latin typeface="Consolas" panose="020B0609020204030204" pitchFamily="49" charset="0"/>
              </a:rPr>
              <a:t>(DHTPIN, DHTTYPE);</a:t>
            </a:r>
          </a:p>
          <a:p>
            <a:endParaRPr lang="ko-KR" altLang="en-US" sz="1600" dirty="0">
              <a:latin typeface="Consolas" panose="020B0609020204030204" pitchFamily="49" charset="0"/>
            </a:endParaRPr>
          </a:p>
          <a:p>
            <a:r>
              <a:rPr lang="ko-KR" altLang="en-US" sz="1600" dirty="0">
                <a:latin typeface="Consolas" panose="020B0609020204030204" pitchFamily="49" charset="0"/>
              </a:rPr>
              <a:t>//BLE </a:t>
            </a:r>
            <a:r>
              <a:rPr lang="ko-KR" altLang="en-US" sz="1600" dirty="0" err="1">
                <a:latin typeface="Consolas" panose="020B0609020204030204" pitchFamily="49" charset="0"/>
              </a:rPr>
              <a:t>server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name</a:t>
            </a:r>
            <a:endParaRPr lang="ko-KR" altLang="en-US" sz="1600" dirty="0">
              <a:latin typeface="Consolas" panose="020B0609020204030204" pitchFamily="49" charset="0"/>
            </a:endParaRPr>
          </a:p>
          <a:p>
            <a:r>
              <a:rPr lang="ko-KR" altLang="en-US" sz="1600" dirty="0">
                <a:latin typeface="Consolas" panose="020B0609020204030204" pitchFamily="49" charset="0"/>
              </a:rPr>
              <a:t>#define </a:t>
            </a:r>
            <a:r>
              <a:rPr lang="ko-KR" altLang="en-US" sz="1600" dirty="0" err="1">
                <a:latin typeface="Consolas" panose="020B0609020204030204" pitchFamily="49" charset="0"/>
              </a:rPr>
              <a:t>bleServerName</a:t>
            </a:r>
            <a:r>
              <a:rPr lang="ko-KR" altLang="en-US" sz="1600" dirty="0">
                <a:latin typeface="Consolas" panose="020B0609020204030204" pitchFamily="49" charset="0"/>
              </a:rPr>
              <a:t> "ESP32_DHT11"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#define SERVICE_UUID (BLEUUID((uint16_t)0x181A))</a:t>
            </a:r>
          </a:p>
          <a:p>
            <a:endParaRPr lang="ko-KR" altLang="en-US" sz="1600" dirty="0">
              <a:latin typeface="Consolas" panose="020B0609020204030204" pitchFamily="49" charset="0"/>
            </a:endParaRPr>
          </a:p>
          <a:p>
            <a:r>
              <a:rPr lang="ko-KR" altLang="en-US" sz="1600" dirty="0" err="1">
                <a:solidFill>
                  <a:srgbClr val="3A0DFB"/>
                </a:solidFill>
                <a:latin typeface="Consolas" panose="020B0609020204030204" pitchFamily="49" charset="0"/>
              </a:rPr>
              <a:t>BLECharacteristic</a:t>
            </a:r>
            <a:r>
              <a:rPr lang="ko-KR" altLang="en-US" sz="1600" dirty="0">
                <a:solidFill>
                  <a:srgbClr val="3A0DFB"/>
                </a:solidFill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solidFill>
                  <a:srgbClr val="3A0DFB"/>
                </a:solidFill>
                <a:latin typeface="Consolas" panose="020B0609020204030204" pitchFamily="49" charset="0"/>
              </a:rPr>
              <a:t>temperatureCharacteristic</a:t>
            </a:r>
            <a:r>
              <a:rPr lang="ko-KR" altLang="en-US" sz="1600" dirty="0">
                <a:solidFill>
                  <a:srgbClr val="3A0DFB"/>
                </a:solidFill>
                <a:latin typeface="Consolas" panose="020B0609020204030204" pitchFamily="49" charset="0"/>
              </a:rPr>
              <a:t>(BLEUUID((uint16_t)0x2A6E), </a:t>
            </a:r>
            <a:r>
              <a:rPr lang="ko-KR" altLang="en-US" sz="1600" dirty="0" err="1">
                <a:latin typeface="Consolas" panose="020B0609020204030204" pitchFamily="49" charset="0"/>
              </a:rPr>
              <a:t>BLECharacteristic</a:t>
            </a:r>
            <a:r>
              <a:rPr lang="ko-KR" altLang="en-US" sz="1600" dirty="0">
                <a:latin typeface="Consolas" panose="020B0609020204030204" pitchFamily="49" charset="0"/>
              </a:rPr>
              <a:t>::PROPERTY_NOTIFY);</a:t>
            </a:r>
          </a:p>
          <a:p>
            <a:r>
              <a:rPr lang="ko-KR" altLang="en-US" sz="1600" dirty="0" err="1">
                <a:latin typeface="Consolas" panose="020B0609020204030204" pitchFamily="49" charset="0"/>
              </a:rPr>
              <a:t>BLEDescriptor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temperatureDescriptor</a:t>
            </a:r>
            <a:r>
              <a:rPr lang="ko-KR" altLang="en-US" sz="1600" dirty="0">
                <a:latin typeface="Consolas" panose="020B0609020204030204" pitchFamily="49" charset="0"/>
              </a:rPr>
              <a:t>(BLEUUID((uint16_t)0x2902));</a:t>
            </a:r>
          </a:p>
          <a:p>
            <a:endParaRPr lang="ko-KR" altLang="en-US" sz="1600" dirty="0">
              <a:latin typeface="Consolas" panose="020B0609020204030204" pitchFamily="49" charset="0"/>
            </a:endParaRPr>
          </a:p>
          <a:p>
            <a:r>
              <a:rPr lang="ko-KR" altLang="en-US" sz="1600" dirty="0" err="1">
                <a:solidFill>
                  <a:srgbClr val="3A0DFB"/>
                </a:solidFill>
                <a:latin typeface="Consolas" panose="020B0609020204030204" pitchFamily="49" charset="0"/>
              </a:rPr>
              <a:t>BLECharacteristic</a:t>
            </a:r>
            <a:r>
              <a:rPr lang="ko-KR" altLang="en-US" sz="1600" dirty="0">
                <a:solidFill>
                  <a:srgbClr val="3A0DFB"/>
                </a:solidFill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solidFill>
                  <a:srgbClr val="3A0DFB"/>
                </a:solidFill>
                <a:latin typeface="Consolas" panose="020B0609020204030204" pitchFamily="49" charset="0"/>
              </a:rPr>
              <a:t>humidityCharacteristic</a:t>
            </a:r>
            <a:r>
              <a:rPr lang="ko-KR" altLang="en-US" sz="1600" dirty="0">
                <a:solidFill>
                  <a:srgbClr val="3A0DFB"/>
                </a:solidFill>
                <a:latin typeface="Consolas" panose="020B0609020204030204" pitchFamily="49" charset="0"/>
              </a:rPr>
              <a:t>(BLEUUID((uint16_t)0x2A6F), </a:t>
            </a:r>
            <a:r>
              <a:rPr lang="ko-KR" altLang="en-US" sz="1600" dirty="0" err="1">
                <a:latin typeface="Consolas" panose="020B0609020204030204" pitchFamily="49" charset="0"/>
              </a:rPr>
              <a:t>BLECharacteristic</a:t>
            </a:r>
            <a:r>
              <a:rPr lang="ko-KR" altLang="en-US" sz="1600" dirty="0">
                <a:latin typeface="Consolas" panose="020B0609020204030204" pitchFamily="49" charset="0"/>
              </a:rPr>
              <a:t>::PROPERTY_NOTIFY);</a:t>
            </a:r>
          </a:p>
          <a:p>
            <a:r>
              <a:rPr lang="ko-KR" altLang="en-US" sz="1600" dirty="0" err="1">
                <a:latin typeface="Consolas" panose="020B0609020204030204" pitchFamily="49" charset="0"/>
              </a:rPr>
              <a:t>BLEDescriptor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humidityDescriptor</a:t>
            </a:r>
            <a:r>
              <a:rPr lang="ko-KR" altLang="en-US" sz="1600" dirty="0">
                <a:latin typeface="Consolas" panose="020B0609020204030204" pitchFamily="49" charset="0"/>
              </a:rPr>
              <a:t>(BLEUUID((uint16_t)0x2902));</a:t>
            </a:r>
          </a:p>
        </p:txBody>
      </p:sp>
    </p:spTree>
    <p:extLst>
      <p:ext uri="{BB962C8B-B14F-4D97-AF65-F5344CB8AC3E}">
        <p14:creationId xmlns:p14="http://schemas.microsoft.com/office/powerpoint/2010/main" val="7365261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AF43E-1481-C057-6841-8C327B79E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42C565B-F757-3CFE-F1E6-59302C59F61C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Code   2/4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E3853C-ADB0-64F3-3278-9C3F88AEED7C}"/>
              </a:ext>
            </a:extLst>
          </p:cNvPr>
          <p:cNvSpPr txBox="1"/>
          <p:nvPr/>
        </p:nvSpPr>
        <p:spPr>
          <a:xfrm>
            <a:off x="378372" y="898397"/>
            <a:ext cx="8657896" cy="4339650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bool </a:t>
            </a:r>
            <a:r>
              <a:rPr lang="ko-KR" altLang="en-US" sz="1600" dirty="0" err="1">
                <a:latin typeface="Consolas" panose="020B0609020204030204" pitchFamily="49" charset="0"/>
              </a:rPr>
              <a:t>deviceConnected</a:t>
            </a:r>
            <a:r>
              <a:rPr lang="ko-KR" altLang="en-US" sz="1600" dirty="0">
                <a:latin typeface="Consolas" panose="020B0609020204030204" pitchFamily="49" charset="0"/>
              </a:rPr>
              <a:t> = </a:t>
            </a:r>
            <a:r>
              <a:rPr lang="ko-KR" altLang="en-US" sz="1600" dirty="0" err="1">
                <a:latin typeface="Consolas" panose="020B0609020204030204" pitchFamily="49" charset="0"/>
              </a:rPr>
              <a:t>false</a:t>
            </a:r>
            <a:r>
              <a:rPr lang="ko-KR" altLang="en-US" sz="1600" dirty="0">
                <a:latin typeface="Consolas" panose="020B0609020204030204" pitchFamily="49" charset="0"/>
              </a:rPr>
              <a:t>;</a:t>
            </a:r>
            <a:endParaRPr lang="en-US" altLang="ko-KR" sz="1600" dirty="0">
              <a:latin typeface="Consolas" panose="020B0609020204030204" pitchFamily="49" charset="0"/>
            </a:endParaRPr>
          </a:p>
          <a:p>
            <a:pPr>
              <a:lnSpc>
                <a:spcPts val="2400"/>
              </a:lnSpc>
            </a:pPr>
            <a:endParaRPr lang="ko-KR" altLang="en-US" sz="1600" dirty="0">
              <a:latin typeface="Consolas" panose="020B0609020204030204" pitchFamily="49" charset="0"/>
            </a:endParaRP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//</a:t>
            </a:r>
            <a:r>
              <a:rPr lang="ko-KR" altLang="en-US" sz="1600" dirty="0" err="1">
                <a:latin typeface="Consolas" panose="020B0609020204030204" pitchFamily="49" charset="0"/>
              </a:rPr>
              <a:t>Setup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callbacks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onConnect</a:t>
            </a:r>
            <a:r>
              <a:rPr lang="ko-KR" altLang="en-US" sz="1600" dirty="0">
                <a:latin typeface="Consolas" panose="020B0609020204030204" pitchFamily="49" charset="0"/>
              </a:rPr>
              <a:t> and </a:t>
            </a:r>
            <a:r>
              <a:rPr lang="ko-KR" altLang="en-US" sz="1600" dirty="0" err="1">
                <a:latin typeface="Consolas" panose="020B0609020204030204" pitchFamily="49" charset="0"/>
              </a:rPr>
              <a:t>onDisconnect</a:t>
            </a:r>
            <a:endParaRPr lang="ko-KR" altLang="en-US" sz="1600" dirty="0">
              <a:latin typeface="Consolas" panose="020B0609020204030204" pitchFamily="49" charset="0"/>
            </a:endParaRP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class </a:t>
            </a:r>
            <a:r>
              <a:rPr lang="ko-KR" altLang="en-US" sz="1600" dirty="0" err="1">
                <a:latin typeface="Consolas" panose="020B0609020204030204" pitchFamily="49" charset="0"/>
              </a:rPr>
              <a:t>MyServerCallbacks</a:t>
            </a:r>
            <a:r>
              <a:rPr lang="ko-KR" altLang="en-US" sz="1600" dirty="0">
                <a:latin typeface="Consolas" panose="020B0609020204030204" pitchFamily="49" charset="0"/>
              </a:rPr>
              <a:t>: </a:t>
            </a:r>
            <a:r>
              <a:rPr lang="ko-KR" altLang="en-US" sz="1600" dirty="0" err="1">
                <a:latin typeface="Consolas" panose="020B0609020204030204" pitchFamily="49" charset="0"/>
              </a:rPr>
              <a:t>public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BLEServerCallbacks</a:t>
            </a:r>
            <a:r>
              <a:rPr lang="ko-KR" altLang="en-US" sz="1600" dirty="0"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void </a:t>
            </a:r>
            <a:r>
              <a:rPr lang="ko-KR" altLang="en-US" sz="1600" dirty="0" err="1">
                <a:latin typeface="Consolas" panose="020B0609020204030204" pitchFamily="49" charset="0"/>
              </a:rPr>
              <a:t>onConnect</a:t>
            </a:r>
            <a:r>
              <a:rPr lang="ko-KR" altLang="en-US" sz="1600" dirty="0">
                <a:latin typeface="Consolas" panose="020B0609020204030204" pitchFamily="49" charset="0"/>
              </a:rPr>
              <a:t>(</a:t>
            </a:r>
            <a:r>
              <a:rPr lang="ko-KR" altLang="en-US" sz="1600" dirty="0" err="1">
                <a:latin typeface="Consolas" panose="020B0609020204030204" pitchFamily="49" charset="0"/>
              </a:rPr>
              <a:t>BLEServer</a:t>
            </a:r>
            <a:r>
              <a:rPr lang="ko-KR" altLang="en-US" sz="1600" dirty="0">
                <a:latin typeface="Consolas" panose="020B0609020204030204" pitchFamily="49" charset="0"/>
              </a:rPr>
              <a:t>* </a:t>
            </a:r>
            <a:r>
              <a:rPr lang="ko-KR" altLang="en-US" sz="1600" dirty="0" err="1">
                <a:latin typeface="Consolas" panose="020B0609020204030204" pitchFamily="49" charset="0"/>
              </a:rPr>
              <a:t>pServer</a:t>
            </a:r>
            <a:r>
              <a:rPr lang="ko-KR" altLang="en-US" sz="1600" dirty="0"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</a:t>
            </a:r>
            <a:r>
              <a:rPr lang="ko-KR" altLang="en-US" sz="1600" dirty="0" err="1">
                <a:latin typeface="Consolas" panose="020B0609020204030204" pitchFamily="49" charset="0"/>
              </a:rPr>
              <a:t>deviceConnected</a:t>
            </a:r>
            <a:r>
              <a:rPr lang="ko-KR" altLang="en-US" sz="1600" dirty="0">
                <a:latin typeface="Consolas" panose="020B0609020204030204" pitchFamily="49" charset="0"/>
              </a:rPr>
              <a:t> = </a:t>
            </a:r>
            <a:r>
              <a:rPr lang="ko-KR" altLang="en-US" sz="1600" dirty="0" err="1">
                <a:latin typeface="Consolas" panose="020B0609020204030204" pitchFamily="49" charset="0"/>
              </a:rPr>
              <a:t>true</a:t>
            </a:r>
            <a:r>
              <a:rPr lang="ko-KR" altLang="en-US" sz="1600" dirty="0"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</a:t>
            </a:r>
            <a:r>
              <a:rPr lang="ko-KR" altLang="en-US" sz="1600" dirty="0" err="1">
                <a:latin typeface="Consolas" panose="020B0609020204030204" pitchFamily="49" charset="0"/>
              </a:rPr>
              <a:t>Serial.println</a:t>
            </a:r>
            <a:r>
              <a:rPr lang="ko-KR" altLang="en-US" sz="1600" dirty="0">
                <a:latin typeface="Consolas" panose="020B0609020204030204" pitchFamily="49" charset="0"/>
              </a:rPr>
              <a:t>("</a:t>
            </a:r>
            <a:r>
              <a:rPr lang="ko-KR" altLang="en-US" sz="1600" dirty="0" err="1">
                <a:latin typeface="Consolas" panose="020B0609020204030204" pitchFamily="49" charset="0"/>
              </a:rPr>
              <a:t>Device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Connected</a:t>
            </a:r>
            <a:r>
              <a:rPr lang="ko-KR" altLang="en-US" sz="1600" dirty="0">
                <a:latin typeface="Consolas" panose="020B0609020204030204" pitchFamily="49" charset="0"/>
              </a:rPr>
              <a:t>");</a:t>
            </a: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};</a:t>
            </a: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void </a:t>
            </a:r>
            <a:r>
              <a:rPr lang="ko-KR" altLang="en-US" sz="1600" dirty="0" err="1">
                <a:latin typeface="Consolas" panose="020B0609020204030204" pitchFamily="49" charset="0"/>
              </a:rPr>
              <a:t>onDisconnect</a:t>
            </a:r>
            <a:r>
              <a:rPr lang="ko-KR" altLang="en-US" sz="1600" dirty="0">
                <a:latin typeface="Consolas" panose="020B0609020204030204" pitchFamily="49" charset="0"/>
              </a:rPr>
              <a:t>(</a:t>
            </a:r>
            <a:r>
              <a:rPr lang="ko-KR" altLang="en-US" sz="1600" dirty="0" err="1">
                <a:latin typeface="Consolas" panose="020B0609020204030204" pitchFamily="49" charset="0"/>
              </a:rPr>
              <a:t>BLEServer</a:t>
            </a:r>
            <a:r>
              <a:rPr lang="ko-KR" altLang="en-US" sz="1600" dirty="0">
                <a:latin typeface="Consolas" panose="020B0609020204030204" pitchFamily="49" charset="0"/>
              </a:rPr>
              <a:t>* </a:t>
            </a:r>
            <a:r>
              <a:rPr lang="ko-KR" altLang="en-US" sz="1600" dirty="0" err="1">
                <a:latin typeface="Consolas" panose="020B0609020204030204" pitchFamily="49" charset="0"/>
              </a:rPr>
              <a:t>pServer</a:t>
            </a:r>
            <a:r>
              <a:rPr lang="ko-KR" altLang="en-US" sz="1600" dirty="0"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</a:t>
            </a:r>
            <a:r>
              <a:rPr lang="ko-KR" altLang="en-US" sz="1600" dirty="0" err="1">
                <a:latin typeface="Consolas" panose="020B0609020204030204" pitchFamily="49" charset="0"/>
              </a:rPr>
              <a:t>deviceConnected</a:t>
            </a:r>
            <a:r>
              <a:rPr lang="ko-KR" altLang="en-US" sz="1600" dirty="0">
                <a:latin typeface="Consolas" panose="020B0609020204030204" pitchFamily="49" charset="0"/>
              </a:rPr>
              <a:t> = </a:t>
            </a:r>
            <a:r>
              <a:rPr lang="ko-KR" altLang="en-US" sz="1600" dirty="0" err="1">
                <a:latin typeface="Consolas" panose="020B0609020204030204" pitchFamily="49" charset="0"/>
              </a:rPr>
              <a:t>false</a:t>
            </a:r>
            <a:r>
              <a:rPr lang="ko-KR" altLang="en-US" sz="1600" dirty="0"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</a:t>
            </a:r>
            <a:r>
              <a:rPr lang="ko-KR" altLang="en-US" sz="1600" dirty="0" err="1">
                <a:latin typeface="Consolas" panose="020B0609020204030204" pitchFamily="49" charset="0"/>
              </a:rPr>
              <a:t>Serial.println</a:t>
            </a:r>
            <a:r>
              <a:rPr lang="ko-KR" altLang="en-US" sz="1600" dirty="0">
                <a:latin typeface="Consolas" panose="020B0609020204030204" pitchFamily="49" charset="0"/>
              </a:rPr>
              <a:t>("</a:t>
            </a:r>
            <a:r>
              <a:rPr lang="ko-KR" altLang="en-US" sz="1600" dirty="0" err="1">
                <a:latin typeface="Consolas" panose="020B0609020204030204" pitchFamily="49" charset="0"/>
              </a:rPr>
              <a:t>Device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Disconnected</a:t>
            </a:r>
            <a:r>
              <a:rPr lang="ko-KR" altLang="en-US" sz="1600" dirty="0">
                <a:latin typeface="Consolas" panose="020B0609020204030204" pitchFamily="49" charset="0"/>
              </a:rPr>
              <a:t>");</a:t>
            </a: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}</a:t>
            </a: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};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954565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25AFC-A9CC-578D-3FA8-7C075E8BC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732196C-F6BD-8C0E-99AD-F22341B89372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Code   3/4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486BD2-262A-8BF9-7E87-672D2ACAD3B3}"/>
              </a:ext>
            </a:extLst>
          </p:cNvPr>
          <p:cNvSpPr txBox="1"/>
          <p:nvPr/>
        </p:nvSpPr>
        <p:spPr>
          <a:xfrm>
            <a:off x="346841" y="856356"/>
            <a:ext cx="8657896" cy="5509200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Consolas" panose="020B0609020204030204" pitchFamily="49" charset="0"/>
              </a:rPr>
              <a:t>void </a:t>
            </a:r>
            <a:r>
              <a:rPr lang="ko-KR" altLang="en-US" sz="1600" dirty="0" err="1">
                <a:latin typeface="Consolas" panose="020B0609020204030204" pitchFamily="49" charset="0"/>
              </a:rPr>
              <a:t>setup</a:t>
            </a:r>
            <a:r>
              <a:rPr lang="ko-KR" altLang="en-US" sz="1600" dirty="0">
                <a:latin typeface="Consolas" panose="020B0609020204030204" pitchFamily="49" charset="0"/>
              </a:rPr>
              <a:t>() {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Serial.begin</a:t>
            </a:r>
            <a:r>
              <a:rPr lang="ko-KR" altLang="en-US" sz="1600" dirty="0">
                <a:latin typeface="Consolas" panose="020B0609020204030204" pitchFamily="49" charset="0"/>
              </a:rPr>
              <a:t>(115200);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BLEDevice</a:t>
            </a:r>
            <a:r>
              <a:rPr lang="ko-KR" altLang="en-US" sz="1600" dirty="0">
                <a:latin typeface="Consolas" panose="020B0609020204030204" pitchFamily="49" charset="0"/>
              </a:rPr>
              <a:t>::</a:t>
            </a:r>
            <a:r>
              <a:rPr lang="ko-KR" altLang="en-US" sz="1600" dirty="0" err="1">
                <a:latin typeface="Consolas" panose="020B0609020204030204" pitchFamily="49" charset="0"/>
              </a:rPr>
              <a:t>init</a:t>
            </a:r>
            <a:r>
              <a:rPr lang="ko-KR" altLang="en-US" sz="1600" dirty="0">
                <a:latin typeface="Consolas" panose="020B0609020204030204" pitchFamily="49" charset="0"/>
              </a:rPr>
              <a:t>(</a:t>
            </a:r>
            <a:r>
              <a:rPr lang="ko-KR" altLang="en-US" sz="1600" dirty="0" err="1">
                <a:latin typeface="Consolas" panose="020B0609020204030204" pitchFamily="49" charset="0"/>
              </a:rPr>
              <a:t>bleServerName</a:t>
            </a:r>
            <a:r>
              <a:rPr lang="ko-KR" altLang="en-US" sz="1600" dirty="0">
                <a:latin typeface="Consolas" panose="020B0609020204030204" pitchFamily="49" charset="0"/>
              </a:rPr>
              <a:t>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BLEServer</a:t>
            </a:r>
            <a:r>
              <a:rPr lang="ko-KR" altLang="en-US" sz="1600" dirty="0">
                <a:latin typeface="Consolas" panose="020B0609020204030204" pitchFamily="49" charset="0"/>
              </a:rPr>
              <a:t> *</a:t>
            </a:r>
            <a:r>
              <a:rPr lang="ko-KR" altLang="en-US" sz="1600" dirty="0" err="1">
                <a:latin typeface="Consolas" panose="020B0609020204030204" pitchFamily="49" charset="0"/>
              </a:rPr>
              <a:t>pServer</a:t>
            </a:r>
            <a:r>
              <a:rPr lang="ko-KR" altLang="en-US" sz="1600" dirty="0">
                <a:latin typeface="Consolas" panose="020B0609020204030204" pitchFamily="49" charset="0"/>
              </a:rPr>
              <a:t> = </a:t>
            </a:r>
            <a:r>
              <a:rPr lang="ko-KR" altLang="en-US" sz="1600" dirty="0" err="1">
                <a:latin typeface="Consolas" panose="020B0609020204030204" pitchFamily="49" charset="0"/>
              </a:rPr>
              <a:t>BLEDevice</a:t>
            </a:r>
            <a:r>
              <a:rPr lang="ko-KR" altLang="en-US" sz="1600" dirty="0">
                <a:latin typeface="Consolas" panose="020B0609020204030204" pitchFamily="49" charset="0"/>
              </a:rPr>
              <a:t>::</a:t>
            </a:r>
            <a:r>
              <a:rPr lang="ko-KR" altLang="en-US" sz="1600" dirty="0" err="1">
                <a:latin typeface="Consolas" panose="020B0609020204030204" pitchFamily="49" charset="0"/>
              </a:rPr>
              <a:t>createServer</a:t>
            </a:r>
            <a:r>
              <a:rPr lang="ko-KR" altLang="en-US" sz="1600" dirty="0">
                <a:latin typeface="Consolas" panose="020B0609020204030204" pitchFamily="49" charset="0"/>
              </a:rPr>
              <a:t>();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pServer</a:t>
            </a:r>
            <a:r>
              <a:rPr lang="ko-KR" altLang="en-US" sz="1600" dirty="0">
                <a:latin typeface="Consolas" panose="020B0609020204030204" pitchFamily="49" charset="0"/>
              </a:rPr>
              <a:t>-&gt;</a:t>
            </a:r>
            <a:r>
              <a:rPr lang="ko-KR" altLang="en-US" sz="1600" dirty="0" err="1">
                <a:latin typeface="Consolas" panose="020B0609020204030204" pitchFamily="49" charset="0"/>
              </a:rPr>
              <a:t>setCallbacks</a:t>
            </a:r>
            <a:r>
              <a:rPr lang="ko-KR" altLang="en-US" sz="1600" dirty="0">
                <a:latin typeface="Consolas" panose="020B0609020204030204" pitchFamily="49" charset="0"/>
              </a:rPr>
              <a:t>(</a:t>
            </a:r>
            <a:r>
              <a:rPr lang="ko-KR" altLang="en-US" sz="1600" dirty="0" err="1">
                <a:latin typeface="Consolas" panose="020B0609020204030204" pitchFamily="49" charset="0"/>
              </a:rPr>
              <a:t>new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MyServerCallbacks</a:t>
            </a:r>
            <a:r>
              <a:rPr lang="ko-KR" altLang="en-US" sz="1600" dirty="0">
                <a:latin typeface="Consolas" panose="020B0609020204030204" pitchFamily="49" charset="0"/>
              </a:rPr>
              <a:t>());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dht.begin</a:t>
            </a:r>
            <a:r>
              <a:rPr lang="ko-KR" altLang="en-US" sz="1600" dirty="0">
                <a:latin typeface="Consolas" panose="020B0609020204030204" pitchFamily="49" charset="0"/>
              </a:rPr>
              <a:t>();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// </a:t>
            </a:r>
            <a:r>
              <a:rPr lang="ko-KR" altLang="en-US" sz="1600" dirty="0" err="1">
                <a:latin typeface="Consolas" panose="020B0609020204030204" pitchFamily="49" charset="0"/>
              </a:rPr>
              <a:t>Create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the</a:t>
            </a:r>
            <a:r>
              <a:rPr lang="ko-KR" altLang="en-US" sz="1600" dirty="0">
                <a:latin typeface="Consolas" panose="020B0609020204030204" pitchFamily="49" charset="0"/>
              </a:rPr>
              <a:t> BLE Service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BLEService</a:t>
            </a:r>
            <a:r>
              <a:rPr lang="ko-KR" altLang="en-US" sz="1600" dirty="0">
                <a:latin typeface="Consolas" panose="020B0609020204030204" pitchFamily="49" charset="0"/>
              </a:rPr>
              <a:t> *</a:t>
            </a:r>
            <a:r>
              <a:rPr lang="ko-KR" altLang="en-US" sz="1600" dirty="0" err="1">
                <a:latin typeface="Consolas" panose="020B0609020204030204" pitchFamily="49" charset="0"/>
              </a:rPr>
              <a:t>bmeService</a:t>
            </a:r>
            <a:r>
              <a:rPr lang="ko-KR" altLang="en-US" sz="1600" dirty="0">
                <a:latin typeface="Consolas" panose="020B0609020204030204" pitchFamily="49" charset="0"/>
              </a:rPr>
              <a:t> = </a:t>
            </a:r>
            <a:r>
              <a:rPr lang="ko-KR" altLang="en-US" sz="1600" dirty="0" err="1">
                <a:latin typeface="Consolas" panose="020B0609020204030204" pitchFamily="49" charset="0"/>
              </a:rPr>
              <a:t>pServer</a:t>
            </a:r>
            <a:r>
              <a:rPr lang="ko-KR" altLang="en-US" sz="1600" dirty="0">
                <a:latin typeface="Consolas" panose="020B0609020204030204" pitchFamily="49" charset="0"/>
              </a:rPr>
              <a:t>-&gt;</a:t>
            </a:r>
            <a:r>
              <a:rPr lang="ko-KR" altLang="en-US" sz="1600" dirty="0" err="1">
                <a:latin typeface="Consolas" panose="020B0609020204030204" pitchFamily="49" charset="0"/>
              </a:rPr>
              <a:t>createService</a:t>
            </a:r>
            <a:r>
              <a:rPr lang="ko-KR" altLang="en-US" sz="1600" dirty="0">
                <a:latin typeface="Consolas" panose="020B0609020204030204" pitchFamily="49" charset="0"/>
              </a:rPr>
              <a:t>(SERVICE_UUID);</a:t>
            </a:r>
          </a:p>
          <a:p>
            <a:endParaRPr lang="ko-KR" altLang="en-US" sz="1600" dirty="0">
              <a:latin typeface="Consolas" panose="020B0609020204030204" pitchFamily="49" charset="0"/>
            </a:endParaRPr>
          </a:p>
          <a:p>
            <a:r>
              <a:rPr lang="ko-KR" altLang="en-US" sz="1600" dirty="0">
                <a:latin typeface="Consolas" panose="020B0609020204030204" pitchFamily="49" charset="0"/>
              </a:rPr>
              <a:t>  // </a:t>
            </a:r>
            <a:r>
              <a:rPr lang="ko-KR" altLang="en-US" sz="1600" dirty="0" err="1">
                <a:latin typeface="Consolas" panose="020B0609020204030204" pitchFamily="49" charset="0"/>
              </a:rPr>
              <a:t>Create</a:t>
            </a:r>
            <a:r>
              <a:rPr lang="ko-KR" altLang="en-US" sz="1600" dirty="0">
                <a:latin typeface="Consolas" panose="020B0609020204030204" pitchFamily="49" charset="0"/>
              </a:rPr>
              <a:t> BLE </a:t>
            </a:r>
            <a:r>
              <a:rPr lang="ko-KR" altLang="en-US" sz="1600" dirty="0" err="1">
                <a:latin typeface="Consolas" panose="020B0609020204030204" pitchFamily="49" charset="0"/>
              </a:rPr>
              <a:t>Characteristics</a:t>
            </a:r>
            <a:r>
              <a:rPr lang="ko-KR" altLang="en-US" sz="1600" dirty="0">
                <a:latin typeface="Consolas" panose="020B0609020204030204" pitchFamily="49" charset="0"/>
              </a:rPr>
              <a:t> and </a:t>
            </a:r>
            <a:r>
              <a:rPr lang="ko-KR" altLang="en-US" sz="1600" dirty="0" err="1">
                <a:latin typeface="Consolas" panose="020B0609020204030204" pitchFamily="49" charset="0"/>
              </a:rPr>
              <a:t>corresponding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Descriptors</a:t>
            </a:r>
            <a:endParaRPr lang="ko-KR" altLang="en-US" sz="1600" dirty="0">
              <a:latin typeface="Consolas" panose="020B0609020204030204" pitchFamily="49" charset="0"/>
            </a:endParaRP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bmeService</a:t>
            </a:r>
            <a:r>
              <a:rPr lang="ko-KR" altLang="en-US" sz="1600" dirty="0">
                <a:latin typeface="Consolas" panose="020B0609020204030204" pitchFamily="49" charset="0"/>
              </a:rPr>
              <a:t>-&gt;</a:t>
            </a:r>
            <a:r>
              <a:rPr lang="ko-KR" altLang="en-US" sz="1600" dirty="0" err="1">
                <a:latin typeface="Consolas" panose="020B0609020204030204" pitchFamily="49" charset="0"/>
              </a:rPr>
              <a:t>addCharacteristic</a:t>
            </a:r>
            <a:r>
              <a:rPr lang="ko-KR" altLang="en-US" sz="1600" dirty="0">
                <a:latin typeface="Consolas" panose="020B0609020204030204" pitchFamily="49" charset="0"/>
              </a:rPr>
              <a:t>(&amp;</a:t>
            </a:r>
            <a:r>
              <a:rPr lang="ko-KR" altLang="en-US" sz="1600" dirty="0" err="1">
                <a:latin typeface="Consolas" panose="020B0609020204030204" pitchFamily="49" charset="0"/>
              </a:rPr>
              <a:t>temperatureCharacteristic</a:t>
            </a:r>
            <a:r>
              <a:rPr lang="ko-KR" altLang="en-US" sz="1600" dirty="0">
                <a:latin typeface="Consolas" panose="020B0609020204030204" pitchFamily="49" charset="0"/>
              </a:rPr>
              <a:t>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temperatureCharacteristic.addDescriptor</a:t>
            </a:r>
            <a:r>
              <a:rPr lang="ko-KR" altLang="en-US" sz="1600" dirty="0">
                <a:latin typeface="Consolas" panose="020B0609020204030204" pitchFamily="49" charset="0"/>
              </a:rPr>
              <a:t>(&amp;</a:t>
            </a:r>
            <a:r>
              <a:rPr lang="ko-KR" altLang="en-US" sz="1600" dirty="0" err="1">
                <a:latin typeface="Consolas" panose="020B0609020204030204" pitchFamily="49" charset="0"/>
              </a:rPr>
              <a:t>temperatureDescriptor</a:t>
            </a:r>
            <a:r>
              <a:rPr lang="ko-KR" altLang="en-US" sz="1600" dirty="0">
                <a:latin typeface="Consolas" panose="020B0609020204030204" pitchFamily="49" charset="0"/>
              </a:rPr>
              <a:t>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bmeService</a:t>
            </a:r>
            <a:r>
              <a:rPr lang="ko-KR" altLang="en-US" sz="1600" dirty="0">
                <a:latin typeface="Consolas" panose="020B0609020204030204" pitchFamily="49" charset="0"/>
              </a:rPr>
              <a:t>-&gt;</a:t>
            </a:r>
            <a:r>
              <a:rPr lang="ko-KR" altLang="en-US" sz="1600" dirty="0" err="1">
                <a:latin typeface="Consolas" panose="020B0609020204030204" pitchFamily="49" charset="0"/>
              </a:rPr>
              <a:t>addCharacteristic</a:t>
            </a:r>
            <a:r>
              <a:rPr lang="ko-KR" altLang="en-US" sz="1600" dirty="0">
                <a:latin typeface="Consolas" panose="020B0609020204030204" pitchFamily="49" charset="0"/>
              </a:rPr>
              <a:t>(&amp;</a:t>
            </a:r>
            <a:r>
              <a:rPr lang="ko-KR" altLang="en-US" sz="1600" dirty="0" err="1">
                <a:latin typeface="Consolas" panose="020B0609020204030204" pitchFamily="49" charset="0"/>
              </a:rPr>
              <a:t>humidityCharacteristic</a:t>
            </a:r>
            <a:r>
              <a:rPr lang="ko-KR" altLang="en-US" sz="1600" dirty="0">
                <a:latin typeface="Consolas" panose="020B0609020204030204" pitchFamily="49" charset="0"/>
              </a:rPr>
              <a:t>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humidityCharacteristic.addDescriptor</a:t>
            </a:r>
            <a:r>
              <a:rPr lang="ko-KR" altLang="en-US" sz="1600" dirty="0">
                <a:latin typeface="Consolas" panose="020B0609020204030204" pitchFamily="49" charset="0"/>
              </a:rPr>
              <a:t>(&amp;</a:t>
            </a:r>
            <a:r>
              <a:rPr lang="ko-KR" altLang="en-US" sz="1600" dirty="0" err="1">
                <a:latin typeface="Consolas" panose="020B0609020204030204" pitchFamily="49" charset="0"/>
              </a:rPr>
              <a:t>humidityDescriptor</a:t>
            </a:r>
            <a:r>
              <a:rPr lang="ko-KR" altLang="en-US" sz="1600" dirty="0">
                <a:latin typeface="Consolas" panose="020B0609020204030204" pitchFamily="49" charset="0"/>
              </a:rPr>
              <a:t>);</a:t>
            </a:r>
          </a:p>
          <a:p>
            <a:endParaRPr lang="ko-KR" altLang="en-US" sz="1600" dirty="0">
              <a:latin typeface="Consolas" panose="020B0609020204030204" pitchFamily="49" charset="0"/>
            </a:endParaRP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bmeService</a:t>
            </a:r>
            <a:r>
              <a:rPr lang="ko-KR" altLang="en-US" sz="1600" dirty="0">
                <a:latin typeface="Consolas" panose="020B0609020204030204" pitchFamily="49" charset="0"/>
              </a:rPr>
              <a:t>-&gt;</a:t>
            </a:r>
            <a:r>
              <a:rPr lang="ko-KR" altLang="en-US" sz="1600" dirty="0" err="1">
                <a:latin typeface="Consolas" panose="020B0609020204030204" pitchFamily="49" charset="0"/>
              </a:rPr>
              <a:t>start</a:t>
            </a:r>
            <a:r>
              <a:rPr lang="ko-KR" altLang="en-US" sz="1600" dirty="0">
                <a:latin typeface="Consolas" panose="020B0609020204030204" pitchFamily="49" charset="0"/>
              </a:rPr>
              <a:t>();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pServer</a:t>
            </a:r>
            <a:r>
              <a:rPr lang="ko-KR" altLang="en-US" sz="1600" dirty="0">
                <a:latin typeface="Consolas" panose="020B0609020204030204" pitchFamily="49" charset="0"/>
              </a:rPr>
              <a:t>-&gt;</a:t>
            </a:r>
            <a:r>
              <a:rPr lang="ko-KR" altLang="en-US" sz="1600" dirty="0" err="1">
                <a:latin typeface="Consolas" panose="020B0609020204030204" pitchFamily="49" charset="0"/>
              </a:rPr>
              <a:t>getAdvertising</a:t>
            </a:r>
            <a:r>
              <a:rPr lang="ko-KR" altLang="en-US" sz="1600" dirty="0">
                <a:latin typeface="Consolas" panose="020B0609020204030204" pitchFamily="49" charset="0"/>
              </a:rPr>
              <a:t>()-&gt;</a:t>
            </a:r>
            <a:r>
              <a:rPr lang="ko-KR" altLang="en-US" sz="1600" dirty="0" err="1">
                <a:latin typeface="Consolas" panose="020B0609020204030204" pitchFamily="49" charset="0"/>
              </a:rPr>
              <a:t>start</a:t>
            </a:r>
            <a:r>
              <a:rPr lang="ko-KR" altLang="en-US" sz="1600" dirty="0">
                <a:latin typeface="Consolas" panose="020B0609020204030204" pitchFamily="49" charset="0"/>
              </a:rPr>
              <a:t>();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Serial.println</a:t>
            </a:r>
            <a:r>
              <a:rPr lang="ko-KR" altLang="en-US" sz="1600" dirty="0">
                <a:latin typeface="Consolas" panose="020B0609020204030204" pitchFamily="49" charset="0"/>
              </a:rPr>
              <a:t>("</a:t>
            </a:r>
            <a:r>
              <a:rPr lang="ko-KR" altLang="en-US" sz="1600" dirty="0" err="1">
                <a:latin typeface="Consolas" panose="020B0609020204030204" pitchFamily="49" charset="0"/>
              </a:rPr>
              <a:t>Waiting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a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client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connection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to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notify</a:t>
            </a:r>
            <a:r>
              <a:rPr lang="ko-KR" altLang="en-US" sz="1600" dirty="0">
                <a:latin typeface="Consolas" panose="020B0609020204030204" pitchFamily="49" charset="0"/>
              </a:rPr>
              <a:t>...");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005232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7FD86-29C3-2E46-C78B-C2C74A7A4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12CE5DB-27CD-E991-F826-03E40E9706EF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Code   4/4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4C9805-3CD0-B973-3CED-8623E63BA1F9}"/>
              </a:ext>
            </a:extLst>
          </p:cNvPr>
          <p:cNvSpPr txBox="1"/>
          <p:nvPr/>
        </p:nvSpPr>
        <p:spPr>
          <a:xfrm>
            <a:off x="336331" y="730232"/>
            <a:ext cx="8657896" cy="6001643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Consolas" panose="020B0609020204030204" pitchFamily="49" charset="0"/>
              </a:rPr>
              <a:t>void loop() {</a:t>
            </a:r>
          </a:p>
          <a:p>
            <a:r>
              <a:rPr lang="en-US" altLang="ko-KR" sz="1600" dirty="0">
                <a:latin typeface="Consolas" panose="020B0609020204030204" pitchFamily="49" charset="0"/>
              </a:rPr>
              <a:t>  if (</a:t>
            </a:r>
            <a:r>
              <a:rPr lang="en-US" altLang="ko-KR" sz="1600" dirty="0" err="1">
                <a:latin typeface="Consolas" panose="020B0609020204030204" pitchFamily="49" charset="0"/>
              </a:rPr>
              <a:t>deviceConnected</a:t>
            </a:r>
            <a:r>
              <a:rPr lang="en-US" altLang="ko-KR" sz="1600" dirty="0"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600" dirty="0">
                <a:latin typeface="Consolas" panose="020B0609020204030204" pitchFamily="49" charset="0"/>
              </a:rPr>
              <a:t>    float h = </a:t>
            </a:r>
            <a:r>
              <a:rPr lang="en-US" altLang="ko-KR" sz="1600" dirty="0" err="1">
                <a:latin typeface="Consolas" panose="020B0609020204030204" pitchFamily="49" charset="0"/>
              </a:rPr>
              <a:t>dht.readHumidity</a:t>
            </a:r>
            <a:r>
              <a:rPr lang="en-US" altLang="ko-KR" sz="1600" dirty="0"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dirty="0">
                <a:latin typeface="Consolas" panose="020B0609020204030204" pitchFamily="49" charset="0"/>
              </a:rPr>
              <a:t>    float t = </a:t>
            </a:r>
            <a:r>
              <a:rPr lang="en-US" altLang="ko-KR" sz="1600" dirty="0" err="1">
                <a:latin typeface="Consolas" panose="020B0609020204030204" pitchFamily="49" charset="0"/>
              </a:rPr>
              <a:t>dht.readTemperature</a:t>
            </a:r>
            <a:r>
              <a:rPr lang="en-US" altLang="ko-KR" sz="1600" dirty="0"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dirty="0">
                <a:latin typeface="Consolas" panose="020B0609020204030204" pitchFamily="49" charset="0"/>
              </a:rPr>
              <a:t> </a:t>
            </a:r>
          </a:p>
          <a:p>
            <a:r>
              <a:rPr lang="en-US" altLang="ko-KR" sz="1600" dirty="0">
                <a:latin typeface="Consolas" panose="020B0609020204030204" pitchFamily="49" charset="0"/>
              </a:rPr>
              <a:t>    // Check if any reads failed and exit early (to try again).</a:t>
            </a:r>
          </a:p>
          <a:p>
            <a:r>
              <a:rPr lang="en-US" altLang="ko-KR" sz="1600" dirty="0">
                <a:latin typeface="Consolas" panose="020B0609020204030204" pitchFamily="49" charset="0"/>
              </a:rPr>
              <a:t>    if (</a:t>
            </a:r>
            <a:r>
              <a:rPr lang="en-US" altLang="ko-KR" sz="1600" dirty="0" err="1">
                <a:latin typeface="Consolas" panose="020B0609020204030204" pitchFamily="49" charset="0"/>
              </a:rPr>
              <a:t>isnan</a:t>
            </a:r>
            <a:r>
              <a:rPr lang="en-US" altLang="ko-KR" sz="1600" dirty="0">
                <a:latin typeface="Consolas" panose="020B0609020204030204" pitchFamily="49" charset="0"/>
              </a:rPr>
              <a:t>(h) || </a:t>
            </a:r>
            <a:r>
              <a:rPr lang="en-US" altLang="ko-KR" sz="1600" dirty="0" err="1">
                <a:latin typeface="Consolas" panose="020B0609020204030204" pitchFamily="49" charset="0"/>
              </a:rPr>
              <a:t>isnan</a:t>
            </a:r>
            <a:r>
              <a:rPr lang="en-US" altLang="ko-KR" sz="1600" dirty="0">
                <a:latin typeface="Consolas" panose="020B0609020204030204" pitchFamily="49" charset="0"/>
              </a:rPr>
              <a:t>(t)) {</a:t>
            </a:r>
          </a:p>
          <a:p>
            <a:r>
              <a:rPr lang="en-US" altLang="ko-KR" sz="1600" dirty="0">
                <a:latin typeface="Consolas" panose="020B0609020204030204" pitchFamily="49" charset="0"/>
              </a:rPr>
              <a:t>      </a:t>
            </a:r>
            <a:r>
              <a:rPr lang="en-US" altLang="ko-KR" sz="1600" dirty="0" err="1">
                <a:latin typeface="Consolas" panose="020B0609020204030204" pitchFamily="49" charset="0"/>
              </a:rPr>
              <a:t>Serial.println</a:t>
            </a:r>
            <a:r>
              <a:rPr lang="en-US" altLang="ko-KR" sz="1600" dirty="0">
                <a:latin typeface="Consolas" panose="020B0609020204030204" pitchFamily="49" charset="0"/>
              </a:rPr>
              <a:t>("Failed to read from DHT sensor!");</a:t>
            </a:r>
          </a:p>
          <a:p>
            <a:r>
              <a:rPr lang="en-US" altLang="ko-KR" sz="1600" dirty="0">
                <a:latin typeface="Consolas" panose="020B0609020204030204" pitchFamily="49" charset="0"/>
              </a:rPr>
              <a:t>      return;</a:t>
            </a:r>
          </a:p>
          <a:p>
            <a:r>
              <a:rPr lang="en-US" altLang="ko-KR" sz="1600" dirty="0">
                <a:latin typeface="Consolas" panose="020B0609020204030204" pitchFamily="49" charset="0"/>
              </a:rPr>
              <a:t>    }</a:t>
            </a:r>
          </a:p>
          <a:p>
            <a:r>
              <a:rPr lang="en-US" altLang="ko-KR" sz="1600" dirty="0">
                <a:latin typeface="Consolas" panose="020B0609020204030204" pitchFamily="49" charset="0"/>
              </a:rPr>
              <a:t>    uint16_t temperature = (uint16_t)t*100;</a:t>
            </a:r>
          </a:p>
          <a:p>
            <a:r>
              <a:rPr lang="en-US" altLang="ko-KR" sz="1600" dirty="0">
                <a:latin typeface="Consolas" panose="020B0609020204030204" pitchFamily="49" charset="0"/>
              </a:rPr>
              <a:t>    </a:t>
            </a:r>
            <a:r>
              <a:rPr lang="en-US" altLang="ko-KR" sz="1600" dirty="0" err="1">
                <a:latin typeface="Consolas" panose="020B0609020204030204" pitchFamily="49" charset="0"/>
              </a:rPr>
              <a:t>temperatureCharacteristic.setValue</a:t>
            </a:r>
            <a:r>
              <a:rPr lang="en-US" altLang="ko-KR" sz="1600" dirty="0">
                <a:latin typeface="Consolas" panose="020B0609020204030204" pitchFamily="49" charset="0"/>
              </a:rPr>
              <a:t>(temperature);</a:t>
            </a:r>
          </a:p>
          <a:p>
            <a:r>
              <a:rPr lang="en-US" altLang="ko-KR" sz="1600" dirty="0">
                <a:latin typeface="Consolas" panose="020B0609020204030204" pitchFamily="49" charset="0"/>
              </a:rPr>
              <a:t>    </a:t>
            </a:r>
            <a:r>
              <a:rPr lang="en-US" altLang="ko-KR" sz="1600" dirty="0" err="1">
                <a:latin typeface="Consolas" panose="020B0609020204030204" pitchFamily="49" charset="0"/>
              </a:rPr>
              <a:t>temperatureCharacteristic.notify</a:t>
            </a:r>
            <a:r>
              <a:rPr lang="en-US" altLang="ko-KR" sz="1600" dirty="0">
                <a:latin typeface="Consolas" panose="020B0609020204030204" pitchFamily="49" charset="0"/>
              </a:rPr>
              <a:t>();    </a:t>
            </a:r>
          </a:p>
          <a:p>
            <a:r>
              <a:rPr lang="en-US" altLang="ko-KR" sz="1600" dirty="0">
                <a:latin typeface="Consolas" panose="020B0609020204030204" pitchFamily="49" charset="0"/>
              </a:rPr>
              <a:t>    </a:t>
            </a:r>
            <a:r>
              <a:rPr lang="en-US" altLang="ko-KR" sz="1600" dirty="0" err="1">
                <a:latin typeface="Consolas" panose="020B0609020204030204" pitchFamily="49" charset="0"/>
              </a:rPr>
              <a:t>Serial.println</a:t>
            </a:r>
            <a:r>
              <a:rPr lang="en-US" altLang="ko-KR" sz="1600" dirty="0">
                <a:latin typeface="Consolas" panose="020B0609020204030204" pitchFamily="49" charset="0"/>
              </a:rPr>
              <a:t>("Temperature Data:");</a:t>
            </a:r>
          </a:p>
          <a:p>
            <a:r>
              <a:rPr lang="en-US" altLang="ko-KR" sz="1600" dirty="0">
                <a:latin typeface="Consolas" panose="020B0609020204030204" pitchFamily="49" charset="0"/>
              </a:rPr>
              <a:t>    </a:t>
            </a:r>
            <a:r>
              <a:rPr lang="en-US" altLang="ko-KR" sz="1600" dirty="0" err="1">
                <a:latin typeface="Consolas" panose="020B0609020204030204" pitchFamily="49" charset="0"/>
              </a:rPr>
              <a:t>Serial.println</a:t>
            </a:r>
            <a:r>
              <a:rPr lang="en-US" altLang="ko-KR" sz="1600" dirty="0">
                <a:latin typeface="Consolas" panose="020B0609020204030204" pitchFamily="49" charset="0"/>
              </a:rPr>
              <a:t>(temperature);</a:t>
            </a:r>
          </a:p>
          <a:p>
            <a:endParaRPr lang="en-US" altLang="ko-KR" sz="1600" dirty="0">
              <a:latin typeface="Consolas" panose="020B0609020204030204" pitchFamily="49" charset="0"/>
            </a:endParaRPr>
          </a:p>
          <a:p>
            <a:r>
              <a:rPr lang="en-US" altLang="ko-KR" sz="1600" dirty="0">
                <a:latin typeface="Consolas" panose="020B0609020204030204" pitchFamily="49" charset="0"/>
              </a:rPr>
              <a:t>    uint16_t humidity = (uint16_t)h*100;</a:t>
            </a:r>
          </a:p>
          <a:p>
            <a:r>
              <a:rPr lang="en-US" altLang="ko-KR" sz="1600" dirty="0">
                <a:latin typeface="Consolas" panose="020B0609020204030204" pitchFamily="49" charset="0"/>
              </a:rPr>
              <a:t>    </a:t>
            </a:r>
            <a:r>
              <a:rPr lang="en-US" altLang="ko-KR" sz="1600" dirty="0" err="1">
                <a:latin typeface="Consolas" panose="020B0609020204030204" pitchFamily="49" charset="0"/>
              </a:rPr>
              <a:t>humidityCharacteristic.setValue</a:t>
            </a:r>
            <a:r>
              <a:rPr lang="en-US" altLang="ko-KR" sz="1600" dirty="0">
                <a:latin typeface="Consolas" panose="020B0609020204030204" pitchFamily="49" charset="0"/>
              </a:rPr>
              <a:t>(humidity);</a:t>
            </a:r>
          </a:p>
          <a:p>
            <a:r>
              <a:rPr lang="en-US" altLang="ko-KR" sz="1600" dirty="0">
                <a:latin typeface="Consolas" panose="020B0609020204030204" pitchFamily="49" charset="0"/>
              </a:rPr>
              <a:t>    </a:t>
            </a:r>
            <a:r>
              <a:rPr lang="en-US" altLang="ko-KR" sz="1600" dirty="0" err="1">
                <a:latin typeface="Consolas" panose="020B0609020204030204" pitchFamily="49" charset="0"/>
              </a:rPr>
              <a:t>humidityCharacteristic.notify</a:t>
            </a:r>
            <a:r>
              <a:rPr lang="en-US" altLang="ko-KR" sz="1600" dirty="0">
                <a:latin typeface="Consolas" panose="020B0609020204030204" pitchFamily="49" charset="0"/>
              </a:rPr>
              <a:t>();</a:t>
            </a:r>
          </a:p>
          <a:p>
            <a:r>
              <a:rPr lang="en-US" altLang="ko-KR" sz="1600" dirty="0">
                <a:latin typeface="Consolas" panose="020B0609020204030204" pitchFamily="49" charset="0"/>
              </a:rPr>
              <a:t>    </a:t>
            </a:r>
            <a:r>
              <a:rPr lang="en-US" altLang="ko-KR" sz="1600" dirty="0" err="1">
                <a:latin typeface="Consolas" panose="020B0609020204030204" pitchFamily="49" charset="0"/>
              </a:rPr>
              <a:t>Serial.println</a:t>
            </a:r>
            <a:r>
              <a:rPr lang="en-US" altLang="ko-KR" sz="1600" dirty="0">
                <a:latin typeface="Consolas" panose="020B0609020204030204" pitchFamily="49" charset="0"/>
              </a:rPr>
              <a:t>("Humidity Data:");</a:t>
            </a:r>
          </a:p>
          <a:p>
            <a:r>
              <a:rPr lang="en-US" altLang="ko-KR" sz="1600" dirty="0">
                <a:latin typeface="Consolas" panose="020B0609020204030204" pitchFamily="49" charset="0"/>
              </a:rPr>
              <a:t>    </a:t>
            </a:r>
            <a:r>
              <a:rPr lang="en-US" altLang="ko-KR" sz="1600" dirty="0" err="1">
                <a:latin typeface="Consolas" panose="020B0609020204030204" pitchFamily="49" charset="0"/>
              </a:rPr>
              <a:t>Serial.println</a:t>
            </a:r>
            <a:r>
              <a:rPr lang="en-US" altLang="ko-KR" sz="1600" dirty="0">
                <a:latin typeface="Consolas" panose="020B0609020204030204" pitchFamily="49" charset="0"/>
              </a:rPr>
              <a:t>(humidity); </a:t>
            </a:r>
          </a:p>
          <a:p>
            <a:r>
              <a:rPr lang="en-US" altLang="ko-KR" sz="1600" dirty="0">
                <a:latin typeface="Consolas" panose="020B0609020204030204" pitchFamily="49" charset="0"/>
              </a:rPr>
              <a:t>    delay(2000); // Adjust the update interval as needed</a:t>
            </a:r>
          </a:p>
          <a:p>
            <a:r>
              <a:rPr lang="en-US" altLang="ko-KR" sz="1600" dirty="0">
                <a:latin typeface="Consolas" panose="020B0609020204030204" pitchFamily="49" charset="0"/>
              </a:rPr>
              <a:t>  }</a:t>
            </a:r>
          </a:p>
          <a:p>
            <a:r>
              <a:rPr lang="en-US" altLang="ko-KR" sz="1600" dirty="0">
                <a:latin typeface="Consolas" panose="020B0609020204030204" pitchFamily="49" charset="0"/>
              </a:rPr>
              <a:t>}</a:t>
            </a:r>
            <a:endParaRPr lang="ko-KR" altLang="en-US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84689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12B9C-6340-D644-C0DB-9866255D5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D019B1A-A3F7-00D0-F0D0-1AE85F5C9F82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동작 결과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95F46B5-D669-ACE6-CE4A-836F8CA80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035" y="1131628"/>
            <a:ext cx="1971797" cy="3703131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295A7F7-B660-CF48-F8AE-550F89A39B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8130" y="0"/>
            <a:ext cx="3889478" cy="6858000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5E87070-6E24-3978-B715-345D4922C04E}"/>
              </a:ext>
            </a:extLst>
          </p:cNvPr>
          <p:cNvSpPr/>
          <p:nvPr/>
        </p:nvSpPr>
        <p:spPr>
          <a:xfrm>
            <a:off x="6768662" y="4246179"/>
            <a:ext cx="1061545" cy="231228"/>
          </a:xfrm>
          <a:prstGeom prst="rect">
            <a:avLst/>
          </a:prstGeom>
          <a:noFill/>
          <a:ln w="31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968E93A-0F93-856A-5BF6-C3BA687B288E}"/>
              </a:ext>
            </a:extLst>
          </p:cNvPr>
          <p:cNvSpPr/>
          <p:nvPr/>
        </p:nvSpPr>
        <p:spPr>
          <a:xfrm>
            <a:off x="6768661" y="5859517"/>
            <a:ext cx="1061545" cy="231228"/>
          </a:xfrm>
          <a:prstGeom prst="rect">
            <a:avLst/>
          </a:prstGeom>
          <a:noFill/>
          <a:ln w="31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92979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88FEA-2BBA-AD1A-119E-B857446F0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B8814D-B570-2FAD-4FC8-C5D4AA42496C}"/>
              </a:ext>
            </a:extLst>
          </p:cNvPr>
          <p:cNvSpPr/>
          <p:nvPr/>
        </p:nvSpPr>
        <p:spPr>
          <a:xfrm>
            <a:off x="0" y="-1"/>
            <a:ext cx="12192000" cy="1548799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6212" algn="ctr"/>
            <a:r>
              <a:rPr lang="en-US" altLang="ko-KR" sz="4000" b="1" dirty="0">
                <a:solidFill>
                  <a:schemeClr val="bg1">
                    <a:lumMod val="95000"/>
                  </a:schemeClr>
                </a:solidFill>
                <a:latin typeface="+mn-ea"/>
                <a:sym typeface="Wingdings" panose="05000000000000000000" pitchFamily="2" charset="2"/>
              </a:rPr>
              <a:t>ESP32 BLE Scan   </a:t>
            </a:r>
            <a:endParaRPr lang="ko-KR" altLang="en-US" sz="4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7E6C5D-44B4-31AD-4B83-0F47966163C7}"/>
              </a:ext>
            </a:extLst>
          </p:cNvPr>
          <p:cNvSpPr txBox="1"/>
          <p:nvPr/>
        </p:nvSpPr>
        <p:spPr>
          <a:xfrm>
            <a:off x="239671" y="1986121"/>
            <a:ext cx="6308137" cy="17873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파일 </a:t>
            </a:r>
            <a:r>
              <a:rPr lang="en-US" altLang="ko-KR" dirty="0"/>
              <a:t>&gt; </a:t>
            </a:r>
            <a:r>
              <a:rPr lang="ko-KR" altLang="en-US" dirty="0"/>
              <a:t>예제 </a:t>
            </a:r>
            <a:r>
              <a:rPr lang="en-US" altLang="ko-KR" dirty="0"/>
              <a:t>&gt; ESP32_BLE_Arduino &gt; </a:t>
            </a:r>
            <a:r>
              <a:rPr lang="en-US" altLang="ko-KR" dirty="0" err="1"/>
              <a:t>BLE_scan</a:t>
            </a:r>
            <a:endParaRPr lang="en-US" altLang="ko-KR" dirty="0"/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주변 </a:t>
            </a:r>
            <a:r>
              <a:rPr lang="en-US" altLang="ko-KR" dirty="0"/>
              <a:t>BLE </a:t>
            </a:r>
            <a:r>
              <a:rPr lang="ko-KR" altLang="en-US" dirty="0"/>
              <a:t>장치에서 전송하는 패킷을 수신하여 표시한다</a:t>
            </a:r>
            <a:r>
              <a:rPr lang="en-US" altLang="ko-KR" dirty="0"/>
              <a:t>.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특정 </a:t>
            </a:r>
            <a:r>
              <a:rPr lang="en-US" altLang="ko-KR" dirty="0"/>
              <a:t>BLE </a:t>
            </a:r>
            <a:r>
              <a:rPr lang="ko-KR" altLang="en-US" dirty="0"/>
              <a:t>장치의 데이터만 수신하여 표시할 수 있다</a:t>
            </a:r>
            <a:r>
              <a:rPr lang="en-US" altLang="ko-KR" dirty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80952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A607D-73F9-ABCC-7A00-CF6EFE678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200CCCD-EEC5-452C-54D1-66A0B789D795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BLE with ESP32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  <a:sym typeface="Wingdings" panose="05000000000000000000" pitchFamily="2" charset="2"/>
              </a:rPr>
              <a:t> ESP32 BLE Scan   1/3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3B33E8-B04C-372A-2C79-5D066EF235CF}"/>
              </a:ext>
            </a:extLst>
          </p:cNvPr>
          <p:cNvSpPr txBox="1"/>
          <p:nvPr/>
        </p:nvSpPr>
        <p:spPr>
          <a:xfrm>
            <a:off x="289367" y="813304"/>
            <a:ext cx="5314212" cy="402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파일 </a:t>
            </a:r>
            <a:r>
              <a:rPr lang="en-US" altLang="ko-KR" dirty="0"/>
              <a:t>&gt; </a:t>
            </a:r>
            <a:r>
              <a:rPr lang="ko-KR" altLang="en-US" dirty="0"/>
              <a:t>예제 </a:t>
            </a:r>
            <a:r>
              <a:rPr lang="en-US" altLang="ko-KR" dirty="0"/>
              <a:t>&gt; ESP32_BLE_Arduino &gt; </a:t>
            </a:r>
            <a:r>
              <a:rPr lang="en-US" altLang="ko-KR" dirty="0" err="1"/>
              <a:t>BLE_scan</a:t>
            </a:r>
            <a:endParaRPr lang="ko-KR" altLang="en-US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E1A2514C-003E-9F99-D965-7A83E82510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0861" y="1210314"/>
            <a:ext cx="9824484" cy="4571573"/>
          </a:xfrm>
          <a:prstGeom prst="rect">
            <a:avLst/>
          </a:prstGeom>
          <a:solidFill>
            <a:srgbClr val="F5F2F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marL="358775" marR="0" lvl="0" indent="-185738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BLEDevice.h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358775" marR="0" lvl="0" indent="-185738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BLEUtils.h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358775" marR="0" lvl="0" indent="-185738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BLEScan.h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358775" marR="0" lvl="0" indent="-185738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include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BLEAdvertisedDevice.h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358775" marR="0" lvl="0" indent="-185738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ko-KR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358775" marR="0" lvl="0" indent="-185738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scanTime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358775" marR="0" lvl="0" indent="-185738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BLEScan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pBLEScan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358775" marR="0" lvl="0" indent="-185738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class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MyAdvertisedDeviceCallbacks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BLEAdvertisedDeviceCallbacks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358775" marR="0" lvl="0" indent="-185738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onResult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BLEAdvertisedDevice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advertisedDevice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358775" marR="0" lvl="0" indent="-185738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Advertised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Device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: %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 \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advertisedDevice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toString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c_str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());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358775" marR="0" lvl="0" indent="-185738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358775" marR="0" lvl="0" indent="-185738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340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F8034-2FE0-88BD-55ED-B7649EC8D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594BB2E-AAA9-2894-E12B-9347A43DA67C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BLE with ESP32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  <a:sym typeface="Wingdings" panose="05000000000000000000" pitchFamily="2" charset="2"/>
              </a:rPr>
              <a:t> ESP32 BLE Scan   2/3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77009ED6-CDC6-7FEB-B631-53F4B14B21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4142"/>
            <a:ext cx="10048905" cy="3802131"/>
          </a:xfrm>
          <a:prstGeom prst="rect">
            <a:avLst/>
          </a:prstGeom>
          <a:solidFill>
            <a:srgbClr val="F5F2F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marL="450850" marR="0" lvl="0" indent="-277813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setup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450850" marR="0" lvl="0" indent="-277813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115200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450850" marR="0" lvl="0" indent="-277813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Scanning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..."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450850" marR="0" lvl="0" indent="-277813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BLEDevice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450850" marR="0" lvl="0" indent="-277813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pBLEScan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BLEDevice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getScan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create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scan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450850" marR="0" lvl="0" indent="-277813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pBLEScan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setAdvertisedDeviceCallbacks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MyAdvertisedDeviceCallbacks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());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450850" marR="0" lvl="0" indent="-277813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pBLEScan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setActiveScan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active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scan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uses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more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power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but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faster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450850" marR="0" lvl="0" indent="-277813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pBLEScan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setInterval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450850" marR="0" lvl="0" indent="-277813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pBLEScan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setWindow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99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less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equal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setInterval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value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708090"/>
              </a:solidFill>
              <a:effectLst/>
              <a:latin typeface="Consolas" panose="020B0609020204030204" pitchFamily="49" charset="0"/>
            </a:endParaRPr>
          </a:p>
          <a:p>
            <a:pPr marL="450850" marR="0" lvl="0" indent="-277813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21852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10842-A425-489C-4520-3CE072EC9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E9A196A-EB3A-9E21-7385-0353CE64B2B9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 err="1">
                <a:solidFill>
                  <a:schemeClr val="bg1">
                    <a:lumMod val="95000"/>
                  </a:schemeClr>
                </a:solidFill>
                <a:latin typeface="+mn-ea"/>
              </a:rPr>
              <a:t>setWindow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() , </a:t>
            </a:r>
            <a:r>
              <a:rPr lang="en-US" altLang="ko-KR" sz="2000" b="1" dirty="0" err="1">
                <a:solidFill>
                  <a:schemeClr val="bg1">
                    <a:lumMod val="95000"/>
                  </a:schemeClr>
                </a:solidFill>
                <a:latin typeface="+mn-ea"/>
              </a:rPr>
              <a:t>setInterval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()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C02138E-66B9-9AF8-8856-8AF7D14433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7218719"/>
              </p:ext>
            </p:extLst>
          </p:nvPr>
        </p:nvGraphicFramePr>
        <p:xfrm>
          <a:off x="665537" y="925149"/>
          <a:ext cx="10533294" cy="3698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7663">
                  <a:extLst>
                    <a:ext uri="{9D8B030D-6E8A-4147-A177-3AD203B41FA5}">
                      <a16:colId xmlns:a16="http://schemas.microsoft.com/office/drawing/2014/main" val="797050823"/>
                    </a:ext>
                  </a:extLst>
                </a:gridCol>
                <a:gridCol w="4140485">
                  <a:extLst>
                    <a:ext uri="{9D8B030D-6E8A-4147-A177-3AD203B41FA5}">
                      <a16:colId xmlns:a16="http://schemas.microsoft.com/office/drawing/2014/main" val="2256214843"/>
                    </a:ext>
                  </a:extLst>
                </a:gridCol>
                <a:gridCol w="4315146">
                  <a:extLst>
                    <a:ext uri="{9D8B030D-6E8A-4147-A177-3AD203B41FA5}">
                      <a16:colId xmlns:a16="http://schemas.microsoft.com/office/drawing/2014/main" val="2814523227"/>
                    </a:ext>
                  </a:extLst>
                </a:gridCol>
              </a:tblGrid>
              <a:tr h="73964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Interval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Window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4693881"/>
                  </a:ext>
                </a:extLst>
              </a:tr>
              <a:tr h="73964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의미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BLE</a:t>
                      </a:r>
                      <a:r>
                        <a:rPr lang="ko-KR" altLang="en-US" dirty="0"/>
                        <a:t>가 스캔을 시작하는 간격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BLE</a:t>
                      </a:r>
                      <a:r>
                        <a:rPr lang="ko-KR" altLang="en-US" dirty="0"/>
                        <a:t>가 실제 신호를 듣는 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4430769"/>
                  </a:ext>
                </a:extLst>
              </a:tr>
              <a:tr h="73964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최소 </a:t>
                      </a:r>
                      <a:r>
                        <a:rPr lang="en-US" altLang="ko-KR" dirty="0"/>
                        <a:t>2.5msec ~ </a:t>
                      </a:r>
                      <a:r>
                        <a:rPr lang="ko-KR" altLang="en-US" dirty="0"/>
                        <a:t>최대 </a:t>
                      </a:r>
                      <a:r>
                        <a:rPr lang="en-US" altLang="ko-KR" dirty="0"/>
                        <a:t>10.24sec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최소 </a:t>
                      </a:r>
                      <a:r>
                        <a:rPr lang="en-US" altLang="ko-KR" dirty="0"/>
                        <a:t>2.5msec ~ </a:t>
                      </a:r>
                      <a:r>
                        <a:rPr lang="ko-KR" altLang="en-US" dirty="0"/>
                        <a:t>최대 </a:t>
                      </a:r>
                      <a:r>
                        <a:rPr lang="en-US" altLang="ko-KR" dirty="0" err="1"/>
                        <a:t>setInterval</a:t>
                      </a:r>
                      <a:r>
                        <a:rPr lang="en-US" altLang="ko-KR" dirty="0"/>
                        <a:t>() </a:t>
                      </a:r>
                      <a:r>
                        <a:rPr lang="ko-KR" altLang="en-US" dirty="0"/>
                        <a:t>값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1899721"/>
                  </a:ext>
                </a:extLst>
              </a:tr>
              <a:tr h="73964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권장 설정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setWindow</a:t>
                      </a:r>
                      <a:r>
                        <a:rPr lang="en-US" altLang="ko-KR" dirty="0"/>
                        <a:t>()</a:t>
                      </a:r>
                      <a:r>
                        <a:rPr lang="ko-KR" altLang="en-US" dirty="0"/>
                        <a:t>보다 커야 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setInterval</a:t>
                      </a:r>
                      <a:r>
                        <a:rPr lang="en-US" altLang="ko-KR" dirty="0"/>
                        <a:t> </a:t>
                      </a:r>
                      <a:r>
                        <a:rPr lang="ko-KR" altLang="en-US" dirty="0"/>
                        <a:t>보다 작거나 같아야 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6064303"/>
                  </a:ext>
                </a:extLst>
              </a:tr>
              <a:tr h="73964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전력 소비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값이 크면</a:t>
                      </a:r>
                      <a:r>
                        <a:rPr lang="en-US" altLang="ko-KR" dirty="0"/>
                        <a:t>, BLE </a:t>
                      </a:r>
                      <a:r>
                        <a:rPr lang="ko-KR" altLang="en-US" dirty="0"/>
                        <a:t>검색 빈도가 낮아져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전력 소비 감소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값이 크면</a:t>
                      </a:r>
                      <a:r>
                        <a:rPr lang="en-US" altLang="ko-KR" dirty="0"/>
                        <a:t>, BLE</a:t>
                      </a:r>
                      <a:r>
                        <a:rPr lang="ko-KR" altLang="en-US" dirty="0"/>
                        <a:t>를 듣는 시간이 증가하여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전력 소비 증가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0769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35286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2D6AD-A682-F665-ABDC-3D9E6875D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9ADBCA6-EF28-FA4B-582A-DCA3DF7914B0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BLE with ESP32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  <a:sym typeface="Wingdings" panose="05000000000000000000" pitchFamily="2" charset="2"/>
              </a:rPr>
              <a:t> ESP32 BLE Scan   3/3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54CDA2-4B99-DA33-6AA8-0645B8D587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80993"/>
            <a:ext cx="9600064" cy="3417410"/>
          </a:xfrm>
          <a:prstGeom prst="rect">
            <a:avLst/>
          </a:prstGeom>
          <a:solidFill>
            <a:srgbClr val="F5F2F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marL="450850" marR="0" lvl="0" indent="-277813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loop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450850" marR="0" lvl="0" indent="-277813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your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code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here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repeatedly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450850" marR="0" lvl="0" indent="-277813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BLEScanResults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foundDevices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pBLEScan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scanTime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450850" marR="0" lvl="0" indent="-277813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"Devices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found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450850" marR="0" lvl="0" indent="-277813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foundDevices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getCount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());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450850" marR="0" lvl="0" indent="-277813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Serial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println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Scan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done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!"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450850" marR="0" lvl="0" indent="-277813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pBLEScan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A6E3A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clearResults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fromBLEScan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buffer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to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release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memory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450850" marR="0" lvl="0" indent="-277813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delay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2000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450850" marR="0" lvl="0" indent="-277813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rgbClr val="999999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60934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19594-058B-681C-8B21-8FEBF9C35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143F8E-99F7-E849-2E43-129B2BB55FBE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BLE with ESP32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  <a:sym typeface="Wingdings" panose="05000000000000000000" pitchFamily="2" charset="2"/>
              </a:rPr>
              <a:t> ESP32 BLE Scan :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  <a:sym typeface="Wingdings" panose="05000000000000000000" pitchFamily="2" charset="2"/>
              </a:rPr>
              <a:t>동작 결과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E6F4438-FA65-E27D-4909-E09253CF22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2337"/>
            <a:ext cx="12192000" cy="4208651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DD5457EA-66C7-31A6-151C-BF8CE359E39A}"/>
              </a:ext>
            </a:extLst>
          </p:cNvPr>
          <p:cNvCxnSpPr/>
          <p:nvPr/>
        </p:nvCxnSpPr>
        <p:spPr>
          <a:xfrm>
            <a:off x="0" y="4911047"/>
            <a:ext cx="10777591" cy="0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79058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9E524-7DF1-A67B-AB79-C1B9C4881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D288637-E7AE-25F5-FCDE-3229F199DAA0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Quiz :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특정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MAC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주소 값을 가지는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BLE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단말기 데이터 표시하기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3B1C7CC-5AFB-77C3-6D74-E8094D4BBEDC}"/>
              </a:ext>
            </a:extLst>
          </p:cNvPr>
          <p:cNvSpPr txBox="1"/>
          <p:nvPr/>
        </p:nvSpPr>
        <p:spPr>
          <a:xfrm>
            <a:off x="113015" y="844972"/>
            <a:ext cx="84031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b="1" dirty="0">
                <a:solidFill>
                  <a:srgbClr val="3A0DFB"/>
                </a:solidFill>
              </a:rPr>
              <a:t>온도</a:t>
            </a:r>
            <a:r>
              <a:rPr lang="en-US" altLang="ko-KR" sz="1600" b="1" dirty="0">
                <a:solidFill>
                  <a:srgbClr val="3A0DFB"/>
                </a:solidFill>
              </a:rPr>
              <a:t>, </a:t>
            </a:r>
            <a:r>
              <a:rPr lang="ko-KR" altLang="en-US" sz="1600" b="1" dirty="0">
                <a:solidFill>
                  <a:srgbClr val="3A0DFB"/>
                </a:solidFill>
              </a:rPr>
              <a:t>습도를 전송하는 </a:t>
            </a:r>
            <a:r>
              <a:rPr lang="en-US" altLang="ko-KR" sz="1600" b="1" dirty="0">
                <a:solidFill>
                  <a:srgbClr val="3A0DFB"/>
                </a:solidFill>
              </a:rPr>
              <a:t>BLE </a:t>
            </a:r>
            <a:r>
              <a:rPr lang="ko-KR" altLang="en-US" sz="1600" b="1" dirty="0">
                <a:solidFill>
                  <a:srgbClr val="3A0DFB"/>
                </a:solidFill>
              </a:rPr>
              <a:t>단말기 값을 </a:t>
            </a:r>
            <a:r>
              <a:rPr lang="ko-KR" altLang="en-US" sz="1600" b="1" dirty="0" err="1">
                <a:solidFill>
                  <a:srgbClr val="3A0DFB"/>
                </a:solidFill>
              </a:rPr>
              <a:t>파싱하여</a:t>
            </a:r>
            <a:r>
              <a:rPr lang="ko-KR" altLang="en-US" sz="1600" b="1" dirty="0">
                <a:solidFill>
                  <a:srgbClr val="3A0DFB"/>
                </a:solidFill>
              </a:rPr>
              <a:t> </a:t>
            </a:r>
            <a:r>
              <a:rPr lang="en-US" altLang="ko-KR" sz="1600" b="1" dirty="0">
                <a:solidFill>
                  <a:srgbClr val="3A0DFB"/>
                </a:solidFill>
              </a:rPr>
              <a:t>MAC </a:t>
            </a:r>
            <a:r>
              <a:rPr lang="ko-KR" altLang="en-US" sz="1600" b="1" dirty="0">
                <a:solidFill>
                  <a:srgbClr val="3A0DFB"/>
                </a:solidFill>
              </a:rPr>
              <a:t>주소</a:t>
            </a:r>
            <a:r>
              <a:rPr lang="en-US" altLang="ko-KR" sz="1600" b="1" dirty="0">
                <a:solidFill>
                  <a:srgbClr val="3A0DFB"/>
                </a:solidFill>
              </a:rPr>
              <a:t>, </a:t>
            </a:r>
            <a:r>
              <a:rPr lang="ko-KR" altLang="en-US" sz="1600" b="1" dirty="0">
                <a:solidFill>
                  <a:srgbClr val="3A0DFB"/>
                </a:solidFill>
              </a:rPr>
              <a:t>온도</a:t>
            </a:r>
            <a:r>
              <a:rPr lang="en-US" altLang="ko-KR" sz="1600" b="1" dirty="0">
                <a:solidFill>
                  <a:srgbClr val="3A0DFB"/>
                </a:solidFill>
              </a:rPr>
              <a:t>, </a:t>
            </a:r>
            <a:r>
              <a:rPr lang="ko-KR" altLang="en-US" sz="1600" b="1" dirty="0">
                <a:solidFill>
                  <a:srgbClr val="3A0DFB"/>
                </a:solidFill>
              </a:rPr>
              <a:t>습도를 출력해보자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F5C5C13-083C-C459-3D30-4E958C31F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0010490" y="4631150"/>
            <a:ext cx="2350290" cy="17643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B03F50-3123-D76B-1CBD-F28FCBE97118}"/>
              </a:ext>
            </a:extLst>
          </p:cNvPr>
          <p:cNvSpPr txBox="1"/>
          <p:nvPr/>
        </p:nvSpPr>
        <p:spPr>
          <a:xfrm>
            <a:off x="438801" y="1290080"/>
            <a:ext cx="11629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Advertised</a:t>
            </a:r>
            <a:r>
              <a:rPr lang="ko-KR" altLang="en-US" dirty="0"/>
              <a:t> </a:t>
            </a:r>
            <a:r>
              <a:rPr lang="ko-KR" altLang="en-US" dirty="0" err="1"/>
              <a:t>Device</a:t>
            </a:r>
            <a:r>
              <a:rPr lang="ko-KR" altLang="en-US" dirty="0"/>
              <a:t>: </a:t>
            </a:r>
            <a:r>
              <a:rPr lang="ko-KR" altLang="en-US" dirty="0" err="1"/>
              <a:t>Name</a:t>
            </a:r>
            <a:r>
              <a:rPr lang="ko-KR" altLang="en-US" dirty="0"/>
              <a:t>: </a:t>
            </a:r>
            <a:r>
              <a:rPr lang="ko-KR" altLang="en-US" dirty="0" err="1"/>
              <a:t>sps</a:t>
            </a:r>
            <a:r>
              <a:rPr lang="ko-KR" altLang="en-US" dirty="0"/>
              <a:t>, </a:t>
            </a:r>
            <a:r>
              <a:rPr lang="ko-KR" altLang="en-US" dirty="0" err="1"/>
              <a:t>Address</a:t>
            </a:r>
            <a:r>
              <a:rPr lang="ko-KR" altLang="en-US" dirty="0"/>
              <a:t>: fb:3f:8f:97:09:57, </a:t>
            </a:r>
            <a:r>
              <a:rPr lang="ko-KR" altLang="en-US" dirty="0" err="1"/>
              <a:t>manufacturer</a:t>
            </a:r>
            <a:r>
              <a:rPr lang="ko-KR" altLang="en-US" dirty="0"/>
              <a:t> </a:t>
            </a:r>
            <a:r>
              <a:rPr lang="ko-KR" altLang="en-US" dirty="0" err="1"/>
              <a:t>data</a:t>
            </a:r>
            <a:r>
              <a:rPr lang="ko-KR" altLang="en-US" dirty="0"/>
              <a:t>: 6b09f70c0106095408,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4E020B-24E6-B4A2-B3DC-D5E022DF316E}"/>
              </a:ext>
            </a:extLst>
          </p:cNvPr>
          <p:cNvSpPr txBox="1"/>
          <p:nvPr/>
        </p:nvSpPr>
        <p:spPr>
          <a:xfrm>
            <a:off x="438801" y="1661279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manufacturer</a:t>
            </a:r>
            <a:r>
              <a:rPr lang="ko-KR" altLang="en-US" dirty="0"/>
              <a:t> </a:t>
            </a:r>
            <a:r>
              <a:rPr lang="ko-KR" altLang="en-US" dirty="0" err="1"/>
              <a:t>data</a:t>
            </a:r>
            <a:r>
              <a:rPr lang="ko-KR" altLang="en-US" dirty="0"/>
              <a:t>: 6b09f70c0106095408,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2E1280-A5C5-CCE9-88AA-F224FFCC5D31}"/>
              </a:ext>
            </a:extLst>
          </p:cNvPr>
          <p:cNvSpPr txBox="1"/>
          <p:nvPr/>
        </p:nvSpPr>
        <p:spPr>
          <a:xfrm>
            <a:off x="2434523" y="2244620"/>
            <a:ext cx="6094206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u="sng" dirty="0"/>
              <a:t>6b09</a:t>
            </a:r>
            <a:r>
              <a:rPr lang="ko-KR" altLang="en-US" dirty="0"/>
              <a:t>   </a:t>
            </a:r>
            <a:r>
              <a:rPr lang="ko-KR" altLang="en-US" u="sng" dirty="0"/>
              <a:t>f70c</a:t>
            </a:r>
            <a:r>
              <a:rPr lang="ko-KR" altLang="en-US" dirty="0"/>
              <a:t>    01 0609 54 08, </a:t>
            </a:r>
            <a:endParaRPr lang="en-US" altLang="ko-KR" dirty="0"/>
          </a:p>
          <a:p>
            <a:r>
              <a:rPr lang="ko-KR" altLang="en-US" sz="1600" b="1" dirty="0">
                <a:solidFill>
                  <a:srgbClr val="0033CC"/>
                </a:solidFill>
              </a:rPr>
              <a:t>온도     습도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67C5AC-901E-644F-9C34-23F8576868CE}"/>
              </a:ext>
            </a:extLst>
          </p:cNvPr>
          <p:cNvSpPr txBox="1"/>
          <p:nvPr/>
        </p:nvSpPr>
        <p:spPr>
          <a:xfrm>
            <a:off x="2434523" y="3127194"/>
            <a:ext cx="46730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온도 </a:t>
            </a:r>
            <a:r>
              <a:rPr lang="en-US" altLang="ko-KR" dirty="0"/>
              <a:t>:   6b09 = 0x096b = 2411 </a:t>
            </a:r>
            <a:r>
              <a:rPr lang="en-US" altLang="ko-KR" dirty="0">
                <a:sym typeface="Wingdings" panose="05000000000000000000" pitchFamily="2" charset="2"/>
              </a:rPr>
              <a:t> 24.11℃</a:t>
            </a:r>
          </a:p>
          <a:p>
            <a:r>
              <a:rPr lang="ko-KR" altLang="en-US" dirty="0">
                <a:sym typeface="Wingdings" panose="05000000000000000000" pitchFamily="2" charset="2"/>
              </a:rPr>
              <a:t>습도 </a:t>
            </a:r>
            <a:r>
              <a:rPr lang="en-US" altLang="ko-KR" dirty="0">
                <a:sym typeface="Wingdings" panose="05000000000000000000" pitchFamily="2" charset="2"/>
              </a:rPr>
              <a:t>:   f70c  = 0x0cf7  = 3319  33.19%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9850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86F2B-7C99-4349-1AA5-13E331518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8E23517-EB85-D823-89E1-9095CD3771F5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Quiz :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특정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MAC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주소 값을 가지는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BLE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단말기 데이터 표시하기 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  <a:sym typeface="Wingdings" panose="05000000000000000000" pitchFamily="2" charset="2"/>
              </a:rPr>
              <a:t>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  <a:sym typeface="Wingdings" panose="05000000000000000000" pitchFamily="2" charset="2"/>
              </a:rPr>
              <a:t>풀이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28E7C8-996B-54C2-0887-99482CB9CD84}"/>
              </a:ext>
            </a:extLst>
          </p:cNvPr>
          <p:cNvSpPr txBox="1"/>
          <p:nvPr/>
        </p:nvSpPr>
        <p:spPr>
          <a:xfrm>
            <a:off x="290815" y="797644"/>
            <a:ext cx="56825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000" b="1" dirty="0">
                <a:solidFill>
                  <a:srgbClr val="3A0DFB"/>
                </a:solidFill>
              </a:rPr>
              <a:t>먼저 </a:t>
            </a:r>
            <a:r>
              <a:rPr lang="en-US" altLang="ko-KR" sz="2000" b="1" dirty="0">
                <a:solidFill>
                  <a:srgbClr val="3A0DFB"/>
                </a:solidFill>
              </a:rPr>
              <a:t>device name</a:t>
            </a:r>
            <a:r>
              <a:rPr lang="ko-KR" altLang="en-US" sz="2000" b="1" dirty="0">
                <a:solidFill>
                  <a:srgbClr val="3A0DFB"/>
                </a:solidFill>
              </a:rPr>
              <a:t>이 </a:t>
            </a:r>
            <a:r>
              <a:rPr lang="en-US" altLang="ko-KR" sz="2000" b="1" dirty="0">
                <a:solidFill>
                  <a:srgbClr val="3A0DFB"/>
                </a:solidFill>
              </a:rPr>
              <a:t>“</a:t>
            </a:r>
            <a:r>
              <a:rPr lang="en-US" altLang="ko-KR" sz="2000" b="1" dirty="0" err="1">
                <a:solidFill>
                  <a:srgbClr val="3A0DFB"/>
                </a:solidFill>
              </a:rPr>
              <a:t>sps</a:t>
            </a:r>
            <a:r>
              <a:rPr lang="en-US" altLang="ko-KR" sz="2000" b="1" dirty="0">
                <a:solidFill>
                  <a:srgbClr val="3A0DFB"/>
                </a:solidFill>
              </a:rPr>
              <a:t>”</a:t>
            </a:r>
            <a:r>
              <a:rPr lang="ko-KR" altLang="en-US" sz="2000" b="1" dirty="0">
                <a:solidFill>
                  <a:srgbClr val="3A0DFB"/>
                </a:solidFill>
              </a:rPr>
              <a:t> 인 </a:t>
            </a:r>
            <a:r>
              <a:rPr lang="en-US" altLang="ko-KR" sz="2000" b="1" dirty="0">
                <a:solidFill>
                  <a:srgbClr val="3A0DFB"/>
                </a:solidFill>
              </a:rPr>
              <a:t>packet</a:t>
            </a:r>
            <a:r>
              <a:rPr lang="ko-KR" altLang="en-US" sz="2000" b="1" dirty="0">
                <a:solidFill>
                  <a:srgbClr val="3A0DFB"/>
                </a:solidFill>
              </a:rPr>
              <a:t>만 출력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6A6F1A-DEB0-B356-BDA1-20AB76E02C47}"/>
              </a:ext>
            </a:extLst>
          </p:cNvPr>
          <p:cNvSpPr txBox="1"/>
          <p:nvPr/>
        </p:nvSpPr>
        <p:spPr>
          <a:xfrm>
            <a:off x="485304" y="1397675"/>
            <a:ext cx="10677995" cy="27512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</a:pPr>
            <a:r>
              <a:rPr lang="ko-KR" altLang="en-US" sz="2400" dirty="0">
                <a:latin typeface="Consolas" panose="020B0609020204030204" pitchFamily="49" charset="0"/>
                <a:cs typeface="Cascadia Code Light" panose="020B0609020000020004" pitchFamily="49" charset="0"/>
              </a:rPr>
              <a:t>const </a:t>
            </a:r>
            <a:r>
              <a:rPr lang="ko-KR" altLang="en-US" sz="2400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char</a:t>
            </a:r>
            <a:r>
              <a:rPr lang="ko-KR" altLang="en-US" sz="2400" dirty="0">
                <a:latin typeface="Consolas" panose="020B0609020204030204" pitchFamily="49" charset="0"/>
                <a:cs typeface="Cascadia Code Light" panose="020B0609020000020004" pitchFamily="49" charset="0"/>
              </a:rPr>
              <a:t>* </a:t>
            </a:r>
            <a:r>
              <a:rPr lang="ko-KR" altLang="en-US" sz="2400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BlePacket</a:t>
            </a:r>
            <a:r>
              <a:rPr lang="ko-KR" altLang="en-US" sz="2400" dirty="0">
                <a:latin typeface="Consolas" panose="020B0609020204030204" pitchFamily="49" charset="0"/>
                <a:cs typeface="Cascadia Code Light" panose="020B0609020000020004" pitchFamily="49" charset="0"/>
              </a:rPr>
              <a:t>;</a:t>
            </a:r>
            <a:endParaRPr lang="en-US" altLang="ko-KR" sz="2400" dirty="0">
              <a:latin typeface="Consolas" panose="020B0609020204030204" pitchFamily="49" charset="0"/>
              <a:ea typeface="Cascadia Code Light" panose="020B0609020000020004" pitchFamily="49" charset="0"/>
              <a:cs typeface="Cascadia Code Light" panose="020B0609020000020004" pitchFamily="49" charset="0"/>
            </a:endParaRPr>
          </a:p>
          <a:p>
            <a:pPr>
              <a:lnSpc>
                <a:spcPts val="3000"/>
              </a:lnSpc>
            </a:pPr>
            <a:endParaRPr lang="en-US" altLang="ko-KR" sz="2400" dirty="0">
              <a:latin typeface="Consolas" panose="020B0609020204030204" pitchFamily="49" charset="0"/>
              <a:ea typeface="Cascadia Code Light" panose="020B0609020000020004" pitchFamily="49" charset="0"/>
              <a:cs typeface="Cascadia Code Light" panose="020B0609020000020004" pitchFamily="49" charset="0"/>
            </a:endParaRPr>
          </a:p>
          <a:p>
            <a:pPr>
              <a:lnSpc>
                <a:spcPts val="3000"/>
              </a:lnSpc>
            </a:pPr>
            <a:r>
              <a:rPr lang="en-US" altLang="ko-KR" sz="2400" dirty="0" err="1"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BlePacket</a:t>
            </a:r>
            <a:r>
              <a:rPr lang="en-US" altLang="ko-KR" sz="2400" dirty="0"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= </a:t>
            </a:r>
            <a:r>
              <a:rPr lang="en-US" altLang="ko-KR" sz="2400" dirty="0" err="1"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advertisedDevice.toString</a:t>
            </a:r>
            <a:r>
              <a:rPr lang="en-US" altLang="ko-KR" sz="2400" dirty="0"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().</a:t>
            </a:r>
            <a:r>
              <a:rPr lang="en-US" altLang="ko-KR" sz="2400" dirty="0" err="1"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c_str</a:t>
            </a:r>
            <a:r>
              <a:rPr lang="en-US" altLang="ko-KR" sz="2400" dirty="0"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();</a:t>
            </a:r>
          </a:p>
          <a:p>
            <a:pPr>
              <a:lnSpc>
                <a:spcPts val="3000"/>
              </a:lnSpc>
            </a:pPr>
            <a:r>
              <a:rPr lang="en-US" altLang="ko-KR" sz="24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char*</a:t>
            </a:r>
            <a:r>
              <a:rPr lang="en-US" altLang="ko-KR" sz="2400" dirty="0"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</a:t>
            </a:r>
            <a:r>
              <a:rPr lang="en-US" altLang="ko-KR" sz="2400" dirty="0" err="1"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deviceName</a:t>
            </a:r>
            <a:r>
              <a:rPr lang="en-US" altLang="ko-KR" sz="2400" dirty="0"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= </a:t>
            </a:r>
            <a:r>
              <a:rPr lang="en-US" altLang="ko-KR" sz="2400" dirty="0" err="1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strstr</a:t>
            </a:r>
            <a:r>
              <a:rPr lang="en-US" altLang="ko-KR" sz="2400" dirty="0"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(</a:t>
            </a:r>
            <a:r>
              <a:rPr lang="en-US" altLang="ko-KR" sz="2400" dirty="0" err="1"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BlePacket</a:t>
            </a:r>
            <a:r>
              <a:rPr lang="en-US" altLang="ko-KR" sz="2400" dirty="0"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, "</a:t>
            </a:r>
            <a:r>
              <a:rPr lang="en-US" altLang="ko-KR" sz="2400" dirty="0" err="1"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sps</a:t>
            </a:r>
            <a:r>
              <a:rPr lang="en-US" altLang="ko-KR" sz="2400" dirty="0"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");</a:t>
            </a:r>
          </a:p>
          <a:p>
            <a:pPr>
              <a:lnSpc>
                <a:spcPts val="3000"/>
              </a:lnSpc>
            </a:pPr>
            <a:r>
              <a:rPr lang="en-US" altLang="ko-KR" sz="2400" dirty="0"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if(</a:t>
            </a:r>
            <a:r>
              <a:rPr lang="en-US" altLang="ko-KR" sz="2400" dirty="0" err="1"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deviceName</a:t>
            </a:r>
            <a:r>
              <a:rPr lang="en-US" altLang="ko-KR" sz="2400" dirty="0"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!= NULL){</a:t>
            </a:r>
          </a:p>
          <a:p>
            <a:pPr>
              <a:lnSpc>
                <a:spcPts val="3000"/>
              </a:lnSpc>
            </a:pPr>
            <a:r>
              <a:rPr lang="en-US" altLang="ko-KR" sz="2400" dirty="0"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   </a:t>
            </a:r>
            <a:r>
              <a:rPr lang="en-US" altLang="ko-KR" sz="2400" dirty="0" err="1">
                <a:solidFill>
                  <a:schemeClr val="accent2">
                    <a:lumMod val="75000"/>
                  </a:schemeClr>
                </a:solidFill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Serial.println</a:t>
            </a:r>
            <a:r>
              <a:rPr lang="en-US" altLang="ko-KR" sz="2400" dirty="0"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(</a:t>
            </a:r>
            <a:r>
              <a:rPr lang="en-US" altLang="ko-KR" sz="2400" dirty="0" err="1"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deviceName</a:t>
            </a:r>
            <a:r>
              <a:rPr lang="en-US" altLang="ko-KR" sz="2400" dirty="0"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);</a:t>
            </a:r>
          </a:p>
          <a:p>
            <a:pPr>
              <a:lnSpc>
                <a:spcPts val="3000"/>
              </a:lnSpc>
            </a:pPr>
            <a:r>
              <a:rPr lang="en-US" altLang="ko-KR" sz="2400" dirty="0">
                <a:latin typeface="Consolas" panose="020B06090202040302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}</a:t>
            </a:r>
            <a:endParaRPr lang="ko-KR" altLang="en-US" sz="2400" dirty="0">
              <a:latin typeface="Consolas" panose="020B0609020204030204" pitchFamily="49" charset="0"/>
              <a:cs typeface="Cascadia Code Light" panose="020B0609020000020004" pitchFamily="49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376503E-6847-D0D4-F22F-5DBF3E3232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66" y="4363090"/>
            <a:ext cx="7487695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9321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E647B-E862-6DAF-936C-15029DC10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DDA5788-69A4-ACFB-8767-7A691469B102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Quiz :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특정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MAC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주소 값을 가지는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BLE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단말기 데이터 표시하기 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  <a:sym typeface="Wingdings" panose="05000000000000000000" pitchFamily="2" charset="2"/>
              </a:rPr>
              <a:t>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  <a:sym typeface="Wingdings" panose="05000000000000000000" pitchFamily="2" charset="2"/>
              </a:rPr>
              <a:t>풀이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F8A861-61E2-E5BA-EC41-69C44F98C0B2}"/>
              </a:ext>
            </a:extLst>
          </p:cNvPr>
          <p:cNvSpPr txBox="1"/>
          <p:nvPr/>
        </p:nvSpPr>
        <p:spPr>
          <a:xfrm>
            <a:off x="290815" y="797644"/>
            <a:ext cx="76920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000" b="1" dirty="0">
                <a:solidFill>
                  <a:srgbClr val="3A0DFB"/>
                </a:solidFill>
              </a:rPr>
              <a:t>manufacturer data; </a:t>
            </a:r>
            <a:r>
              <a:rPr lang="ko-KR" altLang="en-US" sz="2000" b="1" dirty="0">
                <a:solidFill>
                  <a:srgbClr val="3A0DFB"/>
                </a:solidFill>
              </a:rPr>
              <a:t>뒤에 있는 온도</a:t>
            </a:r>
            <a:r>
              <a:rPr lang="en-US" altLang="ko-KR" sz="2000" b="1" dirty="0">
                <a:solidFill>
                  <a:srgbClr val="3A0DFB"/>
                </a:solidFill>
              </a:rPr>
              <a:t>, </a:t>
            </a:r>
            <a:r>
              <a:rPr lang="ko-KR" altLang="en-US" sz="2000" b="1" dirty="0">
                <a:solidFill>
                  <a:srgbClr val="3A0DFB"/>
                </a:solidFill>
              </a:rPr>
              <a:t>습도 값을 </a:t>
            </a:r>
            <a:r>
              <a:rPr lang="en-US" altLang="ko-KR" sz="2000" b="1" dirty="0">
                <a:solidFill>
                  <a:srgbClr val="3A0DFB"/>
                </a:solidFill>
              </a:rPr>
              <a:t>parsing </a:t>
            </a:r>
            <a:r>
              <a:rPr lang="ko-KR" altLang="en-US" sz="2000" b="1" dirty="0">
                <a:solidFill>
                  <a:srgbClr val="3A0DFB"/>
                </a:solidFill>
              </a:rPr>
              <a:t>한다</a:t>
            </a:r>
            <a:r>
              <a:rPr lang="en-US" altLang="ko-KR" sz="2000" b="1" dirty="0">
                <a:solidFill>
                  <a:srgbClr val="3A0DFB"/>
                </a:solidFill>
              </a:rPr>
              <a:t>.</a:t>
            </a:r>
            <a:endParaRPr lang="ko-KR" altLang="en-US" sz="2000" b="1" dirty="0">
              <a:solidFill>
                <a:srgbClr val="3A0DFB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648E20-11B2-CC59-A6E7-A21B0E1249D7}"/>
              </a:ext>
            </a:extLst>
          </p:cNvPr>
          <p:cNvSpPr txBox="1"/>
          <p:nvPr/>
        </p:nvSpPr>
        <p:spPr>
          <a:xfrm>
            <a:off x="0" y="1338906"/>
            <a:ext cx="12192000" cy="505689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</a:pP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char*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deviceName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=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strstr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(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BlePacket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, "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sps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");</a:t>
            </a:r>
          </a:p>
          <a:p>
            <a:pPr>
              <a:lnSpc>
                <a:spcPts val="3000"/>
              </a:lnSpc>
            </a:pP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     if(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deviceName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!= NULL){</a:t>
            </a:r>
          </a:p>
          <a:p>
            <a:pPr>
              <a:lnSpc>
                <a:spcPts val="3000"/>
              </a:lnSpc>
            </a:pP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       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Serial.println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(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deviceName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);</a:t>
            </a:r>
          </a:p>
          <a:p>
            <a:pPr>
              <a:lnSpc>
                <a:spcPts val="3000"/>
              </a:lnSpc>
            </a:pP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        char*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FactData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=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strstr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(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deviceName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, "data:");</a:t>
            </a:r>
          </a:p>
          <a:p>
            <a:pPr>
              <a:lnSpc>
                <a:spcPts val="3000"/>
              </a:lnSpc>
            </a:pP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       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Serial.println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(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FactData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);</a:t>
            </a:r>
          </a:p>
          <a:p>
            <a:pPr>
              <a:lnSpc>
                <a:spcPts val="3000"/>
              </a:lnSpc>
            </a:pP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        if(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FactData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!= NULL){</a:t>
            </a:r>
          </a:p>
          <a:p>
            <a:pPr>
              <a:lnSpc>
                <a:spcPts val="3000"/>
              </a:lnSpc>
            </a:pP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          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tempData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[0]=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atohex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(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FactData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[8]);</a:t>
            </a:r>
          </a:p>
          <a:p>
            <a:pPr>
              <a:lnSpc>
                <a:spcPts val="3000"/>
              </a:lnSpc>
            </a:pP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          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tempData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[1]=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atohex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(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FactData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[9]);</a:t>
            </a:r>
          </a:p>
          <a:p>
            <a:pPr>
              <a:lnSpc>
                <a:spcPts val="3000"/>
              </a:lnSpc>
            </a:pP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          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tempData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[2]=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atohex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(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FactData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[6]);</a:t>
            </a:r>
          </a:p>
          <a:p>
            <a:pPr>
              <a:lnSpc>
                <a:spcPts val="3000"/>
              </a:lnSpc>
            </a:pP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          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tempData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[3]=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atohex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(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FactData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[7]);</a:t>
            </a:r>
          </a:p>
          <a:p>
            <a:pPr>
              <a:lnSpc>
                <a:spcPts val="3000"/>
              </a:lnSpc>
            </a:pP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           temperature = (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tempData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[0]&lt;&lt;16)+(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tempData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[1]&lt;&lt;8)+(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tempData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[2]&lt;&lt;4)+(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tempData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[3]);            </a:t>
            </a:r>
          </a:p>
          <a:p>
            <a:pPr>
              <a:lnSpc>
                <a:spcPts val="3000"/>
              </a:lnSpc>
            </a:pP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          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temperaturef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= (float)(temperature * 0.01);</a:t>
            </a:r>
          </a:p>
          <a:p>
            <a:pPr>
              <a:lnSpc>
                <a:spcPts val="3000"/>
              </a:lnSpc>
            </a:pP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          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Serial.printf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("temperature = %.2f \n",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temperaturef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);            </a:t>
            </a:r>
            <a:endParaRPr lang="ko-KR" altLang="en-US" dirty="0">
              <a:latin typeface="Consolas" panose="020B0609020204030204" pitchFamily="49" charset="0"/>
              <a:cs typeface="Cascadia Code 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28703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6C76C-5B7E-4118-5F9C-2816B159A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1C85696-CD20-F216-D8AC-B23896E60955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Quiz :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특정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MAC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주소 값을 가지는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BLE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단말기 데이터 표시하기 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  <a:sym typeface="Wingdings" panose="05000000000000000000" pitchFamily="2" charset="2"/>
              </a:rPr>
              <a:t>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  <a:sym typeface="Wingdings" panose="05000000000000000000" pitchFamily="2" charset="2"/>
              </a:rPr>
              <a:t>풀이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92B744-2193-6029-8467-2CDFEDA9028B}"/>
              </a:ext>
            </a:extLst>
          </p:cNvPr>
          <p:cNvSpPr txBox="1"/>
          <p:nvPr/>
        </p:nvSpPr>
        <p:spPr>
          <a:xfrm>
            <a:off x="290815" y="797644"/>
            <a:ext cx="76920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000" b="1" dirty="0">
                <a:solidFill>
                  <a:srgbClr val="3A0DFB"/>
                </a:solidFill>
              </a:rPr>
              <a:t>manufacturer data; </a:t>
            </a:r>
            <a:r>
              <a:rPr lang="ko-KR" altLang="en-US" sz="2000" b="1" dirty="0">
                <a:solidFill>
                  <a:srgbClr val="3A0DFB"/>
                </a:solidFill>
              </a:rPr>
              <a:t>뒤에 있는 온도</a:t>
            </a:r>
            <a:r>
              <a:rPr lang="en-US" altLang="ko-KR" sz="2000" b="1" dirty="0">
                <a:solidFill>
                  <a:srgbClr val="3A0DFB"/>
                </a:solidFill>
              </a:rPr>
              <a:t>, </a:t>
            </a:r>
            <a:r>
              <a:rPr lang="ko-KR" altLang="en-US" sz="2000" b="1" dirty="0">
                <a:solidFill>
                  <a:srgbClr val="3A0DFB"/>
                </a:solidFill>
              </a:rPr>
              <a:t>습도 값을 </a:t>
            </a:r>
            <a:r>
              <a:rPr lang="en-US" altLang="ko-KR" sz="2000" b="1" dirty="0">
                <a:solidFill>
                  <a:srgbClr val="3A0DFB"/>
                </a:solidFill>
              </a:rPr>
              <a:t>parsing </a:t>
            </a:r>
            <a:r>
              <a:rPr lang="ko-KR" altLang="en-US" sz="2000" b="1" dirty="0">
                <a:solidFill>
                  <a:srgbClr val="3A0DFB"/>
                </a:solidFill>
              </a:rPr>
              <a:t>한다</a:t>
            </a:r>
            <a:r>
              <a:rPr lang="en-US" altLang="ko-KR" sz="2000" b="1" dirty="0">
                <a:solidFill>
                  <a:srgbClr val="3A0DFB"/>
                </a:solidFill>
              </a:rPr>
              <a:t>.</a:t>
            </a:r>
            <a:endParaRPr lang="ko-KR" altLang="en-US" sz="2000" b="1" dirty="0">
              <a:solidFill>
                <a:srgbClr val="3A0DFB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F25229-E93F-F027-8115-C5A63F6A4D95}"/>
              </a:ext>
            </a:extLst>
          </p:cNvPr>
          <p:cNvSpPr txBox="1"/>
          <p:nvPr/>
        </p:nvSpPr>
        <p:spPr>
          <a:xfrm>
            <a:off x="0" y="1338906"/>
            <a:ext cx="12192000" cy="35180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</a:pP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          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humiData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[0]=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atohex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(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FactData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[12]);</a:t>
            </a:r>
          </a:p>
          <a:p>
            <a:pPr>
              <a:lnSpc>
                <a:spcPts val="3000"/>
              </a:lnSpc>
            </a:pP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          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humiData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[1]=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atohex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(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FactData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[13]);</a:t>
            </a:r>
          </a:p>
          <a:p>
            <a:pPr>
              <a:lnSpc>
                <a:spcPts val="3000"/>
              </a:lnSpc>
            </a:pP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          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humiData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[2]=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atohex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(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FactData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[10]);</a:t>
            </a:r>
          </a:p>
          <a:p>
            <a:pPr>
              <a:lnSpc>
                <a:spcPts val="3000"/>
              </a:lnSpc>
            </a:pP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          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humiData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[3]=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atohex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(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FactData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[11]);</a:t>
            </a:r>
          </a:p>
          <a:p>
            <a:pPr>
              <a:lnSpc>
                <a:spcPts val="3000"/>
              </a:lnSpc>
            </a:pP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           humidity = (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humiData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[0]&lt;&lt;16)+(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humiData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[1]&lt;&lt;8)+(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humiData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[2]&lt;&lt;4)+(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humiData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[3]);      </a:t>
            </a:r>
          </a:p>
          <a:p>
            <a:pPr>
              <a:lnSpc>
                <a:spcPts val="3000"/>
              </a:lnSpc>
            </a:pP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          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humidityf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= (float)(humidity * 0.01);</a:t>
            </a:r>
          </a:p>
          <a:p>
            <a:pPr>
              <a:lnSpc>
                <a:spcPts val="3000"/>
              </a:lnSpc>
            </a:pP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          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Serial.printf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("humidity = %.2f\n", </a:t>
            </a:r>
            <a:r>
              <a:rPr lang="en-US" altLang="ko-KR" dirty="0" err="1">
                <a:latin typeface="Consolas" panose="020B0609020204030204" pitchFamily="49" charset="0"/>
                <a:cs typeface="Cascadia Code Light" panose="020B0609020000020004" pitchFamily="49" charset="0"/>
              </a:rPr>
              <a:t>humidityf</a:t>
            </a: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);</a:t>
            </a:r>
          </a:p>
          <a:p>
            <a:pPr>
              <a:lnSpc>
                <a:spcPts val="3000"/>
              </a:lnSpc>
            </a:pP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        }</a:t>
            </a:r>
          </a:p>
          <a:p>
            <a:pPr>
              <a:lnSpc>
                <a:spcPts val="3000"/>
              </a:lnSpc>
            </a:pPr>
            <a:r>
              <a:rPr lang="en-US" altLang="ko-KR" dirty="0">
                <a:latin typeface="Consolas" panose="020B0609020204030204" pitchFamily="49" charset="0"/>
                <a:cs typeface="Cascadia Code Light" panose="020B0609020000020004" pitchFamily="49" charset="0"/>
              </a:rPr>
              <a:t>      }</a:t>
            </a:r>
            <a:endParaRPr lang="ko-KR" altLang="en-US" dirty="0">
              <a:latin typeface="Consolas" panose="020B0609020204030204" pitchFamily="49" charset="0"/>
              <a:cs typeface="Cascadia Code 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08397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93D60-832F-B372-63EE-8B63A1583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3E4BC459-E891-686F-2B87-22694F1B7501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Quiz :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특정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MAC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주소 값을 가지는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BLE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단말기 데이터 표시하기  </a:t>
            </a: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  <a:sym typeface="Wingdings" panose="05000000000000000000" pitchFamily="2" charset="2"/>
              </a:rPr>
              <a:t> </a:t>
            </a:r>
            <a:r>
              <a:rPr lang="ko-KR" altLang="en-US" sz="2000" b="1" dirty="0">
                <a:solidFill>
                  <a:schemeClr val="bg1">
                    <a:lumMod val="95000"/>
                  </a:schemeClr>
                </a:solidFill>
                <a:latin typeface="+mn-ea"/>
                <a:sym typeface="Wingdings" panose="05000000000000000000" pitchFamily="2" charset="2"/>
              </a:rPr>
              <a:t>풀이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F45CC2-3794-FE34-04A8-3EC2652DD484}"/>
              </a:ext>
            </a:extLst>
          </p:cNvPr>
          <p:cNvSpPr txBox="1"/>
          <p:nvPr/>
        </p:nvSpPr>
        <p:spPr>
          <a:xfrm>
            <a:off x="290815" y="797644"/>
            <a:ext cx="158889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000" b="1" dirty="0">
                <a:solidFill>
                  <a:srgbClr val="3A0DFB"/>
                </a:solidFill>
              </a:rPr>
              <a:t>출력 결과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2384A1-FB52-49AB-1EBB-395152CE3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809" y="1338906"/>
            <a:ext cx="10537266" cy="5290494"/>
          </a:xfrm>
          <a:prstGeom prst="rect">
            <a:avLst/>
          </a:prstGeom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3FBEB120-15AB-2187-A09B-FBE0A82485B6}"/>
              </a:ext>
            </a:extLst>
          </p:cNvPr>
          <p:cNvSpPr/>
          <p:nvPr/>
        </p:nvSpPr>
        <p:spPr>
          <a:xfrm>
            <a:off x="533400" y="2679700"/>
            <a:ext cx="2565400" cy="533400"/>
          </a:xfrm>
          <a:prstGeom prst="roundRect">
            <a:avLst/>
          </a:prstGeom>
          <a:noFill/>
          <a:ln>
            <a:solidFill>
              <a:srgbClr val="3A0DF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46296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92854E-33A9-26DE-B4AB-1B8F5692F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23BCC32-3189-EF04-B661-C82DD35974CA}"/>
              </a:ext>
            </a:extLst>
          </p:cNvPr>
          <p:cNvSpPr/>
          <p:nvPr/>
        </p:nvSpPr>
        <p:spPr>
          <a:xfrm>
            <a:off x="0" y="-1"/>
            <a:ext cx="12192000" cy="2060029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6212" algn="ctr"/>
            <a:r>
              <a:rPr lang="en-US" altLang="ko-KR" sz="4000" b="1" dirty="0" err="1">
                <a:solidFill>
                  <a:schemeClr val="bg1">
                    <a:lumMod val="95000"/>
                  </a:schemeClr>
                </a:solidFill>
                <a:latin typeface="+mn-ea"/>
              </a:rPr>
              <a:t>SmartPhone</a:t>
            </a:r>
            <a:r>
              <a:rPr lang="en-US" altLang="ko-KR" sz="4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 </a:t>
            </a:r>
            <a:r>
              <a:rPr lang="ko-KR" altLang="en-US" sz="4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으로 </a:t>
            </a:r>
            <a:r>
              <a:rPr lang="en-US" altLang="ko-KR" sz="4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ESP32 LED </a:t>
            </a:r>
            <a:r>
              <a:rPr lang="ko-KR" altLang="en-US" sz="4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제어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1247079-BB74-5495-A252-26CB16B859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512" y="2460557"/>
            <a:ext cx="2286319" cy="3477110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DBB30F86-66B0-0248-CFF2-6E838CB28B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7267104" y="2460557"/>
            <a:ext cx="2194844" cy="375803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3BF0D9F-ADC0-E592-F1ED-224F4043D082}"/>
              </a:ext>
            </a:extLst>
          </p:cNvPr>
          <p:cNvSpPr txBox="1"/>
          <p:nvPr/>
        </p:nvSpPr>
        <p:spPr>
          <a:xfrm>
            <a:off x="2640762" y="3433394"/>
            <a:ext cx="143981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/>
              <a:t>LED no, Counts</a:t>
            </a:r>
          </a:p>
          <a:p>
            <a:pPr algn="ctr"/>
            <a:endParaRPr lang="en-US" altLang="ko-KR" sz="1400" dirty="0"/>
          </a:p>
          <a:p>
            <a:pPr algn="ctr"/>
            <a:r>
              <a:rPr lang="en-US" altLang="ko-KR" sz="1400" dirty="0"/>
              <a:t>1, 5</a:t>
            </a:r>
          </a:p>
          <a:p>
            <a:pPr algn="ctr"/>
            <a:r>
              <a:rPr lang="en-US" altLang="ko-KR" sz="1400" dirty="0"/>
              <a:t>2, 4</a:t>
            </a:r>
          </a:p>
          <a:p>
            <a:pPr algn="ctr"/>
            <a:r>
              <a:rPr lang="en-US" altLang="ko-KR" sz="1400" dirty="0"/>
              <a:t>3, 5</a:t>
            </a:r>
            <a:endParaRPr lang="ko-KR" altLang="en-US" sz="1400" dirty="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DE9600A0-A3BB-AAD4-50E0-A4FB330B1465}"/>
              </a:ext>
            </a:extLst>
          </p:cNvPr>
          <p:cNvCxnSpPr/>
          <p:nvPr/>
        </p:nvCxnSpPr>
        <p:spPr>
          <a:xfrm>
            <a:off x="6382693" y="3429000"/>
            <a:ext cx="968721" cy="0"/>
          </a:xfrm>
          <a:prstGeom prst="straightConnector1">
            <a:avLst/>
          </a:prstGeom>
          <a:ln w="12700">
            <a:solidFill>
              <a:srgbClr val="3A0DF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F34AC7BF-394C-D482-1D68-A6DDFD981B84}"/>
              </a:ext>
            </a:extLst>
          </p:cNvPr>
          <p:cNvCxnSpPr/>
          <p:nvPr/>
        </p:nvCxnSpPr>
        <p:spPr>
          <a:xfrm>
            <a:off x="6360215" y="3812628"/>
            <a:ext cx="968721" cy="0"/>
          </a:xfrm>
          <a:prstGeom prst="straightConnector1">
            <a:avLst/>
          </a:prstGeom>
          <a:ln w="12700">
            <a:solidFill>
              <a:srgbClr val="3A0DF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7FC3D5D-F198-DCA8-4AC0-0FF5FD24FDCC}"/>
              </a:ext>
            </a:extLst>
          </p:cNvPr>
          <p:cNvCxnSpPr/>
          <p:nvPr/>
        </p:nvCxnSpPr>
        <p:spPr>
          <a:xfrm>
            <a:off x="6360215" y="4363222"/>
            <a:ext cx="968721" cy="0"/>
          </a:xfrm>
          <a:prstGeom prst="straightConnector1">
            <a:avLst/>
          </a:prstGeom>
          <a:ln w="12700">
            <a:solidFill>
              <a:srgbClr val="3A0DF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446040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B70BE-F1CF-736F-E66D-C8172E4C0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774F1D4-9BE1-2C80-2C1C-0D2BE2FB69DD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Project Overview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B9FFB-9B66-F01F-B9EE-42461DAB6814}"/>
              </a:ext>
            </a:extLst>
          </p:cNvPr>
          <p:cNvSpPr txBox="1"/>
          <p:nvPr/>
        </p:nvSpPr>
        <p:spPr>
          <a:xfrm flipH="1">
            <a:off x="255927" y="889702"/>
            <a:ext cx="10496157" cy="14891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스마트폰 앱을 통해 </a:t>
            </a:r>
            <a:r>
              <a:rPr lang="en-US" altLang="ko-KR" dirty="0"/>
              <a:t>ESP32</a:t>
            </a:r>
            <a:r>
              <a:rPr lang="ko-KR" altLang="en-US" dirty="0"/>
              <a:t> </a:t>
            </a:r>
            <a:r>
              <a:rPr lang="en-US" altLang="ko-KR" dirty="0"/>
              <a:t>GPIO</a:t>
            </a:r>
            <a:r>
              <a:rPr lang="ko-KR" altLang="en-US" dirty="0"/>
              <a:t>를 제어해보자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ESP32</a:t>
            </a:r>
            <a:r>
              <a:rPr lang="ko-KR" altLang="en-US" dirty="0"/>
              <a:t>에 </a:t>
            </a:r>
            <a:r>
              <a:rPr lang="en-US" altLang="ko-KR" dirty="0"/>
              <a:t>3</a:t>
            </a:r>
            <a:r>
              <a:rPr lang="ko-KR" altLang="en-US" dirty="0"/>
              <a:t>개의 </a:t>
            </a:r>
            <a:r>
              <a:rPr lang="en-US" altLang="ko-KR" dirty="0"/>
              <a:t>LED</a:t>
            </a:r>
            <a:r>
              <a:rPr lang="ko-KR" altLang="en-US" dirty="0"/>
              <a:t>를 연결하고</a:t>
            </a:r>
            <a:r>
              <a:rPr lang="en-US" altLang="ko-KR" dirty="0"/>
              <a:t>, </a:t>
            </a:r>
            <a:r>
              <a:rPr lang="ko-KR" altLang="en-US" dirty="0"/>
              <a:t>앱에서 </a:t>
            </a:r>
            <a:r>
              <a:rPr lang="en-US" altLang="ko-KR" dirty="0"/>
              <a:t>LED </a:t>
            </a:r>
            <a:r>
              <a:rPr lang="ko-KR" altLang="en-US" dirty="0"/>
              <a:t>번호와 점멸 횟수를 전송하면</a:t>
            </a:r>
            <a:endParaRPr lang="en-US" altLang="ko-KR" dirty="0"/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해당 </a:t>
            </a:r>
            <a:r>
              <a:rPr lang="en-US" altLang="ko-KR" dirty="0"/>
              <a:t>LED</a:t>
            </a:r>
            <a:r>
              <a:rPr lang="ko-KR" altLang="en-US" dirty="0"/>
              <a:t>는 전송 받은 횟수만큼 </a:t>
            </a:r>
            <a:r>
              <a:rPr lang="en-US" altLang="ko-KR" dirty="0"/>
              <a:t>0.5</a:t>
            </a:r>
            <a:r>
              <a:rPr lang="ko-KR" altLang="en-US" dirty="0"/>
              <a:t>초 간격으로 깜박이도록 프로그램해 보자</a:t>
            </a:r>
            <a:endParaRPr lang="en-US" altLang="ko-KR" dirty="0"/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사용 </a:t>
            </a:r>
            <a:r>
              <a:rPr lang="en-US" altLang="ko-KR" dirty="0"/>
              <a:t>App : </a:t>
            </a:r>
            <a:r>
              <a:rPr lang="en-US" altLang="ko-KR" dirty="0" err="1"/>
              <a:t>nRF</a:t>
            </a:r>
            <a:r>
              <a:rPr lang="en-US" altLang="ko-KR" dirty="0"/>
              <a:t> Connect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2A7F931-52BC-2114-081B-D6545AE1F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22" y="2612102"/>
            <a:ext cx="3134162" cy="1152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2366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CF320-5C7B-141A-65E4-30F0EAC28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AD1978F-6426-71AE-85D3-2B95036C973F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Code   1/4 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1AC179-E01F-364A-8B0E-9F7B77DACD23}"/>
              </a:ext>
            </a:extLst>
          </p:cNvPr>
          <p:cNvSpPr txBox="1"/>
          <p:nvPr/>
        </p:nvSpPr>
        <p:spPr>
          <a:xfrm>
            <a:off x="212835" y="730065"/>
            <a:ext cx="9256986" cy="6001643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Consolas" panose="020B0609020204030204" pitchFamily="49" charset="0"/>
              </a:rPr>
              <a:t>#include &lt;</a:t>
            </a:r>
            <a:r>
              <a:rPr lang="ko-KR" altLang="en-US" sz="1600" dirty="0" err="1">
                <a:latin typeface="Consolas" panose="020B0609020204030204" pitchFamily="49" charset="0"/>
              </a:rPr>
              <a:t>BLEDevice.h</a:t>
            </a:r>
            <a:r>
              <a:rPr lang="ko-KR" altLang="en-US" sz="1600" dirty="0">
                <a:latin typeface="Consolas" panose="020B0609020204030204" pitchFamily="49" charset="0"/>
              </a:rPr>
              <a:t>&gt;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#include &lt;</a:t>
            </a:r>
            <a:r>
              <a:rPr lang="ko-KR" altLang="en-US" sz="1600" dirty="0" err="1">
                <a:latin typeface="Consolas" panose="020B0609020204030204" pitchFamily="49" charset="0"/>
              </a:rPr>
              <a:t>BLEUtils.h</a:t>
            </a:r>
            <a:r>
              <a:rPr lang="ko-KR" altLang="en-US" sz="1600" dirty="0">
                <a:latin typeface="Consolas" panose="020B0609020204030204" pitchFamily="49" charset="0"/>
              </a:rPr>
              <a:t>&gt;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#include &lt;</a:t>
            </a:r>
            <a:r>
              <a:rPr lang="ko-KR" altLang="en-US" sz="1600" dirty="0" err="1">
                <a:latin typeface="Consolas" panose="020B0609020204030204" pitchFamily="49" charset="0"/>
              </a:rPr>
              <a:t>BLEServer.h</a:t>
            </a:r>
            <a:r>
              <a:rPr lang="ko-KR" altLang="en-US" sz="1600" dirty="0">
                <a:latin typeface="Consolas" panose="020B0609020204030204" pitchFamily="49" charset="0"/>
              </a:rPr>
              <a:t>&gt;</a:t>
            </a:r>
          </a:p>
          <a:p>
            <a:endParaRPr lang="ko-KR" altLang="en-US" sz="1600" dirty="0">
              <a:latin typeface="Consolas" panose="020B0609020204030204" pitchFamily="49" charset="0"/>
            </a:endParaRPr>
          </a:p>
          <a:p>
            <a:r>
              <a:rPr lang="ko-KR" altLang="en-US" sz="1600" dirty="0">
                <a:latin typeface="Consolas" panose="020B0609020204030204" pitchFamily="49" charset="0"/>
              </a:rPr>
              <a:t>#define LED1_PIN 2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#define LED2_PIN 4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#define LED3_PIN 5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#define SERVICE_UUID        "00001815-0000-1000-8000-00805f9b34fb"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#define CHARACTERISTIC_UUID "00002a56-0000-1000-8000-00805f9b34fb"</a:t>
            </a:r>
          </a:p>
          <a:p>
            <a:endParaRPr lang="ko-KR" altLang="en-US" sz="1600" dirty="0">
              <a:latin typeface="Consolas" panose="020B0609020204030204" pitchFamily="49" charset="0"/>
            </a:endParaRPr>
          </a:p>
          <a:p>
            <a:r>
              <a:rPr lang="ko-KR" altLang="en-US" sz="1600" dirty="0" err="1">
                <a:latin typeface="Consolas" panose="020B0609020204030204" pitchFamily="49" charset="0"/>
              </a:rPr>
              <a:t>BLECharacteristic</a:t>
            </a:r>
            <a:r>
              <a:rPr lang="ko-KR" altLang="en-US" sz="1600" dirty="0">
                <a:latin typeface="Consolas" panose="020B0609020204030204" pitchFamily="49" charset="0"/>
              </a:rPr>
              <a:t> *</a:t>
            </a:r>
            <a:r>
              <a:rPr lang="ko-KR" altLang="en-US" sz="1600" dirty="0" err="1">
                <a:latin typeface="Consolas" panose="020B0609020204030204" pitchFamily="49" charset="0"/>
              </a:rPr>
              <a:t>pCharacteristic</a:t>
            </a:r>
            <a:r>
              <a:rPr lang="ko-KR" altLang="en-US" sz="1600" dirty="0">
                <a:latin typeface="Consolas" panose="020B0609020204030204" pitchFamily="49" charset="0"/>
              </a:rPr>
              <a:t>;</a:t>
            </a:r>
          </a:p>
          <a:p>
            <a:r>
              <a:rPr lang="ko-KR" altLang="en-US" sz="1600" dirty="0" err="1">
                <a:latin typeface="Consolas" panose="020B0609020204030204" pitchFamily="49" charset="0"/>
              </a:rPr>
              <a:t>bool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deviceConnected</a:t>
            </a:r>
            <a:r>
              <a:rPr lang="ko-KR" altLang="en-US" sz="1600" dirty="0">
                <a:latin typeface="Consolas" panose="020B0609020204030204" pitchFamily="49" charset="0"/>
              </a:rPr>
              <a:t> = </a:t>
            </a:r>
            <a:r>
              <a:rPr lang="ko-KR" altLang="en-US" sz="1600" dirty="0" err="1">
                <a:latin typeface="Consolas" panose="020B0609020204030204" pitchFamily="49" charset="0"/>
              </a:rPr>
              <a:t>false</a:t>
            </a:r>
            <a:r>
              <a:rPr lang="ko-KR" altLang="en-US" sz="1600" dirty="0">
                <a:latin typeface="Consolas" panose="020B0609020204030204" pitchFamily="49" charset="0"/>
              </a:rPr>
              <a:t>;</a:t>
            </a:r>
          </a:p>
          <a:p>
            <a:endParaRPr lang="ko-KR" altLang="en-US" sz="1600" dirty="0">
              <a:latin typeface="Consolas" panose="020B0609020204030204" pitchFamily="49" charset="0"/>
            </a:endParaRPr>
          </a:p>
          <a:p>
            <a:r>
              <a:rPr lang="ko-KR" altLang="en-US" sz="1600" dirty="0">
                <a:latin typeface="Consolas" panose="020B0609020204030204" pitchFamily="49" charset="0"/>
              </a:rPr>
              <a:t>class </a:t>
            </a:r>
            <a:r>
              <a:rPr lang="ko-KR" altLang="en-US" sz="1600" dirty="0" err="1">
                <a:latin typeface="Consolas" panose="020B0609020204030204" pitchFamily="49" charset="0"/>
              </a:rPr>
              <a:t>MyServerCallbacks</a:t>
            </a:r>
            <a:r>
              <a:rPr lang="ko-KR" altLang="en-US" sz="1600" dirty="0">
                <a:latin typeface="Consolas" panose="020B0609020204030204" pitchFamily="49" charset="0"/>
              </a:rPr>
              <a:t> : </a:t>
            </a:r>
            <a:r>
              <a:rPr lang="ko-KR" altLang="en-US" sz="1600" dirty="0" err="1">
                <a:latin typeface="Consolas" panose="020B0609020204030204" pitchFamily="49" charset="0"/>
              </a:rPr>
              <a:t>public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BLEServerCallbacks</a:t>
            </a:r>
            <a:r>
              <a:rPr lang="ko-KR" altLang="en-US" sz="1600" dirty="0">
                <a:latin typeface="Consolas" panose="020B0609020204030204" pitchFamily="49" charset="0"/>
              </a:rPr>
              <a:t> {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void </a:t>
            </a:r>
            <a:r>
              <a:rPr lang="ko-KR" altLang="en-US" sz="1600" dirty="0" err="1">
                <a:latin typeface="Consolas" panose="020B0609020204030204" pitchFamily="49" charset="0"/>
              </a:rPr>
              <a:t>onConnect</a:t>
            </a:r>
            <a:r>
              <a:rPr lang="ko-KR" altLang="en-US" sz="1600" dirty="0">
                <a:latin typeface="Consolas" panose="020B0609020204030204" pitchFamily="49" charset="0"/>
              </a:rPr>
              <a:t>(</a:t>
            </a:r>
            <a:r>
              <a:rPr lang="ko-KR" altLang="en-US" sz="1600" dirty="0" err="1">
                <a:latin typeface="Consolas" panose="020B0609020204030204" pitchFamily="49" charset="0"/>
              </a:rPr>
              <a:t>BLEServer</a:t>
            </a:r>
            <a:r>
              <a:rPr lang="ko-KR" altLang="en-US" sz="1600" dirty="0">
                <a:latin typeface="Consolas" panose="020B0609020204030204" pitchFamily="49" charset="0"/>
              </a:rPr>
              <a:t>* </a:t>
            </a:r>
            <a:r>
              <a:rPr lang="ko-KR" altLang="en-US" sz="1600" dirty="0" err="1">
                <a:latin typeface="Consolas" panose="020B0609020204030204" pitchFamily="49" charset="0"/>
              </a:rPr>
              <a:t>pServer</a:t>
            </a:r>
            <a:r>
              <a:rPr lang="ko-KR" altLang="en-US" sz="1600" dirty="0">
                <a:latin typeface="Consolas" panose="020B0609020204030204" pitchFamily="49" charset="0"/>
              </a:rPr>
              <a:t>) {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  </a:t>
            </a:r>
            <a:r>
              <a:rPr lang="ko-KR" altLang="en-US" sz="1600" dirty="0" err="1">
                <a:latin typeface="Consolas" panose="020B0609020204030204" pitchFamily="49" charset="0"/>
              </a:rPr>
              <a:t>deviceConnected</a:t>
            </a:r>
            <a:r>
              <a:rPr lang="ko-KR" altLang="en-US" sz="1600" dirty="0">
                <a:latin typeface="Consolas" panose="020B0609020204030204" pitchFamily="49" charset="0"/>
              </a:rPr>
              <a:t> = </a:t>
            </a:r>
            <a:r>
              <a:rPr lang="ko-KR" altLang="en-US" sz="1600" dirty="0" err="1">
                <a:latin typeface="Consolas" panose="020B0609020204030204" pitchFamily="49" charset="0"/>
              </a:rPr>
              <a:t>true</a:t>
            </a:r>
            <a:r>
              <a:rPr lang="ko-KR" altLang="en-US" sz="1600" dirty="0">
                <a:latin typeface="Consolas" panose="020B0609020204030204" pitchFamily="49" charset="0"/>
              </a:rPr>
              <a:t>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  </a:t>
            </a:r>
            <a:r>
              <a:rPr lang="ko-KR" altLang="en-US" sz="1600" dirty="0" err="1">
                <a:latin typeface="Consolas" panose="020B0609020204030204" pitchFamily="49" charset="0"/>
              </a:rPr>
              <a:t>Serial.println</a:t>
            </a:r>
            <a:r>
              <a:rPr lang="ko-KR" altLang="en-US" sz="1600" dirty="0">
                <a:latin typeface="Consolas" panose="020B0609020204030204" pitchFamily="49" charset="0"/>
              </a:rPr>
              <a:t>("</a:t>
            </a:r>
            <a:r>
              <a:rPr lang="ko-KR" altLang="en-US" sz="1600" dirty="0" err="1">
                <a:latin typeface="Consolas" panose="020B0609020204030204" pitchFamily="49" charset="0"/>
              </a:rPr>
              <a:t>Connect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Smartphone</a:t>
            </a:r>
            <a:r>
              <a:rPr lang="ko-KR" altLang="en-US" sz="1600" dirty="0">
                <a:latin typeface="Consolas" panose="020B0609020204030204" pitchFamily="49" charset="0"/>
              </a:rPr>
              <a:t>");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}</a:t>
            </a:r>
          </a:p>
          <a:p>
            <a:endParaRPr lang="ko-KR" altLang="en-US" sz="1600" dirty="0">
              <a:latin typeface="Consolas" panose="020B0609020204030204" pitchFamily="49" charset="0"/>
            </a:endParaRPr>
          </a:p>
          <a:p>
            <a:r>
              <a:rPr lang="ko-KR" altLang="en-US" sz="1600" dirty="0">
                <a:latin typeface="Consolas" panose="020B0609020204030204" pitchFamily="49" charset="0"/>
              </a:rPr>
              <a:t>  void </a:t>
            </a:r>
            <a:r>
              <a:rPr lang="ko-KR" altLang="en-US" sz="1600" dirty="0" err="1">
                <a:latin typeface="Consolas" panose="020B0609020204030204" pitchFamily="49" charset="0"/>
              </a:rPr>
              <a:t>onDisconnect</a:t>
            </a:r>
            <a:r>
              <a:rPr lang="ko-KR" altLang="en-US" sz="1600" dirty="0">
                <a:latin typeface="Consolas" panose="020B0609020204030204" pitchFamily="49" charset="0"/>
              </a:rPr>
              <a:t>(</a:t>
            </a:r>
            <a:r>
              <a:rPr lang="ko-KR" altLang="en-US" sz="1600" dirty="0" err="1">
                <a:latin typeface="Consolas" panose="020B0609020204030204" pitchFamily="49" charset="0"/>
              </a:rPr>
              <a:t>BLEServer</a:t>
            </a:r>
            <a:r>
              <a:rPr lang="ko-KR" altLang="en-US" sz="1600" dirty="0">
                <a:latin typeface="Consolas" panose="020B0609020204030204" pitchFamily="49" charset="0"/>
              </a:rPr>
              <a:t>* </a:t>
            </a:r>
            <a:r>
              <a:rPr lang="ko-KR" altLang="en-US" sz="1600" dirty="0" err="1">
                <a:latin typeface="Consolas" panose="020B0609020204030204" pitchFamily="49" charset="0"/>
              </a:rPr>
              <a:t>pServer</a:t>
            </a:r>
            <a:r>
              <a:rPr lang="ko-KR" altLang="en-US" sz="1600" dirty="0">
                <a:latin typeface="Consolas" panose="020B0609020204030204" pitchFamily="49" charset="0"/>
              </a:rPr>
              <a:t>) {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  </a:t>
            </a:r>
            <a:r>
              <a:rPr lang="ko-KR" altLang="en-US" sz="1600" dirty="0" err="1">
                <a:latin typeface="Consolas" panose="020B0609020204030204" pitchFamily="49" charset="0"/>
              </a:rPr>
              <a:t>deviceConnected</a:t>
            </a:r>
            <a:r>
              <a:rPr lang="ko-KR" altLang="en-US" sz="1600" dirty="0">
                <a:latin typeface="Consolas" panose="020B0609020204030204" pitchFamily="49" charset="0"/>
              </a:rPr>
              <a:t> = </a:t>
            </a:r>
            <a:r>
              <a:rPr lang="ko-KR" altLang="en-US" sz="1600" dirty="0" err="1">
                <a:latin typeface="Consolas" panose="020B0609020204030204" pitchFamily="49" charset="0"/>
              </a:rPr>
              <a:t>false</a:t>
            </a:r>
            <a:r>
              <a:rPr lang="ko-KR" altLang="en-US" sz="1600" dirty="0">
                <a:latin typeface="Consolas" panose="020B0609020204030204" pitchFamily="49" charset="0"/>
              </a:rPr>
              <a:t>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  </a:t>
            </a:r>
            <a:r>
              <a:rPr lang="ko-KR" altLang="en-US" sz="1600" dirty="0" err="1">
                <a:latin typeface="Consolas" panose="020B0609020204030204" pitchFamily="49" charset="0"/>
              </a:rPr>
              <a:t>Serial.println</a:t>
            </a:r>
            <a:r>
              <a:rPr lang="ko-KR" altLang="en-US" sz="1600" dirty="0">
                <a:latin typeface="Consolas" panose="020B0609020204030204" pitchFamily="49" charset="0"/>
              </a:rPr>
              <a:t>("</a:t>
            </a:r>
            <a:r>
              <a:rPr lang="ko-KR" altLang="en-US" sz="1600" dirty="0" err="1">
                <a:latin typeface="Consolas" panose="020B0609020204030204" pitchFamily="49" charset="0"/>
              </a:rPr>
              <a:t>Disconnect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Smartphone</a:t>
            </a:r>
            <a:r>
              <a:rPr lang="ko-KR" altLang="en-US" sz="1600" dirty="0">
                <a:latin typeface="Consolas" panose="020B0609020204030204" pitchFamily="49" charset="0"/>
              </a:rPr>
              <a:t>");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}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8070704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CA68B-DA7F-5DF3-4CFC-2836CFDB2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622A51D5-CEB6-31B7-1CBE-D71FE78F9714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Code   2/4 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8F4B1D-24D4-DEEA-7B35-F2221BE18295}"/>
              </a:ext>
            </a:extLst>
          </p:cNvPr>
          <p:cNvSpPr txBox="1"/>
          <p:nvPr/>
        </p:nvSpPr>
        <p:spPr>
          <a:xfrm>
            <a:off x="157655" y="745153"/>
            <a:ext cx="11719035" cy="5835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class </a:t>
            </a:r>
            <a:r>
              <a:rPr lang="ko-KR" altLang="en-US" sz="1600" dirty="0" err="1">
                <a:latin typeface="Consolas" panose="020B0609020204030204" pitchFamily="49" charset="0"/>
              </a:rPr>
              <a:t>MyCallbacks</a:t>
            </a:r>
            <a:r>
              <a:rPr lang="ko-KR" altLang="en-US" sz="1600" dirty="0">
                <a:latin typeface="Consolas" panose="020B0609020204030204" pitchFamily="49" charset="0"/>
              </a:rPr>
              <a:t> : </a:t>
            </a:r>
            <a:r>
              <a:rPr lang="ko-KR" altLang="en-US" sz="1600" dirty="0" err="1">
                <a:latin typeface="Consolas" panose="020B0609020204030204" pitchFamily="49" charset="0"/>
              </a:rPr>
              <a:t>public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BLECharacteristicCallbacks</a:t>
            </a:r>
            <a:r>
              <a:rPr lang="ko-KR" altLang="en-US" sz="1600" dirty="0"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25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void </a:t>
            </a:r>
            <a:r>
              <a:rPr lang="ko-KR" altLang="en-US" sz="1600" dirty="0" err="1">
                <a:latin typeface="Consolas" panose="020B0609020204030204" pitchFamily="49" charset="0"/>
              </a:rPr>
              <a:t>onWrite</a:t>
            </a:r>
            <a:r>
              <a:rPr lang="ko-KR" altLang="en-US" sz="1600" dirty="0">
                <a:latin typeface="Consolas" panose="020B0609020204030204" pitchFamily="49" charset="0"/>
              </a:rPr>
              <a:t>(</a:t>
            </a:r>
            <a:r>
              <a:rPr lang="ko-KR" altLang="en-US" sz="1600" dirty="0" err="1">
                <a:latin typeface="Consolas" panose="020B0609020204030204" pitchFamily="49" charset="0"/>
              </a:rPr>
              <a:t>BLECharacteristic</a:t>
            </a:r>
            <a:r>
              <a:rPr lang="ko-KR" altLang="en-US" sz="1600" dirty="0">
                <a:latin typeface="Consolas" panose="020B0609020204030204" pitchFamily="49" charset="0"/>
              </a:rPr>
              <a:t> *</a:t>
            </a:r>
            <a:r>
              <a:rPr lang="ko-KR" altLang="en-US" sz="1600" dirty="0" err="1">
                <a:latin typeface="Consolas" panose="020B0609020204030204" pitchFamily="49" charset="0"/>
              </a:rPr>
              <a:t>pCharacteristic</a:t>
            </a:r>
            <a:r>
              <a:rPr lang="ko-KR" altLang="en-US" sz="1600" dirty="0"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25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</a:t>
            </a:r>
            <a:r>
              <a:rPr lang="ko-KR" altLang="en-US" sz="1600" dirty="0" err="1">
                <a:solidFill>
                  <a:srgbClr val="3A0DFB"/>
                </a:solidFill>
                <a:latin typeface="Consolas" panose="020B0609020204030204" pitchFamily="49" charset="0"/>
              </a:rPr>
              <a:t>String</a:t>
            </a:r>
            <a:r>
              <a:rPr lang="ko-KR" altLang="en-US" sz="1600" dirty="0">
                <a:solidFill>
                  <a:srgbClr val="3A0DFB"/>
                </a:solidFill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solidFill>
                  <a:srgbClr val="3A0DFB"/>
                </a:solidFill>
                <a:latin typeface="Consolas" panose="020B0609020204030204" pitchFamily="49" charset="0"/>
              </a:rPr>
              <a:t>received</a:t>
            </a:r>
            <a:r>
              <a:rPr lang="ko-KR" altLang="en-US" sz="1600" dirty="0">
                <a:solidFill>
                  <a:srgbClr val="3A0DFB"/>
                </a:solidFill>
                <a:latin typeface="Consolas" panose="020B0609020204030204" pitchFamily="49" charset="0"/>
              </a:rPr>
              <a:t> = </a:t>
            </a:r>
            <a:r>
              <a:rPr lang="ko-KR" altLang="en-US" sz="1600" dirty="0" err="1">
                <a:solidFill>
                  <a:srgbClr val="3A0DFB"/>
                </a:solidFill>
                <a:latin typeface="Consolas" panose="020B0609020204030204" pitchFamily="49" charset="0"/>
              </a:rPr>
              <a:t>String</a:t>
            </a:r>
            <a:r>
              <a:rPr lang="ko-KR" altLang="en-US" sz="1600" dirty="0">
                <a:solidFill>
                  <a:srgbClr val="3A0DFB"/>
                </a:solidFill>
                <a:latin typeface="Consolas" panose="020B0609020204030204" pitchFamily="49" charset="0"/>
              </a:rPr>
              <a:t>(</a:t>
            </a:r>
            <a:r>
              <a:rPr lang="ko-KR" altLang="en-US" sz="1600" dirty="0" err="1">
                <a:solidFill>
                  <a:srgbClr val="3A0DFB"/>
                </a:solidFill>
                <a:latin typeface="Consolas" panose="020B0609020204030204" pitchFamily="49" charset="0"/>
              </a:rPr>
              <a:t>pCharacteristic</a:t>
            </a:r>
            <a:r>
              <a:rPr lang="ko-KR" altLang="en-US" sz="1600" dirty="0">
                <a:solidFill>
                  <a:srgbClr val="3A0DFB"/>
                </a:solidFill>
                <a:latin typeface="Consolas" panose="020B0609020204030204" pitchFamily="49" charset="0"/>
              </a:rPr>
              <a:t>-&gt;</a:t>
            </a:r>
            <a:r>
              <a:rPr lang="ko-KR" altLang="en-US" sz="1600" dirty="0" err="1">
                <a:solidFill>
                  <a:srgbClr val="3A0DFB"/>
                </a:solidFill>
                <a:latin typeface="Consolas" panose="020B0609020204030204" pitchFamily="49" charset="0"/>
              </a:rPr>
              <a:t>getValue</a:t>
            </a:r>
            <a:r>
              <a:rPr lang="ko-KR" altLang="en-US" sz="1600" dirty="0">
                <a:solidFill>
                  <a:srgbClr val="3A0DFB"/>
                </a:solidFill>
                <a:latin typeface="Consolas" panose="020B0609020204030204" pitchFamily="49" charset="0"/>
              </a:rPr>
              <a:t>().</a:t>
            </a:r>
            <a:r>
              <a:rPr lang="ko-KR" altLang="en-US" sz="1600" dirty="0" err="1">
                <a:solidFill>
                  <a:srgbClr val="3A0DFB"/>
                </a:solidFill>
                <a:latin typeface="Consolas" panose="020B0609020204030204" pitchFamily="49" charset="0"/>
              </a:rPr>
              <a:t>c_str</a:t>
            </a:r>
            <a:r>
              <a:rPr lang="ko-KR" altLang="en-US" sz="1600" dirty="0">
                <a:solidFill>
                  <a:srgbClr val="3A0DFB"/>
                </a:solidFill>
                <a:latin typeface="Consolas" panose="020B0609020204030204" pitchFamily="49" charset="0"/>
              </a:rPr>
              <a:t>());    </a:t>
            </a:r>
            <a:r>
              <a:rPr lang="en-US" altLang="ko-KR" sz="1600" dirty="0">
                <a:solidFill>
                  <a:srgbClr val="3A0DFB"/>
                </a:solidFill>
                <a:latin typeface="Consolas" panose="020B0609020204030204" pitchFamily="49" charset="0"/>
              </a:rPr>
              <a:t>// smartphone</a:t>
            </a:r>
            <a:r>
              <a:rPr lang="ko-KR" altLang="en-US" sz="1600" dirty="0">
                <a:solidFill>
                  <a:srgbClr val="3A0DFB"/>
                </a:solidFill>
                <a:latin typeface="Consolas" panose="020B0609020204030204" pitchFamily="49" charset="0"/>
              </a:rPr>
              <a:t>에서 수신 데이터 저장</a:t>
            </a:r>
          </a:p>
          <a:p>
            <a:pPr>
              <a:lnSpc>
                <a:spcPts val="25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</a:t>
            </a:r>
            <a:r>
              <a:rPr lang="ko-KR" altLang="en-US" sz="1600" dirty="0" err="1">
                <a:latin typeface="Consolas" panose="020B0609020204030204" pitchFamily="49" charset="0"/>
              </a:rPr>
              <a:t>Serial.print</a:t>
            </a:r>
            <a:r>
              <a:rPr lang="ko-KR" altLang="en-US" sz="1600" dirty="0">
                <a:latin typeface="Consolas" panose="020B0609020204030204" pitchFamily="49" charset="0"/>
              </a:rPr>
              <a:t>("</a:t>
            </a:r>
            <a:r>
              <a:rPr lang="ko-KR" altLang="en-US" sz="1600" dirty="0" err="1">
                <a:latin typeface="Consolas" panose="020B0609020204030204" pitchFamily="49" charset="0"/>
              </a:rPr>
              <a:t>Received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data</a:t>
            </a:r>
            <a:r>
              <a:rPr lang="ko-KR" altLang="en-US" sz="1600" dirty="0">
                <a:latin typeface="Consolas" panose="020B0609020204030204" pitchFamily="49" charset="0"/>
              </a:rPr>
              <a:t> : ");</a:t>
            </a:r>
          </a:p>
          <a:p>
            <a:pPr>
              <a:lnSpc>
                <a:spcPts val="25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</a:t>
            </a:r>
            <a:r>
              <a:rPr lang="ko-KR" altLang="en-US" sz="1600" dirty="0" err="1">
                <a:latin typeface="Consolas" panose="020B0609020204030204" pitchFamily="49" charset="0"/>
              </a:rPr>
              <a:t>Serial.println</a:t>
            </a:r>
            <a:r>
              <a:rPr lang="ko-KR" altLang="en-US" sz="1600" dirty="0">
                <a:latin typeface="Consolas" panose="020B0609020204030204" pitchFamily="49" charset="0"/>
              </a:rPr>
              <a:t>(</a:t>
            </a:r>
            <a:r>
              <a:rPr lang="ko-KR" altLang="en-US" sz="1600" dirty="0" err="1">
                <a:latin typeface="Consolas" panose="020B0609020204030204" pitchFamily="49" charset="0"/>
              </a:rPr>
              <a:t>received</a:t>
            </a:r>
            <a:r>
              <a:rPr lang="ko-KR" altLang="en-US" sz="1600" dirty="0"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25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</a:t>
            </a:r>
            <a:r>
              <a:rPr lang="ko-KR" altLang="en-US" sz="1600" dirty="0" err="1">
                <a:latin typeface="Consolas" panose="020B0609020204030204" pitchFamily="49" charset="0"/>
              </a:rPr>
              <a:t>int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commaIndex</a:t>
            </a:r>
            <a:r>
              <a:rPr lang="ko-KR" altLang="en-US" sz="1600" dirty="0">
                <a:latin typeface="Consolas" panose="020B0609020204030204" pitchFamily="49" charset="0"/>
              </a:rPr>
              <a:t> = </a:t>
            </a:r>
            <a:r>
              <a:rPr lang="ko-KR" altLang="en-US" sz="1600" dirty="0" err="1">
                <a:latin typeface="Consolas" panose="020B0609020204030204" pitchFamily="49" charset="0"/>
              </a:rPr>
              <a:t>received.indexOf</a:t>
            </a:r>
            <a:r>
              <a:rPr lang="ko-KR" altLang="en-US" sz="1600" dirty="0">
                <a:latin typeface="Consolas" panose="020B0609020204030204" pitchFamily="49" charset="0"/>
              </a:rPr>
              <a:t>(',');</a:t>
            </a:r>
          </a:p>
          <a:p>
            <a:pPr>
              <a:lnSpc>
                <a:spcPts val="25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</a:t>
            </a:r>
            <a:r>
              <a:rPr lang="ko-KR" altLang="en-US" sz="1600" dirty="0" err="1">
                <a:latin typeface="Consolas" panose="020B0609020204030204" pitchFamily="49" charset="0"/>
              </a:rPr>
              <a:t>if</a:t>
            </a:r>
            <a:r>
              <a:rPr lang="ko-KR" altLang="en-US" sz="1600" dirty="0">
                <a:latin typeface="Consolas" panose="020B0609020204030204" pitchFamily="49" charset="0"/>
              </a:rPr>
              <a:t> (</a:t>
            </a:r>
            <a:r>
              <a:rPr lang="ko-KR" altLang="en-US" sz="1600" dirty="0" err="1">
                <a:latin typeface="Consolas" panose="020B0609020204030204" pitchFamily="49" charset="0"/>
              </a:rPr>
              <a:t>commaIndex</a:t>
            </a:r>
            <a:r>
              <a:rPr lang="ko-KR" altLang="en-US" sz="1600" dirty="0">
                <a:latin typeface="Consolas" panose="020B0609020204030204" pitchFamily="49" charset="0"/>
              </a:rPr>
              <a:t> != -1) {</a:t>
            </a:r>
          </a:p>
          <a:p>
            <a:pPr>
              <a:lnSpc>
                <a:spcPts val="25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  </a:t>
            </a:r>
            <a:r>
              <a:rPr lang="ko-KR" altLang="en-US" sz="1600" dirty="0" err="1">
                <a:latin typeface="Consolas" panose="020B0609020204030204" pitchFamily="49" charset="0"/>
              </a:rPr>
              <a:t>int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ledNumber</a:t>
            </a:r>
            <a:r>
              <a:rPr lang="ko-KR" altLang="en-US" sz="1600" dirty="0">
                <a:latin typeface="Consolas" panose="020B0609020204030204" pitchFamily="49" charset="0"/>
              </a:rPr>
              <a:t> = </a:t>
            </a:r>
            <a:r>
              <a:rPr lang="ko-KR" altLang="en-US" sz="1600" dirty="0" err="1">
                <a:latin typeface="Consolas" panose="020B0609020204030204" pitchFamily="49" charset="0"/>
              </a:rPr>
              <a:t>received.substring</a:t>
            </a:r>
            <a:r>
              <a:rPr lang="ko-KR" altLang="en-US" sz="1600" dirty="0">
                <a:latin typeface="Consolas" panose="020B0609020204030204" pitchFamily="49" charset="0"/>
              </a:rPr>
              <a:t>(0, </a:t>
            </a:r>
            <a:r>
              <a:rPr lang="ko-KR" altLang="en-US" sz="1600" dirty="0" err="1">
                <a:latin typeface="Consolas" panose="020B0609020204030204" pitchFamily="49" charset="0"/>
              </a:rPr>
              <a:t>commaIndex</a:t>
            </a:r>
            <a:r>
              <a:rPr lang="ko-KR" altLang="en-US" sz="1600" dirty="0">
                <a:latin typeface="Consolas" panose="020B0609020204030204" pitchFamily="49" charset="0"/>
              </a:rPr>
              <a:t>).</a:t>
            </a:r>
            <a:r>
              <a:rPr lang="ko-KR" altLang="en-US" sz="1600" dirty="0" err="1">
                <a:latin typeface="Consolas" panose="020B0609020204030204" pitchFamily="49" charset="0"/>
              </a:rPr>
              <a:t>toInt</a:t>
            </a:r>
            <a:r>
              <a:rPr lang="ko-KR" altLang="en-US" sz="1600" dirty="0"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25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  </a:t>
            </a:r>
            <a:r>
              <a:rPr lang="ko-KR" altLang="en-US" sz="1600" dirty="0" err="1">
                <a:latin typeface="Consolas" panose="020B0609020204030204" pitchFamily="49" charset="0"/>
              </a:rPr>
              <a:t>int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blinkCount</a:t>
            </a:r>
            <a:r>
              <a:rPr lang="ko-KR" altLang="en-US" sz="1600" dirty="0">
                <a:latin typeface="Consolas" panose="020B0609020204030204" pitchFamily="49" charset="0"/>
              </a:rPr>
              <a:t> = </a:t>
            </a:r>
            <a:r>
              <a:rPr lang="ko-KR" altLang="en-US" sz="1600" dirty="0" err="1">
                <a:latin typeface="Consolas" panose="020B0609020204030204" pitchFamily="49" charset="0"/>
              </a:rPr>
              <a:t>received.substring</a:t>
            </a:r>
            <a:r>
              <a:rPr lang="ko-KR" altLang="en-US" sz="1600" dirty="0">
                <a:latin typeface="Consolas" panose="020B0609020204030204" pitchFamily="49" charset="0"/>
              </a:rPr>
              <a:t>(</a:t>
            </a:r>
            <a:r>
              <a:rPr lang="ko-KR" altLang="en-US" sz="1600" dirty="0" err="1">
                <a:latin typeface="Consolas" panose="020B0609020204030204" pitchFamily="49" charset="0"/>
              </a:rPr>
              <a:t>commaIndex</a:t>
            </a:r>
            <a:r>
              <a:rPr lang="ko-KR" altLang="en-US" sz="1600" dirty="0">
                <a:latin typeface="Consolas" panose="020B0609020204030204" pitchFamily="49" charset="0"/>
              </a:rPr>
              <a:t> + 1).</a:t>
            </a:r>
            <a:r>
              <a:rPr lang="ko-KR" altLang="en-US" sz="1600" dirty="0" err="1">
                <a:latin typeface="Consolas" panose="020B0609020204030204" pitchFamily="49" charset="0"/>
              </a:rPr>
              <a:t>toInt</a:t>
            </a:r>
            <a:r>
              <a:rPr lang="ko-KR" altLang="en-US" sz="1600" dirty="0">
                <a:latin typeface="Consolas" panose="020B0609020204030204" pitchFamily="49" charset="0"/>
              </a:rPr>
              <a:t>();</a:t>
            </a:r>
          </a:p>
          <a:p>
            <a:pPr>
              <a:lnSpc>
                <a:spcPts val="25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  </a:t>
            </a:r>
            <a:r>
              <a:rPr lang="ko-KR" altLang="en-US" sz="1600" dirty="0" err="1">
                <a:latin typeface="Consolas" panose="020B0609020204030204" pitchFamily="49" charset="0"/>
              </a:rPr>
              <a:t>int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ledPin</a:t>
            </a:r>
            <a:r>
              <a:rPr lang="ko-KR" altLang="en-US" sz="1600" dirty="0"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25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  </a:t>
            </a:r>
            <a:r>
              <a:rPr lang="ko-KR" altLang="en-US" sz="1600" dirty="0" err="1">
                <a:latin typeface="Consolas" panose="020B0609020204030204" pitchFamily="49" charset="0"/>
              </a:rPr>
              <a:t>switch</a:t>
            </a:r>
            <a:r>
              <a:rPr lang="ko-KR" altLang="en-US" sz="1600" dirty="0">
                <a:latin typeface="Consolas" panose="020B0609020204030204" pitchFamily="49" charset="0"/>
              </a:rPr>
              <a:t> (</a:t>
            </a:r>
            <a:r>
              <a:rPr lang="ko-KR" altLang="en-US" sz="1600" dirty="0" err="1">
                <a:latin typeface="Consolas" panose="020B0609020204030204" pitchFamily="49" charset="0"/>
              </a:rPr>
              <a:t>ledNumber</a:t>
            </a:r>
            <a:r>
              <a:rPr lang="ko-KR" altLang="en-US" sz="1600" dirty="0">
                <a:latin typeface="Consolas" panose="020B0609020204030204" pitchFamily="49" charset="0"/>
              </a:rPr>
              <a:t>) {</a:t>
            </a:r>
          </a:p>
          <a:p>
            <a:pPr>
              <a:lnSpc>
                <a:spcPts val="25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    </a:t>
            </a:r>
            <a:r>
              <a:rPr lang="ko-KR" altLang="en-US" sz="1600" dirty="0" err="1">
                <a:latin typeface="Consolas" panose="020B0609020204030204" pitchFamily="49" charset="0"/>
              </a:rPr>
              <a:t>case</a:t>
            </a:r>
            <a:r>
              <a:rPr lang="ko-KR" altLang="en-US" sz="1600" dirty="0">
                <a:latin typeface="Consolas" panose="020B0609020204030204" pitchFamily="49" charset="0"/>
              </a:rPr>
              <a:t> 1: </a:t>
            </a:r>
            <a:r>
              <a:rPr lang="ko-KR" altLang="en-US" sz="1600" dirty="0" err="1">
                <a:latin typeface="Consolas" panose="020B0609020204030204" pitchFamily="49" charset="0"/>
              </a:rPr>
              <a:t>ledPin</a:t>
            </a:r>
            <a:r>
              <a:rPr lang="ko-KR" altLang="en-US" sz="1600" dirty="0">
                <a:latin typeface="Consolas" panose="020B0609020204030204" pitchFamily="49" charset="0"/>
              </a:rPr>
              <a:t> = LED1_PIN; </a:t>
            </a:r>
            <a:r>
              <a:rPr lang="ko-KR" altLang="en-US" sz="1600" dirty="0" err="1">
                <a:latin typeface="Consolas" panose="020B0609020204030204" pitchFamily="49" charset="0"/>
              </a:rPr>
              <a:t>break</a:t>
            </a:r>
            <a:r>
              <a:rPr lang="ko-KR" altLang="en-US" sz="1600" dirty="0"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25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    </a:t>
            </a:r>
            <a:r>
              <a:rPr lang="ko-KR" altLang="en-US" sz="1600" dirty="0" err="1">
                <a:latin typeface="Consolas" panose="020B0609020204030204" pitchFamily="49" charset="0"/>
              </a:rPr>
              <a:t>case</a:t>
            </a:r>
            <a:r>
              <a:rPr lang="ko-KR" altLang="en-US" sz="1600" dirty="0">
                <a:latin typeface="Consolas" panose="020B0609020204030204" pitchFamily="49" charset="0"/>
              </a:rPr>
              <a:t> 2: </a:t>
            </a:r>
            <a:r>
              <a:rPr lang="ko-KR" altLang="en-US" sz="1600" dirty="0" err="1">
                <a:latin typeface="Consolas" panose="020B0609020204030204" pitchFamily="49" charset="0"/>
              </a:rPr>
              <a:t>ledPin</a:t>
            </a:r>
            <a:r>
              <a:rPr lang="ko-KR" altLang="en-US" sz="1600" dirty="0">
                <a:latin typeface="Consolas" panose="020B0609020204030204" pitchFamily="49" charset="0"/>
              </a:rPr>
              <a:t> = LED2_PIN; </a:t>
            </a:r>
            <a:r>
              <a:rPr lang="ko-KR" altLang="en-US" sz="1600" dirty="0" err="1">
                <a:latin typeface="Consolas" panose="020B0609020204030204" pitchFamily="49" charset="0"/>
              </a:rPr>
              <a:t>break</a:t>
            </a:r>
            <a:r>
              <a:rPr lang="ko-KR" altLang="en-US" sz="1600" dirty="0"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25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    </a:t>
            </a:r>
            <a:r>
              <a:rPr lang="ko-KR" altLang="en-US" sz="1600" dirty="0" err="1">
                <a:latin typeface="Consolas" panose="020B0609020204030204" pitchFamily="49" charset="0"/>
              </a:rPr>
              <a:t>case</a:t>
            </a:r>
            <a:r>
              <a:rPr lang="ko-KR" altLang="en-US" sz="1600" dirty="0">
                <a:latin typeface="Consolas" panose="020B0609020204030204" pitchFamily="49" charset="0"/>
              </a:rPr>
              <a:t> 3: </a:t>
            </a:r>
            <a:r>
              <a:rPr lang="ko-KR" altLang="en-US" sz="1600" dirty="0" err="1">
                <a:latin typeface="Consolas" panose="020B0609020204030204" pitchFamily="49" charset="0"/>
              </a:rPr>
              <a:t>ledPin</a:t>
            </a:r>
            <a:r>
              <a:rPr lang="ko-KR" altLang="en-US" sz="1600" dirty="0">
                <a:latin typeface="Consolas" panose="020B0609020204030204" pitchFamily="49" charset="0"/>
              </a:rPr>
              <a:t> = LED3_PIN; </a:t>
            </a:r>
            <a:r>
              <a:rPr lang="ko-KR" altLang="en-US" sz="1600" dirty="0" err="1">
                <a:latin typeface="Consolas" panose="020B0609020204030204" pitchFamily="49" charset="0"/>
              </a:rPr>
              <a:t>break</a:t>
            </a:r>
            <a:r>
              <a:rPr lang="ko-KR" altLang="en-US" sz="1600" dirty="0"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25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    </a:t>
            </a:r>
            <a:r>
              <a:rPr lang="ko-KR" altLang="en-US" sz="1600" dirty="0" err="1">
                <a:latin typeface="Consolas" panose="020B0609020204030204" pitchFamily="49" charset="0"/>
              </a:rPr>
              <a:t>default</a:t>
            </a:r>
            <a:r>
              <a:rPr lang="ko-KR" altLang="en-US" sz="1600" dirty="0"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25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      </a:t>
            </a:r>
            <a:r>
              <a:rPr lang="ko-KR" altLang="en-US" sz="1600" dirty="0" err="1">
                <a:latin typeface="Consolas" panose="020B0609020204030204" pitchFamily="49" charset="0"/>
              </a:rPr>
              <a:t>Serial.println</a:t>
            </a:r>
            <a:r>
              <a:rPr lang="ko-KR" altLang="en-US" sz="1600" dirty="0">
                <a:latin typeface="Consolas" panose="020B0609020204030204" pitchFamily="49" charset="0"/>
              </a:rPr>
              <a:t>("</a:t>
            </a:r>
            <a:r>
              <a:rPr lang="ko-KR" altLang="en-US" sz="1600" dirty="0" err="1">
                <a:latin typeface="Consolas" panose="020B0609020204030204" pitchFamily="49" charset="0"/>
              </a:rPr>
              <a:t>Wrong</a:t>
            </a:r>
            <a:r>
              <a:rPr lang="ko-KR" altLang="en-US" sz="1600" dirty="0">
                <a:latin typeface="Consolas" panose="020B0609020204030204" pitchFamily="49" charset="0"/>
              </a:rPr>
              <a:t> LED </a:t>
            </a:r>
            <a:r>
              <a:rPr lang="ko-KR" altLang="en-US" sz="1600" dirty="0" err="1">
                <a:latin typeface="Consolas" panose="020B0609020204030204" pitchFamily="49" charset="0"/>
              </a:rPr>
              <a:t>Number</a:t>
            </a:r>
            <a:r>
              <a:rPr lang="ko-KR" altLang="en-US" sz="1600" dirty="0">
                <a:latin typeface="Consolas" panose="020B0609020204030204" pitchFamily="49" charset="0"/>
              </a:rPr>
              <a:t>.");</a:t>
            </a:r>
          </a:p>
          <a:p>
            <a:pPr>
              <a:lnSpc>
                <a:spcPts val="25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      </a:t>
            </a:r>
            <a:r>
              <a:rPr lang="ko-KR" altLang="en-US" sz="1600" dirty="0" err="1">
                <a:latin typeface="Consolas" panose="020B0609020204030204" pitchFamily="49" charset="0"/>
              </a:rPr>
              <a:t>return</a:t>
            </a:r>
            <a:r>
              <a:rPr lang="ko-KR" altLang="en-US" sz="1600" dirty="0">
                <a:latin typeface="Consolas" panose="020B0609020204030204" pitchFamily="49" charset="0"/>
              </a:rPr>
              <a:t>;</a:t>
            </a:r>
          </a:p>
          <a:p>
            <a:pPr>
              <a:lnSpc>
                <a:spcPts val="25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  }      </a:t>
            </a:r>
          </a:p>
        </p:txBody>
      </p:sp>
    </p:spTree>
    <p:extLst>
      <p:ext uri="{BB962C8B-B14F-4D97-AF65-F5344CB8AC3E}">
        <p14:creationId xmlns:p14="http://schemas.microsoft.com/office/powerpoint/2010/main" val="5149673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EC259-4C59-83EC-1DE6-CA370A05F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C664AF-7919-35D0-67FE-7C560004DF43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Code   3/4 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102F08-2EF6-B51B-6BA2-67D8ED284103}"/>
              </a:ext>
            </a:extLst>
          </p:cNvPr>
          <p:cNvSpPr txBox="1"/>
          <p:nvPr/>
        </p:nvSpPr>
        <p:spPr>
          <a:xfrm>
            <a:off x="157655" y="745153"/>
            <a:ext cx="10636469" cy="376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  </a:t>
            </a:r>
            <a:r>
              <a:rPr lang="ko-KR" altLang="en-US" sz="1600" dirty="0" err="1">
                <a:latin typeface="Consolas" panose="020B0609020204030204" pitchFamily="49" charset="0"/>
              </a:rPr>
              <a:t>Serial.printf</a:t>
            </a:r>
            <a:r>
              <a:rPr lang="ko-KR" altLang="en-US" sz="1600" dirty="0">
                <a:latin typeface="Consolas" panose="020B0609020204030204" pitchFamily="49" charset="0"/>
              </a:rPr>
              <a:t>("LED %</a:t>
            </a:r>
            <a:r>
              <a:rPr lang="ko-KR" altLang="en-US" sz="1600" dirty="0" err="1">
                <a:latin typeface="Consolas" panose="020B0609020204030204" pitchFamily="49" charset="0"/>
              </a:rPr>
              <a:t>d</a:t>
            </a:r>
            <a:r>
              <a:rPr lang="ko-KR" altLang="en-US" sz="1600" dirty="0">
                <a:latin typeface="Consolas" panose="020B0609020204030204" pitchFamily="49" charset="0"/>
              </a:rPr>
              <a:t> - %</a:t>
            </a:r>
            <a:r>
              <a:rPr lang="ko-KR" altLang="en-US" sz="1600" dirty="0" err="1">
                <a:latin typeface="Consolas" panose="020B0609020204030204" pitchFamily="49" charset="0"/>
              </a:rPr>
              <a:t>d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times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Blink</a:t>
            </a:r>
            <a:r>
              <a:rPr lang="ko-KR" altLang="en-US" sz="1600" dirty="0">
                <a:latin typeface="Consolas" panose="020B0609020204030204" pitchFamily="49" charset="0"/>
              </a:rPr>
              <a:t>.\</a:t>
            </a:r>
            <a:r>
              <a:rPr lang="ko-KR" altLang="en-US" sz="1600" dirty="0" err="1">
                <a:latin typeface="Consolas" panose="020B0609020204030204" pitchFamily="49" charset="0"/>
              </a:rPr>
              <a:t>n</a:t>
            </a:r>
            <a:r>
              <a:rPr lang="ko-KR" altLang="en-US" sz="1600" dirty="0">
                <a:latin typeface="Consolas" panose="020B0609020204030204" pitchFamily="49" charset="0"/>
              </a:rPr>
              <a:t>", </a:t>
            </a:r>
            <a:r>
              <a:rPr lang="ko-KR" altLang="en-US" sz="1600" dirty="0" err="1">
                <a:latin typeface="Consolas" panose="020B0609020204030204" pitchFamily="49" charset="0"/>
              </a:rPr>
              <a:t>ledNumber</a:t>
            </a:r>
            <a:r>
              <a:rPr lang="ko-KR" altLang="en-US" sz="1600" dirty="0">
                <a:latin typeface="Consolas" panose="020B0609020204030204" pitchFamily="49" charset="0"/>
              </a:rPr>
              <a:t>, </a:t>
            </a:r>
            <a:r>
              <a:rPr lang="ko-KR" altLang="en-US" sz="1600" dirty="0" err="1">
                <a:latin typeface="Consolas" panose="020B0609020204030204" pitchFamily="49" charset="0"/>
              </a:rPr>
              <a:t>blinkCount</a:t>
            </a:r>
            <a:r>
              <a:rPr lang="ko-KR" altLang="en-US" sz="1600" dirty="0"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  </a:t>
            </a:r>
            <a:r>
              <a:rPr lang="ko-KR" altLang="en-US" sz="1600" dirty="0" err="1">
                <a:latin typeface="Consolas" panose="020B0609020204030204" pitchFamily="49" charset="0"/>
              </a:rPr>
              <a:t>for</a:t>
            </a:r>
            <a:r>
              <a:rPr lang="ko-KR" altLang="en-US" sz="1600" dirty="0">
                <a:latin typeface="Consolas" panose="020B0609020204030204" pitchFamily="49" charset="0"/>
              </a:rPr>
              <a:t> (</a:t>
            </a:r>
            <a:r>
              <a:rPr lang="ko-KR" altLang="en-US" sz="1600" dirty="0" err="1">
                <a:latin typeface="Consolas" panose="020B0609020204030204" pitchFamily="49" charset="0"/>
              </a:rPr>
              <a:t>int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i</a:t>
            </a:r>
            <a:r>
              <a:rPr lang="ko-KR" altLang="en-US" sz="1600" dirty="0">
                <a:latin typeface="Consolas" panose="020B0609020204030204" pitchFamily="49" charset="0"/>
              </a:rPr>
              <a:t> = 0; </a:t>
            </a:r>
            <a:r>
              <a:rPr lang="ko-KR" altLang="en-US" sz="1600" dirty="0" err="1">
                <a:latin typeface="Consolas" panose="020B0609020204030204" pitchFamily="49" charset="0"/>
              </a:rPr>
              <a:t>i</a:t>
            </a:r>
            <a:r>
              <a:rPr lang="ko-KR" altLang="en-US" sz="1600" dirty="0">
                <a:latin typeface="Consolas" panose="020B0609020204030204" pitchFamily="49" charset="0"/>
              </a:rPr>
              <a:t> &lt; </a:t>
            </a:r>
            <a:r>
              <a:rPr lang="ko-KR" altLang="en-US" sz="1600" dirty="0" err="1">
                <a:latin typeface="Consolas" panose="020B0609020204030204" pitchFamily="49" charset="0"/>
              </a:rPr>
              <a:t>blinkCount</a:t>
            </a:r>
            <a:r>
              <a:rPr lang="ko-KR" altLang="en-US" sz="1600" dirty="0">
                <a:latin typeface="Consolas" panose="020B0609020204030204" pitchFamily="49" charset="0"/>
              </a:rPr>
              <a:t>; </a:t>
            </a:r>
            <a:r>
              <a:rPr lang="ko-KR" altLang="en-US" sz="1600" dirty="0" err="1">
                <a:latin typeface="Consolas" panose="020B0609020204030204" pitchFamily="49" charset="0"/>
              </a:rPr>
              <a:t>i</a:t>
            </a:r>
            <a:r>
              <a:rPr lang="ko-KR" altLang="en-US" sz="1600" dirty="0">
                <a:latin typeface="Consolas" panose="020B0609020204030204" pitchFamily="49" charset="0"/>
              </a:rPr>
              <a:t>++) {</a:t>
            </a: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    </a:t>
            </a:r>
            <a:r>
              <a:rPr lang="ko-KR" altLang="en-US" sz="1600" dirty="0" err="1">
                <a:latin typeface="Consolas" panose="020B0609020204030204" pitchFamily="49" charset="0"/>
              </a:rPr>
              <a:t>digitalWrite</a:t>
            </a:r>
            <a:r>
              <a:rPr lang="ko-KR" altLang="en-US" sz="1600" dirty="0">
                <a:latin typeface="Consolas" panose="020B0609020204030204" pitchFamily="49" charset="0"/>
              </a:rPr>
              <a:t>(</a:t>
            </a:r>
            <a:r>
              <a:rPr lang="ko-KR" altLang="en-US" sz="1600" dirty="0" err="1">
                <a:latin typeface="Consolas" panose="020B0609020204030204" pitchFamily="49" charset="0"/>
              </a:rPr>
              <a:t>ledPin</a:t>
            </a:r>
            <a:r>
              <a:rPr lang="ko-KR" altLang="en-US" sz="1600" dirty="0">
                <a:latin typeface="Consolas" panose="020B0609020204030204" pitchFamily="49" charset="0"/>
              </a:rPr>
              <a:t>, HIGH);</a:t>
            </a: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    </a:t>
            </a:r>
            <a:r>
              <a:rPr lang="ko-KR" altLang="en-US" sz="1600" dirty="0" err="1">
                <a:latin typeface="Consolas" panose="020B0609020204030204" pitchFamily="49" charset="0"/>
              </a:rPr>
              <a:t>delay</a:t>
            </a:r>
            <a:r>
              <a:rPr lang="ko-KR" altLang="en-US" sz="1600" dirty="0">
                <a:latin typeface="Consolas" panose="020B0609020204030204" pitchFamily="49" charset="0"/>
              </a:rPr>
              <a:t>(500);  // 0.5초 ON</a:t>
            </a: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    </a:t>
            </a:r>
            <a:r>
              <a:rPr lang="ko-KR" altLang="en-US" sz="1600" dirty="0" err="1">
                <a:latin typeface="Consolas" panose="020B0609020204030204" pitchFamily="49" charset="0"/>
              </a:rPr>
              <a:t>digitalWrite</a:t>
            </a:r>
            <a:r>
              <a:rPr lang="ko-KR" altLang="en-US" sz="1600" dirty="0">
                <a:latin typeface="Consolas" panose="020B0609020204030204" pitchFamily="49" charset="0"/>
              </a:rPr>
              <a:t>(</a:t>
            </a:r>
            <a:r>
              <a:rPr lang="ko-KR" altLang="en-US" sz="1600" dirty="0" err="1">
                <a:latin typeface="Consolas" panose="020B0609020204030204" pitchFamily="49" charset="0"/>
              </a:rPr>
              <a:t>ledPin</a:t>
            </a:r>
            <a:r>
              <a:rPr lang="ko-KR" altLang="en-US" sz="1600" dirty="0">
                <a:latin typeface="Consolas" panose="020B0609020204030204" pitchFamily="49" charset="0"/>
              </a:rPr>
              <a:t>, LOW);</a:t>
            </a: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    </a:t>
            </a:r>
            <a:r>
              <a:rPr lang="ko-KR" altLang="en-US" sz="1600" dirty="0" err="1">
                <a:latin typeface="Consolas" panose="020B0609020204030204" pitchFamily="49" charset="0"/>
              </a:rPr>
              <a:t>delay</a:t>
            </a:r>
            <a:r>
              <a:rPr lang="ko-KR" altLang="en-US" sz="1600" dirty="0">
                <a:latin typeface="Consolas" panose="020B0609020204030204" pitchFamily="49" charset="0"/>
              </a:rPr>
              <a:t>(500);  // 0.5초 OFF</a:t>
            </a: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  }</a:t>
            </a: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} </a:t>
            </a:r>
            <a:r>
              <a:rPr lang="ko-KR" altLang="en-US" sz="1600" dirty="0" err="1">
                <a:latin typeface="Consolas" panose="020B0609020204030204" pitchFamily="49" charset="0"/>
              </a:rPr>
              <a:t>else</a:t>
            </a:r>
            <a:r>
              <a:rPr lang="ko-KR" altLang="en-US" sz="1600" dirty="0">
                <a:latin typeface="Consolas" panose="020B0609020204030204" pitchFamily="49" charset="0"/>
              </a:rPr>
              <a:t> {</a:t>
            </a: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  </a:t>
            </a:r>
            <a:r>
              <a:rPr lang="ko-KR" altLang="en-US" sz="1600" dirty="0" err="1">
                <a:latin typeface="Consolas" panose="020B0609020204030204" pitchFamily="49" charset="0"/>
              </a:rPr>
              <a:t>Serial.println</a:t>
            </a:r>
            <a:r>
              <a:rPr lang="ko-KR" altLang="en-US" sz="1600" dirty="0">
                <a:latin typeface="Consolas" panose="020B0609020204030204" pitchFamily="49" charset="0"/>
              </a:rPr>
              <a:t>("</a:t>
            </a:r>
            <a:r>
              <a:rPr lang="ko-KR" altLang="en-US" sz="1600" dirty="0" err="1">
                <a:latin typeface="Consolas" panose="020B0609020204030204" pitchFamily="49" charset="0"/>
              </a:rPr>
              <a:t>Wrong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Command</a:t>
            </a:r>
            <a:r>
              <a:rPr lang="ko-KR" altLang="en-US" sz="1600" dirty="0">
                <a:latin typeface="Consolas" panose="020B0609020204030204" pitchFamily="49" charset="0"/>
              </a:rPr>
              <a:t>");</a:t>
            </a: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  }</a:t>
            </a: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  }</a:t>
            </a:r>
          </a:p>
          <a:p>
            <a:pPr>
              <a:lnSpc>
                <a:spcPts val="2400"/>
              </a:lnSpc>
            </a:pPr>
            <a:r>
              <a:rPr lang="ko-KR" altLang="en-US" sz="1600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5545094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F8CBD-0F29-1C3D-5129-37C2E3B95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2FB1273-AC0F-0629-D7F9-5239380F7AE9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Code   4/4 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5625AA-9220-B1CB-7E8C-0689D5C35814}"/>
              </a:ext>
            </a:extLst>
          </p:cNvPr>
          <p:cNvSpPr txBox="1"/>
          <p:nvPr/>
        </p:nvSpPr>
        <p:spPr>
          <a:xfrm>
            <a:off x="231228" y="761256"/>
            <a:ext cx="8426668" cy="6001643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Consolas" panose="020B0609020204030204" pitchFamily="49" charset="0"/>
              </a:rPr>
              <a:t>void </a:t>
            </a:r>
            <a:r>
              <a:rPr lang="ko-KR" altLang="en-US" sz="1600" dirty="0" err="1">
                <a:latin typeface="Consolas" panose="020B0609020204030204" pitchFamily="49" charset="0"/>
              </a:rPr>
              <a:t>setup</a:t>
            </a:r>
            <a:r>
              <a:rPr lang="ko-KR" altLang="en-US" sz="1600" dirty="0">
                <a:latin typeface="Consolas" panose="020B0609020204030204" pitchFamily="49" charset="0"/>
              </a:rPr>
              <a:t>() {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Serial.begin</a:t>
            </a:r>
            <a:r>
              <a:rPr lang="ko-KR" altLang="en-US" sz="1600" dirty="0">
                <a:latin typeface="Consolas" panose="020B0609020204030204" pitchFamily="49" charset="0"/>
              </a:rPr>
              <a:t>(115200);  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pinMode</a:t>
            </a:r>
            <a:r>
              <a:rPr lang="ko-KR" altLang="en-US" sz="1600" dirty="0">
                <a:latin typeface="Consolas" panose="020B0609020204030204" pitchFamily="49" charset="0"/>
              </a:rPr>
              <a:t>(LED1_PIN, OUTPUT);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pinMode</a:t>
            </a:r>
            <a:r>
              <a:rPr lang="ko-KR" altLang="en-US" sz="1600" dirty="0">
                <a:latin typeface="Consolas" panose="020B0609020204030204" pitchFamily="49" charset="0"/>
              </a:rPr>
              <a:t>(LED2_PIN, OUTPUT);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pinMode</a:t>
            </a:r>
            <a:r>
              <a:rPr lang="ko-KR" altLang="en-US" sz="1600" dirty="0">
                <a:latin typeface="Consolas" panose="020B0609020204030204" pitchFamily="49" charset="0"/>
              </a:rPr>
              <a:t>(LED3_PIN, OUTPUT);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BLEDevice</a:t>
            </a:r>
            <a:r>
              <a:rPr lang="ko-KR" altLang="en-US" sz="1600" dirty="0">
                <a:latin typeface="Consolas" panose="020B0609020204030204" pitchFamily="49" charset="0"/>
              </a:rPr>
              <a:t>::</a:t>
            </a:r>
            <a:r>
              <a:rPr lang="ko-KR" altLang="en-US" sz="1600" dirty="0" err="1">
                <a:latin typeface="Consolas" panose="020B0609020204030204" pitchFamily="49" charset="0"/>
              </a:rPr>
              <a:t>init</a:t>
            </a:r>
            <a:r>
              <a:rPr lang="ko-KR" altLang="en-US" sz="1600" dirty="0">
                <a:latin typeface="Consolas" panose="020B0609020204030204" pitchFamily="49" charset="0"/>
              </a:rPr>
              <a:t>("ESP32_LED_Controller");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BLEServer</a:t>
            </a:r>
            <a:r>
              <a:rPr lang="ko-KR" altLang="en-US" sz="1600" dirty="0">
                <a:latin typeface="Consolas" panose="020B0609020204030204" pitchFamily="49" charset="0"/>
              </a:rPr>
              <a:t> *</a:t>
            </a:r>
            <a:r>
              <a:rPr lang="ko-KR" altLang="en-US" sz="1600" dirty="0" err="1">
                <a:latin typeface="Consolas" panose="020B0609020204030204" pitchFamily="49" charset="0"/>
              </a:rPr>
              <a:t>pServer</a:t>
            </a:r>
            <a:r>
              <a:rPr lang="ko-KR" altLang="en-US" sz="1600" dirty="0">
                <a:latin typeface="Consolas" panose="020B0609020204030204" pitchFamily="49" charset="0"/>
              </a:rPr>
              <a:t> = </a:t>
            </a:r>
            <a:r>
              <a:rPr lang="ko-KR" altLang="en-US" sz="1600" dirty="0" err="1">
                <a:latin typeface="Consolas" panose="020B0609020204030204" pitchFamily="49" charset="0"/>
              </a:rPr>
              <a:t>BLEDevice</a:t>
            </a:r>
            <a:r>
              <a:rPr lang="ko-KR" altLang="en-US" sz="1600" dirty="0">
                <a:latin typeface="Consolas" panose="020B0609020204030204" pitchFamily="49" charset="0"/>
              </a:rPr>
              <a:t>::</a:t>
            </a:r>
            <a:r>
              <a:rPr lang="ko-KR" altLang="en-US" sz="1600" dirty="0" err="1">
                <a:latin typeface="Consolas" panose="020B0609020204030204" pitchFamily="49" charset="0"/>
              </a:rPr>
              <a:t>createServer</a:t>
            </a:r>
            <a:r>
              <a:rPr lang="ko-KR" altLang="en-US" sz="1600" dirty="0">
                <a:latin typeface="Consolas" panose="020B0609020204030204" pitchFamily="49" charset="0"/>
              </a:rPr>
              <a:t>();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pServer</a:t>
            </a:r>
            <a:r>
              <a:rPr lang="ko-KR" altLang="en-US" sz="1600" dirty="0">
                <a:latin typeface="Consolas" panose="020B0609020204030204" pitchFamily="49" charset="0"/>
              </a:rPr>
              <a:t>-&gt;</a:t>
            </a:r>
            <a:r>
              <a:rPr lang="ko-KR" altLang="en-US" sz="1600" dirty="0" err="1">
                <a:latin typeface="Consolas" panose="020B0609020204030204" pitchFamily="49" charset="0"/>
              </a:rPr>
              <a:t>setCallbacks</a:t>
            </a:r>
            <a:r>
              <a:rPr lang="ko-KR" altLang="en-US" sz="1600" dirty="0">
                <a:latin typeface="Consolas" panose="020B0609020204030204" pitchFamily="49" charset="0"/>
              </a:rPr>
              <a:t>(</a:t>
            </a:r>
            <a:r>
              <a:rPr lang="ko-KR" altLang="en-US" sz="1600" dirty="0" err="1">
                <a:latin typeface="Consolas" panose="020B0609020204030204" pitchFamily="49" charset="0"/>
              </a:rPr>
              <a:t>new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MyServerCallbacks</a:t>
            </a:r>
            <a:r>
              <a:rPr lang="ko-KR" altLang="en-US" sz="1600" dirty="0">
                <a:latin typeface="Consolas" panose="020B0609020204030204" pitchFamily="49" charset="0"/>
              </a:rPr>
              <a:t>());</a:t>
            </a:r>
          </a:p>
          <a:p>
            <a:endParaRPr lang="ko-KR" altLang="en-US" sz="1600" dirty="0">
              <a:latin typeface="Consolas" panose="020B0609020204030204" pitchFamily="49" charset="0"/>
            </a:endParaRP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BLEService</a:t>
            </a:r>
            <a:r>
              <a:rPr lang="ko-KR" altLang="en-US" sz="1600" dirty="0">
                <a:latin typeface="Consolas" panose="020B0609020204030204" pitchFamily="49" charset="0"/>
              </a:rPr>
              <a:t> *</a:t>
            </a:r>
            <a:r>
              <a:rPr lang="ko-KR" altLang="en-US" sz="1600" dirty="0" err="1">
                <a:latin typeface="Consolas" panose="020B0609020204030204" pitchFamily="49" charset="0"/>
              </a:rPr>
              <a:t>pService</a:t>
            </a:r>
            <a:r>
              <a:rPr lang="ko-KR" altLang="en-US" sz="1600" dirty="0">
                <a:latin typeface="Consolas" panose="020B0609020204030204" pitchFamily="49" charset="0"/>
              </a:rPr>
              <a:t> = </a:t>
            </a:r>
            <a:r>
              <a:rPr lang="ko-KR" altLang="en-US" sz="1600" dirty="0" err="1">
                <a:latin typeface="Consolas" panose="020B0609020204030204" pitchFamily="49" charset="0"/>
              </a:rPr>
              <a:t>pServer</a:t>
            </a:r>
            <a:r>
              <a:rPr lang="ko-KR" altLang="en-US" sz="1600" dirty="0">
                <a:latin typeface="Consolas" panose="020B0609020204030204" pitchFamily="49" charset="0"/>
              </a:rPr>
              <a:t>-&gt;</a:t>
            </a:r>
            <a:r>
              <a:rPr lang="ko-KR" altLang="en-US" sz="1600" dirty="0" err="1">
                <a:latin typeface="Consolas" panose="020B0609020204030204" pitchFamily="49" charset="0"/>
              </a:rPr>
              <a:t>createService</a:t>
            </a:r>
            <a:r>
              <a:rPr lang="ko-KR" altLang="en-US" sz="1600" dirty="0">
                <a:latin typeface="Consolas" panose="020B0609020204030204" pitchFamily="49" charset="0"/>
              </a:rPr>
              <a:t>(SERVICE_UUID);</a:t>
            </a:r>
          </a:p>
          <a:p>
            <a:endParaRPr lang="ko-KR" altLang="en-US" sz="1600" dirty="0">
              <a:latin typeface="Consolas" panose="020B0609020204030204" pitchFamily="49" charset="0"/>
            </a:endParaRP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pCharacteristic</a:t>
            </a:r>
            <a:r>
              <a:rPr lang="ko-KR" altLang="en-US" sz="1600" dirty="0">
                <a:latin typeface="Consolas" panose="020B0609020204030204" pitchFamily="49" charset="0"/>
              </a:rPr>
              <a:t> = </a:t>
            </a:r>
            <a:r>
              <a:rPr lang="ko-KR" altLang="en-US" sz="1600" dirty="0" err="1">
                <a:latin typeface="Consolas" panose="020B0609020204030204" pitchFamily="49" charset="0"/>
              </a:rPr>
              <a:t>pService</a:t>
            </a:r>
            <a:r>
              <a:rPr lang="ko-KR" altLang="en-US" sz="1600" dirty="0">
                <a:latin typeface="Consolas" panose="020B0609020204030204" pitchFamily="49" charset="0"/>
              </a:rPr>
              <a:t>-&gt;</a:t>
            </a:r>
            <a:r>
              <a:rPr lang="ko-KR" altLang="en-US" sz="1600" dirty="0" err="1">
                <a:latin typeface="Consolas" panose="020B0609020204030204" pitchFamily="49" charset="0"/>
              </a:rPr>
              <a:t>createCharacteristic</a:t>
            </a:r>
            <a:r>
              <a:rPr lang="ko-KR" altLang="en-US" sz="1600" dirty="0">
                <a:latin typeface="Consolas" panose="020B0609020204030204" pitchFamily="49" charset="0"/>
              </a:rPr>
              <a:t>(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                    CHARACTERISTIC_UUID,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                    </a:t>
            </a:r>
            <a:r>
              <a:rPr lang="ko-KR" altLang="en-US" sz="1600" dirty="0" err="1">
                <a:latin typeface="Consolas" panose="020B0609020204030204" pitchFamily="49" charset="0"/>
              </a:rPr>
              <a:t>BLECharacteristic</a:t>
            </a:r>
            <a:r>
              <a:rPr lang="ko-KR" altLang="en-US" sz="1600" dirty="0">
                <a:latin typeface="Consolas" panose="020B0609020204030204" pitchFamily="49" charset="0"/>
              </a:rPr>
              <a:t>::PROPERTY_WRITE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                  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pCharacteristic</a:t>
            </a:r>
            <a:r>
              <a:rPr lang="ko-KR" altLang="en-US" sz="1600" dirty="0">
                <a:latin typeface="Consolas" panose="020B0609020204030204" pitchFamily="49" charset="0"/>
              </a:rPr>
              <a:t>-&gt;</a:t>
            </a:r>
            <a:r>
              <a:rPr lang="ko-KR" altLang="en-US" sz="1600" dirty="0" err="1">
                <a:latin typeface="Consolas" panose="020B0609020204030204" pitchFamily="49" charset="0"/>
              </a:rPr>
              <a:t>setCallbacks</a:t>
            </a:r>
            <a:r>
              <a:rPr lang="ko-KR" altLang="en-US" sz="1600" dirty="0">
                <a:latin typeface="Consolas" panose="020B0609020204030204" pitchFamily="49" charset="0"/>
              </a:rPr>
              <a:t>(</a:t>
            </a:r>
            <a:r>
              <a:rPr lang="ko-KR" altLang="en-US" sz="1600" dirty="0" err="1">
                <a:latin typeface="Consolas" panose="020B0609020204030204" pitchFamily="49" charset="0"/>
              </a:rPr>
              <a:t>new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MyCallbacks</a:t>
            </a:r>
            <a:r>
              <a:rPr lang="ko-KR" altLang="en-US" sz="1600" dirty="0">
                <a:latin typeface="Consolas" panose="020B0609020204030204" pitchFamily="49" charset="0"/>
              </a:rPr>
              <a:t>());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pService</a:t>
            </a:r>
            <a:r>
              <a:rPr lang="ko-KR" altLang="en-US" sz="1600" dirty="0">
                <a:latin typeface="Consolas" panose="020B0609020204030204" pitchFamily="49" charset="0"/>
              </a:rPr>
              <a:t>-&gt;</a:t>
            </a:r>
            <a:r>
              <a:rPr lang="ko-KR" altLang="en-US" sz="1600" dirty="0" err="1">
                <a:latin typeface="Consolas" panose="020B0609020204030204" pitchFamily="49" charset="0"/>
              </a:rPr>
              <a:t>start</a:t>
            </a:r>
            <a:r>
              <a:rPr lang="ko-KR" altLang="en-US" sz="1600" dirty="0">
                <a:latin typeface="Consolas" panose="020B0609020204030204" pitchFamily="49" charset="0"/>
              </a:rPr>
              <a:t>();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BLEAdvertising</a:t>
            </a:r>
            <a:r>
              <a:rPr lang="ko-KR" altLang="en-US" sz="1600" dirty="0">
                <a:latin typeface="Consolas" panose="020B0609020204030204" pitchFamily="49" charset="0"/>
              </a:rPr>
              <a:t> *</a:t>
            </a:r>
            <a:r>
              <a:rPr lang="ko-KR" altLang="en-US" sz="1600" dirty="0" err="1">
                <a:latin typeface="Consolas" panose="020B0609020204030204" pitchFamily="49" charset="0"/>
              </a:rPr>
              <a:t>pAdvertising</a:t>
            </a:r>
            <a:r>
              <a:rPr lang="ko-KR" altLang="en-US" sz="1600" dirty="0">
                <a:latin typeface="Consolas" panose="020B0609020204030204" pitchFamily="49" charset="0"/>
              </a:rPr>
              <a:t> = </a:t>
            </a:r>
            <a:r>
              <a:rPr lang="ko-KR" altLang="en-US" sz="1600" dirty="0" err="1">
                <a:latin typeface="Consolas" panose="020B0609020204030204" pitchFamily="49" charset="0"/>
              </a:rPr>
              <a:t>pServer</a:t>
            </a:r>
            <a:r>
              <a:rPr lang="ko-KR" altLang="en-US" sz="1600" dirty="0">
                <a:latin typeface="Consolas" panose="020B0609020204030204" pitchFamily="49" charset="0"/>
              </a:rPr>
              <a:t>-&gt;</a:t>
            </a:r>
            <a:r>
              <a:rPr lang="ko-KR" altLang="en-US" sz="1600" dirty="0" err="1">
                <a:latin typeface="Consolas" panose="020B0609020204030204" pitchFamily="49" charset="0"/>
              </a:rPr>
              <a:t>getAdvertising</a:t>
            </a:r>
            <a:r>
              <a:rPr lang="ko-KR" altLang="en-US" sz="1600" dirty="0">
                <a:latin typeface="Consolas" panose="020B0609020204030204" pitchFamily="49" charset="0"/>
              </a:rPr>
              <a:t>();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pAdvertising</a:t>
            </a:r>
            <a:r>
              <a:rPr lang="ko-KR" altLang="en-US" sz="1600" dirty="0">
                <a:latin typeface="Consolas" panose="020B0609020204030204" pitchFamily="49" charset="0"/>
              </a:rPr>
              <a:t>-&gt;</a:t>
            </a:r>
            <a:r>
              <a:rPr lang="ko-KR" altLang="en-US" sz="1600" dirty="0" err="1">
                <a:latin typeface="Consolas" panose="020B0609020204030204" pitchFamily="49" charset="0"/>
              </a:rPr>
              <a:t>start</a:t>
            </a:r>
            <a:r>
              <a:rPr lang="ko-KR" altLang="en-US" sz="1600" dirty="0">
                <a:latin typeface="Consolas" panose="020B0609020204030204" pitchFamily="49" charset="0"/>
              </a:rPr>
              <a:t>();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</a:t>
            </a:r>
            <a:r>
              <a:rPr lang="ko-KR" altLang="en-US" sz="1600" dirty="0" err="1">
                <a:latin typeface="Consolas" panose="020B0609020204030204" pitchFamily="49" charset="0"/>
              </a:rPr>
              <a:t>Serial.println</a:t>
            </a:r>
            <a:r>
              <a:rPr lang="ko-KR" altLang="en-US" sz="1600" dirty="0">
                <a:latin typeface="Consolas" panose="020B0609020204030204" pitchFamily="49" charset="0"/>
              </a:rPr>
              <a:t>("</a:t>
            </a:r>
            <a:r>
              <a:rPr lang="ko-KR" altLang="en-US" sz="1600" dirty="0" err="1">
                <a:latin typeface="Consolas" panose="020B0609020204030204" pitchFamily="49" charset="0"/>
              </a:rPr>
              <a:t>Ready</a:t>
            </a:r>
            <a:r>
              <a:rPr lang="ko-KR" altLang="en-US" sz="1600" dirty="0">
                <a:latin typeface="Consolas" panose="020B0609020204030204" pitchFamily="49" charset="0"/>
              </a:rPr>
              <a:t> BLE. </a:t>
            </a:r>
            <a:r>
              <a:rPr lang="ko-KR" altLang="en-US" sz="1600" dirty="0" err="1">
                <a:latin typeface="Consolas" panose="020B0609020204030204" pitchFamily="49" charset="0"/>
              </a:rPr>
              <a:t>Connect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Smartphone</a:t>
            </a:r>
            <a:r>
              <a:rPr lang="ko-KR" altLang="en-US" sz="1600" dirty="0">
                <a:latin typeface="Consolas" panose="020B0609020204030204" pitchFamily="49" charset="0"/>
              </a:rPr>
              <a:t> ");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}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void </a:t>
            </a:r>
            <a:r>
              <a:rPr lang="ko-KR" altLang="en-US" sz="1600" dirty="0" err="1">
                <a:latin typeface="Consolas" panose="020B0609020204030204" pitchFamily="49" charset="0"/>
              </a:rPr>
              <a:t>loop</a:t>
            </a:r>
            <a:r>
              <a:rPr lang="ko-KR" altLang="en-US" sz="1600" dirty="0">
                <a:latin typeface="Consolas" panose="020B0609020204030204" pitchFamily="49" charset="0"/>
              </a:rPr>
              <a:t>() {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  // </a:t>
            </a:r>
            <a:r>
              <a:rPr lang="ko-KR" altLang="en-US" sz="1600" dirty="0" err="1">
                <a:latin typeface="Consolas" panose="020B0609020204030204" pitchFamily="49" charset="0"/>
              </a:rPr>
              <a:t>BLE는</a:t>
            </a:r>
            <a:r>
              <a:rPr lang="ko-KR" altLang="en-US" sz="1600" dirty="0">
                <a:latin typeface="Consolas" panose="020B0609020204030204" pitchFamily="49" charset="0"/>
              </a:rPr>
              <a:t> </a:t>
            </a:r>
            <a:r>
              <a:rPr lang="ko-KR" altLang="en-US" sz="1600" dirty="0" err="1">
                <a:latin typeface="Consolas" panose="020B0609020204030204" pitchFamily="49" charset="0"/>
              </a:rPr>
              <a:t>콜백</a:t>
            </a:r>
            <a:r>
              <a:rPr lang="ko-KR" altLang="en-US" sz="1600" dirty="0">
                <a:latin typeface="Consolas" panose="020B0609020204030204" pitchFamily="49" charset="0"/>
              </a:rPr>
              <a:t> 기반이므로 </a:t>
            </a:r>
            <a:r>
              <a:rPr lang="ko-KR" altLang="en-US" sz="1600" dirty="0" err="1">
                <a:latin typeface="Consolas" panose="020B0609020204030204" pitchFamily="49" charset="0"/>
              </a:rPr>
              <a:t>loop에</a:t>
            </a:r>
            <a:r>
              <a:rPr lang="ko-KR" altLang="en-US" sz="1600" dirty="0">
                <a:latin typeface="Consolas" panose="020B0609020204030204" pitchFamily="49" charset="0"/>
              </a:rPr>
              <a:t> 할 일 없음</a:t>
            </a:r>
          </a:p>
          <a:p>
            <a:r>
              <a:rPr lang="ko-KR" altLang="en-US" sz="1600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559457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6C140-6B22-270D-1A16-C00804F2E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952D666-0E82-A274-D2DA-3FCD3828E3A0}"/>
              </a:ext>
            </a:extLst>
          </p:cNvPr>
          <p:cNvSpPr/>
          <p:nvPr/>
        </p:nvSpPr>
        <p:spPr>
          <a:xfrm>
            <a:off x="0" y="0"/>
            <a:ext cx="12192000" cy="65649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280988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bg1">
                    <a:lumMod val="95000"/>
                  </a:schemeClr>
                </a:solidFill>
                <a:latin typeface="+mn-ea"/>
              </a:rPr>
              <a:t>TEST</a:t>
            </a:r>
            <a:endParaRPr lang="ko-KR" altLang="en-US" sz="2000" b="1" dirty="0">
              <a:solidFill>
                <a:schemeClr val="bg1">
                  <a:lumMod val="95000"/>
                </a:schemeClr>
              </a:solidFill>
              <a:latin typeface="+mn-ea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0054120-4695-08A8-380C-33983FB07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3539"/>
            <a:ext cx="2900855" cy="260068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C5DA174-1524-5C87-CE35-5B800619D2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6975" y="993539"/>
            <a:ext cx="2995451" cy="334374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10FD2B0-14A0-BDCF-8631-3F69EAF755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4032" y="993539"/>
            <a:ext cx="2995451" cy="291505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3DB00B6-EDAF-C703-082F-7CA7EEDBCB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4717" y="1022118"/>
            <a:ext cx="2651412" cy="2572109"/>
          </a:xfrm>
          <a:prstGeom prst="rect">
            <a:avLst/>
          </a:prstGeom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B5B8D1E7-1E53-CB42-F072-AD12EC43628D}"/>
              </a:ext>
            </a:extLst>
          </p:cNvPr>
          <p:cNvSpPr/>
          <p:nvPr/>
        </p:nvSpPr>
        <p:spPr>
          <a:xfrm>
            <a:off x="2007475" y="2293883"/>
            <a:ext cx="914400" cy="396765"/>
          </a:xfrm>
          <a:prstGeom prst="roundRect">
            <a:avLst/>
          </a:prstGeom>
          <a:noFill/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57139FC-A044-287E-C208-524E849467B6}"/>
              </a:ext>
            </a:extLst>
          </p:cNvPr>
          <p:cNvSpPr/>
          <p:nvPr/>
        </p:nvSpPr>
        <p:spPr>
          <a:xfrm>
            <a:off x="5638800" y="3710213"/>
            <a:ext cx="399169" cy="315249"/>
          </a:xfrm>
          <a:prstGeom prst="roundRect">
            <a:avLst/>
          </a:prstGeom>
          <a:noFill/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D96129F-2F21-3F3D-33DE-5C06E72822FD}"/>
              </a:ext>
            </a:extLst>
          </p:cNvPr>
          <p:cNvSpPr/>
          <p:nvPr/>
        </p:nvSpPr>
        <p:spPr>
          <a:xfrm>
            <a:off x="7725103" y="1159938"/>
            <a:ext cx="462231" cy="315249"/>
          </a:xfrm>
          <a:prstGeom prst="roundRect">
            <a:avLst/>
          </a:prstGeom>
          <a:noFill/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282388C-AAAF-A09B-F77A-AA537423802B}"/>
              </a:ext>
            </a:extLst>
          </p:cNvPr>
          <p:cNvSpPr/>
          <p:nvPr/>
        </p:nvSpPr>
        <p:spPr>
          <a:xfrm>
            <a:off x="7725103" y="2375399"/>
            <a:ext cx="924911" cy="315249"/>
          </a:xfrm>
          <a:prstGeom prst="roundRect">
            <a:avLst/>
          </a:prstGeom>
          <a:noFill/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12CE50F0-7114-6F25-07D2-DBC91CA1FF82}"/>
              </a:ext>
            </a:extLst>
          </p:cNvPr>
          <p:cNvSpPr/>
          <p:nvPr/>
        </p:nvSpPr>
        <p:spPr>
          <a:xfrm>
            <a:off x="9443544" y="1159938"/>
            <a:ext cx="1150884" cy="700393"/>
          </a:xfrm>
          <a:prstGeom prst="roundRect">
            <a:avLst/>
          </a:prstGeom>
          <a:noFill/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F15509E0-4C09-EF16-ECCD-B1A31D097B9C}"/>
              </a:ext>
            </a:extLst>
          </p:cNvPr>
          <p:cNvSpPr/>
          <p:nvPr/>
        </p:nvSpPr>
        <p:spPr>
          <a:xfrm>
            <a:off x="11540359" y="3208204"/>
            <a:ext cx="475770" cy="386024"/>
          </a:xfrm>
          <a:prstGeom prst="roundRect">
            <a:avLst/>
          </a:prstGeom>
          <a:noFill/>
          <a:ln w="254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41501D9-5FED-00DC-002F-895F0DD104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23" y="3710213"/>
            <a:ext cx="2437901" cy="3161007"/>
          </a:xfrm>
          <a:prstGeom prst="rect">
            <a:avLst/>
          </a:prstGeom>
          <a:ln>
            <a:solidFill>
              <a:schemeClr val="accent3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95011700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AD433-9283-1236-90A5-826BCCC1F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46CFBD-6C96-1174-B454-3A37593A3A21}"/>
              </a:ext>
            </a:extLst>
          </p:cNvPr>
          <p:cNvSpPr txBox="1"/>
          <p:nvPr/>
        </p:nvSpPr>
        <p:spPr>
          <a:xfrm>
            <a:off x="5833242" y="2900855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The end.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80008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8066</TotalTime>
  <Words>3758</Words>
  <Application>Microsoft Office PowerPoint</Application>
  <PresentationFormat>와이드스크린</PresentationFormat>
  <Paragraphs>500</Paragraphs>
  <Slides>49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49</vt:i4>
      </vt:variant>
    </vt:vector>
  </HeadingPairs>
  <TitlesOfParts>
    <vt:vector size="56" baseType="lpstr">
      <vt:lpstr>inherit</vt:lpstr>
      <vt:lpstr>Monaco</vt:lpstr>
      <vt:lpstr>맑은 고딕</vt:lpstr>
      <vt:lpstr>Arial</vt:lpstr>
      <vt:lpstr>Consolas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Dev DW</dc:creator>
  <cp:lastModifiedBy>Dev DW</cp:lastModifiedBy>
  <cp:revision>393</cp:revision>
  <dcterms:created xsi:type="dcterms:W3CDTF">2024-12-18T06:51:20Z</dcterms:created>
  <dcterms:modified xsi:type="dcterms:W3CDTF">2025-04-06T03:06:48Z</dcterms:modified>
</cp:coreProperties>
</file>