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8" r:id="rId2"/>
    <p:sldId id="344" r:id="rId3"/>
    <p:sldId id="564" r:id="rId4"/>
    <p:sldId id="566" r:id="rId5"/>
    <p:sldId id="565" r:id="rId6"/>
    <p:sldId id="568" r:id="rId7"/>
    <p:sldId id="569" r:id="rId8"/>
    <p:sldId id="570" r:id="rId9"/>
    <p:sldId id="567" r:id="rId10"/>
    <p:sldId id="571" r:id="rId11"/>
    <p:sldId id="577" r:id="rId12"/>
    <p:sldId id="578" r:id="rId13"/>
    <p:sldId id="579" r:id="rId14"/>
    <p:sldId id="580" r:id="rId15"/>
    <p:sldId id="581" r:id="rId16"/>
    <p:sldId id="572" r:id="rId17"/>
    <p:sldId id="582" r:id="rId18"/>
    <p:sldId id="583" r:id="rId19"/>
    <p:sldId id="585" r:id="rId20"/>
    <p:sldId id="586" r:id="rId21"/>
    <p:sldId id="587" r:id="rId22"/>
    <p:sldId id="589" r:id="rId23"/>
    <p:sldId id="588" r:id="rId24"/>
    <p:sldId id="584" r:id="rId25"/>
    <p:sldId id="590" r:id="rId26"/>
    <p:sldId id="591" r:id="rId27"/>
    <p:sldId id="592" r:id="rId28"/>
    <p:sldId id="593" r:id="rId29"/>
    <p:sldId id="594" r:id="rId30"/>
    <p:sldId id="595" r:id="rId31"/>
    <p:sldId id="596" r:id="rId32"/>
    <p:sldId id="597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0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0BBC-979E-471E-A1A1-27BB3B2B1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11BD0C-CEE3-4F16-9393-5EB19C700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C10BE-36DB-4B79-B2F3-DDEC4255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EE978-F50B-483A-BD2E-1F8D3226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02128A-4D1C-456E-9028-28D00E68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56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5884F-480F-45AA-B717-D19A889F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754FB-5281-4518-9646-7F9CB4CDB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50E18D-4286-4592-9CB0-CAA53C55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AE6D5-3274-4060-ACFD-07CD513B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24092A-6AF6-46DE-8E8D-F9F222B6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67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26A4A-C8DE-4495-B8A0-31C6F3F6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E7C5D1-631A-4CA7-9C89-F8DC10C97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2E6E9-2499-4872-B0DF-0B593305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52AD36-B78C-45DE-8DB1-8163BECB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254DE-E73E-45F3-A3FD-B6D65205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4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E008E-7AD0-446C-873C-1AAEBE5C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618E4-B189-4AD2-82AE-3BE9507E2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0B3DAA-040C-4B1A-AA84-80312A7C1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DB932-1E2A-4AA9-82C9-BB0D32BD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02CDE8-6C21-4256-9212-B72958E6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C2EF9E-904F-41BF-BD6E-FA467461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9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D6907-1A75-42C6-808C-A09CFB4C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D835F7-1436-49AD-ADF6-C33D7D6F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024AC-D4E1-43A5-8F4C-7879EED03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50D2A6-6991-49A9-8A6C-28936827F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2FE32F-CFA1-4EC4-8F6B-8F4AD5F15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932738-C1DC-4C0B-9B7D-91666FD0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379B8F-6168-47DA-8C09-86AD7AD4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BA300F-6336-43A9-B927-1D45939B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96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D97F7-111C-46C6-8598-678B7A72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E122AE-F433-4957-A694-15C3CAAA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1AA457-3E32-431C-AD47-F5B86828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194D9D-9B48-44DE-9315-FEDD6D51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15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7DE037-4C50-4BDA-BED0-97EE2F8B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B656E6-CD1B-4B9C-B7F6-3EBD4EAC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D7158-85B0-4EB6-9E13-8D2B51A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0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21832-3D79-4224-8915-9F507220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1BD56-C28D-4D22-B695-BA7F3FBB3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0C6591-78F9-46A0-8867-DFF5AE12F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3280B8-AE34-4BFE-AC31-F09E55CE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5F0564-791A-4929-8BDC-298AF11C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B6DF46-5927-4FC7-AFA8-5283D4CA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22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A3010-A35B-4388-AC1A-E14D6C3A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014A5A-4950-47C6-B890-C7E38E17F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C20E9A-7E65-4956-8721-879C6B2C1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04BF14-8C7A-4C28-9699-5FB3A628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261DE6-201A-4893-A9AC-68CE4302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2E2CD8-F2E2-4A48-BB11-37A59E5B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52729-3BBB-44BA-9A3D-2303BF8D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AF2B26-C83A-4FE2-BD1B-92BA051E4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B85EF1-940E-4A2C-9FB7-CFAA48B0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5EB6D-0024-48B0-A54D-0A6AFBDD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319E6-8BDC-4222-9EAD-D2164A1C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95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754F94-5E0F-44E3-9E1E-28AD8D23D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1D9C8D-FA20-40D8-B906-0C5AF08DC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3232C-CAAC-480C-9B9D-52A40BB9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941F2-2A72-4791-9D8C-634E8850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61ED03-AA66-44CD-BC70-90462607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20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6EA67C-AA85-4004-8588-A069AE47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9C7961-BAA4-4C7B-8A05-C9831226E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9D6EFE-2EF9-41BA-A6A9-C209CB7B7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81FE8-8EA8-4097-862E-517AC42F5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34120-198A-4D1E-BAC5-E8E7F7DDE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31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andomnerdtutorials.com/esp32-dht11-dht22-temperature-humidity-sensor-arduino-id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eartcom/ESP3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andomnerdtutorials.com/esp32-dht11-dht22-temperature-humidity-sensor-arduino-ide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andomnerdtutorials.com/esp32-dht11-dht22-temperature-humidity-sensor-arduino-ide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randomnerdtutorials.com/esp32-dht11-dht22-temperature-humidity-sensor-arduino-ide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randomnerdtutorials.com/esp32-dht11-dht22-temperature-humidity-web-server-arduino-id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fruit/DHT-sensor-library" TargetMode="External"/><Relationship Id="rId2" Type="http://schemas.openxmlformats.org/officeDocument/2006/relationships/hyperlink" Target="https://github.com/adafruit/Adafruit_Sensor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me-no-dev/arduino-esp32fs-plugin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ED5E2A-8136-41C9-8A55-05B9F6ECA984}"/>
              </a:ext>
            </a:extLst>
          </p:cNvPr>
          <p:cNvSpPr/>
          <p:nvPr/>
        </p:nvSpPr>
        <p:spPr>
          <a:xfrm>
            <a:off x="0" y="0"/>
            <a:ext cx="12192000" cy="289249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4400" b="1" dirty="0">
                <a:solidFill>
                  <a:schemeClr val="bg1"/>
                </a:solidFill>
              </a:rPr>
              <a:t>ESP32 with DHT11/DHT22 Temperature</a:t>
            </a:r>
          </a:p>
          <a:p>
            <a:pPr marL="179387" algn="ctr"/>
            <a:r>
              <a:rPr lang="en-US" altLang="ko-KR" sz="4400" b="1" dirty="0">
                <a:solidFill>
                  <a:schemeClr val="bg1"/>
                </a:solidFill>
              </a:rPr>
              <a:t>and Humidity Sensor using Arduino IDE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441B0B-B06C-48F9-BD39-386BEE6D1DDA}"/>
              </a:ext>
            </a:extLst>
          </p:cNvPr>
          <p:cNvSpPr/>
          <p:nvPr/>
        </p:nvSpPr>
        <p:spPr>
          <a:xfrm>
            <a:off x="188342" y="3106860"/>
            <a:ext cx="363220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ESP32</a:t>
            </a:r>
            <a:r>
              <a:rPr lang="ko-KR" altLang="en-US" b="1" dirty="0">
                <a:solidFill>
                  <a:schemeClr val="bg1"/>
                </a:solidFill>
              </a:rPr>
              <a:t>와 </a:t>
            </a:r>
            <a:r>
              <a:rPr lang="en-US" altLang="ko-KR" b="1" dirty="0">
                <a:solidFill>
                  <a:schemeClr val="bg1"/>
                </a:solidFill>
              </a:rPr>
              <a:t>DHT11 </a:t>
            </a:r>
            <a:r>
              <a:rPr lang="ko-KR" altLang="en-US" b="1" dirty="0">
                <a:solidFill>
                  <a:schemeClr val="bg1"/>
                </a:solidFill>
              </a:rPr>
              <a:t>온</a:t>
            </a:r>
            <a:r>
              <a:rPr lang="en-US" altLang="ko-KR" b="1" dirty="0">
                <a:solidFill>
                  <a:schemeClr val="bg1"/>
                </a:solidFill>
              </a:rPr>
              <a:t>/</a:t>
            </a:r>
            <a:r>
              <a:rPr lang="ko-KR" altLang="en-US" b="1" dirty="0">
                <a:solidFill>
                  <a:schemeClr val="bg1"/>
                </a:solidFill>
              </a:rPr>
              <a:t>습도 센서</a:t>
            </a:r>
            <a:endParaRPr lang="en-US" altLang="ko-KR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b="1">
                <a:solidFill>
                  <a:schemeClr val="bg1"/>
                </a:solidFill>
              </a:rPr>
              <a:t>인터페이스 코드 설계 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8AE148A-7317-45D5-E8E6-44DB6342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883" y="2860053"/>
            <a:ext cx="8183117" cy="40010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5D2067-E8C8-9B49-209F-08806E400E28}"/>
              </a:ext>
            </a:extLst>
          </p:cNvPr>
          <p:cNvSpPr txBox="1"/>
          <p:nvPr/>
        </p:nvSpPr>
        <p:spPr>
          <a:xfrm>
            <a:off x="635000" y="2430482"/>
            <a:ext cx="1075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https://randomnerdtutorials.com/esp32-dht11-dht22-temperature-humidity-sensor-arduino-ide/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0B6E6-ABAE-3C59-B476-17D141FFD436}"/>
              </a:ext>
            </a:extLst>
          </p:cNvPr>
          <p:cNvSpPr txBox="1"/>
          <p:nvPr/>
        </p:nvSpPr>
        <p:spPr>
          <a:xfrm>
            <a:off x="71845" y="6467371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hlinkClick r:id="rId4"/>
              </a:rPr>
              <a:t>https://github.com/heartcom/ESP32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0458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EAEB089-6F4E-42FE-B1BB-18291F9E1DD6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DHT11 Vs. DHT22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60108A-86EE-F921-6BD3-6BBF2AECF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278" y="814022"/>
            <a:ext cx="7649643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4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E5E58-71E7-00E5-BAA3-36BCF18A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9EBFFC-C075-7CE4-D4E4-9F4C1D6B84AF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Schematic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3F8421-6E3E-48B3-339B-3786C8E2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25" y="880668"/>
            <a:ext cx="4648849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7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5CC8B-0B97-3C4F-B74B-25B03C5EA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4D9E3F-AAE1-A80F-E8C9-4DFC08CD11E4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Installing Libraries </a:t>
            </a:r>
            <a:r>
              <a:rPr lang="en-US" altLang="ko-KR" b="1" dirty="0">
                <a:solidFill>
                  <a:schemeClr val="tx1"/>
                </a:solidFill>
                <a:sym typeface="Wingdings" panose="05000000000000000000" pitchFamily="2" charset="2"/>
              </a:rPr>
              <a:t> Adafruit library </a:t>
            </a:r>
            <a:r>
              <a:rPr lang="ko-KR" alt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사용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25151B-B5D5-A8C0-1F8D-46F60B120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68" y="999796"/>
            <a:ext cx="7440063" cy="47060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C739EC4-113A-CBF8-9B1C-A88D6E3CEDEE}"/>
              </a:ext>
            </a:extLst>
          </p:cNvPr>
          <p:cNvSpPr/>
          <p:nvPr/>
        </p:nvSpPr>
        <p:spPr>
          <a:xfrm>
            <a:off x="3467100" y="5362575"/>
            <a:ext cx="847725" cy="40005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1910205-EB5B-47F3-055C-C6C77471CA1E}"/>
              </a:ext>
            </a:extLst>
          </p:cNvPr>
          <p:cNvSpPr/>
          <p:nvPr/>
        </p:nvSpPr>
        <p:spPr>
          <a:xfrm>
            <a:off x="3114675" y="1200150"/>
            <a:ext cx="447675" cy="32385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98C0DA4-FF0F-CBF3-E684-44CEE9C9EE44}"/>
              </a:ext>
            </a:extLst>
          </p:cNvPr>
          <p:cNvSpPr/>
          <p:nvPr/>
        </p:nvSpPr>
        <p:spPr>
          <a:xfrm>
            <a:off x="442393" y="2819400"/>
            <a:ext cx="1253057" cy="3810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30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38528-B5A0-AB48-D436-3D6D4D9E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CF9A4F3-C017-9CDD-C0C5-FC09DE564512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Code  1/2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0F576-E331-C229-2AAC-1BC7EAA013E9}"/>
              </a:ext>
            </a:extLst>
          </p:cNvPr>
          <p:cNvSpPr txBox="1"/>
          <p:nvPr/>
        </p:nvSpPr>
        <p:spPr>
          <a:xfrm>
            <a:off x="3888581" y="80242"/>
            <a:ext cx="6100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hlinkClick r:id="rId2"/>
              </a:rPr>
              <a:t>ESP32 with DHT11/DHT22 Temperature and Humidity Sensor using Arduino IDE | Random Nerd Tutorials</a:t>
            </a:r>
            <a:endParaRPr lang="ko-KR" altLang="en-US" sz="16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16C448-23AC-B94A-A099-1014BA165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745259"/>
            <a:ext cx="8236229" cy="5693866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DHT.h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DHTPIN 4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Digital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Feather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HUZZAH ESP8266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3, 4, 5, 12, 13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14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–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15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must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disconnected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during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upload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Uncomment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whatever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you're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3A0DFB"/>
                </a:solidFill>
                <a:effectLst/>
                <a:latin typeface="Consolas" panose="020B0609020204030204" pitchFamily="49" charset="0"/>
              </a:rPr>
              <a:t>#define DHTTYPE DHT11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DHT 11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//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#define DHTTYPE DHT22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DHT 22 (AM2302), AM2321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//#define DHTTYPE DHT21 // DHT 21 (AM2301)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1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 of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+5V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NOTE: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3.3V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logic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Arduino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3.3V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instead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of 5V!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2 of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whatever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DHTPIN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4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 of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GROUND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10K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resistor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2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1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power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 of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Initialize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older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versions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library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took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tweak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timings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faster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processors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longer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needed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algorithm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adjusts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itself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faster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procs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DHTPIN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DHTTYPE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DHTxx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0975" marR="0" lvl="0" indent="-95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26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BFFB-8B89-34EA-7484-5DCA084C8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4B0846-D61F-50B0-CACD-B9C243AEC878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Code   2/2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FFB2F-95D4-7344-CF7C-7E420E40BD2F}"/>
              </a:ext>
            </a:extLst>
          </p:cNvPr>
          <p:cNvSpPr txBox="1"/>
          <p:nvPr/>
        </p:nvSpPr>
        <p:spPr>
          <a:xfrm>
            <a:off x="3888581" y="80242"/>
            <a:ext cx="6100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hlinkClick r:id="rId2"/>
              </a:rPr>
              <a:t>ESP32 with DHT11/DHT22 Temperature and Humidity Sensor using Arduino IDE | Random Nerd Tutorials</a:t>
            </a:r>
            <a:endParaRPr lang="ko-KR" altLang="en-US" sz="1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3BFD45E-A098-DABA-A3D3-0D98CD193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66137"/>
            <a:ext cx="10021974" cy="5334602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measurements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takes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about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250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milliseconds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readings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also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2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very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readHumidity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readTemperature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isFahrenheit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readTemperature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failed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early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again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Failed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Compute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heat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computeHeatIndex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Compute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heat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isFahreheit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computeHeatIndex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"°C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"°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Heat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"°C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"°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7675" marR="0" lvl="0" indent="-26670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22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0BA8-2423-1486-F933-887F25BB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3DE9F4-012A-5EAD-0C4C-A9E60C52BD10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46468F-32CD-24C8-CBCE-C6EE6DDF032F}"/>
              </a:ext>
            </a:extLst>
          </p:cNvPr>
          <p:cNvSpPr txBox="1"/>
          <p:nvPr/>
        </p:nvSpPr>
        <p:spPr>
          <a:xfrm>
            <a:off x="3888581" y="80242"/>
            <a:ext cx="6100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hlinkClick r:id="rId2"/>
              </a:rPr>
              <a:t>ESP32 with DHT11/DHT22 Temperature and Humidity Sensor using Arduino IDE | Random Nerd Tutorials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6E7673-80D0-3A6F-7F7F-50C0DF377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10" y="922108"/>
            <a:ext cx="8481274" cy="42467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012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D2ED4-9F75-6C48-3236-CAC8FD10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5A20B7D-4BE6-B065-0BCA-4179B2CD08D1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예제 코드의 문제점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2EE915-A19D-1A70-A3D6-69AF2F235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95" y="892672"/>
            <a:ext cx="9981254" cy="14060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3459F39-CEE4-ECA4-7929-B695FA549435}"/>
              </a:ext>
            </a:extLst>
          </p:cNvPr>
          <p:cNvCxnSpPr>
            <a:cxnSpLocks/>
          </p:cNvCxnSpPr>
          <p:nvPr/>
        </p:nvCxnSpPr>
        <p:spPr>
          <a:xfrm flipH="1">
            <a:off x="1553951" y="1080409"/>
            <a:ext cx="889000" cy="57867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937B8D3-BD5A-6A1E-745C-46320F094CAF}"/>
              </a:ext>
            </a:extLst>
          </p:cNvPr>
          <p:cNvSpPr txBox="1"/>
          <p:nvPr/>
        </p:nvSpPr>
        <p:spPr>
          <a:xfrm>
            <a:off x="212295" y="2596239"/>
            <a:ext cx="8869736" cy="2306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DHT11</a:t>
            </a:r>
            <a:r>
              <a:rPr lang="ko-KR" altLang="en-US" dirty="0"/>
              <a:t>의 저급한 성능 때문에 무조건 </a:t>
            </a:r>
            <a:r>
              <a:rPr lang="en-US" altLang="ko-KR" dirty="0"/>
              <a:t>2</a:t>
            </a:r>
            <a:r>
              <a:rPr lang="ko-KR" altLang="en-US" dirty="0"/>
              <a:t>초를 기다려야 한다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이것 때문에 다른 일을 전혀 하지 못하게 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 문제를 해결하기 위하여 별도의 </a:t>
            </a:r>
            <a:r>
              <a:rPr lang="en-US" altLang="ko-KR" dirty="0"/>
              <a:t>Timer</a:t>
            </a:r>
            <a:r>
              <a:rPr lang="ko-KR" altLang="en-US" dirty="0"/>
              <a:t>를 사용하여 센서 값을 읽어 올 수 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</a:t>
            </a:r>
            <a:r>
              <a:rPr lang="en-US" altLang="ko-KR" dirty="0"/>
              <a:t>, OS</a:t>
            </a:r>
            <a:r>
              <a:rPr lang="ko-KR" altLang="en-US" dirty="0"/>
              <a:t>가 있다면 </a:t>
            </a:r>
            <a:r>
              <a:rPr lang="en-US" altLang="ko-KR" dirty="0"/>
              <a:t>thread</a:t>
            </a:r>
            <a:r>
              <a:rPr lang="ko-KR" altLang="en-US" dirty="0"/>
              <a:t>를 돌릴 수 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568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C074-9192-501F-5EDD-952656AD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56E66C-9727-25E7-6559-FC1CB09C3D25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Install Library for </a:t>
            </a:r>
            <a:r>
              <a:rPr lang="en-US" altLang="ko-KR" b="1" dirty="0" err="1">
                <a:solidFill>
                  <a:schemeClr val="tx1"/>
                </a:solidFill>
              </a:rPr>
              <a:t>ESPx</a:t>
            </a:r>
            <a:r>
              <a:rPr lang="en-US" altLang="ko-KR" b="1" dirty="0">
                <a:solidFill>
                  <a:schemeClr val="tx1"/>
                </a:solidFill>
              </a:rPr>
              <a:t>  </a:t>
            </a:r>
            <a:r>
              <a:rPr lang="en-US" altLang="ko-KR" b="1" dirty="0">
                <a:solidFill>
                  <a:schemeClr val="tx1"/>
                </a:solidFill>
                <a:sym typeface="Wingdings" panose="05000000000000000000" pitchFamily="2" charset="2"/>
              </a:rPr>
              <a:t> DHT SENSOR library for </a:t>
            </a:r>
            <a:r>
              <a:rPr lang="en-US" altLang="ko-KR" b="1" dirty="0" err="1">
                <a:solidFill>
                  <a:schemeClr val="tx1"/>
                </a:solidFill>
                <a:sym typeface="Wingdings" panose="05000000000000000000" pitchFamily="2" charset="2"/>
              </a:rPr>
              <a:t>ESPx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B5AB98-D280-2CFA-56F6-42768E55B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73" y="912518"/>
            <a:ext cx="8540517" cy="47770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D8A54B2-1B2F-42D1-1E82-974CAE5BDBE3}"/>
              </a:ext>
            </a:extLst>
          </p:cNvPr>
          <p:cNvSpPr/>
          <p:nvPr/>
        </p:nvSpPr>
        <p:spPr>
          <a:xfrm>
            <a:off x="685273" y="1701800"/>
            <a:ext cx="2591327" cy="5969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582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0FC0A-5B81-BF2F-4DD6-0E76F941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F9A0E9-B3B4-FE36-DA90-592C8DD25F12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Code      1/6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AC379-BDE6-09D0-C489-7784B232CAF7}"/>
              </a:ext>
            </a:extLst>
          </p:cNvPr>
          <p:cNvSpPr txBox="1"/>
          <p:nvPr/>
        </p:nvSpPr>
        <p:spPr>
          <a:xfrm>
            <a:off x="88900" y="711200"/>
            <a:ext cx="12039600" cy="61247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#include "</a:t>
            </a:r>
            <a:r>
              <a:rPr lang="en-US" altLang="ko-KR" dirty="0" err="1">
                <a:latin typeface="Consolas" panose="020B0609020204030204" pitchFamily="49" charset="0"/>
              </a:rPr>
              <a:t>DHTesp.h</a:t>
            </a:r>
            <a:r>
              <a:rPr lang="en-US" altLang="ko-KR" dirty="0">
                <a:latin typeface="Consolas" panose="020B0609020204030204" pitchFamily="49" charset="0"/>
              </a:rPr>
              <a:t>" // Click here to get the library: http://librarymanager/All#DHTesp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#include &lt;</a:t>
            </a:r>
            <a:r>
              <a:rPr lang="en-US" altLang="ko-KR" dirty="0" err="1">
                <a:latin typeface="Consolas" panose="020B0609020204030204" pitchFamily="49" charset="0"/>
              </a:rPr>
              <a:t>Ticker.h</a:t>
            </a:r>
            <a:r>
              <a:rPr lang="en-US" altLang="ko-KR" dirty="0">
                <a:latin typeface="Consolas" panose="020B0609020204030204" pitchFamily="49" charset="0"/>
              </a:rPr>
              <a:t>&gt;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#ifndef ESP32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#pragma message(THIS EXAMPLE IS FOR ESP32 ONLY!)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#error Select ESP32 board.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#endif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/**************************************************************/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/* Example how to read DHT sensors from an ESP32 using multi- */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/* tasking.                                                   */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/* This example depends on the Ticker library to wake up      */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/* the task every 20 seconds                                  */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/**************************************************************/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 err="1">
                <a:latin typeface="Consolas" panose="020B0609020204030204" pitchFamily="49" charset="0"/>
              </a:rPr>
              <a:t>DHTesp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dht</a:t>
            </a:r>
            <a:r>
              <a:rPr lang="en-US" altLang="ko-KR" dirty="0">
                <a:latin typeface="Consolas" panose="020B0609020204030204" pitchFamily="49" charset="0"/>
              </a:rPr>
              <a:t>;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void </a:t>
            </a:r>
            <a:r>
              <a:rPr lang="en-US" altLang="ko-KR" dirty="0" err="1">
                <a:latin typeface="Consolas" panose="020B0609020204030204" pitchFamily="49" charset="0"/>
              </a:rPr>
              <a:t>tempTask</a:t>
            </a:r>
            <a:r>
              <a:rPr lang="en-US" altLang="ko-KR" dirty="0">
                <a:latin typeface="Consolas" panose="020B0609020204030204" pitchFamily="49" charset="0"/>
              </a:rPr>
              <a:t>(void *</a:t>
            </a:r>
            <a:r>
              <a:rPr lang="en-US" altLang="ko-KR" dirty="0" err="1">
                <a:latin typeface="Consolas" panose="020B0609020204030204" pitchFamily="49" charset="0"/>
              </a:rPr>
              <a:t>pvParameters</a:t>
            </a:r>
            <a:r>
              <a:rPr lang="en-US" altLang="ko-KR" sz="1400" dirty="0">
                <a:latin typeface="Consolas" panose="020B0609020204030204" pitchFamily="49" charset="0"/>
              </a:rPr>
              <a:t>);  </a:t>
            </a:r>
            <a:r>
              <a:rPr lang="en-US" altLang="ko-KR" sz="1400" dirty="0">
                <a:solidFill>
                  <a:srgbClr val="3A0DFB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400" dirty="0" err="1">
                <a:solidFill>
                  <a:srgbClr val="3A0DFB"/>
                </a:solidFill>
                <a:latin typeface="Consolas" panose="020B0609020204030204" pitchFamily="49" charset="0"/>
              </a:rPr>
              <a:t>pvParameters</a:t>
            </a:r>
            <a:r>
              <a:rPr lang="en-US" altLang="ko-KR" sz="1400" dirty="0">
                <a:solidFill>
                  <a:srgbClr val="3A0DF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3A0DFB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pointer to void </a:t>
            </a:r>
            <a:r>
              <a:rPr lang="ko-KR" altLang="en-US" sz="1400" dirty="0">
                <a:solidFill>
                  <a:srgbClr val="3A0DFB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포인터가 가리키는 대상이 정해지지 않은 포인터</a:t>
            </a:r>
            <a:endParaRPr lang="en-US" altLang="ko-KR" dirty="0">
              <a:solidFill>
                <a:srgbClr val="3A0DF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bool </a:t>
            </a:r>
            <a:r>
              <a:rPr lang="en-US" altLang="ko-KR" dirty="0" err="1">
                <a:latin typeface="Consolas" panose="020B0609020204030204" pitchFamily="49" charset="0"/>
              </a:rPr>
              <a:t>getTemperature</a:t>
            </a:r>
            <a:r>
              <a:rPr lang="en-US" altLang="ko-KR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void </a:t>
            </a:r>
            <a:r>
              <a:rPr lang="en-US" altLang="ko-KR" dirty="0" err="1">
                <a:latin typeface="Consolas" panose="020B0609020204030204" pitchFamily="49" charset="0"/>
              </a:rPr>
              <a:t>triggerGetTemp</a:t>
            </a:r>
            <a:r>
              <a:rPr lang="en-US" altLang="ko-KR" dirty="0">
                <a:latin typeface="Consolas" panose="020B0609020204030204" pitchFamily="49" charset="0"/>
              </a:rPr>
              <a:t>();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157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E3026-02AE-8418-80DD-E1EA3D8F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72B7CA2-16E4-6996-ECBA-8B9CD20F7ED4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Code      2/6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08479-5A33-3C7F-90C3-547BD676DB9E}"/>
              </a:ext>
            </a:extLst>
          </p:cNvPr>
          <p:cNvSpPr txBox="1"/>
          <p:nvPr/>
        </p:nvSpPr>
        <p:spPr>
          <a:xfrm>
            <a:off x="88900" y="711200"/>
            <a:ext cx="12039600" cy="35276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/** Task handle for the light value read task */</a:t>
            </a:r>
          </a:p>
          <a:p>
            <a:pPr>
              <a:lnSpc>
                <a:spcPts val="2700"/>
              </a:lnSpc>
            </a:pPr>
            <a:r>
              <a:rPr lang="en-US" altLang="ko-KR" dirty="0" err="1">
                <a:latin typeface="Consolas" panose="020B0609020204030204" pitchFamily="49" charset="0"/>
              </a:rPr>
              <a:t>TaskHandle_t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tempTaskHandle</a:t>
            </a:r>
            <a:r>
              <a:rPr lang="en-US" altLang="ko-KR" dirty="0">
                <a:latin typeface="Consolas" panose="020B0609020204030204" pitchFamily="49" charset="0"/>
              </a:rPr>
              <a:t> = NULL;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/** Ticker for temperature reading */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latin typeface="Consolas" panose="020B0609020204030204" pitchFamily="49" charset="0"/>
              </a:rPr>
              <a:t>Ticker </a:t>
            </a:r>
            <a:r>
              <a:rPr lang="en-US" altLang="ko-KR" dirty="0" err="1">
                <a:latin typeface="Consolas" panose="020B0609020204030204" pitchFamily="49" charset="0"/>
              </a:rPr>
              <a:t>tempTicker</a:t>
            </a:r>
            <a:r>
              <a:rPr lang="en-US" altLang="ko-KR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/** Comfort profile */</a:t>
            </a:r>
          </a:p>
          <a:p>
            <a:pPr>
              <a:lnSpc>
                <a:spcPts val="2700"/>
              </a:lnSpc>
            </a:pPr>
            <a:r>
              <a:rPr lang="en-US" altLang="ko-KR" dirty="0" err="1">
                <a:latin typeface="Consolas" panose="020B0609020204030204" pitchFamily="49" charset="0"/>
              </a:rPr>
              <a:t>ComfortState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cf</a:t>
            </a:r>
            <a:r>
              <a:rPr lang="en-US" altLang="ko-KR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/** Flag if task should run */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latin typeface="Consolas" panose="020B0609020204030204" pitchFamily="49" charset="0"/>
              </a:rPr>
              <a:t>bool </a:t>
            </a:r>
            <a:r>
              <a:rPr lang="en-US" altLang="ko-KR" dirty="0" err="1">
                <a:latin typeface="Consolas" panose="020B0609020204030204" pitchFamily="49" charset="0"/>
              </a:rPr>
              <a:t>tasksEnabled</a:t>
            </a:r>
            <a:r>
              <a:rPr lang="en-US" altLang="ko-KR" dirty="0">
                <a:latin typeface="Consolas" panose="020B0609020204030204" pitchFamily="49" charset="0"/>
              </a:rPr>
              <a:t> = false;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/** Pin number for DHT11 data pin */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latin typeface="Consolas" panose="020B0609020204030204" pitchFamily="49" charset="0"/>
              </a:rPr>
              <a:t>int </a:t>
            </a:r>
            <a:r>
              <a:rPr lang="en-US" altLang="ko-KR" dirty="0" err="1">
                <a:latin typeface="Consolas" panose="020B0609020204030204" pitchFamily="49" charset="0"/>
              </a:rPr>
              <a:t>dhtPin</a:t>
            </a:r>
            <a:r>
              <a:rPr lang="en-US" altLang="ko-KR" dirty="0">
                <a:latin typeface="Consolas" panose="020B0609020204030204" pitchFamily="49" charset="0"/>
              </a:rPr>
              <a:t> = 17;</a:t>
            </a:r>
          </a:p>
        </p:txBody>
      </p:sp>
    </p:spTree>
    <p:extLst>
      <p:ext uri="{BB962C8B-B14F-4D97-AF65-F5344CB8AC3E}">
        <p14:creationId xmlns:p14="http://schemas.microsoft.com/office/powerpoint/2010/main" val="1837268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54F7-8078-6394-880D-8F695FE1F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7818D7-8550-1124-C5A4-5DBF1D65F9D8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Code      3/6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7DD5E-70CE-3262-8C6A-0697BC65C68D}"/>
              </a:ext>
            </a:extLst>
          </p:cNvPr>
          <p:cNvSpPr txBox="1"/>
          <p:nvPr/>
        </p:nvSpPr>
        <p:spPr>
          <a:xfrm>
            <a:off x="63500" y="604748"/>
            <a:ext cx="12039600" cy="62299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/*** </a:t>
            </a:r>
            <a:r>
              <a:rPr lang="en-US" altLang="ko-KR" sz="12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initTemp</a:t>
            </a:r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, Setup DHT library,  Setup task and timer for repeated measurement</a:t>
            </a:r>
          </a:p>
          <a:p>
            <a:pPr>
              <a:lnSpc>
                <a:spcPts val="2000"/>
              </a:lnSpc>
            </a:pPr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* @return bool </a:t>
            </a:r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true if task and timer are started, false if task or timer couldn't be started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bool </a:t>
            </a:r>
            <a:r>
              <a:rPr lang="en-US" altLang="ko-KR" sz="1400" dirty="0" err="1">
                <a:latin typeface="Consolas" panose="020B0609020204030204" pitchFamily="49" charset="0"/>
              </a:rPr>
              <a:t>initTemp</a:t>
            </a:r>
            <a:r>
              <a:rPr lang="en-US" altLang="ko-KR" sz="1400" dirty="0"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byte </a:t>
            </a:r>
            <a:r>
              <a:rPr lang="en-US" altLang="ko-KR" sz="1400" dirty="0" err="1">
                <a:latin typeface="Consolas" panose="020B0609020204030204" pitchFamily="49" charset="0"/>
              </a:rPr>
              <a:t>resultValue</a:t>
            </a:r>
            <a:r>
              <a:rPr lang="en-US" altLang="ko-KR" sz="1400" dirty="0">
                <a:latin typeface="Consolas" panose="020B0609020204030204" pitchFamily="49" charset="0"/>
              </a:rPr>
              <a:t> = 0;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</a:t>
            </a:r>
            <a:r>
              <a:rPr lang="en-US" altLang="ko-KR" sz="1400" dirty="0" err="1">
                <a:latin typeface="Consolas" panose="020B0609020204030204" pitchFamily="49" charset="0"/>
              </a:rPr>
              <a:t>dht.setup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Consolas" panose="020B0609020204030204" pitchFamily="49" charset="0"/>
              </a:rPr>
              <a:t>dhtPin</a:t>
            </a:r>
            <a:r>
              <a:rPr lang="en-US" altLang="ko-KR" sz="1400" dirty="0">
                <a:latin typeface="Consolas" panose="020B0609020204030204" pitchFamily="49" charset="0"/>
              </a:rPr>
              <a:t>, </a:t>
            </a:r>
            <a:r>
              <a:rPr lang="en-US" altLang="ko-KR" sz="1400" dirty="0" err="1">
                <a:latin typeface="Consolas" panose="020B0609020204030204" pitchFamily="49" charset="0"/>
              </a:rPr>
              <a:t>DHTesp</a:t>
            </a:r>
            <a:r>
              <a:rPr lang="en-US" altLang="ko-KR" sz="1400" dirty="0">
                <a:latin typeface="Consolas" panose="020B0609020204030204" pitchFamily="49" charset="0"/>
              </a:rPr>
              <a:t>::DHT11);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</a:t>
            </a:r>
            <a:r>
              <a:rPr lang="en-US" altLang="ko-KR" sz="14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400" dirty="0">
                <a:latin typeface="Consolas" panose="020B0609020204030204" pitchFamily="49" charset="0"/>
              </a:rPr>
              <a:t>("DHT initiated");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// Start task to get temperature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</a:t>
            </a:r>
            <a:r>
              <a:rPr lang="en-US" altLang="ko-KR" sz="1400" dirty="0" err="1">
                <a:latin typeface="Consolas" panose="020B0609020204030204" pitchFamily="49" charset="0"/>
              </a:rPr>
              <a:t>xTaskCreatePinnedToCore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	</a:t>
            </a:r>
            <a:r>
              <a:rPr lang="en-US" altLang="ko-KR" sz="1400" dirty="0" err="1">
                <a:latin typeface="Consolas" panose="020B0609020204030204" pitchFamily="49" charset="0"/>
              </a:rPr>
              <a:t>tempTask</a:t>
            </a:r>
            <a:r>
              <a:rPr lang="en-US" altLang="ko-KR" sz="1400" dirty="0">
                <a:latin typeface="Consolas" panose="020B0609020204030204" pitchFamily="49" charset="0"/>
              </a:rPr>
              <a:t>,                       /* Function to implement the task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	"</a:t>
            </a:r>
            <a:r>
              <a:rPr lang="en-US" altLang="ko-KR" sz="1400" dirty="0" err="1">
                <a:latin typeface="Consolas" panose="020B0609020204030204" pitchFamily="49" charset="0"/>
              </a:rPr>
              <a:t>tempTask</a:t>
            </a:r>
            <a:r>
              <a:rPr lang="en-US" altLang="ko-KR" sz="1400" dirty="0">
                <a:latin typeface="Consolas" panose="020B0609020204030204" pitchFamily="49" charset="0"/>
              </a:rPr>
              <a:t> ",                    /* Name of the task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	4000,                           /* Stack size in words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	NULL,                           /* Task input parameter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	5,                              /* Priority of the task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	&amp;</a:t>
            </a:r>
            <a:r>
              <a:rPr lang="en-US" altLang="ko-KR" sz="1400" dirty="0" err="1">
                <a:latin typeface="Consolas" panose="020B0609020204030204" pitchFamily="49" charset="0"/>
              </a:rPr>
              <a:t>tempTaskHandle</a:t>
            </a:r>
            <a:r>
              <a:rPr lang="en-US" altLang="ko-KR" sz="1400" dirty="0">
                <a:latin typeface="Consolas" panose="020B0609020204030204" pitchFamily="49" charset="0"/>
              </a:rPr>
              <a:t>,                /* Task handle.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	1);                             /* Core where the task should run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if (</a:t>
            </a:r>
            <a:r>
              <a:rPr lang="en-US" altLang="ko-KR" sz="1400" dirty="0" err="1">
                <a:latin typeface="Consolas" panose="020B0609020204030204" pitchFamily="49" charset="0"/>
              </a:rPr>
              <a:t>tempTaskHandle</a:t>
            </a:r>
            <a:r>
              <a:rPr lang="en-US" altLang="ko-KR" sz="1400" dirty="0">
                <a:latin typeface="Consolas" panose="020B0609020204030204" pitchFamily="49" charset="0"/>
              </a:rPr>
              <a:t> == NULL)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</a:t>
            </a:r>
            <a:r>
              <a:rPr lang="en-US" altLang="ko-KR" sz="14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400" dirty="0">
                <a:latin typeface="Consolas" panose="020B0609020204030204" pitchFamily="49" charset="0"/>
              </a:rPr>
              <a:t>("Failed to start task for temperature update");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return false;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} else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// Start update of environment data every 20 seconds 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20</a:t>
            </a:r>
            <a:r>
              <a:rPr lang="ko-KR" altLang="en-US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초마다 </a:t>
            </a:r>
            <a:r>
              <a:rPr lang="en-US" altLang="ko-KR" sz="14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triggerGetTemp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() </a:t>
            </a:r>
            <a:r>
              <a:rPr lang="ko-KR" altLang="en-US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함수 실행</a:t>
            </a:r>
            <a:endParaRPr lang="en-US" altLang="ko-KR" sz="1400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</a:t>
            </a:r>
            <a:r>
              <a:rPr lang="en-US" altLang="ko-KR" sz="1400" dirty="0" err="1">
                <a:latin typeface="Consolas" panose="020B0609020204030204" pitchFamily="49" charset="0"/>
              </a:rPr>
              <a:t>tempTicker.attach</a:t>
            </a:r>
            <a:r>
              <a:rPr lang="en-US" altLang="ko-KR" sz="1400" dirty="0">
                <a:latin typeface="Consolas" panose="020B0609020204030204" pitchFamily="49" charset="0"/>
              </a:rPr>
              <a:t>(20, </a:t>
            </a:r>
            <a:r>
              <a:rPr lang="en-US" altLang="ko-KR" sz="1400" dirty="0" err="1">
                <a:latin typeface="Consolas" panose="020B0609020204030204" pitchFamily="49" charset="0"/>
              </a:rPr>
              <a:t>triggerGetTemp</a:t>
            </a:r>
            <a:r>
              <a:rPr lang="en-US" altLang="ko-KR" sz="1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return true;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5182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3FB6-1B83-56DC-EABE-69E457C94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A2A9EAC-6013-527B-53FE-EB7F9532E70D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Code      4/6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AD6E6-15C8-39F5-C6BD-9E06A4A9F771}"/>
              </a:ext>
            </a:extLst>
          </p:cNvPr>
          <p:cNvSpPr txBox="1"/>
          <p:nvPr/>
        </p:nvSpPr>
        <p:spPr>
          <a:xfrm>
            <a:off x="22404" y="686940"/>
            <a:ext cx="12039600" cy="49475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/*** </a:t>
            </a:r>
            <a:r>
              <a:rPr lang="en-US" altLang="ko-KR" sz="14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triggerGetTemp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, Sets flag </a:t>
            </a:r>
            <a:r>
              <a:rPr lang="en-US" altLang="ko-KR" sz="14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dhtUpdated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to true for handling in loop() , called by Ticker </a:t>
            </a:r>
            <a:r>
              <a:rPr lang="en-US" altLang="ko-KR" sz="14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getTempTimer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void </a:t>
            </a:r>
            <a:r>
              <a:rPr lang="en-US" altLang="ko-KR" sz="1400" dirty="0" err="1">
                <a:latin typeface="Consolas" panose="020B0609020204030204" pitchFamily="49" charset="0"/>
              </a:rPr>
              <a:t>triggerGetTemp</a:t>
            </a:r>
            <a:r>
              <a:rPr lang="en-US" altLang="ko-KR" sz="1400" dirty="0"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if (</a:t>
            </a:r>
            <a:r>
              <a:rPr lang="en-US" altLang="ko-KR" sz="1400" dirty="0" err="1">
                <a:latin typeface="Consolas" panose="020B0609020204030204" pitchFamily="49" charset="0"/>
              </a:rPr>
              <a:t>tempTaskHandle</a:t>
            </a:r>
            <a:r>
              <a:rPr lang="en-US" altLang="ko-KR" sz="1400" dirty="0">
                <a:latin typeface="Consolas" panose="020B0609020204030204" pitchFamily="49" charset="0"/>
              </a:rPr>
              <a:t> != NULL)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	   </a:t>
            </a:r>
            <a:r>
              <a:rPr lang="en-US" altLang="ko-KR" sz="1400" dirty="0" err="1">
                <a:latin typeface="Consolas" panose="020B0609020204030204" pitchFamily="49" charset="0"/>
              </a:rPr>
              <a:t>xTaskResumeFromISR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Consolas" panose="020B0609020204030204" pitchFamily="49" charset="0"/>
              </a:rPr>
              <a:t>tempTaskHandle</a:t>
            </a:r>
            <a:r>
              <a:rPr lang="en-US" altLang="ko-KR" sz="1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/*** Task to reads temperature from DHT11 sensor  * @param </a:t>
            </a:r>
            <a:r>
              <a:rPr lang="en-US" altLang="ko-KR" sz="14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pvParameters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 *    pointer to task parameters  */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void </a:t>
            </a:r>
            <a:r>
              <a:rPr lang="en-US" altLang="ko-KR" sz="1400" dirty="0" err="1">
                <a:latin typeface="Consolas" panose="020B0609020204030204" pitchFamily="49" charset="0"/>
              </a:rPr>
              <a:t>tempTask</a:t>
            </a:r>
            <a:r>
              <a:rPr lang="en-US" altLang="ko-KR" sz="1400" dirty="0">
                <a:latin typeface="Consolas" panose="020B0609020204030204" pitchFamily="49" charset="0"/>
              </a:rPr>
              <a:t>(void *</a:t>
            </a:r>
            <a:r>
              <a:rPr lang="en-US" altLang="ko-KR" sz="1400" dirty="0" err="1">
                <a:latin typeface="Consolas" panose="020B0609020204030204" pitchFamily="49" charset="0"/>
              </a:rPr>
              <a:t>pvParameters</a:t>
            </a:r>
            <a:r>
              <a:rPr lang="en-US" altLang="ko-KR" sz="1400" dirty="0"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</a:t>
            </a:r>
            <a:r>
              <a:rPr lang="en-US" altLang="ko-KR" sz="14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400" dirty="0">
                <a:latin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Consolas" panose="020B0609020204030204" pitchFamily="49" charset="0"/>
              </a:rPr>
              <a:t>tempTask</a:t>
            </a:r>
            <a:r>
              <a:rPr lang="en-US" altLang="ko-KR" sz="1400" dirty="0">
                <a:latin typeface="Consolas" panose="020B0609020204030204" pitchFamily="49" charset="0"/>
              </a:rPr>
              <a:t> loop started");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while (1) // </a:t>
            </a:r>
            <a:r>
              <a:rPr lang="en-US" altLang="ko-KR" sz="1400" dirty="0" err="1">
                <a:latin typeface="Consolas" panose="020B0609020204030204" pitchFamily="49" charset="0"/>
              </a:rPr>
              <a:t>tempTask</a:t>
            </a:r>
            <a:r>
              <a:rPr lang="en-US" altLang="ko-KR" sz="1400" dirty="0">
                <a:latin typeface="Consolas" panose="020B0609020204030204" pitchFamily="49" charset="0"/>
              </a:rPr>
              <a:t> loop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if (</a:t>
            </a:r>
            <a:r>
              <a:rPr lang="en-US" altLang="ko-KR" sz="1400" dirty="0" err="1">
                <a:latin typeface="Consolas" panose="020B0609020204030204" pitchFamily="49" charset="0"/>
              </a:rPr>
              <a:t>tasksEnabled</a:t>
            </a:r>
            <a:r>
              <a:rPr lang="en-US" altLang="ko-KR" sz="1400" dirty="0"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          // Get temperature values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   </a:t>
            </a:r>
            <a:r>
              <a:rPr lang="en-US" altLang="ko-KR" sz="1400" dirty="0" err="1">
                <a:latin typeface="Consolas" panose="020B0609020204030204" pitchFamily="49" charset="0"/>
              </a:rPr>
              <a:t>getTemperature</a:t>
            </a:r>
            <a:r>
              <a:rPr lang="en-US" altLang="ko-KR" sz="1400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}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    </a:t>
            </a: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// Got sleep again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</a:t>
            </a:r>
            <a:r>
              <a:rPr lang="en-US" altLang="ko-KR" sz="1400" dirty="0" err="1">
                <a:latin typeface="Consolas" panose="020B0609020204030204" pitchFamily="49" charset="0"/>
              </a:rPr>
              <a:t>vTaskSuspend</a:t>
            </a:r>
            <a:r>
              <a:rPr lang="en-US" altLang="ko-KR" sz="1400" dirty="0">
                <a:latin typeface="Consolas" panose="020B0609020204030204" pitchFamily="49" charset="0"/>
              </a:rPr>
              <a:t>(NULL);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}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}</a:t>
            </a:r>
            <a:endParaRPr lang="en-US" altLang="ko-K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206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FEDE-BB0B-6BF5-D3C4-4E64E447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7EF2A2-2F16-6157-F082-29073FFD5DCC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Code      5/6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67862-D24D-DC4B-C7EE-C629CFC65E1A}"/>
              </a:ext>
            </a:extLst>
          </p:cNvPr>
          <p:cNvSpPr txBox="1"/>
          <p:nvPr/>
        </p:nvSpPr>
        <p:spPr>
          <a:xfrm>
            <a:off x="22404" y="686940"/>
            <a:ext cx="12039600" cy="59734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bool </a:t>
            </a:r>
            <a:r>
              <a:rPr lang="en-US" altLang="ko-KR" sz="1400" dirty="0" err="1">
                <a:latin typeface="Consolas" panose="020B0609020204030204" pitchFamily="49" charset="0"/>
              </a:rPr>
              <a:t>getTemperature</a:t>
            </a:r>
            <a:r>
              <a:rPr lang="en-US" altLang="ko-KR" sz="1400" dirty="0"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	// Reading temperature for humidity takes about 250 milliseconds!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	// Sensor readings may also be up to 2 seconds 'old' (it's a very slow sensor)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</a:t>
            </a:r>
            <a:r>
              <a:rPr lang="en-US" altLang="ko-KR" sz="1400" dirty="0" err="1">
                <a:latin typeface="Consolas" panose="020B0609020204030204" pitchFamily="49" charset="0"/>
              </a:rPr>
              <a:t>TempAndHumidity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newValues</a:t>
            </a:r>
            <a:r>
              <a:rPr lang="en-US" altLang="ko-KR" sz="1400" dirty="0">
                <a:latin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Consolas" panose="020B0609020204030204" pitchFamily="49" charset="0"/>
              </a:rPr>
              <a:t>dht.getTempAndHumidity</a:t>
            </a:r>
            <a:r>
              <a:rPr lang="en-US" altLang="ko-KR" sz="1400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	// Check if any reads failed and exit early (to try again).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if (</a:t>
            </a:r>
            <a:r>
              <a:rPr lang="en-US" altLang="ko-KR" sz="1400" dirty="0" err="1">
                <a:latin typeface="Consolas" panose="020B0609020204030204" pitchFamily="49" charset="0"/>
              </a:rPr>
              <a:t>dht.getStatus</a:t>
            </a:r>
            <a:r>
              <a:rPr lang="en-US" altLang="ko-KR" sz="1400" dirty="0">
                <a:latin typeface="Consolas" panose="020B0609020204030204" pitchFamily="49" charset="0"/>
              </a:rPr>
              <a:t>() != 0)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</a:t>
            </a:r>
            <a:r>
              <a:rPr lang="en-US" altLang="ko-KR" sz="14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400" dirty="0">
                <a:latin typeface="Consolas" panose="020B0609020204030204" pitchFamily="49" charset="0"/>
              </a:rPr>
              <a:t>("DHT11 error status: " + String(</a:t>
            </a:r>
            <a:r>
              <a:rPr lang="en-US" altLang="ko-KR" sz="1400" dirty="0" err="1">
                <a:latin typeface="Consolas" panose="020B0609020204030204" pitchFamily="49" charset="0"/>
              </a:rPr>
              <a:t>dht.getStatusString</a:t>
            </a:r>
            <a:r>
              <a:rPr lang="en-US" altLang="ko-KR" sz="1400" dirty="0">
                <a:latin typeface="Consolas" panose="020B0609020204030204" pitchFamily="49" charset="0"/>
              </a:rPr>
              <a:t>()));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return false;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float </a:t>
            </a:r>
            <a:r>
              <a:rPr lang="en-US" altLang="ko-KR" sz="1400" dirty="0" err="1">
                <a:latin typeface="Consolas" panose="020B0609020204030204" pitchFamily="49" charset="0"/>
              </a:rPr>
              <a:t>heatIndex</a:t>
            </a:r>
            <a:r>
              <a:rPr lang="en-US" altLang="ko-KR" sz="1400" dirty="0">
                <a:latin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Consolas" panose="020B0609020204030204" pitchFamily="49" charset="0"/>
              </a:rPr>
              <a:t>dht.computeHeatIndex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Consolas" panose="020B0609020204030204" pitchFamily="49" charset="0"/>
              </a:rPr>
              <a:t>newValues.temperature</a:t>
            </a:r>
            <a:r>
              <a:rPr lang="en-US" altLang="ko-KR" sz="1400" dirty="0">
                <a:latin typeface="Consolas" panose="020B0609020204030204" pitchFamily="49" charset="0"/>
              </a:rPr>
              <a:t>, </a:t>
            </a:r>
            <a:r>
              <a:rPr lang="en-US" altLang="ko-KR" sz="1400" dirty="0" err="1">
                <a:latin typeface="Consolas" panose="020B0609020204030204" pitchFamily="49" charset="0"/>
              </a:rPr>
              <a:t>newValues.humidity</a:t>
            </a:r>
            <a:r>
              <a:rPr lang="en-US" altLang="ko-KR" sz="1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float </a:t>
            </a:r>
            <a:r>
              <a:rPr lang="en-US" altLang="ko-KR" sz="1400" dirty="0" err="1">
                <a:latin typeface="Consolas" panose="020B0609020204030204" pitchFamily="49" charset="0"/>
              </a:rPr>
              <a:t>dewPoint</a:t>
            </a:r>
            <a:r>
              <a:rPr lang="en-US" altLang="ko-KR" sz="1400" dirty="0">
                <a:latin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Consolas" panose="020B0609020204030204" pitchFamily="49" charset="0"/>
              </a:rPr>
              <a:t>dht.computeDewPoint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Consolas" panose="020B0609020204030204" pitchFamily="49" charset="0"/>
              </a:rPr>
              <a:t>newValues.temperature</a:t>
            </a:r>
            <a:r>
              <a:rPr lang="en-US" altLang="ko-KR" sz="1400" dirty="0">
                <a:latin typeface="Consolas" panose="020B0609020204030204" pitchFamily="49" charset="0"/>
              </a:rPr>
              <a:t>, </a:t>
            </a:r>
            <a:r>
              <a:rPr lang="en-US" altLang="ko-KR" sz="1400" dirty="0" err="1">
                <a:latin typeface="Consolas" panose="020B0609020204030204" pitchFamily="49" charset="0"/>
              </a:rPr>
              <a:t>newValues.humidity</a:t>
            </a:r>
            <a:r>
              <a:rPr lang="en-US" altLang="ko-KR" sz="1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float </a:t>
            </a:r>
            <a:r>
              <a:rPr lang="en-US" altLang="ko-KR" sz="1400" dirty="0" err="1">
                <a:latin typeface="Consolas" panose="020B0609020204030204" pitchFamily="49" charset="0"/>
              </a:rPr>
              <a:t>cr</a:t>
            </a:r>
            <a:r>
              <a:rPr lang="en-US" altLang="ko-KR" sz="1400" dirty="0">
                <a:latin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Consolas" panose="020B0609020204030204" pitchFamily="49" charset="0"/>
              </a:rPr>
              <a:t>dht.getComfortRatio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Consolas" panose="020B0609020204030204" pitchFamily="49" charset="0"/>
              </a:rPr>
              <a:t>cf</a:t>
            </a:r>
            <a:r>
              <a:rPr lang="en-US" altLang="ko-KR" sz="1400" dirty="0">
                <a:latin typeface="Consolas" panose="020B0609020204030204" pitchFamily="49" charset="0"/>
              </a:rPr>
              <a:t>, </a:t>
            </a:r>
            <a:r>
              <a:rPr lang="en-US" altLang="ko-KR" sz="1400" dirty="0" err="1">
                <a:latin typeface="Consolas" panose="020B0609020204030204" pitchFamily="49" charset="0"/>
              </a:rPr>
              <a:t>newValues.temperature</a:t>
            </a:r>
            <a:r>
              <a:rPr lang="en-US" altLang="ko-KR" sz="1400" dirty="0">
                <a:latin typeface="Consolas" panose="020B0609020204030204" pitchFamily="49" charset="0"/>
              </a:rPr>
              <a:t>, </a:t>
            </a:r>
            <a:r>
              <a:rPr lang="en-US" altLang="ko-KR" sz="1400" dirty="0" err="1">
                <a:latin typeface="Consolas" panose="020B0609020204030204" pitchFamily="49" charset="0"/>
              </a:rPr>
              <a:t>newValues.humidity</a:t>
            </a:r>
            <a:r>
              <a:rPr lang="en-US" altLang="ko-KR" sz="1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String </a:t>
            </a:r>
            <a:r>
              <a:rPr lang="en-US" altLang="ko-KR" sz="1400" dirty="0" err="1">
                <a:latin typeface="Consolas" panose="020B0609020204030204" pitchFamily="49" charset="0"/>
              </a:rPr>
              <a:t>comfortStatus</a:t>
            </a:r>
            <a:r>
              <a:rPr lang="en-US" altLang="ko-KR" sz="14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switch(</a:t>
            </a:r>
            <a:r>
              <a:rPr lang="en-US" altLang="ko-KR" sz="1400" dirty="0" err="1">
                <a:latin typeface="Consolas" panose="020B0609020204030204" pitchFamily="49" charset="0"/>
              </a:rPr>
              <a:t>cf</a:t>
            </a:r>
            <a:r>
              <a:rPr lang="en-US" altLang="ko-KR" sz="1400" dirty="0"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case </a:t>
            </a:r>
            <a:r>
              <a:rPr lang="en-US" altLang="ko-KR" sz="1400" dirty="0" err="1">
                <a:latin typeface="Consolas" panose="020B0609020204030204" pitchFamily="49" charset="0"/>
              </a:rPr>
              <a:t>Comfort_OK</a:t>
            </a:r>
            <a:r>
              <a:rPr lang="en-US" altLang="ko-KR" sz="1400" dirty="0"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</a:t>
            </a:r>
            <a:r>
              <a:rPr lang="en-US" altLang="ko-KR" sz="1400" dirty="0" err="1">
                <a:latin typeface="Consolas" panose="020B0609020204030204" pitchFamily="49" charset="0"/>
              </a:rPr>
              <a:t>comfortStatus</a:t>
            </a:r>
            <a:r>
              <a:rPr lang="en-US" altLang="ko-KR" sz="1400" dirty="0">
                <a:latin typeface="Consolas" panose="020B0609020204030204" pitchFamily="49" charset="0"/>
              </a:rPr>
              <a:t> = "</a:t>
            </a:r>
            <a:r>
              <a:rPr lang="en-US" altLang="ko-KR" sz="1400" dirty="0" err="1">
                <a:latin typeface="Consolas" panose="020B0609020204030204" pitchFamily="49" charset="0"/>
              </a:rPr>
              <a:t>Comfort_OK</a:t>
            </a:r>
            <a:r>
              <a:rPr lang="en-US" altLang="ko-KR" sz="1400" dirty="0">
                <a:latin typeface="Consolas" panose="020B0609020204030204" pitchFamily="49" charset="0"/>
              </a:rPr>
              <a:t>";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break;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case </a:t>
            </a:r>
            <a:r>
              <a:rPr lang="en-US" altLang="ko-KR" sz="1400" dirty="0" err="1">
                <a:latin typeface="Consolas" panose="020B0609020204030204" pitchFamily="49" charset="0"/>
              </a:rPr>
              <a:t>Comfort_TooHot</a:t>
            </a:r>
            <a:r>
              <a:rPr lang="en-US" altLang="ko-KR" sz="1400" dirty="0"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</a:t>
            </a:r>
            <a:r>
              <a:rPr lang="en-US" altLang="ko-KR" sz="1400" dirty="0" err="1">
                <a:latin typeface="Consolas" panose="020B0609020204030204" pitchFamily="49" charset="0"/>
              </a:rPr>
              <a:t>comfortStatus</a:t>
            </a:r>
            <a:r>
              <a:rPr lang="en-US" altLang="ko-KR" sz="1400" dirty="0">
                <a:latin typeface="Consolas" panose="020B0609020204030204" pitchFamily="49" charset="0"/>
              </a:rPr>
              <a:t> = "</a:t>
            </a:r>
            <a:r>
              <a:rPr lang="en-US" altLang="ko-KR" sz="1400" dirty="0" err="1">
                <a:latin typeface="Consolas" panose="020B0609020204030204" pitchFamily="49" charset="0"/>
              </a:rPr>
              <a:t>Comfort_TooHot</a:t>
            </a:r>
            <a:r>
              <a:rPr lang="en-US" altLang="ko-KR" sz="1400" dirty="0">
                <a:latin typeface="Consolas" panose="020B0609020204030204" pitchFamily="49" charset="0"/>
              </a:rPr>
              <a:t>";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break;</a:t>
            </a:r>
          </a:p>
          <a:p>
            <a:pPr>
              <a:lnSpc>
                <a:spcPts val="2000"/>
              </a:lnSpc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~~~~~~~~~   </a:t>
            </a:r>
            <a:r>
              <a:rPr lang="ko-KR" altLang="en-US" sz="1400" dirty="0">
                <a:latin typeface="Consolas" panose="020B0609020204030204" pitchFamily="49" charset="0"/>
              </a:rPr>
              <a:t>이하 생략</a:t>
            </a:r>
            <a:endParaRPr lang="en-US" altLang="ko-KR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562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76BF-6A60-696B-728F-89A8AD56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86E3748-0115-7FB6-C3D5-315539B366A7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</a:rPr>
              <a:t>Code      6/6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17B1D-2724-97C1-340C-6069A5B14F02}"/>
              </a:ext>
            </a:extLst>
          </p:cNvPr>
          <p:cNvSpPr txBox="1"/>
          <p:nvPr/>
        </p:nvSpPr>
        <p:spPr>
          <a:xfrm>
            <a:off x="22404" y="686940"/>
            <a:ext cx="12039600" cy="57169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void setup()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</a:t>
            </a:r>
            <a:r>
              <a:rPr lang="en-US" altLang="ko-KR" sz="1600" dirty="0" err="1">
                <a:latin typeface="Consolas" panose="020B0609020204030204" pitchFamily="49" charset="0"/>
              </a:rPr>
              <a:t>Serial.begin</a:t>
            </a:r>
            <a:r>
              <a:rPr lang="en-US" altLang="ko-KR" sz="1600" dirty="0">
                <a:latin typeface="Consolas" panose="020B0609020204030204" pitchFamily="49" charset="0"/>
              </a:rPr>
              <a:t>(115200);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</a:t>
            </a:r>
            <a:r>
              <a:rPr lang="en-US" altLang="ko-KR" sz="16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600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</a:t>
            </a:r>
            <a:r>
              <a:rPr lang="en-US" altLang="ko-KR" sz="16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600" dirty="0">
                <a:latin typeface="Consolas" panose="020B0609020204030204" pitchFamily="49" charset="0"/>
              </a:rPr>
              <a:t>("DHT ESP32 example with tasks");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</a:t>
            </a:r>
            <a:r>
              <a:rPr lang="en-US" altLang="ko-KR" sz="1600" dirty="0" err="1">
                <a:latin typeface="Consolas" panose="020B0609020204030204" pitchFamily="49" charset="0"/>
              </a:rPr>
              <a:t>initTemp</a:t>
            </a:r>
            <a:r>
              <a:rPr lang="en-US" altLang="ko-KR" sz="1600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</a:t>
            </a:r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// Signal end of setup() to tasks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</a:t>
            </a:r>
            <a:r>
              <a:rPr lang="en-US" altLang="ko-KR" sz="1600" dirty="0" err="1">
                <a:latin typeface="Consolas" panose="020B0609020204030204" pitchFamily="49" charset="0"/>
              </a:rPr>
              <a:t>tasksEnabled</a:t>
            </a:r>
            <a:r>
              <a:rPr lang="en-US" altLang="ko-KR" sz="1600" dirty="0">
                <a:latin typeface="Consolas" panose="020B0609020204030204" pitchFamily="49" charset="0"/>
              </a:rPr>
              <a:t> = true;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00"/>
              </a:lnSpc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void loop() {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if (!</a:t>
            </a:r>
            <a:r>
              <a:rPr lang="en-US" altLang="ko-KR" sz="1600" dirty="0" err="1">
                <a:latin typeface="Consolas" panose="020B0609020204030204" pitchFamily="49" charset="0"/>
              </a:rPr>
              <a:t>tasksEnabled</a:t>
            </a:r>
            <a:r>
              <a:rPr lang="en-US" altLang="ko-KR" sz="1600" dirty="0"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    </a:t>
            </a:r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// Wait 2 seconds to let system settle down, </a:t>
            </a:r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전원 인가 후 단 한번만 </a:t>
            </a:r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초 대기</a:t>
            </a:r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  delay(2000);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   </a:t>
            </a:r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// Enable task that will read values from the DHT sensor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  </a:t>
            </a:r>
            <a:r>
              <a:rPr lang="en-US" altLang="ko-KR" sz="1600" dirty="0" err="1">
                <a:latin typeface="Consolas" panose="020B0609020204030204" pitchFamily="49" charset="0"/>
              </a:rPr>
              <a:t>tasksEnabled</a:t>
            </a:r>
            <a:r>
              <a:rPr lang="en-US" altLang="ko-KR" sz="1600" dirty="0">
                <a:latin typeface="Consolas" panose="020B0609020204030204" pitchFamily="49" charset="0"/>
              </a:rPr>
              <a:t> = true;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  if (</a:t>
            </a:r>
            <a:r>
              <a:rPr lang="en-US" altLang="ko-KR" sz="1600" dirty="0" err="1">
                <a:latin typeface="Consolas" panose="020B0609020204030204" pitchFamily="49" charset="0"/>
              </a:rPr>
              <a:t>tempTaskHandle</a:t>
            </a:r>
            <a:r>
              <a:rPr lang="en-US" altLang="ko-KR" sz="1600" dirty="0">
                <a:latin typeface="Consolas" panose="020B0609020204030204" pitchFamily="49" charset="0"/>
              </a:rPr>
              <a:t> != NULL) {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	</a:t>
            </a:r>
            <a:r>
              <a:rPr lang="en-US" altLang="ko-KR" sz="1600" dirty="0" err="1">
                <a:latin typeface="Consolas" panose="020B0609020204030204" pitchFamily="49" charset="0"/>
              </a:rPr>
              <a:t>vTaskResume</a:t>
            </a:r>
            <a:r>
              <a:rPr lang="en-US" altLang="ko-KR" sz="1600" dirty="0">
                <a:latin typeface="Consolas" panose="020B0609020204030204" pitchFamily="49" charset="0"/>
              </a:rPr>
              <a:t>(</a:t>
            </a:r>
            <a:r>
              <a:rPr lang="en-US" altLang="ko-KR" sz="1600" dirty="0" err="1">
                <a:latin typeface="Consolas" panose="020B0609020204030204" pitchFamily="49" charset="0"/>
              </a:rPr>
              <a:t>tempTaskHandle</a:t>
            </a:r>
            <a:r>
              <a:rPr lang="en-US" altLang="ko-KR" sz="16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   }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yield();</a:t>
            </a:r>
          </a:p>
          <a:p>
            <a:pPr>
              <a:lnSpc>
                <a:spcPts val="2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8946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9ABC-6A26-F4E7-0714-A0F1AC31A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060259-24F2-A585-EBC6-C4B33F3BB045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시험 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12BD16-9D92-3E31-3E59-F90FFD7AA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8" y="796543"/>
            <a:ext cx="7621064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13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B51E-22C1-C40F-FD9F-948EA1BE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FF34C16-4EE2-1FC3-8490-7C2246B79B9E}"/>
              </a:ext>
            </a:extLst>
          </p:cNvPr>
          <p:cNvSpPr/>
          <p:nvPr/>
        </p:nvSpPr>
        <p:spPr>
          <a:xfrm>
            <a:off x="0" y="0"/>
            <a:ext cx="12192000" cy="2690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ESP32 DHT11/DHT22</a:t>
            </a:r>
            <a:r>
              <a:rPr lang="ko-KR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</a:t>
            </a:r>
            <a:r>
              <a:rPr lang="ko-KR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Server</a:t>
            </a:r>
          </a:p>
          <a:p>
            <a:pPr marL="179387" algn="ctr"/>
            <a:r>
              <a:rPr lang="en-US" altLang="ko-KR" sz="3200" b="1" dirty="0">
                <a:solidFill>
                  <a:schemeClr val="tx1"/>
                </a:solidFill>
              </a:rPr>
              <a:t>Temperature and Humidity using Arduino 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437A4-EE03-137F-68A6-8E8B6FAB9FC0}"/>
              </a:ext>
            </a:extLst>
          </p:cNvPr>
          <p:cNvSpPr txBox="1"/>
          <p:nvPr/>
        </p:nvSpPr>
        <p:spPr>
          <a:xfrm>
            <a:off x="1017142" y="2254817"/>
            <a:ext cx="10839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https://randomnerdtutorials.com/esp32-dht11-dht22-temperature-humidity-web-server-arduino-ide/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9821E6-EACE-2937-E672-50AF6DE2F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083" y="2679032"/>
            <a:ext cx="8328917" cy="417896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ADB3962-251B-6F0F-83A0-A2BE8B1616AD}"/>
              </a:ext>
            </a:extLst>
          </p:cNvPr>
          <p:cNvSpPr/>
          <p:nvPr/>
        </p:nvSpPr>
        <p:spPr>
          <a:xfrm>
            <a:off x="0" y="2679032"/>
            <a:ext cx="3863083" cy="417896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1968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Asynchronous ESP32 web </a:t>
            </a:r>
            <a:br>
              <a:rPr lang="en-US" altLang="ko-KR" dirty="0"/>
            </a:br>
            <a:r>
              <a:rPr lang="en-US" altLang="ko-KR" dirty="0"/>
              <a:t>serve</a:t>
            </a:r>
            <a:r>
              <a:rPr lang="ko-KR" altLang="en-US" dirty="0"/>
              <a:t>를 만들고</a:t>
            </a:r>
            <a:r>
              <a:rPr lang="en-US" altLang="ko-KR" dirty="0"/>
              <a:t>, DHT11 </a:t>
            </a:r>
            <a:br>
              <a:rPr lang="en-US" altLang="ko-KR" dirty="0"/>
            </a:br>
            <a:r>
              <a:rPr lang="ko-KR" altLang="en-US" dirty="0"/>
              <a:t>온도</a:t>
            </a:r>
            <a:r>
              <a:rPr lang="en-US" altLang="ko-KR" dirty="0"/>
              <a:t>, </a:t>
            </a:r>
            <a:r>
              <a:rPr lang="ko-KR" altLang="en-US" dirty="0"/>
              <a:t>습도를 모니터링</a:t>
            </a:r>
            <a:endParaRPr lang="en-US" altLang="ko-KR" dirty="0"/>
          </a:p>
          <a:p>
            <a:pPr marL="285750" indent="-1968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Arduino IDE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285750" indent="-1968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온</a:t>
            </a:r>
            <a:r>
              <a:rPr lang="en-US" altLang="ko-KR" dirty="0"/>
              <a:t>, </a:t>
            </a:r>
            <a:r>
              <a:rPr lang="ko-KR" altLang="en-US" dirty="0"/>
              <a:t>습도 값은 자동 </a:t>
            </a:r>
            <a:r>
              <a:rPr lang="en-US" altLang="ko-KR" dirty="0"/>
              <a:t>refresh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4980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50ED-6C8A-F37A-4F0B-FEC4B52C7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655F75-1C57-4840-5CAE-3C1DA19048DE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Install Library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73AE4-B612-8052-4949-9392E144FB9B}"/>
              </a:ext>
            </a:extLst>
          </p:cNvPr>
          <p:cNvSpPr txBox="1"/>
          <p:nvPr/>
        </p:nvSpPr>
        <p:spPr>
          <a:xfrm>
            <a:off x="333375" y="752108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https://github.com/adafruit/Adafruit_Sensor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4AB178-138A-65A7-8E0E-6F455C10407E}"/>
              </a:ext>
            </a:extLst>
          </p:cNvPr>
          <p:cNvSpPr txBox="1"/>
          <p:nvPr/>
        </p:nvSpPr>
        <p:spPr>
          <a:xfrm>
            <a:off x="333375" y="1208531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https://github.com/adafruit/DHT-sensor-library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44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37930-928D-0E2C-EC8B-A4EF9A28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32D305-4613-F5D2-4706-73BE074F27EE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Code    1/5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C3B04F-1DA9-4F93-3D7C-866D909D0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7470"/>
            <a:ext cx="12046568" cy="5816977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/*********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Rui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Santos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Complete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https://randomnerdtutorials.com *********/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WiFi.h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ESPAsyncWebServer.h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Adafruit_Sensor.h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DHT.h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network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credentials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"REPLACE_WITH_YOUR_SSID"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"REPLACE_WITH_YOUR_PASSWORD"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DHTPIN 27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Digital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3A0DFB"/>
                </a:solidFill>
                <a:effectLst/>
                <a:latin typeface="Consolas" panose="020B0609020204030204" pitchFamily="49" charset="0"/>
              </a:rPr>
              <a:t>#define DHTTYPE DHT11 // DHT 11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3A0DFB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#define DHTTYPE DHT22 // DHT 22 (AM2302)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//#define DHTTYPE DHT21 // DHT 21 (AM2301)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DHTPIN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DHTTYPE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AsyncWebServer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80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334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AsyncWebServer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617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D1F2D-7F09-7F55-6F5E-7223F5D01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ACF476A-7720-99B7-B9B6-2D3AB70242B6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Code    2/5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3734CA-248D-6DF7-0462-D3806D94B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6279"/>
            <a:ext cx="11830162" cy="6093976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readDHTTemperature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readings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may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also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2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its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very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readTemperature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isFahrenheit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Failed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"--"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readDHTHumidity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readings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may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also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2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its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very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readHumidity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Failed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sensor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"--"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055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7BD9-559A-03B7-A4C7-B2994B14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E80C45-9F03-2407-B1A1-049EA8C65DAC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Code    3/5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D265CCE-181A-6C1B-DB41-25ED2B18D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4357"/>
            <a:ext cx="12073818" cy="5355312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index_html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PROGMEM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rawliteral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DOCTYPE HTML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device-width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initial-scale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=1"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"https://use.fontawesome.com/releases/v5.7.2/css/all.css"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integrity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"sha384-fnmOCqbTlWIlj8LyTjo7mOUStjsKC4pOpQbqyi7RrhN7udi9RwhKkMHpvLbHG9Sr"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anonymous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family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px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h2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vertical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middle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ESP32 DHT Server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fa-thermometer-half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:#059e8a;"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dht-labels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&gt;%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%&lt;/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&gt;&amp;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deg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fa-tint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:#00add6;"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dht-labels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&gt;%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%&lt;/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&gt;&amp;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percnt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445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},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184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13A3-6E86-1379-503A-F8B865F6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A9C1E5-6F41-759F-BF76-C6DEB25641F0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Code    4/5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BDBF261-574C-CE5E-2DF9-D3B7FB153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4380"/>
            <a:ext cx="8710718" cy="566308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},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rawliteral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Replaces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processor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Serial.println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"TEMPERATURE"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readDHTTemperature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"HUMIDITY"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readDHTHumidity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7675" algn="l"/>
              </a:tabLst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274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06B44-0C8F-D2D4-D465-1FA15540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0E8698-3637-CEAD-1F01-B50CF1E154DB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Code    5/5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B1137B-D28A-78C1-CAC9-550929F02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2950"/>
            <a:ext cx="7636706" cy="5632760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WL_CONNECTED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Connecting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.."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ESP32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Local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IP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localIP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HTTP_GET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AsyncWebServerRequest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send_P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index_html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HTTP_GET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AsyncWebServerRequest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send_P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plain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readDHTTemperature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HTTP_GET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AsyncWebServerRequest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send_P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plain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readDHTHumidity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61950" marR="0" lvl="0" indent="-180975" algn="l" defTabSz="914400" rtl="0" eaLnBrk="0" fontAlgn="base" latinLnBrk="0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263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5721B-D14E-0D48-1CE1-532A82B6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EE494F-DB6B-B781-7A67-189586440A95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bg1"/>
                </a:solidFill>
              </a:rPr>
              <a:t>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8BEA7C-96BE-896E-F25D-A3147236B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790" y="1274502"/>
            <a:ext cx="6592220" cy="37247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14E1264-37AF-D3F7-843E-95151437F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6" y="1274502"/>
            <a:ext cx="3857834" cy="4595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5025C-ABCB-16E4-7253-26C96F05C317}"/>
              </a:ext>
            </a:extLst>
          </p:cNvPr>
          <p:cNvSpPr txBox="1"/>
          <p:nvPr/>
        </p:nvSpPr>
        <p:spPr>
          <a:xfrm>
            <a:off x="1511300" y="803832"/>
            <a:ext cx="1069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Arduino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136C94-54AE-1653-B2C2-0E7E97C90289}"/>
              </a:ext>
            </a:extLst>
          </p:cNvPr>
          <p:cNvSpPr txBox="1"/>
          <p:nvPr/>
        </p:nvSpPr>
        <p:spPr>
          <a:xfrm>
            <a:off x="7963421" y="785093"/>
            <a:ext cx="68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Web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86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91757-E1EE-EDAC-70DA-B249FA15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DD2E86B-733C-F6B6-F835-42F9D7A82FB7}"/>
              </a:ext>
            </a:extLst>
          </p:cNvPr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ko-KR" altLang="en-US" sz="3200" b="1" dirty="0">
                <a:solidFill>
                  <a:schemeClr val="bg1"/>
                </a:solidFill>
              </a:rPr>
              <a:t>앞의 예제에서 </a:t>
            </a:r>
            <a:r>
              <a:rPr lang="en-US" altLang="ko-KR" sz="3200" b="1" dirty="0">
                <a:solidFill>
                  <a:schemeClr val="bg1"/>
                </a:solidFill>
              </a:rPr>
              <a:t>html code</a:t>
            </a:r>
            <a:r>
              <a:rPr lang="ko-KR" altLang="en-US" sz="3200" b="1" dirty="0">
                <a:solidFill>
                  <a:schemeClr val="bg1"/>
                </a:solidFill>
              </a:rPr>
              <a:t>를  </a:t>
            </a:r>
            <a:r>
              <a:rPr lang="en-US" altLang="ko-KR" sz="3200" b="1" dirty="0">
                <a:solidFill>
                  <a:schemeClr val="bg1"/>
                </a:solidFill>
              </a:rPr>
              <a:t>index.html</a:t>
            </a:r>
            <a:r>
              <a:rPr lang="ko-KR" altLang="en-US" sz="3200" b="1" dirty="0">
                <a:solidFill>
                  <a:schemeClr val="bg1"/>
                </a:solidFill>
              </a:rPr>
              <a:t>로 분리해보자</a:t>
            </a:r>
            <a:r>
              <a:rPr lang="en-US" altLang="ko-KR" sz="3200" b="1" dirty="0">
                <a:solidFill>
                  <a:schemeClr val="bg1"/>
                </a:solidFill>
              </a:rPr>
              <a:t>.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25940-2462-68D6-A1A1-E9159E39A635}"/>
              </a:ext>
            </a:extLst>
          </p:cNvPr>
          <p:cNvSpPr txBox="1"/>
          <p:nvPr/>
        </p:nvSpPr>
        <p:spPr>
          <a:xfrm>
            <a:off x="2686050" y="246027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폴더구조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69777F1-49BD-CD7D-2876-1575C46C1E66}"/>
              </a:ext>
            </a:extLst>
          </p:cNvPr>
          <p:cNvSpPr/>
          <p:nvPr/>
        </p:nvSpPr>
        <p:spPr>
          <a:xfrm>
            <a:off x="2781300" y="3057525"/>
            <a:ext cx="1800225" cy="5810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project folder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EEBD17A-EB3D-CB02-6C45-7D2D3027F0B0}"/>
              </a:ext>
            </a:extLst>
          </p:cNvPr>
          <p:cNvSpPr/>
          <p:nvPr/>
        </p:nvSpPr>
        <p:spPr>
          <a:xfrm>
            <a:off x="6010275" y="3057525"/>
            <a:ext cx="1800225" cy="5810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data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9513A7-2CC6-B17D-E248-2ED41C8CC7D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4581525" y="3348038"/>
            <a:ext cx="142875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6E7713F8-A6D5-B3DE-FA84-78E6A954644A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7360444" y="3188494"/>
            <a:ext cx="533400" cy="1433512"/>
          </a:xfrm>
          <a:prstGeom prst="bent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FBD667-6C28-396E-2771-5B621D6DF142}"/>
              </a:ext>
            </a:extLst>
          </p:cNvPr>
          <p:cNvSpPr txBox="1"/>
          <p:nvPr/>
        </p:nvSpPr>
        <p:spPr>
          <a:xfrm>
            <a:off x="8439150" y="3987284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index.html</a:t>
            </a:r>
            <a:endParaRPr lang="ko-KR" altLang="en-US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E569C060-AA30-5DB6-8320-7292A21FDB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02994" y="3650455"/>
            <a:ext cx="1776413" cy="1171575"/>
          </a:xfrm>
          <a:prstGeom prst="bentConnector3">
            <a:avLst>
              <a:gd name="adj1" fmla="val 99866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421FE82-A0FE-36AB-D622-FA4DCEFEC42C}"/>
              </a:ext>
            </a:extLst>
          </p:cNvPr>
          <p:cNvSpPr txBox="1"/>
          <p:nvPr/>
        </p:nvSpPr>
        <p:spPr>
          <a:xfrm>
            <a:off x="6459596" y="4911208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index.html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5180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8D51-6C18-67F9-1B2B-4AD4E972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477CED3-D17E-1503-E1D3-BEAAEDFAE481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file </a:t>
            </a:r>
            <a:r>
              <a:rPr lang="ko-KR" altLang="en-US" b="1" dirty="0">
                <a:solidFill>
                  <a:schemeClr val="bg1"/>
                </a:solidFill>
              </a:rPr>
              <a:t>분리  </a:t>
            </a:r>
            <a:r>
              <a:rPr lang="en-US" altLang="ko-KR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기존 </a:t>
            </a:r>
            <a:r>
              <a:rPr lang="en-US" altLang="ko-KR" b="1" dirty="0">
                <a:solidFill>
                  <a:schemeClr val="bg1"/>
                </a:solidFill>
                <a:sym typeface="Wingdings" panose="05000000000000000000" pitchFamily="2" charset="2"/>
              </a:rPr>
              <a:t>Arduino </a:t>
            </a:r>
            <a:r>
              <a:rPr lang="ko-KR" alt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파일에서 </a:t>
            </a:r>
            <a:r>
              <a:rPr lang="en-US" altLang="ko-KR" b="1" dirty="0">
                <a:solidFill>
                  <a:schemeClr val="bg1"/>
                </a:solidFill>
                <a:sym typeface="Wingdings" panose="05000000000000000000" pitchFamily="2" charset="2"/>
              </a:rPr>
              <a:t>html</a:t>
            </a:r>
            <a:r>
              <a:rPr lang="ko-KR" alt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 부분을 잘라내어 </a:t>
            </a:r>
            <a:r>
              <a:rPr lang="en-US" altLang="ko-KR" b="1" dirty="0">
                <a:solidFill>
                  <a:schemeClr val="bg1"/>
                </a:solidFill>
                <a:sym typeface="Wingdings" panose="05000000000000000000" pitchFamily="2" charset="2"/>
              </a:rPr>
              <a:t>index.html</a:t>
            </a:r>
            <a:r>
              <a:rPr lang="ko-KR" alt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 파일 생성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8C4E0-ADE7-F12D-6A8D-F05F386BF57D}"/>
              </a:ext>
            </a:extLst>
          </p:cNvPr>
          <p:cNvSpPr txBox="1"/>
          <p:nvPr/>
        </p:nvSpPr>
        <p:spPr>
          <a:xfrm>
            <a:off x="152400" y="784899"/>
            <a:ext cx="4443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3A0DFB"/>
                </a:solidFill>
              </a:rPr>
              <a:t>index.html  </a:t>
            </a:r>
            <a:r>
              <a:rPr lang="en-US" altLang="ko-KR" sz="1600" b="1" dirty="0">
                <a:solidFill>
                  <a:srgbClr val="3A0DFB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3A0DFB"/>
                </a:solidFill>
              </a:rPr>
              <a:t>기존 코드에서 수정할 부분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84E89A-8724-72D8-06AC-712CF9BB3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2" y="1571625"/>
            <a:ext cx="7278116" cy="1371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17C62E-7BAD-9E7F-F668-90CDCC2B490A}"/>
              </a:ext>
            </a:extLst>
          </p:cNvPr>
          <p:cNvSpPr txBox="1"/>
          <p:nvPr/>
        </p:nvSpPr>
        <p:spPr>
          <a:xfrm>
            <a:off x="335570" y="1150258"/>
            <a:ext cx="1213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1. CSS Link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5EE62D-603F-4AF8-FE7B-9519F00C16F3}"/>
              </a:ext>
            </a:extLst>
          </p:cNvPr>
          <p:cNvSpPr txBox="1"/>
          <p:nvPr/>
        </p:nvSpPr>
        <p:spPr>
          <a:xfrm>
            <a:off x="647192" y="3048078"/>
            <a:ext cx="110109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"https://use.fontawesome.com/releases/v5.7.2/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/all.css"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154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5EA4-E8B9-D358-9416-56744492F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99317B0-5600-814E-2E4F-975EB1B95032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Arduino file </a:t>
            </a:r>
            <a:r>
              <a:rPr lang="ko-KR" altLang="en-US" b="1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0DD04E-AD02-1F1E-171B-D3B80A51F4F2}"/>
              </a:ext>
            </a:extLst>
          </p:cNvPr>
          <p:cNvSpPr txBox="1"/>
          <p:nvPr/>
        </p:nvSpPr>
        <p:spPr>
          <a:xfrm>
            <a:off x="152400" y="784899"/>
            <a:ext cx="4443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3A0DFB"/>
                </a:solidFill>
              </a:rPr>
              <a:t>index.html  </a:t>
            </a:r>
            <a:r>
              <a:rPr lang="en-US" altLang="ko-KR" sz="1600" b="1" dirty="0">
                <a:solidFill>
                  <a:srgbClr val="3A0DFB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3A0DFB"/>
                </a:solidFill>
              </a:rPr>
              <a:t>기존 코드에서 수정할 부분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3FD146-68B6-D599-50D5-257B45ECEA1D}"/>
              </a:ext>
            </a:extLst>
          </p:cNvPr>
          <p:cNvSpPr txBox="1"/>
          <p:nvPr/>
        </p:nvSpPr>
        <p:spPr>
          <a:xfrm>
            <a:off x="335570" y="1150258"/>
            <a:ext cx="1891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1. header file </a:t>
            </a:r>
            <a:r>
              <a:rPr lang="ko-KR" altLang="en-US" sz="1600" dirty="0"/>
              <a:t>추가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640E1-908B-0638-D09C-A64C99CC13CD}"/>
              </a:ext>
            </a:extLst>
          </p:cNvPr>
          <p:cNvSpPr txBox="1"/>
          <p:nvPr/>
        </p:nvSpPr>
        <p:spPr>
          <a:xfrm>
            <a:off x="640556" y="1515617"/>
            <a:ext cx="3026569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latin typeface="Consolas" panose="020B0609020204030204" pitchFamily="49" charset="0"/>
              </a:rPr>
              <a:t>#include "</a:t>
            </a:r>
            <a:r>
              <a:rPr lang="ko-KR" altLang="en-US" dirty="0" err="1">
                <a:latin typeface="Consolas" panose="020B0609020204030204" pitchFamily="49" charset="0"/>
              </a:rPr>
              <a:t>FS.h</a:t>
            </a:r>
            <a:r>
              <a:rPr lang="ko-KR" altLang="en-US" dirty="0">
                <a:latin typeface="Consolas" panose="020B0609020204030204" pitchFamily="49" charset="0"/>
              </a:rPr>
              <a:t>"</a:t>
            </a:r>
          </a:p>
          <a:p>
            <a:r>
              <a:rPr lang="ko-KR" altLang="en-US" dirty="0">
                <a:latin typeface="Consolas" panose="020B0609020204030204" pitchFamily="49" charset="0"/>
              </a:rPr>
              <a:t>#include "</a:t>
            </a:r>
            <a:r>
              <a:rPr lang="ko-KR" altLang="en-US" dirty="0" err="1">
                <a:latin typeface="Consolas" panose="020B0609020204030204" pitchFamily="49" charset="0"/>
              </a:rPr>
              <a:t>SPIFFS.h</a:t>
            </a:r>
            <a:r>
              <a:rPr lang="ko-KR" altLang="en-US" dirty="0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1F011-9AD9-9B9C-8DAB-BA8BDE9F0048}"/>
              </a:ext>
            </a:extLst>
          </p:cNvPr>
          <p:cNvSpPr txBox="1"/>
          <p:nvPr/>
        </p:nvSpPr>
        <p:spPr>
          <a:xfrm>
            <a:off x="5497945" y="1515617"/>
            <a:ext cx="6497933" cy="5232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FS.h</a:t>
            </a:r>
            <a:r>
              <a:rPr lang="en-US" altLang="ko-KR" sz="1400" dirty="0"/>
              <a:t> : file system interface </a:t>
            </a:r>
            <a:r>
              <a:rPr lang="ko-KR" altLang="en-US" sz="1400" dirty="0"/>
              <a:t>를 제공하는 파일 시스템 라이브러리</a:t>
            </a:r>
            <a:endParaRPr lang="en-US" altLang="ko-KR" sz="1400" dirty="0"/>
          </a:p>
          <a:p>
            <a:r>
              <a:rPr lang="en-US" altLang="ko-KR" sz="1400" dirty="0" err="1"/>
              <a:t>SPIFFS.h</a:t>
            </a:r>
            <a:r>
              <a:rPr lang="en-US" altLang="ko-KR" sz="1400" dirty="0"/>
              <a:t> : ESP32</a:t>
            </a:r>
            <a:r>
              <a:rPr lang="ko-KR" altLang="en-US" sz="1400" dirty="0"/>
              <a:t> 플래시 메모리에 파일을 저장할 수 있도록 설계된 라이브러리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3F8B03-48C9-9C2A-6540-D10F76A6704D}"/>
              </a:ext>
            </a:extLst>
          </p:cNvPr>
          <p:cNvSpPr txBox="1"/>
          <p:nvPr/>
        </p:nvSpPr>
        <p:spPr>
          <a:xfrm>
            <a:off x="335570" y="2565547"/>
            <a:ext cx="30992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2. setup() </a:t>
            </a:r>
            <a:r>
              <a:rPr lang="ko-KR" altLang="en-US" sz="1600" dirty="0"/>
              <a:t>함수에서 </a:t>
            </a:r>
            <a:r>
              <a:rPr lang="en-US" altLang="ko-KR" sz="1600" dirty="0"/>
              <a:t>SPIFFS </a:t>
            </a:r>
            <a:r>
              <a:rPr lang="ko-KR" altLang="en-US" sz="1600" dirty="0"/>
              <a:t>시작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5EAD5E-E216-C253-94D6-BDA868DC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44" y="2966282"/>
            <a:ext cx="4560350" cy="2202618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847B06B-B6E9-B07E-1FBC-94354D13B68D}"/>
              </a:ext>
            </a:extLst>
          </p:cNvPr>
          <p:cNvSpPr/>
          <p:nvPr/>
        </p:nvSpPr>
        <p:spPr>
          <a:xfrm>
            <a:off x="335570" y="3771900"/>
            <a:ext cx="4426930" cy="975030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8FB27D-9A35-4BE6-BA14-FA1B4A0FF7F1}"/>
              </a:ext>
            </a:extLst>
          </p:cNvPr>
          <p:cNvSpPr txBox="1"/>
          <p:nvPr/>
        </p:nvSpPr>
        <p:spPr>
          <a:xfrm>
            <a:off x="5281468" y="3771900"/>
            <a:ext cx="48300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ko-KR" altLang="en-US" sz="1600" dirty="0" err="1">
                <a:latin typeface="Consolas" panose="020B0609020204030204" pitchFamily="49" charset="0"/>
              </a:rPr>
              <a:t>if</a:t>
            </a:r>
            <a:r>
              <a:rPr lang="ko-KR" altLang="en-US" sz="1600" dirty="0">
                <a:latin typeface="Consolas" panose="020B0609020204030204" pitchFamily="49" charset="0"/>
              </a:rPr>
              <a:t>(!</a:t>
            </a:r>
            <a:r>
              <a:rPr lang="ko-KR" altLang="en-US" sz="1600" dirty="0" err="1">
                <a:latin typeface="Consolas" panose="020B0609020204030204" pitchFamily="49" charset="0"/>
              </a:rPr>
              <a:t>SPIFFS.begin</a:t>
            </a:r>
            <a:r>
              <a:rPr lang="ko-KR" altLang="en-US" sz="1600" dirty="0">
                <a:latin typeface="Consolas" panose="020B0609020204030204" pitchFamily="49" charset="0"/>
              </a:rPr>
              <a:t>(</a:t>
            </a:r>
            <a:r>
              <a:rPr lang="ko-KR" altLang="en-US" sz="1600" dirty="0" err="1">
                <a:latin typeface="Consolas" panose="020B0609020204030204" pitchFamily="49" charset="0"/>
              </a:rPr>
              <a:t>true</a:t>
            </a:r>
            <a:r>
              <a:rPr lang="ko-KR" altLang="en-US" sz="1600" dirty="0">
                <a:latin typeface="Consolas" panose="020B0609020204030204" pitchFamily="49" charset="0"/>
              </a:rPr>
              <a:t>)){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  </a:t>
            </a:r>
            <a:r>
              <a:rPr lang="ko-KR" altLang="en-US" sz="1600" dirty="0" err="1">
                <a:latin typeface="Consolas" panose="020B0609020204030204" pitchFamily="49" charset="0"/>
              </a:rPr>
              <a:t>Serial.println</a:t>
            </a:r>
            <a:r>
              <a:rPr lang="ko-KR" altLang="en-US" sz="1600" dirty="0">
                <a:latin typeface="Consolas" panose="020B0609020204030204" pitchFamily="49" charset="0"/>
              </a:rPr>
              <a:t>("SPIFFS </a:t>
            </a:r>
            <a:r>
              <a:rPr lang="ko-KR" altLang="en-US" sz="1600" dirty="0" err="1">
                <a:latin typeface="Consolas" panose="020B0609020204030204" pitchFamily="49" charset="0"/>
              </a:rPr>
              <a:t>Init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ko-KR" altLang="en-US" sz="1600" dirty="0" err="1">
                <a:latin typeface="Consolas" panose="020B0609020204030204" pitchFamily="49" charset="0"/>
              </a:rPr>
              <a:t>Fail</a:t>
            </a:r>
            <a:r>
              <a:rPr lang="ko-KR" altLang="en-US" sz="1600" dirty="0">
                <a:latin typeface="Consolas" panose="020B0609020204030204" pitchFamily="49" charset="0"/>
              </a:rPr>
              <a:t>.");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  </a:t>
            </a:r>
            <a:r>
              <a:rPr lang="ko-KR" altLang="en-US" sz="1600" dirty="0" err="1">
                <a:latin typeface="Consolas" panose="020B0609020204030204" pitchFamily="49" charset="0"/>
              </a:rPr>
              <a:t>return</a:t>
            </a:r>
            <a:r>
              <a:rPr lang="ko-KR" alt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14257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A639-D45D-299B-8B61-2D13B417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0F926F2-5584-8028-F86D-B30F14790F41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Arduino file </a:t>
            </a:r>
            <a:r>
              <a:rPr lang="ko-KR" altLang="en-US" b="1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53494-E7B6-7388-8ECD-A5AEBDC93C50}"/>
              </a:ext>
            </a:extLst>
          </p:cNvPr>
          <p:cNvSpPr txBox="1"/>
          <p:nvPr/>
        </p:nvSpPr>
        <p:spPr>
          <a:xfrm>
            <a:off x="310170" y="997858"/>
            <a:ext cx="3899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3. setup() </a:t>
            </a:r>
            <a:r>
              <a:rPr lang="ko-KR" altLang="en-US" sz="1600" dirty="0"/>
              <a:t>함수에서 </a:t>
            </a:r>
            <a:r>
              <a:rPr lang="en-US" altLang="ko-KR" sz="1600" dirty="0"/>
              <a:t>web</a:t>
            </a:r>
            <a:r>
              <a:rPr lang="ko-KR" altLang="en-US" sz="1600" dirty="0"/>
              <a:t> </a:t>
            </a:r>
            <a:r>
              <a:rPr lang="en-US" altLang="ko-KR" sz="1600" dirty="0"/>
              <a:t>page</a:t>
            </a:r>
            <a:r>
              <a:rPr lang="ko-KR" altLang="en-US" sz="1600" dirty="0"/>
              <a:t> 경로 수정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CE2571-FC52-0018-31A6-B68F12933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58" y="1336412"/>
            <a:ext cx="7049484" cy="2267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4F1BA4-C29D-F0CC-2980-25BAB75E49A9}"/>
              </a:ext>
            </a:extLst>
          </p:cNvPr>
          <p:cNvSpPr txBox="1"/>
          <p:nvPr/>
        </p:nvSpPr>
        <p:spPr>
          <a:xfrm>
            <a:off x="381000" y="3758843"/>
            <a:ext cx="8813800" cy="28315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Consolas" panose="020B0609020204030204" pitchFamily="49" charset="0"/>
              </a:rPr>
              <a:t>// </a:t>
            </a:r>
            <a:r>
              <a:rPr lang="ko-KR" altLang="en-US" sz="1600" dirty="0" err="1">
                <a:latin typeface="Consolas" panose="020B0609020204030204" pitchFamily="49" charset="0"/>
              </a:rPr>
              <a:t>Route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ko-KR" altLang="en-US" sz="1600" dirty="0" err="1">
                <a:latin typeface="Consolas" panose="020B0609020204030204" pitchFamily="49" charset="0"/>
              </a:rPr>
              <a:t>for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ko-KR" altLang="en-US" sz="1600" dirty="0" err="1">
                <a:latin typeface="Consolas" panose="020B0609020204030204" pitchFamily="49" charset="0"/>
              </a:rPr>
              <a:t>root</a:t>
            </a:r>
            <a:r>
              <a:rPr lang="ko-KR" altLang="en-US" sz="1600" dirty="0">
                <a:latin typeface="Consolas" panose="020B0609020204030204" pitchFamily="49" charset="0"/>
              </a:rPr>
              <a:t> / </a:t>
            </a:r>
            <a:r>
              <a:rPr lang="ko-KR" altLang="en-US" sz="1600" dirty="0" err="1">
                <a:latin typeface="Consolas" panose="020B0609020204030204" pitchFamily="49" charset="0"/>
              </a:rPr>
              <a:t>web</a:t>
            </a:r>
            <a:r>
              <a:rPr lang="ko-KR" altLang="en-US" sz="1600" dirty="0">
                <a:latin typeface="Consolas" panose="020B0609020204030204" pitchFamily="49" charset="0"/>
              </a:rPr>
              <a:t> </a:t>
            </a:r>
            <a:r>
              <a:rPr lang="ko-KR" altLang="en-US" sz="1600" dirty="0" err="1">
                <a:latin typeface="Consolas" panose="020B0609020204030204" pitchFamily="49" charset="0"/>
              </a:rPr>
              <a:t>page</a:t>
            </a:r>
            <a:endParaRPr lang="ko-KR" altLang="en-US" sz="1600" dirty="0">
              <a:latin typeface="Consolas" panose="020B0609020204030204" pitchFamily="49" charset="0"/>
            </a:endParaRPr>
          </a:p>
          <a:p>
            <a:r>
              <a:rPr lang="ko-KR" altLang="en-US" sz="1600" dirty="0">
                <a:latin typeface="Consolas" panose="020B0609020204030204" pitchFamily="49" charset="0"/>
              </a:rPr>
              <a:t>  </a:t>
            </a:r>
            <a:r>
              <a:rPr lang="ko-KR" altLang="en-US" sz="1600" dirty="0" err="1">
                <a:latin typeface="Consolas" panose="020B0609020204030204" pitchFamily="49" charset="0"/>
              </a:rPr>
              <a:t>server.on</a:t>
            </a:r>
            <a:r>
              <a:rPr lang="ko-KR" altLang="en-US" sz="1600" dirty="0">
                <a:latin typeface="Consolas" panose="020B0609020204030204" pitchFamily="49" charset="0"/>
              </a:rPr>
              <a:t>("/", HTTP_GET, [](</a:t>
            </a:r>
            <a:r>
              <a:rPr lang="ko-KR" altLang="en-US" sz="1600" dirty="0" err="1">
                <a:latin typeface="Consolas" panose="020B0609020204030204" pitchFamily="49" charset="0"/>
              </a:rPr>
              <a:t>AsyncWebServerRequest</a:t>
            </a:r>
            <a:r>
              <a:rPr lang="ko-KR" altLang="en-US" sz="1600" dirty="0">
                <a:latin typeface="Consolas" panose="020B0609020204030204" pitchFamily="49" charset="0"/>
              </a:rPr>
              <a:t> *</a:t>
            </a:r>
            <a:r>
              <a:rPr lang="ko-KR" altLang="en-US" sz="1600" dirty="0" err="1">
                <a:latin typeface="Consolas" panose="020B0609020204030204" pitchFamily="49" charset="0"/>
              </a:rPr>
              <a:t>request</a:t>
            </a:r>
            <a:r>
              <a:rPr lang="ko-KR" altLang="en-US" sz="1600" dirty="0">
                <a:latin typeface="Consolas" panose="020B0609020204030204" pitchFamily="49" charset="0"/>
              </a:rPr>
              <a:t>){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  //</a:t>
            </a:r>
            <a:r>
              <a:rPr lang="ko-KR" altLang="en-US" sz="1600" dirty="0" err="1">
                <a:latin typeface="Consolas" panose="020B0609020204030204" pitchFamily="49" charset="0"/>
              </a:rPr>
              <a:t>request</a:t>
            </a:r>
            <a:r>
              <a:rPr lang="ko-KR" altLang="en-US" sz="1600" dirty="0">
                <a:latin typeface="Consolas" panose="020B0609020204030204" pitchFamily="49" charset="0"/>
              </a:rPr>
              <a:t>-&gt;</a:t>
            </a:r>
            <a:r>
              <a:rPr lang="ko-KR" altLang="en-US" sz="1600" dirty="0" err="1">
                <a:latin typeface="Consolas" panose="020B0609020204030204" pitchFamily="49" charset="0"/>
              </a:rPr>
              <a:t>send_P</a:t>
            </a:r>
            <a:r>
              <a:rPr lang="ko-KR" altLang="en-US" sz="1600" dirty="0">
                <a:latin typeface="Consolas" panose="020B0609020204030204" pitchFamily="49" charset="0"/>
              </a:rPr>
              <a:t>(200, "</a:t>
            </a:r>
            <a:r>
              <a:rPr lang="ko-KR" altLang="en-US" sz="1600" dirty="0" err="1">
                <a:latin typeface="Consolas" panose="020B0609020204030204" pitchFamily="49" charset="0"/>
              </a:rPr>
              <a:t>text</a:t>
            </a:r>
            <a:r>
              <a:rPr lang="ko-KR" altLang="en-US" sz="1600" dirty="0">
                <a:latin typeface="Consolas" panose="020B0609020204030204" pitchFamily="49" charset="0"/>
              </a:rPr>
              <a:t>/</a:t>
            </a:r>
            <a:r>
              <a:rPr lang="ko-KR" altLang="en-US" sz="1600" dirty="0" err="1">
                <a:latin typeface="Consolas" panose="020B0609020204030204" pitchFamily="49" charset="0"/>
              </a:rPr>
              <a:t>html</a:t>
            </a:r>
            <a:r>
              <a:rPr lang="ko-KR" altLang="en-US" sz="1600" dirty="0">
                <a:latin typeface="Consolas" panose="020B0609020204030204" pitchFamily="49" charset="0"/>
              </a:rPr>
              <a:t>", </a:t>
            </a:r>
            <a:r>
              <a:rPr lang="ko-KR" altLang="en-US" sz="1600" dirty="0" err="1">
                <a:latin typeface="Consolas" panose="020B0609020204030204" pitchFamily="49" charset="0"/>
              </a:rPr>
              <a:t>index_html</a:t>
            </a:r>
            <a:r>
              <a:rPr lang="ko-KR" altLang="en-US" sz="1600" dirty="0">
                <a:latin typeface="Consolas" panose="020B0609020204030204" pitchFamily="49" charset="0"/>
              </a:rPr>
              <a:t>, </a:t>
            </a:r>
            <a:r>
              <a:rPr lang="ko-KR" altLang="en-US" sz="1600" dirty="0" err="1">
                <a:latin typeface="Consolas" panose="020B0609020204030204" pitchFamily="49" charset="0"/>
              </a:rPr>
              <a:t>processor</a:t>
            </a:r>
            <a:r>
              <a:rPr lang="ko-KR" alt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  </a:t>
            </a:r>
            <a:r>
              <a:rPr lang="ko-KR" altLang="en-US" sz="1600" dirty="0" err="1">
                <a:latin typeface="Consolas" panose="020B0609020204030204" pitchFamily="49" charset="0"/>
              </a:rPr>
              <a:t>request</a:t>
            </a:r>
            <a:r>
              <a:rPr lang="ko-KR" altLang="en-US" sz="1600" dirty="0">
                <a:latin typeface="Consolas" panose="020B0609020204030204" pitchFamily="49" charset="0"/>
              </a:rPr>
              <a:t>-&gt;</a:t>
            </a:r>
            <a:r>
              <a:rPr lang="ko-KR" altLang="en-US" sz="1600" dirty="0" err="1">
                <a:latin typeface="Consolas" panose="020B0609020204030204" pitchFamily="49" charset="0"/>
              </a:rPr>
              <a:t>send</a:t>
            </a:r>
            <a:r>
              <a:rPr lang="ko-KR" altLang="en-US" sz="1600" dirty="0">
                <a:latin typeface="Consolas" panose="020B0609020204030204" pitchFamily="49" charset="0"/>
              </a:rPr>
              <a:t>(SPIFFS, "/</a:t>
            </a:r>
            <a:r>
              <a:rPr lang="ko-KR" altLang="en-US" sz="1600" dirty="0" err="1">
                <a:latin typeface="Consolas" panose="020B0609020204030204" pitchFamily="49" charset="0"/>
              </a:rPr>
              <a:t>index.html</a:t>
            </a:r>
            <a:r>
              <a:rPr lang="ko-KR" altLang="en-US" sz="1600" dirty="0">
                <a:latin typeface="Consolas" panose="020B0609020204030204" pitchFamily="49" charset="0"/>
              </a:rPr>
              <a:t>", "</a:t>
            </a:r>
            <a:r>
              <a:rPr lang="ko-KR" altLang="en-US" sz="1600" dirty="0" err="1">
                <a:latin typeface="Consolas" panose="020B0609020204030204" pitchFamily="49" charset="0"/>
              </a:rPr>
              <a:t>text</a:t>
            </a:r>
            <a:r>
              <a:rPr lang="ko-KR" altLang="en-US" sz="1600" dirty="0">
                <a:latin typeface="Consolas" panose="020B0609020204030204" pitchFamily="49" charset="0"/>
              </a:rPr>
              <a:t>/</a:t>
            </a:r>
            <a:r>
              <a:rPr lang="ko-KR" altLang="en-US" sz="1600" dirty="0" err="1">
                <a:latin typeface="Consolas" panose="020B0609020204030204" pitchFamily="49" charset="0"/>
              </a:rPr>
              <a:t>html</a:t>
            </a:r>
            <a:r>
              <a:rPr lang="ko-KR" altLang="en-US" sz="1600" dirty="0">
                <a:latin typeface="Consolas" panose="020B0609020204030204" pitchFamily="49" charset="0"/>
              </a:rPr>
              <a:t>");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});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</a:t>
            </a:r>
            <a:r>
              <a:rPr lang="ko-KR" altLang="en-US" sz="1600" dirty="0" err="1">
                <a:latin typeface="Consolas" panose="020B0609020204030204" pitchFamily="49" charset="0"/>
              </a:rPr>
              <a:t>server.on</a:t>
            </a:r>
            <a:r>
              <a:rPr lang="ko-KR" altLang="en-US" sz="1600" dirty="0">
                <a:latin typeface="Consolas" panose="020B0609020204030204" pitchFamily="49" charset="0"/>
              </a:rPr>
              <a:t>("/</a:t>
            </a:r>
            <a:r>
              <a:rPr lang="ko-KR" altLang="en-US" sz="1600" dirty="0" err="1">
                <a:latin typeface="Consolas" panose="020B0609020204030204" pitchFamily="49" charset="0"/>
              </a:rPr>
              <a:t>temperature</a:t>
            </a:r>
            <a:r>
              <a:rPr lang="ko-KR" altLang="en-US" sz="1600" dirty="0">
                <a:latin typeface="Consolas" panose="020B0609020204030204" pitchFamily="49" charset="0"/>
              </a:rPr>
              <a:t>", HTTP_GET, [](</a:t>
            </a:r>
            <a:r>
              <a:rPr lang="ko-KR" altLang="en-US" sz="1600" dirty="0" err="1">
                <a:latin typeface="Consolas" panose="020B0609020204030204" pitchFamily="49" charset="0"/>
              </a:rPr>
              <a:t>AsyncWebServerRequest</a:t>
            </a:r>
            <a:r>
              <a:rPr lang="ko-KR" altLang="en-US" sz="1600" dirty="0">
                <a:latin typeface="Consolas" panose="020B0609020204030204" pitchFamily="49" charset="0"/>
              </a:rPr>
              <a:t> *</a:t>
            </a:r>
            <a:r>
              <a:rPr lang="ko-KR" altLang="en-US" sz="1600" dirty="0" err="1">
                <a:latin typeface="Consolas" panose="020B0609020204030204" pitchFamily="49" charset="0"/>
              </a:rPr>
              <a:t>request</a:t>
            </a:r>
            <a:r>
              <a:rPr lang="ko-KR" altLang="en-US" sz="1600" dirty="0">
                <a:latin typeface="Consolas" panose="020B0609020204030204" pitchFamily="49" charset="0"/>
              </a:rPr>
              <a:t>){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  </a:t>
            </a:r>
            <a:r>
              <a:rPr lang="ko-KR" altLang="en-US" sz="1600" dirty="0" err="1">
                <a:latin typeface="Consolas" panose="020B0609020204030204" pitchFamily="49" charset="0"/>
              </a:rPr>
              <a:t>request</a:t>
            </a:r>
            <a:r>
              <a:rPr lang="ko-KR" altLang="en-US" sz="1600" dirty="0">
                <a:latin typeface="Consolas" panose="020B0609020204030204" pitchFamily="49" charset="0"/>
              </a:rPr>
              <a:t>-&gt;</a:t>
            </a:r>
            <a:r>
              <a:rPr lang="ko-KR" altLang="en-US" sz="1600" dirty="0" err="1">
                <a:latin typeface="Consolas" panose="020B0609020204030204" pitchFamily="49" charset="0"/>
              </a:rPr>
              <a:t>send</a:t>
            </a:r>
            <a:r>
              <a:rPr lang="ko-KR" altLang="en-US" sz="1600" dirty="0">
                <a:latin typeface="Consolas" panose="020B0609020204030204" pitchFamily="49" charset="0"/>
              </a:rPr>
              <a:t>(200, "</a:t>
            </a:r>
            <a:r>
              <a:rPr lang="ko-KR" altLang="en-US" sz="1600" dirty="0" err="1">
                <a:latin typeface="Consolas" panose="020B0609020204030204" pitchFamily="49" charset="0"/>
              </a:rPr>
              <a:t>text</a:t>
            </a:r>
            <a:r>
              <a:rPr lang="ko-KR" altLang="en-US" sz="1600" dirty="0">
                <a:latin typeface="Consolas" panose="020B0609020204030204" pitchFamily="49" charset="0"/>
              </a:rPr>
              <a:t>/</a:t>
            </a:r>
            <a:r>
              <a:rPr lang="ko-KR" altLang="en-US" sz="1600" dirty="0" err="1">
                <a:latin typeface="Consolas" panose="020B0609020204030204" pitchFamily="49" charset="0"/>
              </a:rPr>
              <a:t>plain</a:t>
            </a:r>
            <a:r>
              <a:rPr lang="ko-KR" altLang="en-US" sz="1600" dirty="0">
                <a:latin typeface="Consolas" panose="020B0609020204030204" pitchFamily="49" charset="0"/>
              </a:rPr>
              <a:t>", </a:t>
            </a:r>
            <a:r>
              <a:rPr lang="ko-KR" altLang="en-US" sz="1600" dirty="0" err="1">
                <a:latin typeface="Consolas" panose="020B0609020204030204" pitchFamily="49" charset="0"/>
              </a:rPr>
              <a:t>readDHTTemperature</a:t>
            </a:r>
            <a:r>
              <a:rPr lang="ko-KR" altLang="en-US" sz="1600" dirty="0">
                <a:latin typeface="Consolas" panose="020B0609020204030204" pitchFamily="49" charset="0"/>
              </a:rPr>
              <a:t>().</a:t>
            </a:r>
            <a:r>
              <a:rPr lang="ko-KR" altLang="en-US" sz="1600" dirty="0" err="1">
                <a:latin typeface="Consolas" panose="020B0609020204030204" pitchFamily="49" charset="0"/>
              </a:rPr>
              <a:t>c_str</a:t>
            </a:r>
            <a:r>
              <a:rPr lang="ko-KR" altLang="en-US" sz="1600" dirty="0">
                <a:latin typeface="Consolas" panose="020B0609020204030204" pitchFamily="49" charset="0"/>
              </a:rPr>
              <a:t>());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});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</a:t>
            </a:r>
            <a:r>
              <a:rPr lang="ko-KR" altLang="en-US" sz="1600" dirty="0" err="1">
                <a:latin typeface="Consolas" panose="020B0609020204030204" pitchFamily="49" charset="0"/>
              </a:rPr>
              <a:t>server.on</a:t>
            </a:r>
            <a:r>
              <a:rPr lang="ko-KR" altLang="en-US" sz="1600" dirty="0">
                <a:latin typeface="Consolas" panose="020B0609020204030204" pitchFamily="49" charset="0"/>
              </a:rPr>
              <a:t>("/</a:t>
            </a:r>
            <a:r>
              <a:rPr lang="ko-KR" altLang="en-US" sz="1600" dirty="0" err="1">
                <a:latin typeface="Consolas" panose="020B0609020204030204" pitchFamily="49" charset="0"/>
              </a:rPr>
              <a:t>humidity</a:t>
            </a:r>
            <a:r>
              <a:rPr lang="ko-KR" altLang="en-US" sz="1600" dirty="0">
                <a:latin typeface="Consolas" panose="020B0609020204030204" pitchFamily="49" charset="0"/>
              </a:rPr>
              <a:t>", HTTP_GET, [](</a:t>
            </a:r>
            <a:r>
              <a:rPr lang="ko-KR" altLang="en-US" sz="1600" dirty="0" err="1">
                <a:latin typeface="Consolas" panose="020B0609020204030204" pitchFamily="49" charset="0"/>
              </a:rPr>
              <a:t>AsyncWebServerRequest</a:t>
            </a:r>
            <a:r>
              <a:rPr lang="ko-KR" altLang="en-US" sz="1600" dirty="0">
                <a:latin typeface="Consolas" panose="020B0609020204030204" pitchFamily="49" charset="0"/>
              </a:rPr>
              <a:t> *</a:t>
            </a:r>
            <a:r>
              <a:rPr lang="ko-KR" altLang="en-US" sz="1600" dirty="0" err="1">
                <a:latin typeface="Consolas" panose="020B0609020204030204" pitchFamily="49" charset="0"/>
              </a:rPr>
              <a:t>request</a:t>
            </a:r>
            <a:r>
              <a:rPr lang="ko-KR" altLang="en-US" sz="1600" dirty="0">
                <a:latin typeface="Consolas" panose="020B0609020204030204" pitchFamily="49" charset="0"/>
              </a:rPr>
              <a:t>){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  </a:t>
            </a:r>
            <a:r>
              <a:rPr lang="ko-KR" altLang="en-US" sz="1600" dirty="0" err="1">
                <a:latin typeface="Consolas" panose="020B0609020204030204" pitchFamily="49" charset="0"/>
              </a:rPr>
              <a:t>request</a:t>
            </a:r>
            <a:r>
              <a:rPr lang="ko-KR" altLang="en-US" sz="1600" dirty="0">
                <a:latin typeface="Consolas" panose="020B0609020204030204" pitchFamily="49" charset="0"/>
              </a:rPr>
              <a:t>-&gt;</a:t>
            </a:r>
            <a:r>
              <a:rPr lang="ko-KR" altLang="en-US" sz="1600" dirty="0" err="1">
                <a:latin typeface="Consolas" panose="020B0609020204030204" pitchFamily="49" charset="0"/>
              </a:rPr>
              <a:t>send</a:t>
            </a:r>
            <a:r>
              <a:rPr lang="ko-KR" altLang="en-US" sz="1600" dirty="0">
                <a:latin typeface="Consolas" panose="020B0609020204030204" pitchFamily="49" charset="0"/>
              </a:rPr>
              <a:t>(200, "</a:t>
            </a:r>
            <a:r>
              <a:rPr lang="ko-KR" altLang="en-US" sz="1600" dirty="0" err="1">
                <a:latin typeface="Consolas" panose="020B0609020204030204" pitchFamily="49" charset="0"/>
              </a:rPr>
              <a:t>text</a:t>
            </a:r>
            <a:r>
              <a:rPr lang="ko-KR" altLang="en-US" sz="1600" dirty="0">
                <a:latin typeface="Consolas" panose="020B0609020204030204" pitchFamily="49" charset="0"/>
              </a:rPr>
              <a:t>/</a:t>
            </a:r>
            <a:r>
              <a:rPr lang="ko-KR" altLang="en-US" sz="1600" dirty="0" err="1">
                <a:latin typeface="Consolas" panose="020B0609020204030204" pitchFamily="49" charset="0"/>
              </a:rPr>
              <a:t>plain</a:t>
            </a:r>
            <a:r>
              <a:rPr lang="ko-KR" altLang="en-US" sz="1600" dirty="0">
                <a:latin typeface="Consolas" panose="020B0609020204030204" pitchFamily="49" charset="0"/>
              </a:rPr>
              <a:t>", </a:t>
            </a:r>
            <a:r>
              <a:rPr lang="ko-KR" altLang="en-US" sz="1600" dirty="0" err="1">
                <a:latin typeface="Consolas" panose="020B0609020204030204" pitchFamily="49" charset="0"/>
              </a:rPr>
              <a:t>readDHTHumidity</a:t>
            </a:r>
            <a:r>
              <a:rPr lang="ko-KR" altLang="en-US" sz="1600" dirty="0">
                <a:latin typeface="Consolas" panose="020B0609020204030204" pitchFamily="49" charset="0"/>
              </a:rPr>
              <a:t>().</a:t>
            </a:r>
            <a:r>
              <a:rPr lang="ko-KR" altLang="en-US" sz="1600" dirty="0" err="1">
                <a:latin typeface="Consolas" panose="020B0609020204030204" pitchFamily="49" charset="0"/>
              </a:rPr>
              <a:t>c_str</a:t>
            </a:r>
            <a:r>
              <a:rPr lang="ko-KR" altLang="en-US" sz="1600" dirty="0">
                <a:latin typeface="Consolas" panose="020B0609020204030204" pitchFamily="49" charset="0"/>
              </a:rPr>
              <a:t>());</a:t>
            </a:r>
          </a:p>
          <a:p>
            <a:r>
              <a:rPr lang="ko-KR" altLang="en-US" sz="1600" dirty="0">
                <a:latin typeface="Consolas" panose="020B0609020204030204" pitchFamily="49" charset="0"/>
              </a:rPr>
              <a:t>  });</a:t>
            </a:r>
          </a:p>
        </p:txBody>
      </p:sp>
    </p:spTree>
    <p:extLst>
      <p:ext uri="{BB962C8B-B14F-4D97-AF65-F5344CB8AC3E}">
        <p14:creationId xmlns:p14="http://schemas.microsoft.com/office/powerpoint/2010/main" val="1746853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EC229-BE53-7750-44B5-ED83E183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63AC8B-46F5-8682-591C-F1C5B44E0F17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ESP32 Sketch Data Upload Tool </a:t>
            </a:r>
            <a:r>
              <a:rPr lang="ko-KR" altLang="en-US" b="1" dirty="0">
                <a:solidFill>
                  <a:schemeClr val="bg1"/>
                </a:solidFill>
              </a:rPr>
              <a:t>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B2CCE-BEA8-23AE-AD15-916AF3FF340F}"/>
              </a:ext>
            </a:extLst>
          </p:cNvPr>
          <p:cNvSpPr txBox="1"/>
          <p:nvPr/>
        </p:nvSpPr>
        <p:spPr>
          <a:xfrm>
            <a:off x="317500" y="863600"/>
            <a:ext cx="101600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ESP32FS Plug-in download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다운로드 받은 파일에서 </a:t>
            </a:r>
            <a:r>
              <a:rPr lang="en-US" altLang="ko-KR" dirty="0"/>
              <a:t>esp32fs.jar </a:t>
            </a:r>
            <a:r>
              <a:rPr lang="ko-KR" altLang="en-US" dirty="0"/>
              <a:t>파일을 </a:t>
            </a:r>
            <a:r>
              <a:rPr lang="en-US" altLang="ko-KR" dirty="0"/>
              <a:t>Arduino IDE tools </a:t>
            </a:r>
            <a:r>
              <a:rPr lang="ko-KR" altLang="en-US" dirty="0"/>
              <a:t>폴더에 복사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  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Windows: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C:\Users\&lt;사용자이름&gt;\Documents\Arduino\tools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Arduino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를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program files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에 설치한 경우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sym typeface="Wingdings" panose="05000000000000000000" pitchFamily="2" charset="2"/>
              </a:rPr>
              <a:t>  C:\Program Files (x86)\Arduino\tools\ESP32FS\tool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br>
              <a:rPr lang="en-US" altLang="ko-KR" dirty="0"/>
            </a:b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ED851-09B2-7F6C-4848-5CF86099E30D}"/>
              </a:ext>
            </a:extLst>
          </p:cNvPr>
          <p:cNvSpPr txBox="1"/>
          <p:nvPr/>
        </p:nvSpPr>
        <p:spPr>
          <a:xfrm>
            <a:off x="650875" y="124684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Releases · me-no-dev/arduino-esp32fs-plugin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AE3908E-37D2-E587-8283-7EF9D96D3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74" y="3429000"/>
            <a:ext cx="8873493" cy="19431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101598B-F49E-EA7B-B525-F7E218547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646" y="4523316"/>
            <a:ext cx="5980007" cy="2073711"/>
          </a:xfrm>
          <a:prstGeom prst="rect">
            <a:avLst/>
          </a:prstGeom>
          <a:ln w="317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859322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79780-AA47-B8E5-9472-D2B1417C9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FC063C-6018-5C5E-A09F-8BFC4D86159A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ESP32 Sketch Data Upload Tool </a:t>
            </a:r>
            <a:r>
              <a:rPr lang="ko-KR" altLang="en-US" b="1" dirty="0">
                <a:solidFill>
                  <a:schemeClr val="bg1"/>
                </a:solidFill>
              </a:rPr>
              <a:t>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ACE02-60F4-FB5B-DD97-35B800B1A700}"/>
              </a:ext>
            </a:extLst>
          </p:cNvPr>
          <p:cNvSpPr txBox="1"/>
          <p:nvPr/>
        </p:nvSpPr>
        <p:spPr>
          <a:xfrm>
            <a:off x="317500" y="863600"/>
            <a:ext cx="1016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Arduino </a:t>
            </a:r>
            <a:r>
              <a:rPr lang="ko-KR" altLang="en-US" dirty="0"/>
              <a:t>종료 후</a:t>
            </a:r>
            <a:r>
              <a:rPr lang="en-US" altLang="ko-KR" dirty="0"/>
              <a:t>, </a:t>
            </a:r>
            <a:r>
              <a:rPr lang="ko-KR" altLang="en-US" dirty="0"/>
              <a:t>재 실행</a:t>
            </a:r>
            <a:endParaRPr lang="en-US" altLang="ko-KR" dirty="0"/>
          </a:p>
          <a:p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툴 </a:t>
            </a:r>
            <a:r>
              <a:rPr lang="en-US" altLang="ko-KR" dirty="0">
                <a:sym typeface="Wingdings" panose="05000000000000000000" pitchFamily="2" charset="2"/>
              </a:rPr>
              <a:t> ESP32 Sketch Data Upload   </a:t>
            </a:r>
            <a:r>
              <a:rPr lang="ko-KR" altLang="en-US" dirty="0">
                <a:sym typeface="Wingdings" panose="05000000000000000000" pitchFamily="2" charset="2"/>
              </a:rPr>
              <a:t>메뉴 생겼는지 확인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0A0533-0B83-7047-6B61-F9D20243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0" y="1985513"/>
            <a:ext cx="6411220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25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A3D47-FDB2-A54B-AAB7-EAFF6DDF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2899131-BDBB-1FCB-D04E-A6F37C140DA2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bg1"/>
                </a:solidFill>
              </a:rPr>
              <a:t>ESP32 Sketch Data Upload Tool </a:t>
            </a:r>
            <a:r>
              <a:rPr lang="ko-KR" altLang="en-US" b="1" dirty="0">
                <a:solidFill>
                  <a:schemeClr val="bg1"/>
                </a:solidFill>
              </a:rPr>
              <a:t>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57698-7B5F-1226-0692-F5009BD68F16}"/>
              </a:ext>
            </a:extLst>
          </p:cNvPr>
          <p:cNvSpPr txBox="1"/>
          <p:nvPr/>
        </p:nvSpPr>
        <p:spPr>
          <a:xfrm>
            <a:off x="317500" y="863600"/>
            <a:ext cx="11557000" cy="390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sym typeface="Wingdings" panose="05000000000000000000" pitchFamily="2" charset="2"/>
              </a:rPr>
              <a:t>5. ESP32 Sketch Data Upload </a:t>
            </a:r>
            <a:r>
              <a:rPr lang="ko-KR" altLang="en-US" dirty="0">
                <a:sym typeface="Wingdings" panose="05000000000000000000" pitchFamily="2" charset="2"/>
              </a:rPr>
              <a:t>클릭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ESP32 </a:t>
            </a:r>
            <a:r>
              <a:rPr lang="ko-KR" altLang="en-US" dirty="0">
                <a:sym typeface="Wingdings" panose="05000000000000000000" pitchFamily="2" charset="2"/>
              </a:rPr>
              <a:t>플래시 파일 시스템에 파일 업로드 시작</a:t>
            </a:r>
            <a:r>
              <a:rPr lang="en-US" altLang="ko-KR" dirty="0">
                <a:sym typeface="Wingdings" panose="05000000000000000000" pitchFamily="2" charset="2"/>
              </a:rPr>
              <a:t>( .html, .</a:t>
            </a:r>
            <a:r>
              <a:rPr lang="en-US" altLang="ko-KR" dirty="0" err="1">
                <a:sym typeface="Wingdings" panose="05000000000000000000" pitchFamily="2" charset="2"/>
              </a:rPr>
              <a:t>css</a:t>
            </a:r>
            <a:r>
              <a:rPr lang="en-US" altLang="ko-KR" dirty="0">
                <a:sym typeface="Wingdings" panose="05000000000000000000" pitchFamily="2" charset="2"/>
              </a:rPr>
              <a:t>, .</a:t>
            </a:r>
            <a:r>
              <a:rPr lang="en-US" altLang="ko-KR" dirty="0" err="1">
                <a:sym typeface="Wingdings" panose="05000000000000000000" pitchFamily="2" charset="2"/>
              </a:rPr>
              <a:t>js</a:t>
            </a:r>
            <a:r>
              <a:rPr lang="en-US" altLang="ko-KR" dirty="0">
                <a:sym typeface="Wingdings" panose="05000000000000000000" pitchFamily="2" charset="2"/>
              </a:rPr>
              <a:t>, .</a:t>
            </a:r>
            <a:r>
              <a:rPr lang="en-US" altLang="ko-KR" dirty="0" err="1">
                <a:sym typeface="Wingdings" panose="05000000000000000000" pitchFamily="2" charset="2"/>
              </a:rPr>
              <a:t>json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등 </a:t>
            </a:r>
            <a:r>
              <a:rPr lang="en-US" altLang="ko-KR" dirty="0">
                <a:sym typeface="Wingdings" panose="05000000000000000000" pitchFamily="2" charset="2"/>
              </a:rPr>
              <a:t>web resource file </a:t>
            </a:r>
            <a:r>
              <a:rPr lang="ko-KR" altLang="en-US" dirty="0">
                <a:sym typeface="Wingdings" panose="05000000000000000000" pitchFamily="2" charset="2"/>
              </a:rPr>
              <a:t>을  </a:t>
            </a:r>
            <a:r>
              <a:rPr lang="en-US" altLang="ko-KR" dirty="0">
                <a:sym typeface="Wingdings" panose="05000000000000000000" pitchFamily="2" charset="2"/>
              </a:rPr>
              <a:t>SPIFFS</a:t>
            </a:r>
            <a:r>
              <a:rPr lang="ko-KR" altLang="en-US" dirty="0">
                <a:sym typeface="Wingdings" panose="05000000000000000000" pitchFamily="2" charset="2"/>
              </a:rPr>
              <a:t>에 저장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sym typeface="Wingdings" panose="05000000000000000000" pitchFamily="2" charset="2"/>
              </a:rPr>
              <a:t>6. Uploader </a:t>
            </a:r>
            <a:r>
              <a:rPr lang="ko-KR" altLang="en-US" dirty="0">
                <a:sym typeface="Wingdings" panose="05000000000000000000" pitchFamily="2" charset="2"/>
              </a:rPr>
              <a:t>버튼 클릭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77D784-59B0-47BC-689E-A83F9F8A0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57" y="1567319"/>
            <a:ext cx="8316486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45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EFA9-5082-0C22-553C-E5928AB3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A685EC-F382-C83A-900E-828B3990BF8C}"/>
              </a:ext>
            </a:extLst>
          </p:cNvPr>
          <p:cNvSpPr/>
          <p:nvPr/>
        </p:nvSpPr>
        <p:spPr>
          <a:xfrm>
            <a:off x="0" y="0"/>
            <a:ext cx="12192000" cy="66501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indent="-360363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bg1"/>
                </a:solidFill>
              </a:rPr>
              <a:t>동작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E06B83-E2AC-E8DF-4872-8C4FC7946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521" y="1138003"/>
            <a:ext cx="6677957" cy="3362794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9263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7752</TotalTime>
  <Words>3040</Words>
  <Application>Microsoft Office PowerPoint</Application>
  <PresentationFormat>와이드스크린</PresentationFormat>
  <Paragraphs>394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Arial Unicode MS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 DW</dc:creator>
  <cp:lastModifiedBy>Dev DW</cp:lastModifiedBy>
  <cp:revision>386</cp:revision>
  <dcterms:created xsi:type="dcterms:W3CDTF">2024-12-18T06:51:20Z</dcterms:created>
  <dcterms:modified xsi:type="dcterms:W3CDTF">2025-03-25T12:18:02Z</dcterms:modified>
</cp:coreProperties>
</file>