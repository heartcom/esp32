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613" r:id="rId4"/>
    <p:sldId id="259" r:id="rId5"/>
    <p:sldId id="263" r:id="rId6"/>
    <p:sldId id="265" r:id="rId7"/>
    <p:sldId id="269" r:id="rId8"/>
    <p:sldId id="266" r:id="rId9"/>
    <p:sldId id="271" r:id="rId10"/>
    <p:sldId id="270" r:id="rId11"/>
    <p:sldId id="298" r:id="rId12"/>
    <p:sldId id="258" r:id="rId13"/>
    <p:sldId id="272" r:id="rId14"/>
    <p:sldId id="299" r:id="rId15"/>
    <p:sldId id="264" r:id="rId16"/>
    <p:sldId id="297" r:id="rId17"/>
    <p:sldId id="305" r:id="rId18"/>
    <p:sldId id="311" r:id="rId19"/>
    <p:sldId id="312" r:id="rId20"/>
    <p:sldId id="313" r:id="rId21"/>
    <p:sldId id="314" r:id="rId22"/>
    <p:sldId id="315" r:id="rId23"/>
    <p:sldId id="316" r:id="rId24"/>
    <p:sldId id="317" r:id="rId25"/>
    <p:sldId id="306" r:id="rId26"/>
    <p:sldId id="307" r:id="rId27"/>
    <p:sldId id="318" r:id="rId28"/>
    <p:sldId id="319" r:id="rId29"/>
    <p:sldId id="320" r:id="rId30"/>
    <p:sldId id="321" r:id="rId31"/>
    <p:sldId id="324" r:id="rId32"/>
    <p:sldId id="327" r:id="rId33"/>
    <p:sldId id="328" r:id="rId34"/>
    <p:sldId id="329" r:id="rId35"/>
    <p:sldId id="330" r:id="rId36"/>
    <p:sldId id="331" r:id="rId37"/>
    <p:sldId id="333" r:id="rId38"/>
    <p:sldId id="614" r:id="rId39"/>
    <p:sldId id="325" r:id="rId40"/>
    <p:sldId id="616" r:id="rId41"/>
    <p:sldId id="617" r:id="rId42"/>
    <p:sldId id="618" r:id="rId43"/>
    <p:sldId id="619" r:id="rId44"/>
    <p:sldId id="620" r:id="rId45"/>
    <p:sldId id="622" r:id="rId46"/>
    <p:sldId id="621" r:id="rId47"/>
    <p:sldId id="623" r:id="rId48"/>
    <p:sldId id="624" r:id="rId49"/>
    <p:sldId id="625" r:id="rId50"/>
    <p:sldId id="322" r:id="rId51"/>
    <p:sldId id="615" r:id="rId52"/>
    <p:sldId id="334" r:id="rId53"/>
    <p:sldId id="335" r:id="rId54"/>
    <p:sldId id="323" r:id="rId55"/>
    <p:sldId id="326" r:id="rId56"/>
    <p:sldId id="338" r:id="rId57"/>
    <p:sldId id="339" r:id="rId58"/>
    <p:sldId id="340" r:id="rId59"/>
    <p:sldId id="341" r:id="rId60"/>
    <p:sldId id="342" r:id="rId61"/>
    <p:sldId id="336" r:id="rId62"/>
    <p:sldId id="337" r:id="rId63"/>
    <p:sldId id="345" r:id="rId64"/>
    <p:sldId id="346" r:id="rId65"/>
    <p:sldId id="347" r:id="rId66"/>
    <p:sldId id="348" r:id="rId67"/>
    <p:sldId id="350" r:id="rId68"/>
    <p:sldId id="349" r:id="rId69"/>
    <p:sldId id="351" r:id="rId70"/>
    <p:sldId id="352" r:id="rId71"/>
    <p:sldId id="353" r:id="rId72"/>
    <p:sldId id="354" r:id="rId73"/>
    <p:sldId id="359" r:id="rId74"/>
    <p:sldId id="360" r:id="rId75"/>
    <p:sldId id="361" r:id="rId76"/>
    <p:sldId id="355" r:id="rId77"/>
    <p:sldId id="362" r:id="rId78"/>
    <p:sldId id="363" r:id="rId79"/>
    <p:sldId id="364" r:id="rId80"/>
    <p:sldId id="366" r:id="rId81"/>
    <p:sldId id="365" r:id="rId82"/>
    <p:sldId id="356" r:id="rId83"/>
    <p:sldId id="367" r:id="rId84"/>
    <p:sldId id="357" r:id="rId85"/>
    <p:sldId id="368" r:id="rId86"/>
    <p:sldId id="370" r:id="rId87"/>
    <p:sldId id="371" r:id="rId88"/>
    <p:sldId id="369" r:id="rId89"/>
    <p:sldId id="372" r:id="rId90"/>
    <p:sldId id="373" r:id="rId91"/>
    <p:sldId id="374" r:id="rId92"/>
    <p:sldId id="376" r:id="rId93"/>
    <p:sldId id="377" r:id="rId94"/>
    <p:sldId id="378" r:id="rId95"/>
    <p:sldId id="379" r:id="rId96"/>
    <p:sldId id="380" r:id="rId97"/>
    <p:sldId id="381" r:id="rId98"/>
    <p:sldId id="382" r:id="rId99"/>
    <p:sldId id="383" r:id="rId100"/>
    <p:sldId id="343" r:id="rId101"/>
    <p:sldId id="521" r:id="rId102"/>
    <p:sldId id="563" r:id="rId103"/>
    <p:sldId id="384" r:id="rId104"/>
    <p:sldId id="385" r:id="rId105"/>
    <p:sldId id="387" r:id="rId106"/>
    <p:sldId id="388" r:id="rId107"/>
    <p:sldId id="389" r:id="rId108"/>
    <p:sldId id="390" r:id="rId109"/>
    <p:sldId id="391" r:id="rId110"/>
    <p:sldId id="386" r:id="rId111"/>
    <p:sldId id="392" r:id="rId112"/>
    <p:sldId id="470" r:id="rId113"/>
    <p:sldId id="523" r:id="rId114"/>
    <p:sldId id="524" r:id="rId115"/>
    <p:sldId id="525" r:id="rId116"/>
    <p:sldId id="526" r:id="rId117"/>
    <p:sldId id="527" r:id="rId118"/>
    <p:sldId id="598" r:id="rId119"/>
    <p:sldId id="599" r:id="rId120"/>
    <p:sldId id="600" r:id="rId121"/>
    <p:sldId id="601" r:id="rId122"/>
    <p:sldId id="602" r:id="rId123"/>
    <p:sldId id="603" r:id="rId124"/>
    <p:sldId id="562" r:id="rId125"/>
    <p:sldId id="605" r:id="rId126"/>
    <p:sldId id="606" r:id="rId127"/>
    <p:sldId id="607" r:id="rId128"/>
    <p:sldId id="608" r:id="rId129"/>
    <p:sldId id="609" r:id="rId130"/>
    <p:sldId id="610" r:id="rId131"/>
    <p:sldId id="612" r:id="rId132"/>
    <p:sldId id="611" r:id="rId133"/>
    <p:sldId id="449" r:id="rId134"/>
    <p:sldId id="604" r:id="rId135"/>
    <p:sldId id="522" r:id="rId136"/>
    <p:sldId id="471" r:id="rId137"/>
    <p:sldId id="475" r:id="rId138"/>
    <p:sldId id="472" r:id="rId139"/>
    <p:sldId id="473" r:id="rId140"/>
    <p:sldId id="474" r:id="rId141"/>
    <p:sldId id="476" r:id="rId142"/>
    <p:sldId id="477" r:id="rId143"/>
    <p:sldId id="480" r:id="rId144"/>
    <p:sldId id="481" r:id="rId145"/>
    <p:sldId id="478" r:id="rId146"/>
    <p:sldId id="479" r:id="rId147"/>
    <p:sldId id="482" r:id="rId148"/>
    <p:sldId id="483" r:id="rId149"/>
    <p:sldId id="484" r:id="rId150"/>
    <p:sldId id="489" r:id="rId151"/>
    <p:sldId id="490" r:id="rId152"/>
    <p:sldId id="491" r:id="rId153"/>
    <p:sldId id="492" r:id="rId154"/>
    <p:sldId id="493" r:id="rId155"/>
    <p:sldId id="494" r:id="rId156"/>
    <p:sldId id="495" r:id="rId157"/>
    <p:sldId id="496" r:id="rId158"/>
    <p:sldId id="486" r:id="rId159"/>
    <p:sldId id="497" r:id="rId160"/>
    <p:sldId id="487" r:id="rId161"/>
    <p:sldId id="498" r:id="rId162"/>
    <p:sldId id="500" r:id="rId163"/>
    <p:sldId id="501" r:id="rId164"/>
    <p:sldId id="499" r:id="rId165"/>
    <p:sldId id="502" r:id="rId166"/>
    <p:sldId id="503" r:id="rId167"/>
    <p:sldId id="504" r:id="rId168"/>
    <p:sldId id="505" r:id="rId169"/>
    <p:sldId id="514" r:id="rId170"/>
    <p:sldId id="515" r:id="rId171"/>
    <p:sldId id="517" r:id="rId172"/>
    <p:sldId id="506" r:id="rId173"/>
    <p:sldId id="507" r:id="rId174"/>
    <p:sldId id="508" r:id="rId175"/>
    <p:sldId id="509" r:id="rId176"/>
    <p:sldId id="510" r:id="rId177"/>
    <p:sldId id="519" r:id="rId178"/>
    <p:sldId id="518" r:id="rId179"/>
    <p:sldId id="520" r:id="rId180"/>
    <p:sldId id="511" r:id="rId181"/>
    <p:sldId id="512" r:id="rId182"/>
    <p:sldId id="393" r:id="rId183"/>
    <p:sldId id="428" r:id="rId184"/>
    <p:sldId id="429" r:id="rId185"/>
    <p:sldId id="413" r:id="rId186"/>
    <p:sldId id="432" r:id="rId187"/>
    <p:sldId id="433" r:id="rId188"/>
    <p:sldId id="435" r:id="rId189"/>
    <p:sldId id="436" r:id="rId190"/>
    <p:sldId id="437" r:id="rId191"/>
    <p:sldId id="438" r:id="rId192"/>
    <p:sldId id="439" r:id="rId193"/>
    <p:sldId id="440" r:id="rId194"/>
    <p:sldId id="430" r:id="rId195"/>
    <p:sldId id="427" r:id="rId196"/>
    <p:sldId id="442" r:id="rId197"/>
    <p:sldId id="443" r:id="rId198"/>
    <p:sldId id="444" r:id="rId199"/>
    <p:sldId id="445" r:id="rId200"/>
    <p:sldId id="446" r:id="rId201"/>
    <p:sldId id="447" r:id="rId202"/>
    <p:sldId id="448" r:id="rId203"/>
    <p:sldId id="441" r:id="rId204"/>
    <p:sldId id="451" r:id="rId205"/>
    <p:sldId id="452" r:id="rId206"/>
    <p:sldId id="453" r:id="rId207"/>
    <p:sldId id="454" r:id="rId208"/>
    <p:sldId id="455" r:id="rId209"/>
    <p:sldId id="456" r:id="rId210"/>
    <p:sldId id="457" r:id="rId211"/>
    <p:sldId id="458" r:id="rId212"/>
    <p:sldId id="459" r:id="rId213"/>
    <p:sldId id="460" r:id="rId214"/>
    <p:sldId id="461" r:id="rId215"/>
    <p:sldId id="462" r:id="rId216"/>
    <p:sldId id="469" r:id="rId217"/>
    <p:sldId id="310" r:id="rId218"/>
    <p:sldId id="395" r:id="rId219"/>
    <p:sldId id="396" r:id="rId220"/>
    <p:sldId id="398" r:id="rId221"/>
    <p:sldId id="397" r:id="rId222"/>
    <p:sldId id="399" r:id="rId223"/>
    <p:sldId id="401" r:id="rId224"/>
    <p:sldId id="402" r:id="rId225"/>
    <p:sldId id="400" r:id="rId226"/>
    <p:sldId id="404" r:id="rId227"/>
    <p:sldId id="403" r:id="rId228"/>
    <p:sldId id="407" r:id="rId229"/>
    <p:sldId id="408" r:id="rId230"/>
    <p:sldId id="405" r:id="rId231"/>
    <p:sldId id="409" r:id="rId232"/>
    <p:sldId id="411" r:id="rId233"/>
    <p:sldId id="406" r:id="rId234"/>
    <p:sldId id="412" r:id="rId235"/>
    <p:sldId id="410" r:id="rId236"/>
    <p:sldId id="415" r:id="rId237"/>
    <p:sldId id="431" r:id="rId238"/>
    <p:sldId id="414" r:id="rId239"/>
    <p:sldId id="417" r:id="rId240"/>
    <p:sldId id="418" r:id="rId241"/>
    <p:sldId id="421" r:id="rId242"/>
    <p:sldId id="419" r:id="rId243"/>
    <p:sldId id="420" r:id="rId244"/>
    <p:sldId id="422" r:id="rId245"/>
    <p:sldId id="423" r:id="rId246"/>
    <p:sldId id="424" r:id="rId247"/>
    <p:sldId id="416" r:id="rId248"/>
    <p:sldId id="425" r:id="rId249"/>
    <p:sldId id="426" r:id="rId250"/>
    <p:sldId id="528" r:id="rId251"/>
    <p:sldId id="529" r:id="rId252"/>
    <p:sldId id="531" r:id="rId253"/>
    <p:sldId id="532" r:id="rId254"/>
    <p:sldId id="533" r:id="rId255"/>
    <p:sldId id="535" r:id="rId256"/>
    <p:sldId id="536" r:id="rId257"/>
    <p:sldId id="534" r:id="rId258"/>
    <p:sldId id="537" r:id="rId259"/>
    <p:sldId id="538" r:id="rId260"/>
    <p:sldId id="539" r:id="rId261"/>
    <p:sldId id="540" r:id="rId262"/>
    <p:sldId id="542" r:id="rId263"/>
    <p:sldId id="543" r:id="rId264"/>
    <p:sldId id="544" r:id="rId265"/>
    <p:sldId id="545" r:id="rId266"/>
    <p:sldId id="546" r:id="rId267"/>
    <p:sldId id="547" r:id="rId268"/>
    <p:sldId id="548" r:id="rId269"/>
    <p:sldId id="549" r:id="rId270"/>
    <p:sldId id="550" r:id="rId271"/>
    <p:sldId id="551" r:id="rId272"/>
    <p:sldId id="541" r:id="rId273"/>
    <p:sldId id="554" r:id="rId274"/>
    <p:sldId id="556" r:id="rId275"/>
    <p:sldId id="557" r:id="rId276"/>
    <p:sldId id="558" r:id="rId277"/>
    <p:sldId id="560" r:id="rId278"/>
    <p:sldId id="561" r:id="rId279"/>
    <p:sldId id="463" r:id="rId280"/>
    <p:sldId id="394" r:id="rId281"/>
    <p:sldId id="375" r:id="rId282"/>
    <p:sldId id="530" r:id="rId28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0D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98" autoAdjust="0"/>
    <p:restoredTop sz="94660"/>
  </p:normalViewPr>
  <p:slideViewPr>
    <p:cSldViewPr snapToGrid="0">
      <p:cViewPr varScale="1">
        <p:scale>
          <a:sx n="86" d="100"/>
          <a:sy n="86" d="100"/>
        </p:scale>
        <p:origin x="126"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theme" Target="theme/theme1.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tableStyles" Target="tableStyle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4921BE-B7CC-49AD-98C8-C6BB14495001}" type="doc">
      <dgm:prSet loTypeId="urn:microsoft.com/office/officeart/2005/8/layout/vList2" loCatId="list" qsTypeId="urn:microsoft.com/office/officeart/2005/8/quickstyle/simple1" qsCatId="simple" csTypeId="urn:microsoft.com/office/officeart/2005/8/colors/accent1_2" csCatId="accent1"/>
      <dgm:spPr/>
      <dgm:t>
        <a:bodyPr/>
        <a:lstStyle/>
        <a:p>
          <a:pPr latinLnBrk="1"/>
          <a:endParaRPr lang="ko-KR" altLang="en-US"/>
        </a:p>
      </dgm:t>
    </dgm:pt>
    <dgm:pt modelId="{D358B6CA-9C43-4F35-9B03-B755A6D9DF60}">
      <dgm:prSet/>
      <dgm:spPr/>
      <dgm:t>
        <a:bodyPr/>
        <a:lstStyle/>
        <a:p>
          <a:pPr latinLnBrk="1"/>
          <a:r>
            <a:rPr lang="en-US"/>
            <a:t>Firebase is Google’s mobile application development platform that helps you build, improve, and grow your app.</a:t>
          </a:r>
          <a:endParaRPr lang="ko-KR"/>
        </a:p>
      </dgm:t>
    </dgm:pt>
    <dgm:pt modelId="{1F47FAEB-B570-4350-A18A-2115D5490F17}" type="parTrans" cxnId="{A0174B9B-532D-49DA-92D2-D19BEE4B1312}">
      <dgm:prSet/>
      <dgm:spPr/>
      <dgm:t>
        <a:bodyPr/>
        <a:lstStyle/>
        <a:p>
          <a:pPr latinLnBrk="1"/>
          <a:endParaRPr lang="ko-KR" altLang="en-US"/>
        </a:p>
      </dgm:t>
    </dgm:pt>
    <dgm:pt modelId="{FB5E9F96-528D-4841-A47E-330E403AFFDD}" type="sibTrans" cxnId="{A0174B9B-532D-49DA-92D2-D19BEE4B1312}">
      <dgm:prSet/>
      <dgm:spPr/>
      <dgm:t>
        <a:bodyPr/>
        <a:lstStyle/>
        <a:p>
          <a:pPr latinLnBrk="1"/>
          <a:endParaRPr lang="ko-KR" altLang="en-US"/>
        </a:p>
      </dgm:t>
    </dgm:pt>
    <dgm:pt modelId="{5082E9DE-7362-428F-B892-821C65936FAD}" type="pres">
      <dgm:prSet presAssocID="{094921BE-B7CC-49AD-98C8-C6BB14495001}" presName="linear" presStyleCnt="0">
        <dgm:presLayoutVars>
          <dgm:animLvl val="lvl"/>
          <dgm:resizeHandles val="exact"/>
        </dgm:presLayoutVars>
      </dgm:prSet>
      <dgm:spPr/>
    </dgm:pt>
    <dgm:pt modelId="{6F82CA80-2E24-42C8-97DF-1761F00C2E13}" type="pres">
      <dgm:prSet presAssocID="{D358B6CA-9C43-4F35-9B03-B755A6D9DF60}" presName="parentText" presStyleLbl="node1" presStyleIdx="0" presStyleCnt="1" custLinFactNeighborX="-993" custLinFactNeighborY="-1468">
        <dgm:presLayoutVars>
          <dgm:chMax val="0"/>
          <dgm:bulletEnabled val="1"/>
        </dgm:presLayoutVars>
      </dgm:prSet>
      <dgm:spPr/>
    </dgm:pt>
  </dgm:ptLst>
  <dgm:cxnLst>
    <dgm:cxn modelId="{D4AB6349-BBD7-4012-8AB6-0A157E36252D}" type="presOf" srcId="{D358B6CA-9C43-4F35-9B03-B755A6D9DF60}" destId="{6F82CA80-2E24-42C8-97DF-1761F00C2E13}" srcOrd="0" destOrd="0" presId="urn:microsoft.com/office/officeart/2005/8/layout/vList2"/>
    <dgm:cxn modelId="{A0174B9B-532D-49DA-92D2-D19BEE4B1312}" srcId="{094921BE-B7CC-49AD-98C8-C6BB14495001}" destId="{D358B6CA-9C43-4F35-9B03-B755A6D9DF60}" srcOrd="0" destOrd="0" parTransId="{1F47FAEB-B570-4350-A18A-2115D5490F17}" sibTransId="{FB5E9F96-528D-4841-A47E-330E403AFFDD}"/>
    <dgm:cxn modelId="{ACDB1EAC-8997-4010-9B1B-F9B40C4434A1}" type="presOf" srcId="{094921BE-B7CC-49AD-98C8-C6BB14495001}" destId="{5082E9DE-7362-428F-B892-821C65936FAD}" srcOrd="0" destOrd="0" presId="urn:microsoft.com/office/officeart/2005/8/layout/vList2"/>
    <dgm:cxn modelId="{276EA310-302A-4B73-B1D5-F02643A04A0D}" type="presParOf" srcId="{5082E9DE-7362-428F-B892-821C65936FAD}" destId="{6F82CA80-2E24-42C8-97DF-1761F00C2E1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2CA80-2E24-42C8-97DF-1761F00C2E13}">
      <dsp:nvSpPr>
        <dsp:cNvPr id="0" name=""/>
        <dsp:cNvSpPr/>
      </dsp:nvSpPr>
      <dsp:spPr>
        <a:xfrm>
          <a:off x="0" y="0"/>
          <a:ext cx="9984954" cy="1345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latinLnBrk="1">
            <a:lnSpc>
              <a:spcPct val="90000"/>
            </a:lnSpc>
            <a:spcBef>
              <a:spcPct val="0"/>
            </a:spcBef>
            <a:spcAft>
              <a:spcPct val="35000"/>
            </a:spcAft>
            <a:buNone/>
          </a:pPr>
          <a:r>
            <a:rPr lang="en-US" sz="2500" kern="1200"/>
            <a:t>Firebase is Google’s mobile application development platform that helps you build, improve, and grow your app.</a:t>
          </a:r>
          <a:endParaRPr lang="ko-KR" sz="2500" kern="1200"/>
        </a:p>
      </dsp:txBody>
      <dsp:txXfrm>
        <a:off x="65682" y="65682"/>
        <a:ext cx="9853590" cy="121413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0C0BBC-979E-471E-A1A1-27BB3B2B1B34}"/>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911BD0C-CEE3-4F16-9393-5EB19C7000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E7C10BE-36DB-4B79-B2F3-DDEC4255CEA9}"/>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B29EE978-F50B-483A-BD2E-1F8D322628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02128A-4D1C-456E-9028-28D00E68CFF3}"/>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101563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655884F-480F-45AA-B717-D19A889F7D4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58754FB-5281-4518-9646-7F9CB4CDBEDC}"/>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150E18D-4286-4592-9CB0-CAA53C55815F}"/>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228AE6D5-3274-4060-ACFD-07CD513BFBA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824092A-6AF6-46DE-8E8D-F9F222B6ED76}"/>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997674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126A4A-C8DE-4495-B8A0-31C6F3F64C7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1FE7C5D1-631A-4CA7-9C89-F8DC10C970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F02E6E9-2499-4872-B0DF-0B593305C088}"/>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EA52AD36-B78C-45DE-8DB1-8163BECB5D2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3254DE-E73E-45F3-A3FD-B6D65205D66C}"/>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782146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E008E-7AD0-446C-873C-1AAEBE5C400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37618E4-B189-4AD2-82AE-3BE9507E2F0F}"/>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C10B3DAA-040C-4B1A-AA84-80312A7C10C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D06DB932-1E2A-4AA9-82C9-BB0D32BD47E3}"/>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6" name="바닥글 개체 틀 5">
            <a:extLst>
              <a:ext uri="{FF2B5EF4-FFF2-40B4-BE49-F238E27FC236}">
                <a16:creationId xmlns:a16="http://schemas.microsoft.com/office/drawing/2014/main" id="{2902CDE8-6C21-4256-9212-B72958E6758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CC2EF9E-904F-41BF-BD6E-FA46746123C8}"/>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565990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CD6907-1A75-42C6-808C-A09CFB4C01C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1D835F7-1436-49AD-ADF6-C33D7D6F7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2C024AC-D4E1-43A5-8F4C-7879EED030F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B50D2A6-6991-49A9-8A6C-28936827FC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E2FE32F-CFA1-4EC4-8F6B-8F4AD5F159B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0B932738-C1DC-4C0B-9B7D-91666FD0DDDA}"/>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8" name="바닥글 개체 틀 7">
            <a:extLst>
              <a:ext uri="{FF2B5EF4-FFF2-40B4-BE49-F238E27FC236}">
                <a16:creationId xmlns:a16="http://schemas.microsoft.com/office/drawing/2014/main" id="{CA379B8F-6168-47DA-8C09-86AD7AD4A04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1BA300F-6336-43A9-B927-1D45939BC528}"/>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940969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9D97F7-111C-46C6-8598-678B7A72237A}"/>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6BE122AE-F433-4957-A694-15C3CAAA35CD}"/>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4" name="바닥글 개체 틀 3">
            <a:extLst>
              <a:ext uri="{FF2B5EF4-FFF2-40B4-BE49-F238E27FC236}">
                <a16:creationId xmlns:a16="http://schemas.microsoft.com/office/drawing/2014/main" id="{E01AA457-3E32-431C-AD47-F5B868289FB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E194D9D-9B48-44DE-9315-FEDD6D5106E7}"/>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434158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57DE037-4C50-4BDA-BED0-97EE2F8B93F3}"/>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3" name="바닥글 개체 틀 2">
            <a:extLst>
              <a:ext uri="{FF2B5EF4-FFF2-40B4-BE49-F238E27FC236}">
                <a16:creationId xmlns:a16="http://schemas.microsoft.com/office/drawing/2014/main" id="{DFB656E6-CD1B-4B9C-B7F6-3EBD4EACDA8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05D7158-85B0-4EB6-9E13-8D2B51A7AFB1}"/>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05340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721832-3D79-4224-8915-9F507220570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801BD56-C28D-4D22-B695-BA7F3FBB3A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E0C6591-78F9-46A0-8867-DFF5AE12F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33280B8-AE34-4BFE-AC31-F09E55CE4F0F}"/>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6" name="바닥글 개체 틀 5">
            <a:extLst>
              <a:ext uri="{FF2B5EF4-FFF2-40B4-BE49-F238E27FC236}">
                <a16:creationId xmlns:a16="http://schemas.microsoft.com/office/drawing/2014/main" id="{8E5F0564-791A-4929-8BDC-298AF11CB6B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0B6DF46-5927-4FC7-AFA8-5283D4CA5E55}"/>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64225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AA3010-A35B-4388-AC1A-E14D6C3AD2F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A9014A5A-4950-47C6-B890-C7E38E17FE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4C20E9A-7E65-4956-8721-879C6B2C1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604BF14-8C7A-4C28-9699-5FB3A628A0D4}"/>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6" name="바닥글 개체 틀 5">
            <a:extLst>
              <a:ext uri="{FF2B5EF4-FFF2-40B4-BE49-F238E27FC236}">
                <a16:creationId xmlns:a16="http://schemas.microsoft.com/office/drawing/2014/main" id="{EA261DE6-201A-4893-A9AC-68CE4302F08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C2E2CD8-F2E2-4A48-BB11-37A59E5BBAC0}"/>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32361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C52729-3BBB-44BA-9A3D-2303BF8D4EAB}"/>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7AF2B26-C83A-4FE2-BD1B-92BA051E416E}"/>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FB85EF1-940E-4A2C-9FB7-CFAA48B004E9}"/>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DE05EB6D-0024-48B0-A54D-0A6AFBDDF6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CA319E6-8BDC-4222-9EAD-D2164A1C03D2}"/>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64795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D3754F94-5E0F-44E3-9E1E-28AD8D23DD02}"/>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01D9C8D-FA20-40D8-B906-0C5AF08DC38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F13232C-CAAC-480C-9B9D-52A40BB9EF75}"/>
              </a:ext>
            </a:extLst>
          </p:cNvPr>
          <p:cNvSpPr>
            <a:spLocks noGrp="1"/>
          </p:cNvSpPr>
          <p:nvPr>
            <p:ph type="dt" sz="half" idx="10"/>
          </p:nvPr>
        </p:nvSpPr>
        <p:spPr/>
        <p:txBody>
          <a:body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2A0941F2-2A72-4791-9D8C-634E885055E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61ED03-AA66-44CD-BC70-90462607802F}"/>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19020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E6EA67C-AA85-4004-8588-A069AE47B7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79C7961-BAA4-4C7B-8A05-C9831226EB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89D6EFE-2EF9-41BA-A6A9-C209CB7B7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CE8C75-54C4-4C7D-BC35-797E0B944DAB}" type="datetimeFigureOut">
              <a:rPr lang="ko-KR" altLang="en-US" smtClean="0"/>
              <a:t>2025-04-11</a:t>
            </a:fld>
            <a:endParaRPr lang="ko-KR" altLang="en-US"/>
          </a:p>
        </p:txBody>
      </p:sp>
      <p:sp>
        <p:nvSpPr>
          <p:cNvPr id="5" name="바닥글 개체 틀 4">
            <a:extLst>
              <a:ext uri="{FF2B5EF4-FFF2-40B4-BE49-F238E27FC236}">
                <a16:creationId xmlns:a16="http://schemas.microsoft.com/office/drawing/2014/main" id="{7CE81FE8-8EA8-4097-862E-517AC42F5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0134120-198A-4D1E-BAC5-E8E7F7DDEE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373314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artcom/ESP32"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espressif.com/sites/default/files/documentation/esp32-wroom-32_datasheet_en.pdf"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ocs.espressif.com/projects/esp-idf/en/latest/esp32/get-started/index.html"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randomnerdtutorials.com/installing-the-esp32-board-in-arduino-ide-windows-instructions/" TargetMode="External"/><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randomnerdtutorials.com/esp32-digital-inputs-outputs-arduino/" TargetMode="External"/><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randomnerdtutorials.com/esp32-digital-inputs-outputs-arduino/"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randomnerdtutorials.com/esp32-pwm-arduino-ide/" TargetMode="External"/><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hyperlink" Target="https://randomnerdtutorials.com/esp32-ota-elegantota-arduino/"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ayushsharma82/ElegantOTA"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randomnerdtutorials.com/esp32-ota-elegantota-arduino/"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ESP32Async/AsyncTCP" TargetMode="External"/><Relationship Id="rId2" Type="http://schemas.openxmlformats.org/officeDocument/2006/relationships/hyperlink" Target="https://github.com/ayushsharma82/ElegantOTA" TargetMode="External"/><Relationship Id="rId1" Type="http://schemas.openxmlformats.org/officeDocument/2006/relationships/slideLayout" Target="../slideLayouts/slideLayout1.xml"/><Relationship Id="rId4" Type="http://schemas.openxmlformats.org/officeDocument/2006/relationships/hyperlink" Target="https://github.com/ESP32Async/ESPAsyncWebServer"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hyperlink" Target="https://randomnerdtutorials.com/esp32-adc-analog-read-arduino-ide/"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randomnerdtutorials.com/esp32-deep-sleep-arduino-ide-wake-up-sources/"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hyperlink" Target="https://randomnerdtutorials.com/esp32-deep-sleep-arduino-ide-wake-up-sources/" TargetMode="Externa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hyperlink" Target="https://randomnerdtutorials.com/esp32-deep-sleep-arduino-ide-wake-up-sources/" TargetMode="External"/><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hyperlink" Target="https://randomnerdtutorials.com/esp32-web-server-arduino-ide/" TargetMode="External"/><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112.xml.rels><?xml version="1.0" encoding="UTF-8" standalone="yes"?>
<Relationships xmlns="http://schemas.openxmlformats.org/package/2006/relationships"><Relationship Id="rId3" Type="http://schemas.openxmlformats.org/officeDocument/2006/relationships/hyperlink" Target="https://randomnerdtutorials.com/esp32-async-web-server-espasyncwebserver-library/" TargetMode="External"/><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github.com/me-no-dev/ESPAsyncWebServer"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github.com/me-no-dev/AsyncTCP/archive/master.zip" TargetMode="External"/><Relationship Id="rId2" Type="http://schemas.openxmlformats.org/officeDocument/2006/relationships/hyperlink" Target="https://github.com/me-no-dev/ESPAsyncWebServer/archive/master.zip"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hyperlink" Target="https://randomnerdtutorials.com/esp32-async-web-server-espasyncwebserver-library/"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randomnerdtutorials.com/esp32-web-server-spiffs-spi-flash-file-system/" TargetMode="Externa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randomnerdtutorials.com/install-esp32-filesystem-uploader-arduino-ide/"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hyperlink" Target="https://medium.com/firebase-developers/what-is-firebase-the-complete-story-abridged-bcc730c5f2c0" TargetMode="External"/><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medium.com/firebase-developers/what-is-firebase-the-complete-story-abridged-bcc730c5f2c0" TargetMode="Externa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hyperlink" Target="https://medium.com/firebase-developers/what-is-firebase-the-complete-story-abridged-bcc730c5f2c0" TargetMode="External"/><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hyperlink" Target="https://firebase.google.com/" TargetMode="Externa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hyperlink" Target="https://github.com/mobizt/Firebase-ESP-Client/tree/main/examples/Authentications" TargetMode="External"/><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hyperlink" Target="https://randomnerdtutorials.com/esp32-cam-ai-thinker-pinout/" TargetMode="Externa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hyperlink" Target="https://randomnerdtutorials.com/esp32-cam-video-streaming-web-server-camera-home-assistant/" TargetMode="Externa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hyperlink" Target="https://randomnerdtutorials.com/esp32-cam-take-photo-save-microsd-card/" TargetMode="External"/><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hyperlink" Target="https://randomnerdtutorials.com/esp32-cam-take-photo-save-microsd-card/" TargetMode="External"/><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hyperlink" Target="https://randomnerdtutorials.com/esp32-cam-take-photo-display-web-server/" TargetMode="External"/><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hyperlink" Target="https://github.com/me-no-dev/ESPAsyncWebServer/archive/master.zip" TargetMode="Externa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hyperlink" Target="https://github.com/me-no-dev/AsyncTCP/archive/master.zip" TargetMode="Externa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hyperlink" Target="https://randomnerdtutorials.com/esp32-cam-save-picture-firebase-storage/" TargetMode="External"/><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hyperlink" Target="https://randomnerdtutorials.com/esp32-cam-save-picture-firebase-storage/" TargetMode="Externa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3" Type="http://schemas.openxmlformats.org/officeDocument/2006/relationships/hyperlink" Target="https://randomnerdtutorials.com/esp32-cam-save-picture-firebase-storage/#set-authentication-methods" TargetMode="External"/><Relationship Id="rId2" Type="http://schemas.openxmlformats.org/officeDocument/2006/relationships/hyperlink" Target="https://randomnerdtutorials.com/esp32-cam-save-picture-firebase-storage/#create-firebase-project" TargetMode="External"/><Relationship Id="rId1" Type="http://schemas.openxmlformats.org/officeDocument/2006/relationships/slideLayout" Target="../slideLayouts/slideLayout1.xml"/><Relationship Id="rId6" Type="http://schemas.openxmlformats.org/officeDocument/2006/relationships/hyperlink" Target="https://randomnerdtutorials.com/esp32-cam-save-picture-firebase-storage/#esp32-cam-send-pictures-firebase" TargetMode="External"/><Relationship Id="rId5" Type="http://schemas.openxmlformats.org/officeDocument/2006/relationships/hyperlink" Target="https://randomnerdtutorials.com/esp32-cam-save-picture-firebase-storage/#get-API-Key" TargetMode="External"/><Relationship Id="rId4" Type="http://schemas.openxmlformats.org/officeDocument/2006/relationships/hyperlink" Target="https://randomnerdtutorials.com/esp32-cam-save-picture-firebase-storage/#create-storage-bucket" TargetMode="External"/></Relationships>
</file>

<file path=ppt/slides/_rels/slide2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hyperlink" Target="https://firebase.google.com/" TargetMode="Externa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3" Type="http://schemas.openxmlformats.org/officeDocument/2006/relationships/hyperlink" Target="https://randomnerdtutorials.com/esp32-cam-send-photos-email/" TargetMode="External"/><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1.xml"/><Relationship Id="rId4" Type="http://schemas.openxmlformats.org/officeDocument/2006/relationships/image" Target="../media/image142.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2" Type="http://schemas.openxmlformats.org/officeDocument/2006/relationships/hyperlink" Target="mailto:SENDER_EMAIL@gmail.com" TargetMode="External"/><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xml"/></Relationships>
</file>

<file path=ppt/slides/_rels/slide27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xml"/><Relationship Id="rId4" Type="http://schemas.openxmlformats.org/officeDocument/2006/relationships/image" Target="../media/image158.png"/></Relationships>
</file>

<file path=ppt/slides/_rels/slide27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hyperlink" Target="https://randomnerdtutorials.com/esp32-cam-opencv-js-color-detection-tracking/" TargetMode="Externa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hyperlink" Target="https://docs.opencv.org/4.x/" TargetMode="External"/><Relationship Id="rId1" Type="http://schemas.openxmlformats.org/officeDocument/2006/relationships/slideLayout" Target="../slideLayouts/slideLayout1.xml"/></Relationships>
</file>

<file path=ppt/slides/_rels/slide275.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1.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
<Relationships xmlns="http://schemas.openxmlformats.org/package/2006/relationships"><Relationship Id="rId3" Type="http://schemas.openxmlformats.org/officeDocument/2006/relationships/hyperlink" Target="https://randomnerdtutorials.com/" TargetMode="External"/><Relationship Id="rId2" Type="http://schemas.openxmlformats.org/officeDocument/2006/relationships/hyperlink" Target="https://learnesp32.com/" TargetMode="External"/><Relationship Id="rId1" Type="http://schemas.openxmlformats.org/officeDocument/2006/relationships/slideLayout" Target="../slideLayouts/slideLayout1.xml"/><Relationship Id="rId4" Type="http://schemas.openxmlformats.org/officeDocument/2006/relationships/image" Target="../media/image164.png"/></Relationships>
</file>

<file path=ppt/slides/_rels/slide28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hyperlink" Target="https://learnesp32.com/" TargetMode="External"/><Relationship Id="rId1" Type="http://schemas.openxmlformats.org/officeDocument/2006/relationships/slideLayout" Target="../slideLayouts/slideLayout1.xml"/></Relationships>
</file>

<file path=ppt/slides/_rels/slide28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hyperlink" Target="https://rntlab.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272415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5400" b="1">
                <a:solidFill>
                  <a:schemeClr val="bg1">
                    <a:lumMod val="95000"/>
                  </a:schemeClr>
                </a:solidFill>
              </a:rPr>
              <a:t>마이크로프로세서 제어</a:t>
            </a:r>
            <a:endParaRPr lang="en-US" altLang="ko-KR" sz="5400" b="1">
              <a:solidFill>
                <a:schemeClr val="bg1">
                  <a:lumMod val="95000"/>
                </a:schemeClr>
              </a:solidFill>
            </a:endParaRPr>
          </a:p>
          <a:p>
            <a:pPr algn="ctr"/>
            <a:r>
              <a:rPr lang="ko-KR" altLang="en-US" sz="5400" b="1">
                <a:solidFill>
                  <a:schemeClr val="bg1">
                    <a:lumMod val="95000"/>
                  </a:schemeClr>
                </a:solidFill>
              </a:rPr>
              <a:t>기초 </a:t>
            </a:r>
            <a:r>
              <a:rPr lang="en-US" altLang="ko-KR" sz="5400" b="1">
                <a:solidFill>
                  <a:schemeClr val="bg1">
                    <a:lumMod val="95000"/>
                  </a:schemeClr>
                </a:solidFill>
              </a:rPr>
              <a:t>– ESP32 </a:t>
            </a:r>
            <a:r>
              <a:rPr lang="en-US" altLang="ko-KR" sz="5400" b="1">
                <a:solidFill>
                  <a:schemeClr val="bg1">
                    <a:lumMod val="95000"/>
                  </a:schemeClr>
                </a:solidFill>
                <a:sym typeface="Wingdings" panose="05000000000000000000" pitchFamily="2" charset="2"/>
              </a:rPr>
              <a:t> Arduino IDE</a:t>
            </a:r>
            <a:endParaRPr lang="ko-KR" altLang="en-US" sz="5400" b="1">
              <a:solidFill>
                <a:schemeClr val="bg1">
                  <a:lumMod val="95000"/>
                </a:schemeClr>
              </a:solidFill>
            </a:endParaRPr>
          </a:p>
        </p:txBody>
      </p:sp>
      <p:pic>
        <p:nvPicPr>
          <p:cNvPr id="5" name="그림 4">
            <a:extLst>
              <a:ext uri="{FF2B5EF4-FFF2-40B4-BE49-F238E27FC236}">
                <a16:creationId xmlns:a16="http://schemas.microsoft.com/office/drawing/2014/main" id="{94BECCC1-3BC6-4D53-B19E-30B3441C9951}"/>
              </a:ext>
            </a:extLst>
          </p:cNvPr>
          <p:cNvPicPr>
            <a:picLocks noChangeAspect="1"/>
          </p:cNvPicPr>
          <p:nvPr/>
        </p:nvPicPr>
        <p:blipFill>
          <a:blip r:embed="rId2"/>
          <a:stretch>
            <a:fillRect/>
          </a:stretch>
        </p:blipFill>
        <p:spPr>
          <a:xfrm>
            <a:off x="-1" y="2724150"/>
            <a:ext cx="12191999" cy="4133850"/>
          </a:xfrm>
          <a:prstGeom prst="rect">
            <a:avLst/>
          </a:prstGeom>
        </p:spPr>
      </p:pic>
      <p:sp>
        <p:nvSpPr>
          <p:cNvPr id="6" name="TextBox 5">
            <a:extLst>
              <a:ext uri="{FF2B5EF4-FFF2-40B4-BE49-F238E27FC236}">
                <a16:creationId xmlns:a16="http://schemas.microsoft.com/office/drawing/2014/main" id="{39F04FAB-00EA-591B-7AFD-554D3E2C4E12}"/>
              </a:ext>
            </a:extLst>
          </p:cNvPr>
          <p:cNvSpPr txBox="1"/>
          <p:nvPr/>
        </p:nvSpPr>
        <p:spPr>
          <a:xfrm>
            <a:off x="-3" y="6287588"/>
            <a:ext cx="5188087" cy="461665"/>
          </a:xfrm>
          <a:prstGeom prst="rect">
            <a:avLst/>
          </a:prstGeom>
          <a:noFill/>
        </p:spPr>
        <p:txBody>
          <a:bodyPr wrap="none" rtlCol="0">
            <a:spAutoFit/>
          </a:bodyPr>
          <a:lstStyle/>
          <a:p>
            <a:r>
              <a:rPr lang="en-US" altLang="ko-KR" sz="2400" dirty="0">
                <a:hlinkClick r:id="rId3"/>
              </a:rPr>
              <a:t>https://github.com/heartcom/ESP32</a:t>
            </a:r>
            <a:endParaRPr lang="ko-KR" altLang="en-US" sz="2400" dirty="0"/>
          </a:p>
        </p:txBody>
      </p:sp>
    </p:spTree>
    <p:extLst>
      <p:ext uri="{BB962C8B-B14F-4D97-AF65-F5344CB8AC3E}">
        <p14:creationId xmlns:p14="http://schemas.microsoft.com/office/powerpoint/2010/main" val="65583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dirty="0">
                <a:solidFill>
                  <a:schemeClr val="bg1">
                    <a:lumMod val="95000"/>
                  </a:schemeClr>
                </a:solidFill>
                <a:latin typeface="+mn-ea"/>
              </a:rPr>
              <a:t>목 차</a:t>
            </a:r>
          </a:p>
        </p:txBody>
      </p:sp>
      <p:sp>
        <p:nvSpPr>
          <p:cNvPr id="3" name="TextBox 2">
            <a:extLst>
              <a:ext uri="{FF2B5EF4-FFF2-40B4-BE49-F238E27FC236}">
                <a16:creationId xmlns:a16="http://schemas.microsoft.com/office/drawing/2014/main" id="{9933EF23-19E1-B1FC-CB7E-A9678C837AF0}"/>
              </a:ext>
            </a:extLst>
          </p:cNvPr>
          <p:cNvSpPr txBox="1"/>
          <p:nvPr/>
        </p:nvSpPr>
        <p:spPr>
          <a:xfrm>
            <a:off x="512956" y="1003610"/>
            <a:ext cx="7535396" cy="4512454"/>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ko-KR" altLang="en-US" dirty="0"/>
              <a:t>개발키트 소개 </a:t>
            </a:r>
            <a:r>
              <a:rPr lang="en-US" altLang="ko-KR" dirty="0"/>
              <a:t>(ESP32-DevKit)</a:t>
            </a:r>
          </a:p>
          <a:p>
            <a:pPr marL="285750" indent="-285750">
              <a:lnSpc>
                <a:spcPts val="2900"/>
              </a:lnSpc>
              <a:buFont typeface="Arial" panose="020B0604020202020204" pitchFamily="34" charset="0"/>
              <a:buChar char="•"/>
            </a:pPr>
            <a:r>
              <a:rPr lang="en-US" altLang="ko-KR" dirty="0"/>
              <a:t>ESP32 </a:t>
            </a:r>
            <a:r>
              <a:rPr lang="ko-KR" altLang="en-US" dirty="0"/>
              <a:t>개발 환경 구축</a:t>
            </a:r>
            <a:endParaRPr lang="en-US" altLang="ko-KR" dirty="0"/>
          </a:p>
          <a:p>
            <a:pPr marL="285750" indent="-285750">
              <a:lnSpc>
                <a:spcPts val="2900"/>
              </a:lnSpc>
              <a:buFont typeface="Arial" panose="020B0604020202020204" pitchFamily="34" charset="0"/>
              <a:buChar char="•"/>
            </a:pPr>
            <a:r>
              <a:rPr lang="en-US" altLang="ko-KR" dirty="0"/>
              <a:t>GPIO, PWM </a:t>
            </a:r>
            <a:r>
              <a:rPr lang="ko-KR" altLang="en-US" dirty="0"/>
              <a:t>제어</a:t>
            </a:r>
            <a:endParaRPr lang="en-US" altLang="ko-KR" dirty="0"/>
          </a:p>
          <a:p>
            <a:pPr marL="285750" indent="-285750">
              <a:lnSpc>
                <a:spcPts val="2900"/>
              </a:lnSpc>
              <a:buFont typeface="Arial" panose="020B0604020202020204" pitchFamily="34" charset="0"/>
              <a:buChar char="•"/>
            </a:pPr>
            <a:r>
              <a:rPr lang="en-US" altLang="ko-KR" dirty="0"/>
              <a:t>ADC</a:t>
            </a:r>
          </a:p>
          <a:p>
            <a:pPr marL="285750" indent="-285750">
              <a:lnSpc>
                <a:spcPts val="2900"/>
              </a:lnSpc>
              <a:buFont typeface="Arial" panose="020B0604020202020204" pitchFamily="34" charset="0"/>
              <a:buChar char="•"/>
            </a:pPr>
            <a:r>
              <a:rPr lang="en-US" altLang="ko-KR" dirty="0"/>
              <a:t>Deep Sleep</a:t>
            </a:r>
          </a:p>
          <a:p>
            <a:pPr marL="285750" indent="-285750">
              <a:lnSpc>
                <a:spcPts val="2900"/>
              </a:lnSpc>
              <a:buFont typeface="Arial" panose="020B0604020202020204" pitchFamily="34" charset="0"/>
              <a:buChar char="•"/>
            </a:pPr>
            <a:r>
              <a:rPr lang="en-US" altLang="ko-KR" dirty="0"/>
              <a:t>ESP32</a:t>
            </a:r>
            <a:r>
              <a:rPr lang="ko-KR" altLang="en-US" dirty="0"/>
              <a:t> </a:t>
            </a:r>
            <a:r>
              <a:rPr lang="en-US" altLang="ko-KR" dirty="0"/>
              <a:t>Web</a:t>
            </a:r>
            <a:r>
              <a:rPr lang="ko-KR" altLang="en-US" dirty="0"/>
              <a:t> </a:t>
            </a:r>
            <a:r>
              <a:rPr lang="en-US" altLang="ko-KR" dirty="0"/>
              <a:t>Server</a:t>
            </a:r>
            <a:r>
              <a:rPr lang="ko-KR" altLang="en-US" dirty="0"/>
              <a:t> 설계</a:t>
            </a:r>
            <a:endParaRPr lang="en-US" altLang="ko-KR" dirty="0"/>
          </a:p>
          <a:p>
            <a:pPr marL="285750" indent="-285750">
              <a:lnSpc>
                <a:spcPts val="2900"/>
              </a:lnSpc>
              <a:buFont typeface="Arial" panose="020B0604020202020204" pitchFamily="34" charset="0"/>
              <a:buChar char="•"/>
            </a:pPr>
            <a:r>
              <a:rPr lang="en-US" altLang="ko-KR" dirty="0"/>
              <a:t>ESP32 Async Web Server </a:t>
            </a:r>
            <a:r>
              <a:rPr lang="ko-KR" altLang="en-US" dirty="0"/>
              <a:t>설계</a:t>
            </a:r>
            <a:endParaRPr lang="en-US" altLang="ko-KR" dirty="0"/>
          </a:p>
          <a:p>
            <a:pPr marL="285750" indent="-285750">
              <a:lnSpc>
                <a:spcPts val="2900"/>
              </a:lnSpc>
              <a:buFont typeface="Arial" panose="020B0604020202020204" pitchFamily="34" charset="0"/>
              <a:buChar char="•"/>
            </a:pPr>
            <a:r>
              <a:rPr lang="en-US" altLang="ko-KR" dirty="0"/>
              <a:t>ESP32 Web Server using SPIFFS</a:t>
            </a:r>
          </a:p>
          <a:p>
            <a:pPr marL="285750" indent="-285750">
              <a:lnSpc>
                <a:spcPts val="2900"/>
              </a:lnSpc>
              <a:buFont typeface="Arial" panose="020B0604020202020204" pitchFamily="34" charset="0"/>
              <a:buChar char="•"/>
            </a:pPr>
            <a:r>
              <a:rPr lang="en-US" altLang="ko-KR" dirty="0"/>
              <a:t>Firebase(Realtime Database)</a:t>
            </a:r>
          </a:p>
          <a:p>
            <a:pPr marL="285750" indent="-285750">
              <a:lnSpc>
                <a:spcPts val="2900"/>
              </a:lnSpc>
              <a:buFont typeface="Arial" panose="020B0604020202020204" pitchFamily="34" charset="0"/>
              <a:buChar char="•"/>
            </a:pPr>
            <a:r>
              <a:rPr lang="en-US" altLang="ko-KR" dirty="0"/>
              <a:t>ESP32</a:t>
            </a:r>
            <a:r>
              <a:rPr lang="ko-KR" altLang="en-US" dirty="0"/>
              <a:t> </a:t>
            </a:r>
            <a:r>
              <a:rPr lang="en-US" altLang="ko-KR" dirty="0"/>
              <a:t>CAM take photo, display in Web Server</a:t>
            </a:r>
          </a:p>
          <a:p>
            <a:pPr marL="285750" indent="-285750">
              <a:lnSpc>
                <a:spcPts val="2900"/>
              </a:lnSpc>
              <a:buFont typeface="Arial" panose="020B0604020202020204" pitchFamily="34" charset="0"/>
              <a:buChar char="•"/>
            </a:pPr>
            <a:r>
              <a:rPr lang="en-US" altLang="ko-KR" dirty="0"/>
              <a:t>ESP 32 CAM Save picture in Firebase Storage</a:t>
            </a:r>
          </a:p>
          <a:p>
            <a:pPr marL="285750" indent="-285750">
              <a:lnSpc>
                <a:spcPts val="2900"/>
              </a:lnSpc>
              <a:buFont typeface="Arial" panose="020B0604020202020204" pitchFamily="34" charset="0"/>
              <a:buChar char="•"/>
            </a:pPr>
            <a:r>
              <a:rPr lang="en-US" altLang="ko-KR" dirty="0"/>
              <a:t>ESP32 CAM Take and Send photos via Email Using an SMTP Server</a:t>
            </a:r>
            <a:endParaRPr lang="ko-KR" altLang="en-US" dirty="0"/>
          </a:p>
        </p:txBody>
      </p:sp>
    </p:spTree>
    <p:extLst>
      <p:ext uri="{BB962C8B-B14F-4D97-AF65-F5344CB8AC3E}">
        <p14:creationId xmlns:p14="http://schemas.microsoft.com/office/powerpoint/2010/main" val="187147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B0CBA-073B-8BD1-80E0-E8C0F1632C4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40398004-A2A6-33DC-9134-13D272580E2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a:solidFill>
                  <a:schemeClr val="bg1">
                    <a:lumMod val="95000"/>
                  </a:schemeClr>
                </a:solidFill>
                <a:latin typeface="+mn-ea"/>
              </a:rPr>
              <a:t>개발 키트 </a:t>
            </a:r>
            <a:r>
              <a:rPr lang="en-US" altLang="ko-KR" sz="2000">
                <a:solidFill>
                  <a:schemeClr val="bg1">
                    <a:lumMod val="95000"/>
                  </a:schemeClr>
                </a:solidFill>
                <a:latin typeface="+mn-ea"/>
              </a:rPr>
              <a:t>: </a:t>
            </a:r>
            <a:r>
              <a:rPr lang="en-US" altLang="ko-KR" sz="2000"/>
              <a:t>ESP32-DevKitC V4 </a:t>
            </a:r>
            <a:endParaRPr lang="ko-KR" altLang="en-US" sz="2000">
              <a:solidFill>
                <a:schemeClr val="bg1">
                  <a:lumMod val="95000"/>
                </a:schemeClr>
              </a:solidFill>
              <a:latin typeface="+mn-ea"/>
            </a:endParaRPr>
          </a:p>
        </p:txBody>
      </p:sp>
      <p:pic>
        <p:nvPicPr>
          <p:cNvPr id="2" name="그림 1">
            <a:extLst>
              <a:ext uri="{FF2B5EF4-FFF2-40B4-BE49-F238E27FC236}">
                <a16:creationId xmlns:a16="http://schemas.microsoft.com/office/drawing/2014/main" id="{17692F81-F6E8-2B0B-0F72-DA4F696E8DEC}"/>
              </a:ext>
            </a:extLst>
          </p:cNvPr>
          <p:cNvPicPr>
            <a:picLocks noChangeAspect="1"/>
          </p:cNvPicPr>
          <p:nvPr/>
        </p:nvPicPr>
        <p:blipFill>
          <a:blip r:embed="rId2"/>
          <a:stretch>
            <a:fillRect/>
          </a:stretch>
        </p:blipFill>
        <p:spPr>
          <a:xfrm>
            <a:off x="471626" y="1101969"/>
            <a:ext cx="2915448" cy="4991858"/>
          </a:xfrm>
          <a:prstGeom prst="rect">
            <a:avLst/>
          </a:prstGeom>
        </p:spPr>
      </p:pic>
      <p:sp>
        <p:nvSpPr>
          <p:cNvPr id="6" name="직사각형 5">
            <a:extLst>
              <a:ext uri="{FF2B5EF4-FFF2-40B4-BE49-F238E27FC236}">
                <a16:creationId xmlns:a16="http://schemas.microsoft.com/office/drawing/2014/main" id="{F9737899-6C11-484D-207B-05BBC5578240}"/>
              </a:ext>
            </a:extLst>
          </p:cNvPr>
          <p:cNvSpPr/>
          <p:nvPr/>
        </p:nvSpPr>
        <p:spPr>
          <a:xfrm>
            <a:off x="3622430" y="1481613"/>
            <a:ext cx="8311662"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ESP32-DevKitC</a:t>
            </a:r>
            <a:r>
              <a:rPr lang="ko-KR" altLang="en-US"/>
              <a:t>는 </a:t>
            </a:r>
            <a:r>
              <a:rPr lang="en-US" altLang="ko-KR"/>
              <a:t>Espressif</a:t>
            </a:r>
            <a:r>
              <a:rPr lang="ko-KR" altLang="en-US"/>
              <a:t>에서 제작한 소형 </a:t>
            </a:r>
            <a:r>
              <a:rPr lang="en-US" altLang="ko-KR"/>
              <a:t>ESP32 </a:t>
            </a:r>
            <a:r>
              <a:rPr lang="ko-KR" altLang="en-US"/>
              <a:t>기반 개발 보드입니다</a:t>
            </a:r>
            <a:r>
              <a:rPr lang="en-US" altLang="ko-KR"/>
              <a:t>.</a:t>
            </a:r>
          </a:p>
          <a:p>
            <a:pPr marL="285750" indent="-285750">
              <a:lnSpc>
                <a:spcPct val="150000"/>
              </a:lnSpc>
              <a:buFont typeface="Arial" panose="020B0604020202020204" pitchFamily="34" charset="0"/>
              <a:buChar char="•"/>
            </a:pPr>
            <a:r>
              <a:rPr lang="ko-KR" altLang="en-US"/>
              <a:t>대부분의 </a:t>
            </a:r>
            <a:r>
              <a:rPr lang="en-US" altLang="ko-KR"/>
              <a:t>I/O </a:t>
            </a:r>
            <a:r>
              <a:rPr lang="ko-KR" altLang="en-US"/>
              <a:t>핀이 양쪽 핀 헤더에 연결되어 있어 주변 장치와 쉽게 인터페이스할 수 있습니다</a:t>
            </a:r>
            <a:r>
              <a:rPr lang="en-US" altLang="ko-KR"/>
              <a:t>.</a:t>
            </a:r>
          </a:p>
          <a:p>
            <a:pPr marL="285750" indent="-285750">
              <a:lnSpc>
                <a:spcPct val="150000"/>
              </a:lnSpc>
              <a:buFont typeface="Arial" panose="020B0604020202020204" pitchFamily="34" charset="0"/>
              <a:buChar char="•"/>
            </a:pPr>
            <a:r>
              <a:rPr lang="ko-KR" altLang="en-US"/>
              <a:t>개발자는 점퍼 와이어를 사용하여 주변 장치를 연결하거나</a:t>
            </a:r>
            <a:r>
              <a:rPr lang="en-US" altLang="ko-KR"/>
              <a:t>, </a:t>
            </a:r>
            <a:br>
              <a:rPr lang="en-US" altLang="ko-KR"/>
            </a:br>
            <a:r>
              <a:rPr lang="en-US" altLang="ko-KR"/>
              <a:t> ESP32-DevKitC</a:t>
            </a:r>
            <a:r>
              <a:rPr lang="ko-KR" altLang="en-US"/>
              <a:t>를 브레드보드에 장착하여 사용할 수 있습니다</a:t>
            </a:r>
            <a:r>
              <a:rPr lang="en-US" altLang="ko-KR"/>
              <a:t>.</a:t>
            </a:r>
            <a:endParaRPr lang="ko-KR" altLang="en-US"/>
          </a:p>
        </p:txBody>
      </p:sp>
    </p:spTree>
    <p:extLst>
      <p:ext uri="{BB962C8B-B14F-4D97-AF65-F5344CB8AC3E}">
        <p14:creationId xmlns:p14="http://schemas.microsoft.com/office/powerpoint/2010/main" val="229117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보드 구성 살펴보기</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87EC188C-98EF-4769-AA7A-6E6814BCEA1A}"/>
              </a:ext>
            </a:extLst>
          </p:cNvPr>
          <p:cNvPicPr>
            <a:picLocks noChangeAspect="1"/>
          </p:cNvPicPr>
          <p:nvPr/>
        </p:nvPicPr>
        <p:blipFill>
          <a:blip r:embed="rId2"/>
          <a:stretch>
            <a:fillRect/>
          </a:stretch>
        </p:blipFill>
        <p:spPr>
          <a:xfrm>
            <a:off x="488099" y="829136"/>
            <a:ext cx="10859840" cy="4847718"/>
          </a:xfrm>
          <a:prstGeom prst="rect">
            <a:avLst/>
          </a:prstGeom>
        </p:spPr>
      </p:pic>
      <p:sp>
        <p:nvSpPr>
          <p:cNvPr id="5" name="TextBox 4">
            <a:extLst>
              <a:ext uri="{FF2B5EF4-FFF2-40B4-BE49-F238E27FC236}">
                <a16:creationId xmlns:a16="http://schemas.microsoft.com/office/drawing/2014/main" id="{EB90BC8C-D91B-4D3B-B19B-BFE45386792A}"/>
              </a:ext>
            </a:extLst>
          </p:cNvPr>
          <p:cNvSpPr txBox="1"/>
          <p:nvPr/>
        </p:nvSpPr>
        <p:spPr>
          <a:xfrm>
            <a:off x="6749228" y="6488668"/>
            <a:ext cx="5442772" cy="369332"/>
          </a:xfrm>
          <a:prstGeom prst="rect">
            <a:avLst/>
          </a:prstGeom>
          <a:noFill/>
        </p:spPr>
        <p:txBody>
          <a:bodyPr wrap="none" rtlCol="0">
            <a:spAutoFit/>
          </a:bodyPr>
          <a:lstStyle/>
          <a:p>
            <a:r>
              <a:rPr lang="en-US" altLang="ko-KR">
                <a:hlinkClick r:id="rId3"/>
              </a:rPr>
              <a:t>esp32-wroom-32_datasheet_en.pdf (espressif.com)</a:t>
            </a:r>
            <a:endParaRPr lang="ko-KR" altLang="en-US"/>
          </a:p>
        </p:txBody>
      </p:sp>
      <p:cxnSp>
        <p:nvCxnSpPr>
          <p:cNvPr id="7" name="직선 화살표 연결선 6">
            <a:extLst>
              <a:ext uri="{FF2B5EF4-FFF2-40B4-BE49-F238E27FC236}">
                <a16:creationId xmlns:a16="http://schemas.microsoft.com/office/drawing/2014/main" id="{3928D062-F443-4606-889E-B952665B4C69}"/>
              </a:ext>
            </a:extLst>
          </p:cNvPr>
          <p:cNvCxnSpPr/>
          <p:nvPr/>
        </p:nvCxnSpPr>
        <p:spPr>
          <a:xfrm>
            <a:off x="9788769" y="3528646"/>
            <a:ext cx="0" cy="2872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74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보드 구성 살펴보기</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F7C174F0-D533-4D7F-8A87-9C8C6198C990}"/>
              </a:ext>
            </a:extLst>
          </p:cNvPr>
          <p:cNvPicPr>
            <a:picLocks noChangeAspect="1"/>
          </p:cNvPicPr>
          <p:nvPr/>
        </p:nvPicPr>
        <p:blipFill>
          <a:blip r:embed="rId2"/>
          <a:stretch>
            <a:fillRect/>
          </a:stretch>
        </p:blipFill>
        <p:spPr>
          <a:xfrm>
            <a:off x="452044" y="946757"/>
            <a:ext cx="11287911" cy="4398965"/>
          </a:xfrm>
          <a:prstGeom prst="rect">
            <a:avLst/>
          </a:prstGeom>
        </p:spPr>
      </p:pic>
    </p:spTree>
    <p:extLst>
      <p:ext uri="{BB962C8B-B14F-4D97-AF65-F5344CB8AC3E}">
        <p14:creationId xmlns:p14="http://schemas.microsoft.com/office/powerpoint/2010/main" val="241007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핀 구성</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D642CC9B-3EA9-48E9-B442-063DDCB2AD38}"/>
              </a:ext>
            </a:extLst>
          </p:cNvPr>
          <p:cNvPicPr>
            <a:picLocks noChangeAspect="1"/>
          </p:cNvPicPr>
          <p:nvPr/>
        </p:nvPicPr>
        <p:blipFill>
          <a:blip r:embed="rId2"/>
          <a:stretch>
            <a:fillRect/>
          </a:stretch>
        </p:blipFill>
        <p:spPr>
          <a:xfrm>
            <a:off x="0" y="757407"/>
            <a:ext cx="12192000" cy="5977025"/>
          </a:xfrm>
          <a:prstGeom prst="rect">
            <a:avLst/>
          </a:prstGeom>
        </p:spPr>
      </p:pic>
    </p:spTree>
    <p:extLst>
      <p:ext uri="{BB962C8B-B14F-4D97-AF65-F5344CB8AC3E}">
        <p14:creationId xmlns:p14="http://schemas.microsoft.com/office/powerpoint/2010/main" val="151652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핀 구성 설명</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19E0487E-B724-4005-8232-F3F34F63B961}"/>
              </a:ext>
            </a:extLst>
          </p:cNvPr>
          <p:cNvPicPr>
            <a:picLocks noChangeAspect="1"/>
          </p:cNvPicPr>
          <p:nvPr/>
        </p:nvPicPr>
        <p:blipFill>
          <a:blip r:embed="rId2"/>
          <a:stretch>
            <a:fillRect/>
          </a:stretch>
        </p:blipFill>
        <p:spPr>
          <a:xfrm>
            <a:off x="913796" y="3972506"/>
            <a:ext cx="4396758" cy="2808013"/>
          </a:xfrm>
          <a:prstGeom prst="rect">
            <a:avLst/>
          </a:prstGeom>
        </p:spPr>
      </p:pic>
      <p:pic>
        <p:nvPicPr>
          <p:cNvPr id="5" name="그림 4">
            <a:extLst>
              <a:ext uri="{FF2B5EF4-FFF2-40B4-BE49-F238E27FC236}">
                <a16:creationId xmlns:a16="http://schemas.microsoft.com/office/drawing/2014/main" id="{98F6BED3-D16E-4081-B2B6-53150796A081}"/>
              </a:ext>
            </a:extLst>
          </p:cNvPr>
          <p:cNvPicPr>
            <a:picLocks noChangeAspect="1"/>
          </p:cNvPicPr>
          <p:nvPr/>
        </p:nvPicPr>
        <p:blipFill>
          <a:blip r:embed="rId3"/>
          <a:stretch>
            <a:fillRect/>
          </a:stretch>
        </p:blipFill>
        <p:spPr>
          <a:xfrm>
            <a:off x="223900" y="927421"/>
            <a:ext cx="10585296" cy="3045085"/>
          </a:xfrm>
          <a:prstGeom prst="rect">
            <a:avLst/>
          </a:prstGeom>
        </p:spPr>
      </p:pic>
    </p:spTree>
    <p:extLst>
      <p:ext uri="{BB962C8B-B14F-4D97-AF65-F5344CB8AC3E}">
        <p14:creationId xmlns:p14="http://schemas.microsoft.com/office/powerpoint/2010/main" val="2007243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ESP32-devkitc_v4 </a:t>
            </a:r>
            <a:r>
              <a:rPr lang="ko-KR" altLang="en-US" sz="2000" b="1">
                <a:latin typeface="+mn-ea"/>
              </a:rPr>
              <a:t>키트 회로도 </a:t>
            </a:r>
            <a:r>
              <a:rPr lang="en-US" altLang="ko-KR" sz="2000" b="1">
                <a:latin typeface="+mn-ea"/>
              </a:rPr>
              <a:t>(1/2)</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191C6D72-542F-49A1-951A-33915E07377F}"/>
              </a:ext>
            </a:extLst>
          </p:cNvPr>
          <p:cNvPicPr>
            <a:picLocks noChangeAspect="1"/>
          </p:cNvPicPr>
          <p:nvPr/>
        </p:nvPicPr>
        <p:blipFill>
          <a:blip r:embed="rId2"/>
          <a:stretch>
            <a:fillRect/>
          </a:stretch>
        </p:blipFill>
        <p:spPr>
          <a:xfrm>
            <a:off x="129985" y="746989"/>
            <a:ext cx="7305201" cy="6005503"/>
          </a:xfrm>
          <a:prstGeom prst="rect">
            <a:avLst/>
          </a:prstGeom>
        </p:spPr>
      </p:pic>
      <p:pic>
        <p:nvPicPr>
          <p:cNvPr id="5" name="그림 4">
            <a:extLst>
              <a:ext uri="{FF2B5EF4-FFF2-40B4-BE49-F238E27FC236}">
                <a16:creationId xmlns:a16="http://schemas.microsoft.com/office/drawing/2014/main" id="{1AD2C45F-D192-48C6-849B-15CF3C3095A4}"/>
              </a:ext>
            </a:extLst>
          </p:cNvPr>
          <p:cNvPicPr>
            <a:picLocks noChangeAspect="1"/>
          </p:cNvPicPr>
          <p:nvPr/>
        </p:nvPicPr>
        <p:blipFill>
          <a:blip r:embed="rId3"/>
          <a:stretch>
            <a:fillRect/>
          </a:stretch>
        </p:blipFill>
        <p:spPr>
          <a:xfrm>
            <a:off x="7435186" y="746989"/>
            <a:ext cx="4679308" cy="2089996"/>
          </a:xfrm>
          <a:prstGeom prst="rect">
            <a:avLst/>
          </a:prstGeom>
        </p:spPr>
      </p:pic>
    </p:spTree>
    <p:extLst>
      <p:ext uri="{BB962C8B-B14F-4D97-AF65-F5344CB8AC3E}">
        <p14:creationId xmlns:p14="http://schemas.microsoft.com/office/powerpoint/2010/main" val="93623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ESP32-devkitc_v4 </a:t>
            </a:r>
            <a:r>
              <a:rPr lang="ko-KR" altLang="en-US" sz="2000" b="1">
                <a:latin typeface="+mn-ea"/>
              </a:rPr>
              <a:t>키트 회로도 </a:t>
            </a:r>
            <a:r>
              <a:rPr lang="en-US" altLang="ko-KR" sz="2000" b="1">
                <a:latin typeface="+mn-ea"/>
              </a:rPr>
              <a:t>(2/2)</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CD10DB2A-2BA5-4CF4-A447-364EBC3CA9DB}"/>
              </a:ext>
            </a:extLst>
          </p:cNvPr>
          <p:cNvPicPr>
            <a:picLocks noChangeAspect="1"/>
          </p:cNvPicPr>
          <p:nvPr/>
        </p:nvPicPr>
        <p:blipFill>
          <a:blip r:embed="rId2"/>
          <a:stretch>
            <a:fillRect/>
          </a:stretch>
        </p:blipFill>
        <p:spPr>
          <a:xfrm>
            <a:off x="0" y="818256"/>
            <a:ext cx="12192000" cy="5221487"/>
          </a:xfrm>
          <a:prstGeom prst="rect">
            <a:avLst/>
          </a:prstGeom>
        </p:spPr>
      </p:pic>
    </p:spTree>
    <p:extLst>
      <p:ext uri="{BB962C8B-B14F-4D97-AF65-F5344CB8AC3E}">
        <p14:creationId xmlns:p14="http://schemas.microsoft.com/office/powerpoint/2010/main" val="1047128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ESP32-WROOM-32U </a:t>
            </a:r>
            <a:r>
              <a:rPr lang="ko-KR" altLang="en-US" sz="2000" b="1">
                <a:latin typeface="+mn-ea"/>
              </a:rPr>
              <a:t>모듈 회로도</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42888233-469B-4E57-AB1F-2A01C52B8E23}"/>
              </a:ext>
            </a:extLst>
          </p:cNvPr>
          <p:cNvPicPr>
            <a:picLocks noChangeAspect="1"/>
          </p:cNvPicPr>
          <p:nvPr/>
        </p:nvPicPr>
        <p:blipFill>
          <a:blip r:embed="rId2"/>
          <a:stretch>
            <a:fillRect/>
          </a:stretch>
        </p:blipFill>
        <p:spPr>
          <a:xfrm>
            <a:off x="1504309" y="738553"/>
            <a:ext cx="9183382" cy="6087670"/>
          </a:xfrm>
          <a:prstGeom prst="rect">
            <a:avLst/>
          </a:prstGeom>
        </p:spPr>
      </p:pic>
    </p:spTree>
    <p:extLst>
      <p:ext uri="{BB962C8B-B14F-4D97-AF65-F5344CB8AC3E}">
        <p14:creationId xmlns:p14="http://schemas.microsoft.com/office/powerpoint/2010/main" val="40435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a:solidFill>
                  <a:schemeClr val="tx1"/>
                </a:solidFill>
              </a:rPr>
              <a:t>Breadboard </a:t>
            </a:r>
            <a:r>
              <a:rPr lang="ko-KR" altLang="en-US">
                <a:solidFill>
                  <a:schemeClr val="tx1"/>
                </a:solidFill>
              </a:rPr>
              <a:t>에 키트 부착하기</a:t>
            </a:r>
          </a:p>
        </p:txBody>
      </p:sp>
      <p:pic>
        <p:nvPicPr>
          <p:cNvPr id="3" name="그림 2">
            <a:extLst>
              <a:ext uri="{FF2B5EF4-FFF2-40B4-BE49-F238E27FC236}">
                <a16:creationId xmlns:a16="http://schemas.microsoft.com/office/drawing/2014/main" id="{D5021C7F-DB13-476B-AC50-D6CA989EC774}"/>
              </a:ext>
            </a:extLst>
          </p:cNvPr>
          <p:cNvPicPr>
            <a:picLocks noChangeAspect="1"/>
          </p:cNvPicPr>
          <p:nvPr/>
        </p:nvPicPr>
        <p:blipFill>
          <a:blip r:embed="rId2"/>
          <a:stretch>
            <a:fillRect/>
          </a:stretch>
        </p:blipFill>
        <p:spPr>
          <a:xfrm>
            <a:off x="274256" y="1486435"/>
            <a:ext cx="11406195" cy="3885129"/>
          </a:xfrm>
          <a:prstGeom prst="rect">
            <a:avLst/>
          </a:prstGeom>
        </p:spPr>
      </p:pic>
      <p:pic>
        <p:nvPicPr>
          <p:cNvPr id="14" name="그림 13">
            <a:extLst>
              <a:ext uri="{FF2B5EF4-FFF2-40B4-BE49-F238E27FC236}">
                <a16:creationId xmlns:a16="http://schemas.microsoft.com/office/drawing/2014/main" id="{DBA18043-499E-4E4C-95E0-A34B2769B0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5400000">
            <a:off x="5387622" y="1752061"/>
            <a:ext cx="1663550" cy="3293290"/>
          </a:xfrm>
          <a:prstGeom prst="rect">
            <a:avLst/>
          </a:prstGeom>
        </p:spPr>
      </p:pic>
    </p:spTree>
    <p:extLst>
      <p:ext uri="{BB962C8B-B14F-4D97-AF65-F5344CB8AC3E}">
        <p14:creationId xmlns:p14="http://schemas.microsoft.com/office/powerpoint/2010/main" val="245771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1"/>
            <a:ext cx="12192000" cy="2274277"/>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4400" b="1">
                <a:solidFill>
                  <a:schemeClr val="bg1">
                    <a:lumMod val="95000"/>
                  </a:schemeClr>
                </a:solidFill>
              </a:rPr>
              <a:t>ESP32 </a:t>
            </a:r>
            <a:r>
              <a:rPr lang="ko-KR" altLang="en-US" sz="4400" b="1">
                <a:solidFill>
                  <a:schemeClr val="bg1">
                    <a:lumMod val="95000"/>
                  </a:schemeClr>
                </a:solidFill>
              </a:rPr>
              <a:t>개발 환경 구축</a:t>
            </a:r>
            <a:endParaRPr lang="en-US" altLang="ko-KR" sz="4400" b="1">
              <a:solidFill>
                <a:schemeClr val="bg1">
                  <a:lumMod val="95000"/>
                </a:schemeClr>
              </a:solidFill>
            </a:endParaRPr>
          </a:p>
        </p:txBody>
      </p:sp>
    </p:spTree>
    <p:extLst>
      <p:ext uri="{BB962C8B-B14F-4D97-AF65-F5344CB8AC3E}">
        <p14:creationId xmlns:p14="http://schemas.microsoft.com/office/powerpoint/2010/main" val="686452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ESP32 </a:t>
            </a:r>
            <a:r>
              <a:rPr lang="ko-KR" altLang="en-US" sz="2000" b="1">
                <a:solidFill>
                  <a:schemeClr val="bg1">
                    <a:lumMod val="95000"/>
                  </a:schemeClr>
                </a:solidFill>
              </a:rPr>
              <a:t>개발 환경 비교</a:t>
            </a:r>
            <a:endParaRPr lang="en-US" altLang="ko-KR" sz="2000" b="1">
              <a:solidFill>
                <a:schemeClr val="bg1">
                  <a:lumMod val="95000"/>
                </a:schemeClr>
              </a:solidFill>
            </a:endParaRPr>
          </a:p>
        </p:txBody>
      </p:sp>
      <p:graphicFrame>
        <p:nvGraphicFramePr>
          <p:cNvPr id="2" name="표 2">
            <a:extLst>
              <a:ext uri="{FF2B5EF4-FFF2-40B4-BE49-F238E27FC236}">
                <a16:creationId xmlns:a16="http://schemas.microsoft.com/office/drawing/2014/main" id="{25C80DBC-ED7E-492F-8346-BCDF08F956FE}"/>
              </a:ext>
            </a:extLst>
          </p:cNvPr>
          <p:cNvGraphicFramePr>
            <a:graphicFrameLocks noGrp="1"/>
          </p:cNvGraphicFramePr>
          <p:nvPr/>
        </p:nvGraphicFramePr>
        <p:xfrm>
          <a:off x="261815" y="946622"/>
          <a:ext cx="11496430" cy="5477624"/>
        </p:xfrm>
        <a:graphic>
          <a:graphicData uri="http://schemas.openxmlformats.org/drawingml/2006/table">
            <a:tbl>
              <a:tblPr firstRow="1" bandRow="1">
                <a:tableStyleId>{5C22544A-7EE6-4342-B048-85BDC9FD1C3A}</a:tableStyleId>
              </a:tblPr>
              <a:tblGrid>
                <a:gridCol w="1164893">
                  <a:extLst>
                    <a:ext uri="{9D8B030D-6E8A-4147-A177-3AD203B41FA5}">
                      <a16:colId xmlns:a16="http://schemas.microsoft.com/office/drawing/2014/main" val="418711169"/>
                    </a:ext>
                  </a:extLst>
                </a:gridCol>
                <a:gridCol w="2300134">
                  <a:extLst>
                    <a:ext uri="{9D8B030D-6E8A-4147-A177-3AD203B41FA5}">
                      <a16:colId xmlns:a16="http://schemas.microsoft.com/office/drawing/2014/main" val="1494049742"/>
                    </a:ext>
                  </a:extLst>
                </a:gridCol>
                <a:gridCol w="2910114">
                  <a:extLst>
                    <a:ext uri="{9D8B030D-6E8A-4147-A177-3AD203B41FA5}">
                      <a16:colId xmlns:a16="http://schemas.microsoft.com/office/drawing/2014/main" val="938638632"/>
                    </a:ext>
                  </a:extLst>
                </a:gridCol>
                <a:gridCol w="2822003">
                  <a:extLst>
                    <a:ext uri="{9D8B030D-6E8A-4147-A177-3AD203B41FA5}">
                      <a16:colId xmlns:a16="http://schemas.microsoft.com/office/drawing/2014/main" val="1221338170"/>
                    </a:ext>
                  </a:extLst>
                </a:gridCol>
                <a:gridCol w="2299286">
                  <a:extLst>
                    <a:ext uri="{9D8B030D-6E8A-4147-A177-3AD203B41FA5}">
                      <a16:colId xmlns:a16="http://schemas.microsoft.com/office/drawing/2014/main" val="1849640646"/>
                    </a:ext>
                  </a:extLst>
                </a:gridCol>
              </a:tblGrid>
              <a:tr h="654610">
                <a:tc>
                  <a:txBody>
                    <a:bodyPr/>
                    <a:lstStyle/>
                    <a:p>
                      <a:pPr algn="ctr" latinLnBrk="1"/>
                      <a:r>
                        <a:rPr lang="ko-KR" altLang="en-US"/>
                        <a:t>항목</a:t>
                      </a:r>
                    </a:p>
                  </a:txBody>
                  <a:tcPr anchor="ctr"/>
                </a:tc>
                <a:tc>
                  <a:txBody>
                    <a:bodyPr/>
                    <a:lstStyle/>
                    <a:p>
                      <a:pPr algn="ctr" latinLnBrk="1"/>
                      <a:r>
                        <a:rPr lang="en-US" altLang="ko-KR"/>
                        <a:t>Arduino IDE</a:t>
                      </a:r>
                      <a:endParaRPr lang="ko-KR" altLang="en-US"/>
                    </a:p>
                  </a:txBody>
                  <a:tcPr anchor="ctr"/>
                </a:tc>
                <a:tc>
                  <a:txBody>
                    <a:bodyPr/>
                    <a:lstStyle/>
                    <a:p>
                      <a:pPr algn="ctr" latinLnBrk="1"/>
                      <a:r>
                        <a:rPr lang="en-US" altLang="ko-KR"/>
                        <a:t>PLatformIO</a:t>
                      </a:r>
                      <a:endParaRPr lang="ko-KR" altLang="en-US"/>
                    </a:p>
                  </a:txBody>
                  <a:tcPr anchor="ctr"/>
                </a:tc>
                <a:tc>
                  <a:txBody>
                    <a:bodyPr/>
                    <a:lstStyle/>
                    <a:p>
                      <a:pPr algn="ctr" latinLnBrk="1"/>
                      <a:r>
                        <a:rPr lang="en-US" altLang="ko-KR"/>
                        <a:t>ESP-IDF</a:t>
                      </a:r>
                      <a:endParaRPr lang="ko-KR" altLang="en-US"/>
                    </a:p>
                  </a:txBody>
                  <a:tcPr anchor="ctr"/>
                </a:tc>
                <a:tc>
                  <a:txBody>
                    <a:bodyPr/>
                    <a:lstStyle/>
                    <a:p>
                      <a:pPr algn="ctr" latinLnBrk="1"/>
                      <a:r>
                        <a:rPr lang="en-US" altLang="ko-KR"/>
                        <a:t>MicroPython</a:t>
                      </a:r>
                      <a:endParaRPr lang="ko-KR" altLang="en-US"/>
                    </a:p>
                  </a:txBody>
                  <a:tcPr anchor="ctr"/>
                </a:tc>
                <a:extLst>
                  <a:ext uri="{0D108BD9-81ED-4DB2-BD59-A6C34878D82A}">
                    <a16:rowId xmlns:a16="http://schemas.microsoft.com/office/drawing/2014/main" val="4294362950"/>
                  </a:ext>
                </a:extLst>
              </a:tr>
              <a:tr h="2174022">
                <a:tc>
                  <a:txBody>
                    <a:bodyPr/>
                    <a:lstStyle/>
                    <a:p>
                      <a:pPr algn="ctr" latinLnBrk="1"/>
                      <a:r>
                        <a:rPr lang="ko-KR" altLang="en-US" sz="1600"/>
                        <a:t>장점</a:t>
                      </a:r>
                    </a:p>
                  </a:txBody>
                  <a:tcPr anchor="ctr"/>
                </a:tc>
                <a:tc>
                  <a:txBody>
                    <a:bodyPr/>
                    <a:lstStyle/>
                    <a:p>
                      <a:pPr marL="285750" indent="-285750" latinLnBrk="1">
                        <a:lnSpc>
                          <a:spcPct val="150000"/>
                        </a:lnSpc>
                        <a:buFont typeface="Arial" panose="020B0604020202020204" pitchFamily="34" charset="0"/>
                        <a:buChar char="•"/>
                      </a:pPr>
                      <a:r>
                        <a:rPr lang="ko-KR" altLang="en-US" sz="1400"/>
                        <a:t>초보자에게 친숙하며 설치와 설정이 간단함</a:t>
                      </a:r>
                      <a:r>
                        <a:rPr lang="en-US" altLang="ko-KR" sz="1400"/>
                        <a:t>.</a:t>
                      </a:r>
                    </a:p>
                    <a:p>
                      <a:pPr marL="285750" indent="-285750" latinLnBrk="1">
                        <a:lnSpc>
                          <a:spcPct val="150000"/>
                        </a:lnSpc>
                        <a:buFont typeface="Arial" panose="020B0604020202020204" pitchFamily="34" charset="0"/>
                        <a:buChar char="•"/>
                      </a:pPr>
                      <a:r>
                        <a:rPr lang="ko-KR" altLang="en-US" sz="1400"/>
                        <a:t>풍부한 라이브러리와 샘플 코드</a:t>
                      </a:r>
                      <a:r>
                        <a:rPr lang="en-US" altLang="ko-KR" sz="1400"/>
                        <a:t>.</a:t>
                      </a:r>
                    </a:p>
                    <a:p>
                      <a:pPr marL="285750" indent="-285750" latinLnBrk="1">
                        <a:lnSpc>
                          <a:spcPct val="150000"/>
                        </a:lnSpc>
                        <a:buFont typeface="Arial" panose="020B0604020202020204" pitchFamily="34" charset="0"/>
                        <a:buChar char="•"/>
                      </a:pPr>
                      <a:r>
                        <a:rPr lang="ko-KR" altLang="en-US" sz="1400"/>
                        <a:t>다양한 하드웨어 모듈과의 쉬운 통합</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VS Code</a:t>
                      </a:r>
                      <a:r>
                        <a:rPr lang="ko-KR" altLang="en-US" sz="1400"/>
                        <a:t>와 통합되어 강력한 코드 편집 기능 제공</a:t>
                      </a:r>
                      <a:r>
                        <a:rPr lang="en-US" altLang="ko-KR" sz="1400"/>
                        <a:t>.</a:t>
                      </a:r>
                    </a:p>
                    <a:p>
                      <a:pPr marL="285750" indent="-285750" latinLnBrk="1">
                        <a:lnSpc>
                          <a:spcPct val="150000"/>
                        </a:lnSpc>
                        <a:buFont typeface="Arial" panose="020B0604020202020204" pitchFamily="34" charset="0"/>
                        <a:buChar char="•"/>
                      </a:pPr>
                      <a:r>
                        <a:rPr lang="ko-KR" altLang="en-US" sz="1400"/>
                        <a:t>멀티 플랫폼 지원 및 다양한 보드와 호환</a:t>
                      </a:r>
                      <a:r>
                        <a:rPr lang="en-US" altLang="ko-KR" sz="1400"/>
                        <a:t>.</a:t>
                      </a:r>
                    </a:p>
                    <a:p>
                      <a:pPr marL="285750" indent="-285750" latinLnBrk="1">
                        <a:lnSpc>
                          <a:spcPct val="150000"/>
                        </a:lnSpc>
                        <a:buFont typeface="Arial" panose="020B0604020202020204" pitchFamily="34" charset="0"/>
                        <a:buChar char="•"/>
                      </a:pPr>
                      <a:r>
                        <a:rPr lang="ko-KR" altLang="en-US" sz="1400"/>
                        <a:t>디버깅</a:t>
                      </a:r>
                      <a:r>
                        <a:rPr lang="en-US" altLang="ko-KR" sz="1400"/>
                        <a:t>, </a:t>
                      </a:r>
                      <a:r>
                        <a:rPr lang="ko-KR" altLang="en-US" sz="1400"/>
                        <a:t>라이브러리 관리 등 강력한 기능 포함</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Espressif</a:t>
                      </a:r>
                      <a:r>
                        <a:rPr lang="ko-KR" altLang="en-US" sz="1400"/>
                        <a:t>에서 공식적으로 제공하는 개발 프레임워크</a:t>
                      </a:r>
                      <a:r>
                        <a:rPr lang="en-US" altLang="ko-KR" sz="1400"/>
                        <a:t>.</a:t>
                      </a:r>
                    </a:p>
                    <a:p>
                      <a:pPr marL="285750" indent="-285750" latinLnBrk="1">
                        <a:lnSpc>
                          <a:spcPct val="150000"/>
                        </a:lnSpc>
                        <a:buFont typeface="Arial" panose="020B0604020202020204" pitchFamily="34" charset="0"/>
                        <a:buChar char="•"/>
                      </a:pPr>
                      <a:r>
                        <a:rPr lang="ko-KR" altLang="en-US" sz="1400"/>
                        <a:t>하드웨어 기능을 가장 세밀하게 제어 가능</a:t>
                      </a:r>
                      <a:r>
                        <a:rPr lang="en-US" altLang="ko-KR" sz="1400"/>
                        <a:t>.</a:t>
                      </a:r>
                    </a:p>
                    <a:p>
                      <a:pPr marL="285750" indent="-285750" latinLnBrk="1">
                        <a:lnSpc>
                          <a:spcPct val="150000"/>
                        </a:lnSpc>
                        <a:buFont typeface="Arial" panose="020B0604020202020204" pitchFamily="34" charset="0"/>
                        <a:buChar char="•"/>
                      </a:pPr>
                      <a:r>
                        <a:rPr lang="en-US" altLang="ko-KR" sz="1400"/>
                        <a:t>FreeRTOS </a:t>
                      </a:r>
                      <a:r>
                        <a:rPr lang="ko-KR" altLang="en-US" sz="1400"/>
                        <a:t>기반으로 멀티태스킹 지원</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Python </a:t>
                      </a:r>
                      <a:r>
                        <a:rPr lang="ko-KR" altLang="en-US" sz="1400"/>
                        <a:t>언어로 프로그래밍 가능</a:t>
                      </a:r>
                      <a:r>
                        <a:rPr lang="en-US" altLang="ko-KR" sz="1400"/>
                        <a:t>.</a:t>
                      </a:r>
                    </a:p>
                    <a:p>
                      <a:pPr marL="285750" indent="-285750" latinLnBrk="1">
                        <a:lnSpc>
                          <a:spcPct val="150000"/>
                        </a:lnSpc>
                        <a:buFont typeface="Arial" panose="020B0604020202020204" pitchFamily="34" charset="0"/>
                        <a:buChar char="•"/>
                      </a:pPr>
                      <a:r>
                        <a:rPr lang="ko-KR" altLang="en-US" sz="1400"/>
                        <a:t>간단하고 빠르게 프로토타입 제작 가능</a:t>
                      </a:r>
                      <a:r>
                        <a:rPr lang="en-US" altLang="ko-KR" sz="1400"/>
                        <a:t>.</a:t>
                      </a:r>
                    </a:p>
                    <a:p>
                      <a:pPr marL="285750" indent="-285750" latinLnBrk="1">
                        <a:lnSpc>
                          <a:spcPct val="150000"/>
                        </a:lnSpc>
                        <a:buFont typeface="Arial" panose="020B0604020202020204" pitchFamily="34" charset="0"/>
                        <a:buChar char="•"/>
                      </a:pPr>
                      <a:r>
                        <a:rPr lang="ko-KR" altLang="en-US" sz="1400"/>
                        <a:t>코드 실행 및 디버깅이 즉각적</a:t>
                      </a:r>
                      <a:r>
                        <a:rPr lang="en-US" altLang="ko-KR" sz="1400"/>
                        <a:t>.</a:t>
                      </a:r>
                      <a:endParaRPr lang="ko-KR" altLang="en-US" sz="1400"/>
                    </a:p>
                  </a:txBody>
                  <a:tcPr anchor="ctr"/>
                </a:tc>
                <a:extLst>
                  <a:ext uri="{0D108BD9-81ED-4DB2-BD59-A6C34878D82A}">
                    <a16:rowId xmlns:a16="http://schemas.microsoft.com/office/drawing/2014/main" val="2164542701"/>
                  </a:ext>
                </a:extLst>
              </a:tr>
              <a:tr h="1467821">
                <a:tc>
                  <a:txBody>
                    <a:bodyPr/>
                    <a:lstStyle/>
                    <a:p>
                      <a:pPr algn="ctr" latinLnBrk="1"/>
                      <a:r>
                        <a:rPr lang="ko-KR" altLang="en-US" sz="1600"/>
                        <a:t>단점</a:t>
                      </a:r>
                    </a:p>
                  </a:txBody>
                  <a:tcPr anchor="ctr"/>
                </a:tc>
                <a:tc>
                  <a:txBody>
                    <a:bodyPr/>
                    <a:lstStyle/>
                    <a:p>
                      <a:pPr marL="285750" indent="-285750" latinLnBrk="1">
                        <a:lnSpc>
                          <a:spcPct val="150000"/>
                        </a:lnSpc>
                        <a:buFont typeface="Arial" panose="020B0604020202020204" pitchFamily="34" charset="0"/>
                        <a:buChar char="•"/>
                      </a:pPr>
                      <a:r>
                        <a:rPr lang="ko-KR" altLang="en-US" sz="1400"/>
                        <a:t>디버깅 기능이 제한적</a:t>
                      </a:r>
                      <a:r>
                        <a:rPr lang="en-US" altLang="ko-KR" sz="1400"/>
                        <a:t>.</a:t>
                      </a:r>
                    </a:p>
                    <a:p>
                      <a:pPr marL="285750" indent="-285750" latinLnBrk="1">
                        <a:lnSpc>
                          <a:spcPct val="150000"/>
                        </a:lnSpc>
                        <a:buFont typeface="Arial" panose="020B0604020202020204" pitchFamily="34" charset="0"/>
                        <a:buChar char="•"/>
                      </a:pPr>
                      <a:r>
                        <a:rPr lang="ko-KR" altLang="en-US" sz="1400"/>
                        <a:t>복잡한 프로젝트에는 비효율적일 수 있음</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설치와 설정이 </a:t>
                      </a:r>
                      <a:r>
                        <a:rPr lang="en-US" altLang="ko-KR" sz="1400"/>
                        <a:t>Arduino IDE</a:t>
                      </a:r>
                      <a:r>
                        <a:rPr lang="ko-KR" altLang="en-US" sz="1400"/>
                        <a:t>보다 복잡함</a:t>
                      </a:r>
                      <a:r>
                        <a:rPr lang="en-US" altLang="ko-KR" sz="1400"/>
                        <a:t>.</a:t>
                      </a:r>
                    </a:p>
                    <a:p>
                      <a:pPr marL="285750" indent="-285750" latinLnBrk="1">
                        <a:lnSpc>
                          <a:spcPct val="150000"/>
                        </a:lnSpc>
                        <a:buFont typeface="Arial" panose="020B0604020202020204" pitchFamily="34" charset="0"/>
                        <a:buChar char="•"/>
                      </a:pPr>
                      <a:r>
                        <a:rPr lang="ko-KR" altLang="en-US" sz="1400"/>
                        <a:t>초보자에게는 학습 곡선이 있음</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초기 설정이 복잡하며</a:t>
                      </a:r>
                      <a:r>
                        <a:rPr lang="en-US" altLang="ko-KR" sz="1400"/>
                        <a:t>, </a:t>
                      </a:r>
                      <a:r>
                        <a:rPr lang="ko-KR" altLang="en-US" sz="1400"/>
                        <a:t>높은 학습 곡선</a:t>
                      </a:r>
                      <a:r>
                        <a:rPr lang="en-US" altLang="ko-KR" sz="1400"/>
                        <a:t>.</a:t>
                      </a:r>
                      <a:r>
                        <a:rPr lang="ko-KR" altLang="en-US" sz="1400"/>
                        <a:t>초보자에게는 다소 어려움</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성능이 </a:t>
                      </a:r>
                      <a:r>
                        <a:rPr lang="en-US" altLang="ko-KR" sz="1400"/>
                        <a:t>C/C++ </a:t>
                      </a:r>
                      <a:r>
                        <a:rPr lang="ko-KR" altLang="en-US" sz="1400"/>
                        <a:t>기반 환경에 비해 낮음</a:t>
                      </a:r>
                      <a:r>
                        <a:rPr lang="en-US" altLang="ko-KR" sz="1400"/>
                        <a:t>.</a:t>
                      </a:r>
                    </a:p>
                    <a:p>
                      <a:pPr marL="285750" indent="-285750" latinLnBrk="1">
                        <a:lnSpc>
                          <a:spcPct val="150000"/>
                        </a:lnSpc>
                        <a:buFont typeface="Arial" panose="020B0604020202020204" pitchFamily="34" charset="0"/>
                        <a:buChar char="•"/>
                      </a:pPr>
                      <a:r>
                        <a:rPr lang="ko-KR" altLang="en-US" sz="1400"/>
                        <a:t>일부 기능은 제한적</a:t>
                      </a:r>
                      <a:r>
                        <a:rPr lang="en-US" altLang="ko-KR" sz="1400"/>
                        <a:t>.</a:t>
                      </a:r>
                      <a:endParaRPr lang="ko-KR" altLang="en-US" sz="1400"/>
                    </a:p>
                  </a:txBody>
                  <a:tcPr anchor="ctr"/>
                </a:tc>
                <a:extLst>
                  <a:ext uri="{0D108BD9-81ED-4DB2-BD59-A6C34878D82A}">
                    <a16:rowId xmlns:a16="http://schemas.microsoft.com/office/drawing/2014/main" val="1253337182"/>
                  </a:ext>
                </a:extLst>
              </a:tr>
              <a:tr h="1181171">
                <a:tc>
                  <a:txBody>
                    <a:bodyPr/>
                    <a:lstStyle/>
                    <a:p>
                      <a:pPr algn="ctr" latinLnBrk="1"/>
                      <a:r>
                        <a:rPr lang="ko-KR" altLang="en-US" sz="1600"/>
                        <a:t>사용 </a:t>
                      </a:r>
                      <a:endParaRPr lang="en-US" altLang="ko-KR" sz="1600"/>
                    </a:p>
                    <a:p>
                      <a:pPr algn="ctr" latinLnBrk="1"/>
                      <a:r>
                        <a:rPr lang="ko-KR" altLang="en-US" sz="1600"/>
                        <a:t>사례</a:t>
                      </a:r>
                    </a:p>
                  </a:txBody>
                  <a:tcPr anchor="ctr"/>
                </a:tc>
                <a:tc>
                  <a:txBody>
                    <a:bodyPr/>
                    <a:lstStyle/>
                    <a:p>
                      <a:pPr marL="285750" indent="-285750" latinLnBrk="1">
                        <a:lnSpc>
                          <a:spcPct val="150000"/>
                        </a:lnSpc>
                        <a:buFont typeface="Arial" panose="020B0604020202020204" pitchFamily="34" charset="0"/>
                        <a:buChar char="•"/>
                      </a:pPr>
                      <a:r>
                        <a:rPr lang="ko-KR" altLang="en-US" sz="1400"/>
                        <a:t>간단한 </a:t>
                      </a:r>
                      <a:r>
                        <a:rPr lang="en-US" altLang="ko-KR" sz="1400"/>
                        <a:t>IoT </a:t>
                      </a:r>
                      <a:r>
                        <a:rPr lang="ko-KR" altLang="en-US" sz="1400"/>
                        <a:t>프로젝트나 센서 데이터 처리</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중대형 프로젝트나 팀 협업 환경</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고급 </a:t>
                      </a:r>
                      <a:r>
                        <a:rPr lang="en-US" altLang="ko-KR" sz="1400"/>
                        <a:t>IoT </a:t>
                      </a:r>
                      <a:r>
                        <a:rPr lang="ko-KR" altLang="en-US" sz="1400"/>
                        <a:t>프로젝트</a:t>
                      </a:r>
                      <a:r>
                        <a:rPr lang="en-US" altLang="ko-KR" sz="1400"/>
                        <a:t>, </a:t>
                      </a:r>
                      <a:r>
                        <a:rPr lang="ko-KR" altLang="en-US" sz="1400"/>
                        <a:t>실시간 처리</a:t>
                      </a:r>
                      <a:r>
                        <a:rPr lang="en-US" altLang="ko-KR" sz="1400"/>
                        <a:t>, </a:t>
                      </a:r>
                      <a:r>
                        <a:rPr lang="ko-KR" altLang="en-US" sz="1400"/>
                        <a:t>네트워크 프로토콜 구현</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프로토타이핑</a:t>
                      </a:r>
                      <a:r>
                        <a:rPr lang="en-US" altLang="ko-KR" sz="1400"/>
                        <a:t>, </a:t>
                      </a:r>
                      <a:r>
                        <a:rPr lang="ko-KR" altLang="en-US" sz="1400"/>
                        <a:t>교육용 프로젝트</a:t>
                      </a:r>
                      <a:r>
                        <a:rPr lang="en-US" altLang="ko-KR" sz="1400"/>
                        <a:t>, </a:t>
                      </a:r>
                      <a:r>
                        <a:rPr lang="ko-KR" altLang="en-US" sz="1400"/>
                        <a:t>간단한 제어 시스템</a:t>
                      </a:r>
                      <a:r>
                        <a:rPr lang="en-US" altLang="ko-KR" sz="1400"/>
                        <a:t>.</a:t>
                      </a:r>
                      <a:endParaRPr lang="ko-KR" altLang="en-US" sz="1400"/>
                    </a:p>
                  </a:txBody>
                  <a:tcPr anchor="ctr"/>
                </a:tc>
                <a:extLst>
                  <a:ext uri="{0D108BD9-81ED-4DB2-BD59-A6C34878D82A}">
                    <a16:rowId xmlns:a16="http://schemas.microsoft.com/office/drawing/2014/main" val="1996183374"/>
                  </a:ext>
                </a:extLst>
              </a:tr>
            </a:tbl>
          </a:graphicData>
        </a:graphic>
      </p:graphicFrame>
    </p:spTree>
    <p:extLst>
      <p:ext uri="{BB962C8B-B14F-4D97-AF65-F5344CB8AC3E}">
        <p14:creationId xmlns:p14="http://schemas.microsoft.com/office/powerpoint/2010/main" val="1419560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IDF : IoT Development Framework</a:t>
            </a:r>
          </a:p>
        </p:txBody>
      </p:sp>
      <p:sp>
        <p:nvSpPr>
          <p:cNvPr id="3" name="직사각형 2">
            <a:extLst>
              <a:ext uri="{FF2B5EF4-FFF2-40B4-BE49-F238E27FC236}">
                <a16:creationId xmlns:a16="http://schemas.microsoft.com/office/drawing/2014/main" id="{63D1E293-73A7-4EFE-BAEC-CBB14E61867E}"/>
              </a:ext>
            </a:extLst>
          </p:cNvPr>
          <p:cNvSpPr/>
          <p:nvPr/>
        </p:nvSpPr>
        <p:spPr>
          <a:xfrm>
            <a:off x="1" y="793138"/>
            <a:ext cx="11942618" cy="4846007"/>
          </a:xfrm>
          <a:prstGeom prst="rect">
            <a:avLst/>
          </a:prstGeom>
        </p:spPr>
        <p:txBody>
          <a:bodyPr wrap="square">
            <a:spAutoFit/>
          </a:bodyPr>
          <a:lstStyle/>
          <a:p>
            <a:pPr marL="179388" indent="180975">
              <a:lnSpc>
                <a:spcPct val="150000"/>
              </a:lnSpc>
            </a:pPr>
            <a:r>
              <a:rPr lang="en-US" altLang="ko-KR" sz="1600"/>
              <a:t>  IDF</a:t>
            </a:r>
            <a:r>
              <a:rPr lang="ko-KR" altLang="en-US" sz="1600"/>
              <a:t>는 </a:t>
            </a:r>
            <a:r>
              <a:rPr lang="en-US" altLang="ko-KR" sz="1600"/>
              <a:t>Internet of Things(IoT) </a:t>
            </a:r>
            <a:r>
              <a:rPr lang="ko-KR" altLang="en-US" sz="1600"/>
              <a:t>프로젝트에서 칩의 기능을 최대한 활용할 수 있도록 해주는 프레임워크입니다</a:t>
            </a:r>
            <a:r>
              <a:rPr lang="en-US" altLang="ko-KR" sz="1600"/>
              <a:t>. </a:t>
            </a:r>
            <a:r>
              <a:rPr lang="ko-KR" altLang="en-US" sz="1600"/>
              <a:t>예를 들어</a:t>
            </a:r>
            <a:r>
              <a:rPr lang="en-US" altLang="ko-KR" sz="1600"/>
              <a:t>, </a:t>
            </a:r>
            <a:r>
              <a:rPr lang="ko-KR" altLang="en-US" sz="1600"/>
              <a:t>식물이 물이 필요할 때 </a:t>
            </a:r>
            <a:r>
              <a:rPr lang="en-US" altLang="ko-KR" sz="1600"/>
              <a:t>SMS</a:t>
            </a:r>
            <a:r>
              <a:rPr lang="ko-KR" altLang="en-US" sz="1600"/>
              <a:t>를 받거나</a:t>
            </a:r>
            <a:r>
              <a:rPr lang="en-US" altLang="ko-KR" sz="1600"/>
              <a:t>, </a:t>
            </a:r>
            <a:r>
              <a:rPr lang="ko-KR" altLang="en-US" sz="1600"/>
              <a:t>강아지 사료가 떨어졌을 때 이메일을 받거나</a:t>
            </a:r>
            <a:r>
              <a:rPr lang="en-US" altLang="ko-KR" sz="1600"/>
              <a:t>, </a:t>
            </a:r>
            <a:r>
              <a:rPr lang="ko-KR" altLang="en-US" sz="1600"/>
              <a:t>단순히 온도에 대한 보고서를 받고 싶을 때 등</a:t>
            </a:r>
            <a:r>
              <a:rPr lang="en-US" altLang="ko-KR" sz="1600"/>
              <a:t>, IDF</a:t>
            </a:r>
            <a:r>
              <a:rPr lang="ko-KR" altLang="en-US" sz="1600"/>
              <a:t>는 이러한 유형의 프로젝트와 그 이상을 위한 완벽한 프레임워크입니다</a:t>
            </a:r>
            <a:r>
              <a:rPr lang="en-US" altLang="ko-KR" sz="1600"/>
              <a:t>.</a:t>
            </a:r>
            <a:br>
              <a:rPr lang="en-US" altLang="ko-KR" sz="1600"/>
            </a:br>
            <a:endParaRPr lang="en-US" altLang="ko-KR" sz="1600"/>
          </a:p>
          <a:p>
            <a:pPr marL="539750" indent="-179388">
              <a:lnSpc>
                <a:spcPct val="150000"/>
              </a:lnSpc>
              <a:buFont typeface="Arial" panose="020B0604020202020204" pitchFamily="34" charset="0"/>
              <a:buChar char="•"/>
            </a:pPr>
            <a:r>
              <a:rPr lang="en-US" altLang="ko-KR" sz="1600"/>
              <a:t>ESP-IDF</a:t>
            </a:r>
            <a:r>
              <a:rPr lang="ko-KR" altLang="en-US" sz="1600"/>
              <a:t>를 사용하여 </a:t>
            </a:r>
            <a:r>
              <a:rPr lang="en-US" altLang="ko-KR" sz="1600"/>
              <a:t>ESP32</a:t>
            </a:r>
            <a:r>
              <a:rPr lang="ko-KR" altLang="en-US" sz="1600"/>
              <a:t>를 프로그래밍하는 것은 다음과 같은 여러 가지 장점이 있습니다</a:t>
            </a:r>
            <a:r>
              <a:rPr lang="en-US" altLang="ko-KR" sz="1600"/>
              <a:t>:</a:t>
            </a:r>
          </a:p>
          <a:p>
            <a:pPr marL="539750" indent="-179388">
              <a:lnSpc>
                <a:spcPct val="150000"/>
              </a:lnSpc>
              <a:buFont typeface="Arial" panose="020B0604020202020204" pitchFamily="34" charset="0"/>
              <a:buChar char="•"/>
            </a:pPr>
            <a:r>
              <a:rPr lang="ko-KR" altLang="en-US" sz="1600" b="1"/>
              <a:t>속도</a:t>
            </a:r>
            <a:r>
              <a:rPr lang="en-US" altLang="ko-KR" sz="1600"/>
              <a:t>: JavaScript</a:t>
            </a:r>
            <a:r>
              <a:rPr lang="ko-KR" altLang="en-US" sz="1600"/>
              <a:t>나 </a:t>
            </a:r>
            <a:r>
              <a:rPr lang="en-US" altLang="ko-KR" sz="1600"/>
              <a:t>Python</a:t>
            </a:r>
            <a:r>
              <a:rPr lang="ko-KR" altLang="en-US" sz="1600"/>
              <a:t>과 같은 인터프리터 언어보다 더 빠르게 실행됩니다</a:t>
            </a:r>
            <a:r>
              <a:rPr lang="en-US" altLang="ko-KR" sz="1600"/>
              <a:t>.</a:t>
            </a:r>
          </a:p>
          <a:p>
            <a:pPr marL="539750" indent="-179388">
              <a:lnSpc>
                <a:spcPct val="150000"/>
              </a:lnSpc>
              <a:buFont typeface="Arial" panose="020B0604020202020204" pitchFamily="34" charset="0"/>
              <a:buChar char="•"/>
            </a:pPr>
            <a:r>
              <a:rPr lang="ko-KR" altLang="en-US" sz="1600" b="1"/>
              <a:t>공간 효율성</a:t>
            </a:r>
            <a:r>
              <a:rPr lang="en-US" altLang="ko-KR" sz="1600"/>
              <a:t>: IDF </a:t>
            </a:r>
            <a:r>
              <a:rPr lang="ko-KR" altLang="en-US" sz="1600"/>
              <a:t>위에 구축된 다른 프레임워크들보다 칩에서 더 적은 공간을 차지합니다</a:t>
            </a:r>
            <a:r>
              <a:rPr lang="en-US" altLang="ko-KR" sz="1600"/>
              <a:t>.</a:t>
            </a:r>
          </a:p>
          <a:p>
            <a:pPr marL="539750" indent="-179388">
              <a:lnSpc>
                <a:spcPct val="150000"/>
              </a:lnSpc>
              <a:buFont typeface="Arial" panose="020B0604020202020204" pitchFamily="34" charset="0"/>
              <a:buChar char="•"/>
            </a:pPr>
            <a:r>
              <a:rPr lang="en-US" altLang="ko-KR" sz="1600" b="1"/>
              <a:t>FreeRTOS </a:t>
            </a:r>
            <a:r>
              <a:rPr lang="ko-KR" altLang="en-US" sz="1600" b="1"/>
              <a:t>사용</a:t>
            </a:r>
            <a:r>
              <a:rPr lang="en-US" altLang="ko-KR" sz="1600"/>
              <a:t>: FreeRTOS(Free Real Time Operating System)</a:t>
            </a:r>
            <a:r>
              <a:rPr lang="ko-KR" altLang="en-US" sz="1600"/>
              <a:t>를 사용하여 애플리케이션을 여러 작은 단위</a:t>
            </a:r>
            <a:r>
              <a:rPr lang="en-US" altLang="ko-KR" sz="1600"/>
              <a:t>(</a:t>
            </a:r>
            <a:r>
              <a:rPr lang="ko-KR" altLang="en-US" sz="1600"/>
              <a:t>태스크</a:t>
            </a:r>
            <a:r>
              <a:rPr lang="en-US" altLang="ko-KR" sz="1600"/>
              <a:t>)</a:t>
            </a:r>
            <a:r>
              <a:rPr lang="ko-KR" altLang="en-US" sz="1600"/>
              <a:t>로 나누어 복잡한 애플리케이션을 쉽게 관리할 수 있습니다</a:t>
            </a:r>
            <a:r>
              <a:rPr lang="en-US" altLang="ko-KR" sz="1600"/>
              <a:t>.</a:t>
            </a:r>
          </a:p>
          <a:p>
            <a:pPr marL="539750" indent="-179388">
              <a:lnSpc>
                <a:spcPct val="150000"/>
              </a:lnSpc>
              <a:buFont typeface="Arial" panose="020B0604020202020204" pitchFamily="34" charset="0"/>
              <a:buChar char="•"/>
            </a:pPr>
            <a:r>
              <a:rPr lang="ko-KR" altLang="en-US" sz="1600" b="1"/>
              <a:t>칩 제어</a:t>
            </a:r>
            <a:r>
              <a:rPr lang="en-US" altLang="ko-KR" sz="1600"/>
              <a:t>: IDF</a:t>
            </a:r>
            <a:r>
              <a:rPr lang="ko-KR" altLang="en-US" sz="1600"/>
              <a:t>는 칩의 특정 핀을 </a:t>
            </a:r>
            <a:r>
              <a:rPr lang="en-US" altLang="ko-KR" sz="1600"/>
              <a:t>I2C(</a:t>
            </a:r>
            <a:r>
              <a:rPr lang="ko-KR" altLang="en-US" sz="1600"/>
              <a:t>칩이 센서와 통신할 수 있게 해주는 통신 버스</a:t>
            </a:r>
            <a:r>
              <a:rPr lang="en-US" altLang="ko-KR" sz="1600"/>
              <a:t>)</a:t>
            </a:r>
            <a:r>
              <a:rPr lang="ko-KR" altLang="en-US" sz="1600"/>
              <a:t>용으로 구성하는 등</a:t>
            </a:r>
            <a:r>
              <a:rPr lang="en-US" altLang="ko-KR" sz="1600"/>
              <a:t>, </a:t>
            </a:r>
            <a:r>
              <a:rPr lang="ko-KR" altLang="en-US" sz="1600"/>
              <a:t>하드웨어 설정에서 더 많은 제어 권한을 제공합니다</a:t>
            </a:r>
            <a:r>
              <a:rPr lang="en-US" altLang="ko-KR" sz="1600"/>
              <a:t>. </a:t>
            </a:r>
            <a:r>
              <a:rPr lang="ko-KR" altLang="en-US" sz="1600"/>
              <a:t>이는 많은 다른 프레임워크에서 불가능합니다</a:t>
            </a:r>
            <a:r>
              <a:rPr lang="en-US" altLang="ko-KR" sz="1600"/>
              <a:t>.</a:t>
            </a:r>
          </a:p>
          <a:p>
            <a:pPr marL="539750" indent="-179388">
              <a:lnSpc>
                <a:spcPct val="150000"/>
              </a:lnSpc>
              <a:buFont typeface="Arial" panose="020B0604020202020204" pitchFamily="34" charset="0"/>
              <a:buChar char="•"/>
            </a:pPr>
            <a:r>
              <a:rPr lang="ko-KR" altLang="en-US" sz="1600" b="1"/>
              <a:t>메모리 관리</a:t>
            </a:r>
            <a:r>
              <a:rPr lang="en-US" altLang="ko-KR" sz="1600"/>
              <a:t>: </a:t>
            </a:r>
            <a:r>
              <a:rPr lang="ko-KR" altLang="en-US" sz="1600"/>
              <a:t>애플리케이션에 가장 적합한 방식으로 메모리를 관리할 수 있습니다</a:t>
            </a:r>
            <a:r>
              <a:rPr lang="en-US" altLang="ko-KR" sz="1600"/>
              <a:t>.</a:t>
            </a:r>
          </a:p>
          <a:p>
            <a:pPr marL="539750" indent="-179388">
              <a:lnSpc>
                <a:spcPct val="150000"/>
              </a:lnSpc>
              <a:buFont typeface="Arial" panose="020B0604020202020204" pitchFamily="34" charset="0"/>
              <a:buChar char="•"/>
            </a:pPr>
            <a:r>
              <a:rPr lang="ko-KR" altLang="en-US" sz="1600" b="1"/>
              <a:t>구성 시스템</a:t>
            </a:r>
            <a:r>
              <a:rPr lang="en-US" altLang="ko-KR" sz="1600"/>
              <a:t>: IDF</a:t>
            </a:r>
            <a:r>
              <a:rPr lang="ko-KR" altLang="en-US" sz="1600"/>
              <a:t>에는 사용자가 맞춤 설정할 수 있는 내장 구성 시스템이 포함되어 있습니다</a:t>
            </a:r>
            <a:r>
              <a:rPr lang="en-US" altLang="ko-KR" sz="1600"/>
              <a:t>.</a:t>
            </a:r>
          </a:p>
        </p:txBody>
      </p:sp>
    </p:spTree>
    <p:extLst>
      <p:ext uri="{BB962C8B-B14F-4D97-AF65-F5344CB8AC3E}">
        <p14:creationId xmlns:p14="http://schemas.microsoft.com/office/powerpoint/2010/main" val="2801181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ESP32 </a:t>
            </a:r>
            <a:r>
              <a:rPr lang="ko-KR" altLang="en-US" sz="2000" b="1">
                <a:solidFill>
                  <a:schemeClr val="bg1">
                    <a:lumMod val="95000"/>
                  </a:schemeClr>
                </a:solidFill>
              </a:rPr>
              <a:t>개발 과정</a:t>
            </a:r>
            <a:endParaRPr lang="en-US" altLang="ko-KR" sz="2000" b="1">
              <a:solidFill>
                <a:schemeClr val="bg1">
                  <a:lumMod val="95000"/>
                </a:schemeClr>
              </a:solidFill>
            </a:endParaRPr>
          </a:p>
        </p:txBody>
      </p:sp>
      <p:pic>
        <p:nvPicPr>
          <p:cNvPr id="3" name="그림 2">
            <a:extLst>
              <a:ext uri="{FF2B5EF4-FFF2-40B4-BE49-F238E27FC236}">
                <a16:creationId xmlns:a16="http://schemas.microsoft.com/office/drawing/2014/main" id="{1D6112E3-43BE-447C-93F9-A52543217408}"/>
              </a:ext>
            </a:extLst>
          </p:cNvPr>
          <p:cNvPicPr>
            <a:picLocks noChangeAspect="1"/>
          </p:cNvPicPr>
          <p:nvPr/>
        </p:nvPicPr>
        <p:blipFill>
          <a:blip r:embed="rId2"/>
          <a:stretch>
            <a:fillRect/>
          </a:stretch>
        </p:blipFill>
        <p:spPr>
          <a:xfrm>
            <a:off x="287909" y="791804"/>
            <a:ext cx="8492675" cy="6066196"/>
          </a:xfrm>
          <a:prstGeom prst="rect">
            <a:avLst/>
          </a:prstGeom>
        </p:spPr>
      </p:pic>
      <p:sp>
        <p:nvSpPr>
          <p:cNvPr id="5" name="직사각형 4">
            <a:extLst>
              <a:ext uri="{FF2B5EF4-FFF2-40B4-BE49-F238E27FC236}">
                <a16:creationId xmlns:a16="http://schemas.microsoft.com/office/drawing/2014/main" id="{27C0DBB5-C502-4107-8C2B-8BC31E7E2CC0}"/>
              </a:ext>
            </a:extLst>
          </p:cNvPr>
          <p:cNvSpPr/>
          <p:nvPr/>
        </p:nvSpPr>
        <p:spPr>
          <a:xfrm>
            <a:off x="6096000" y="6581001"/>
            <a:ext cx="6096000" cy="276999"/>
          </a:xfrm>
          <a:prstGeom prst="rect">
            <a:avLst/>
          </a:prstGeom>
        </p:spPr>
        <p:txBody>
          <a:bodyPr>
            <a:spAutoFit/>
          </a:bodyPr>
          <a:lstStyle/>
          <a:p>
            <a:pPr algn="r"/>
            <a:r>
              <a:rPr lang="ko-KR" altLang="en-US" sz="1200">
                <a:hlinkClick r:id="rId3"/>
              </a:rPr>
              <a:t>시작하기 </a:t>
            </a:r>
            <a:r>
              <a:rPr lang="en-US" altLang="ko-KR" sz="1200">
                <a:hlinkClick r:id="rId3"/>
              </a:rPr>
              <a:t>- ESP32 - — ESP-IDF </a:t>
            </a:r>
            <a:r>
              <a:rPr lang="ko-KR" altLang="en-US" sz="1200">
                <a:hlinkClick r:id="rId3"/>
              </a:rPr>
              <a:t>프로그래밍 가이드 최신 문서 </a:t>
            </a:r>
            <a:r>
              <a:rPr lang="en-US" altLang="ko-KR" sz="1200">
                <a:hlinkClick r:id="rId3"/>
              </a:rPr>
              <a:t>(espressif.com)</a:t>
            </a:r>
            <a:endParaRPr lang="ko-KR" altLang="en-US" sz="1200"/>
          </a:p>
        </p:txBody>
      </p:sp>
    </p:spTree>
    <p:extLst>
      <p:ext uri="{BB962C8B-B14F-4D97-AF65-F5344CB8AC3E}">
        <p14:creationId xmlns:p14="http://schemas.microsoft.com/office/powerpoint/2010/main" val="873997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400" b="1">
                <a:solidFill>
                  <a:schemeClr val="tx1"/>
                </a:solidFill>
              </a:rPr>
              <a:t>Arduino IDE </a:t>
            </a:r>
            <a:r>
              <a:rPr lang="ko-KR" altLang="en-US" sz="4400" b="1">
                <a:solidFill>
                  <a:schemeClr val="tx1"/>
                </a:solidFill>
              </a:rPr>
              <a:t>설치</a:t>
            </a:r>
          </a:p>
        </p:txBody>
      </p:sp>
      <p:sp>
        <p:nvSpPr>
          <p:cNvPr id="6" name="TextBox 5">
            <a:extLst>
              <a:ext uri="{FF2B5EF4-FFF2-40B4-BE49-F238E27FC236}">
                <a16:creationId xmlns:a16="http://schemas.microsoft.com/office/drawing/2014/main" id="{E6348DF6-5FD5-4B85-9A9A-616CB57252A0}"/>
              </a:ext>
            </a:extLst>
          </p:cNvPr>
          <p:cNvSpPr txBox="1"/>
          <p:nvPr/>
        </p:nvSpPr>
        <p:spPr>
          <a:xfrm>
            <a:off x="1272208" y="2974708"/>
            <a:ext cx="8882111" cy="86979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Arduino IDE 2.0 </a:t>
            </a:r>
            <a:r>
              <a:rPr lang="ko-KR" altLang="en-US"/>
              <a:t>버전은 </a:t>
            </a:r>
            <a:r>
              <a:rPr lang="en-US" altLang="ko-KR"/>
              <a:t>SPIFFS Filesystem </a:t>
            </a:r>
            <a:r>
              <a:rPr lang="ko-KR" altLang="en-US"/>
              <a:t>등 몇가지 기능 지원이 되지 않으므로</a:t>
            </a:r>
            <a:r>
              <a:rPr lang="en-US" altLang="ko-KR"/>
              <a:t>, </a:t>
            </a:r>
            <a:br>
              <a:rPr lang="en-US" altLang="ko-KR"/>
            </a:br>
            <a:r>
              <a:rPr lang="en-US" altLang="ko-KR"/>
              <a:t>Legacy</a:t>
            </a:r>
            <a:r>
              <a:rPr lang="ko-KR" altLang="en-US"/>
              <a:t> </a:t>
            </a:r>
            <a:r>
              <a:rPr lang="en-US" altLang="ko-KR"/>
              <a:t>IDE  </a:t>
            </a:r>
            <a:r>
              <a:rPr lang="ko-KR" altLang="en-US"/>
              <a:t>버전인 </a:t>
            </a:r>
            <a:r>
              <a:rPr lang="en-US" altLang="ko-KR"/>
              <a:t>1.8.X </a:t>
            </a:r>
            <a:r>
              <a:rPr lang="ko-KR" altLang="en-US"/>
              <a:t>를 설치하자</a:t>
            </a:r>
            <a:r>
              <a:rPr lang="en-US" altLang="ko-KR"/>
              <a:t>.</a:t>
            </a:r>
            <a:endParaRPr lang="ko-KR" altLang="en-US"/>
          </a:p>
        </p:txBody>
      </p:sp>
    </p:spTree>
    <p:extLst>
      <p:ext uri="{BB962C8B-B14F-4D97-AF65-F5344CB8AC3E}">
        <p14:creationId xmlns:p14="http://schemas.microsoft.com/office/powerpoint/2010/main" val="1005304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download</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6" name="그림 5">
            <a:extLst>
              <a:ext uri="{FF2B5EF4-FFF2-40B4-BE49-F238E27FC236}">
                <a16:creationId xmlns:a16="http://schemas.microsoft.com/office/drawing/2014/main" id="{3F9933C3-C60D-4EA0-80AC-519FEB4314E5}"/>
              </a:ext>
            </a:extLst>
          </p:cNvPr>
          <p:cNvPicPr>
            <a:picLocks noChangeAspect="1"/>
          </p:cNvPicPr>
          <p:nvPr/>
        </p:nvPicPr>
        <p:blipFill>
          <a:blip r:embed="rId3"/>
          <a:stretch>
            <a:fillRect/>
          </a:stretch>
        </p:blipFill>
        <p:spPr>
          <a:xfrm>
            <a:off x="435813" y="778894"/>
            <a:ext cx="11320373" cy="5975672"/>
          </a:xfrm>
          <a:prstGeom prst="rect">
            <a:avLst/>
          </a:prstGeom>
          <a:ln>
            <a:solidFill>
              <a:schemeClr val="tx1">
                <a:lumMod val="50000"/>
                <a:lumOff val="50000"/>
              </a:schemeClr>
            </a:solidFill>
          </a:ln>
        </p:spPr>
      </p:pic>
      <p:sp>
        <p:nvSpPr>
          <p:cNvPr id="7" name="사각형: 둥근 모서리 6">
            <a:extLst>
              <a:ext uri="{FF2B5EF4-FFF2-40B4-BE49-F238E27FC236}">
                <a16:creationId xmlns:a16="http://schemas.microsoft.com/office/drawing/2014/main" id="{9DE8D190-8EBB-484E-994E-61E3542AEE72}"/>
              </a:ext>
            </a:extLst>
          </p:cNvPr>
          <p:cNvSpPr/>
          <p:nvPr/>
        </p:nvSpPr>
        <p:spPr>
          <a:xfrm>
            <a:off x="7761249" y="2219092"/>
            <a:ext cx="2531327" cy="367990"/>
          </a:xfrm>
          <a:prstGeom prst="roundRect">
            <a:avLst/>
          </a:prstGeom>
          <a:noFill/>
          <a:ln w="476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화살표 연결선 8">
            <a:extLst>
              <a:ext uri="{FF2B5EF4-FFF2-40B4-BE49-F238E27FC236}">
                <a16:creationId xmlns:a16="http://schemas.microsoft.com/office/drawing/2014/main" id="{1F3A59E8-4AE5-464D-94AB-5809B62E878B}"/>
              </a:ext>
            </a:extLst>
          </p:cNvPr>
          <p:cNvCxnSpPr>
            <a:cxnSpLocks/>
          </p:cNvCxnSpPr>
          <p:nvPr/>
        </p:nvCxnSpPr>
        <p:spPr>
          <a:xfrm flipH="1">
            <a:off x="10292577" y="1984917"/>
            <a:ext cx="211872" cy="22302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8868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install</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3" name="그림 2">
            <a:extLst>
              <a:ext uri="{FF2B5EF4-FFF2-40B4-BE49-F238E27FC236}">
                <a16:creationId xmlns:a16="http://schemas.microsoft.com/office/drawing/2014/main" id="{9647DCC4-A1FB-468D-917A-C1FEAFEBC3E1}"/>
              </a:ext>
            </a:extLst>
          </p:cNvPr>
          <p:cNvPicPr>
            <a:picLocks noChangeAspect="1"/>
          </p:cNvPicPr>
          <p:nvPr/>
        </p:nvPicPr>
        <p:blipFill>
          <a:blip r:embed="rId3"/>
          <a:stretch>
            <a:fillRect/>
          </a:stretch>
        </p:blipFill>
        <p:spPr>
          <a:xfrm>
            <a:off x="345411" y="1023283"/>
            <a:ext cx="3962953" cy="2715004"/>
          </a:xfrm>
          <a:prstGeom prst="rect">
            <a:avLst/>
          </a:prstGeom>
          <a:ln>
            <a:solidFill>
              <a:schemeClr val="bg1">
                <a:lumMod val="50000"/>
              </a:schemeClr>
            </a:solidFill>
          </a:ln>
        </p:spPr>
      </p:pic>
      <p:pic>
        <p:nvPicPr>
          <p:cNvPr id="4" name="그림 3">
            <a:extLst>
              <a:ext uri="{FF2B5EF4-FFF2-40B4-BE49-F238E27FC236}">
                <a16:creationId xmlns:a16="http://schemas.microsoft.com/office/drawing/2014/main" id="{41515E69-D6B7-4007-AE1F-6066F66179A4}"/>
              </a:ext>
            </a:extLst>
          </p:cNvPr>
          <p:cNvPicPr>
            <a:picLocks noChangeAspect="1"/>
          </p:cNvPicPr>
          <p:nvPr/>
        </p:nvPicPr>
        <p:blipFill>
          <a:blip r:embed="rId4"/>
          <a:stretch>
            <a:fillRect/>
          </a:stretch>
        </p:blipFill>
        <p:spPr>
          <a:xfrm>
            <a:off x="4676847" y="1023283"/>
            <a:ext cx="3953427" cy="2715004"/>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07FF9437-9D52-4A9B-AE17-6AFDCBFF8C13}"/>
              </a:ext>
            </a:extLst>
          </p:cNvPr>
          <p:cNvPicPr>
            <a:picLocks noChangeAspect="1"/>
          </p:cNvPicPr>
          <p:nvPr/>
        </p:nvPicPr>
        <p:blipFill>
          <a:blip r:embed="rId5"/>
          <a:stretch>
            <a:fillRect/>
          </a:stretch>
        </p:blipFill>
        <p:spPr>
          <a:xfrm>
            <a:off x="1349020" y="4105338"/>
            <a:ext cx="4544059" cy="2133898"/>
          </a:xfrm>
          <a:prstGeom prst="rect">
            <a:avLst/>
          </a:prstGeom>
          <a:ln>
            <a:solidFill>
              <a:schemeClr val="bg1">
                <a:lumMod val="50000"/>
              </a:schemeClr>
            </a:solidFill>
          </a:ln>
        </p:spPr>
      </p:pic>
      <p:sp>
        <p:nvSpPr>
          <p:cNvPr id="10" name="사각형: 둥근 모서리 9">
            <a:extLst>
              <a:ext uri="{FF2B5EF4-FFF2-40B4-BE49-F238E27FC236}">
                <a16:creationId xmlns:a16="http://schemas.microsoft.com/office/drawing/2014/main" id="{D6F1892D-8F60-47EB-B3AF-D06407791D4D}"/>
              </a:ext>
            </a:extLst>
          </p:cNvPr>
          <p:cNvSpPr/>
          <p:nvPr/>
        </p:nvSpPr>
        <p:spPr>
          <a:xfrm>
            <a:off x="3980985" y="5408341"/>
            <a:ext cx="814039" cy="33453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A94908A4-472F-41C6-A817-8D8099000605}"/>
              </a:ext>
            </a:extLst>
          </p:cNvPr>
          <p:cNvSpPr txBox="1"/>
          <p:nvPr/>
        </p:nvSpPr>
        <p:spPr>
          <a:xfrm>
            <a:off x="5925843" y="4204009"/>
            <a:ext cx="2526782" cy="369332"/>
          </a:xfrm>
          <a:prstGeom prst="rect">
            <a:avLst/>
          </a:prstGeom>
          <a:noFill/>
        </p:spPr>
        <p:txBody>
          <a:bodyPr wrap="none" rtlCol="0">
            <a:spAutoFit/>
          </a:bodyPr>
          <a:lstStyle/>
          <a:p>
            <a:r>
              <a:rPr lang="en-US" altLang="ko-KR"/>
              <a:t>USB Driver  </a:t>
            </a:r>
            <a:r>
              <a:rPr lang="ko-KR" altLang="en-US"/>
              <a:t>모두 설치</a:t>
            </a:r>
            <a:r>
              <a:rPr lang="en-US" altLang="ko-KR"/>
              <a:t>.</a:t>
            </a:r>
            <a:endParaRPr lang="ko-KR" altLang="en-US"/>
          </a:p>
        </p:txBody>
      </p:sp>
    </p:spTree>
    <p:extLst>
      <p:ext uri="{BB962C8B-B14F-4D97-AF65-F5344CB8AC3E}">
        <p14:creationId xmlns:p14="http://schemas.microsoft.com/office/powerpoint/2010/main" val="3865490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a:t>
            </a:r>
            <a:r>
              <a:rPr lang="ko-KR" altLang="en-US" sz="2000" b="1">
                <a:solidFill>
                  <a:schemeClr val="tx1"/>
                </a:solidFill>
              </a:rPr>
              <a:t>실행</a:t>
            </a: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6" name="그림 5">
            <a:extLst>
              <a:ext uri="{FF2B5EF4-FFF2-40B4-BE49-F238E27FC236}">
                <a16:creationId xmlns:a16="http://schemas.microsoft.com/office/drawing/2014/main" id="{145E0244-0340-4A9A-8A11-999FF0644383}"/>
              </a:ext>
            </a:extLst>
          </p:cNvPr>
          <p:cNvPicPr>
            <a:picLocks noChangeAspect="1"/>
          </p:cNvPicPr>
          <p:nvPr/>
        </p:nvPicPr>
        <p:blipFill>
          <a:blip r:embed="rId3"/>
          <a:stretch>
            <a:fillRect/>
          </a:stretch>
        </p:blipFill>
        <p:spPr>
          <a:xfrm>
            <a:off x="701148" y="1016358"/>
            <a:ext cx="7059010" cy="5639587"/>
          </a:xfrm>
          <a:prstGeom prst="rect">
            <a:avLst/>
          </a:prstGeom>
          <a:ln>
            <a:solidFill>
              <a:schemeClr val="bg1">
                <a:lumMod val="50000"/>
              </a:schemeClr>
            </a:solidFill>
          </a:ln>
        </p:spPr>
      </p:pic>
    </p:spTree>
    <p:extLst>
      <p:ext uri="{BB962C8B-B14F-4D97-AF65-F5344CB8AC3E}">
        <p14:creationId xmlns:p14="http://schemas.microsoft.com/office/powerpoint/2010/main" val="606249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Additional Board Manager URLs</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3"/>
              </a:rPr>
              <a:t>Installing ESP32 in Arduino IDE (Windows, Mac OS X, Linux) | Random Nerd Tutorials</a:t>
            </a:r>
            <a:endParaRPr lang="ko-KR" altLang="en-US" sz="1200"/>
          </a:p>
        </p:txBody>
      </p:sp>
      <p:pic>
        <p:nvPicPr>
          <p:cNvPr id="4" name="그림 3">
            <a:extLst>
              <a:ext uri="{FF2B5EF4-FFF2-40B4-BE49-F238E27FC236}">
                <a16:creationId xmlns:a16="http://schemas.microsoft.com/office/drawing/2014/main" id="{6CBA2826-2193-42EE-9CFB-000DD6B41EB8}"/>
              </a:ext>
            </a:extLst>
          </p:cNvPr>
          <p:cNvPicPr>
            <a:picLocks noChangeAspect="1"/>
          </p:cNvPicPr>
          <p:nvPr/>
        </p:nvPicPr>
        <p:blipFill>
          <a:blip r:embed="rId4"/>
          <a:stretch>
            <a:fillRect/>
          </a:stretch>
        </p:blipFill>
        <p:spPr>
          <a:xfrm>
            <a:off x="291646" y="855839"/>
            <a:ext cx="7059010" cy="3562847"/>
          </a:xfrm>
          <a:prstGeom prst="rect">
            <a:avLst/>
          </a:prstGeom>
          <a:ln>
            <a:solidFill>
              <a:schemeClr val="tx1">
                <a:lumMod val="50000"/>
                <a:lumOff val="50000"/>
              </a:schemeClr>
            </a:solidFill>
          </a:ln>
        </p:spPr>
      </p:pic>
      <p:sp>
        <p:nvSpPr>
          <p:cNvPr id="7" name="사각형: 둥근 모서리 6">
            <a:extLst>
              <a:ext uri="{FF2B5EF4-FFF2-40B4-BE49-F238E27FC236}">
                <a16:creationId xmlns:a16="http://schemas.microsoft.com/office/drawing/2014/main" id="{1D1BE19D-B8B5-4ADF-9B6A-5AFA16BD3749}"/>
              </a:ext>
            </a:extLst>
          </p:cNvPr>
          <p:cNvSpPr/>
          <p:nvPr/>
        </p:nvSpPr>
        <p:spPr>
          <a:xfrm>
            <a:off x="501805" y="3512679"/>
            <a:ext cx="1984917"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61125D89-0FF9-499C-BAC6-7B4333B5F139}"/>
              </a:ext>
            </a:extLst>
          </p:cNvPr>
          <p:cNvPicPr>
            <a:picLocks noChangeAspect="1"/>
          </p:cNvPicPr>
          <p:nvPr/>
        </p:nvPicPr>
        <p:blipFill>
          <a:blip r:embed="rId5"/>
          <a:stretch>
            <a:fillRect/>
          </a:stretch>
        </p:blipFill>
        <p:spPr>
          <a:xfrm>
            <a:off x="4365983" y="1361800"/>
            <a:ext cx="7630590" cy="4591691"/>
          </a:xfrm>
          <a:prstGeom prst="rect">
            <a:avLst/>
          </a:prstGeom>
          <a:noFill/>
          <a:ln w="22225">
            <a:solidFill>
              <a:schemeClr val="bg2">
                <a:lumMod val="75000"/>
              </a:schemeClr>
            </a:solidFill>
          </a:ln>
        </p:spPr>
      </p:pic>
      <p:sp>
        <p:nvSpPr>
          <p:cNvPr id="9" name="사각형: 둥근 모서리 8">
            <a:extLst>
              <a:ext uri="{FF2B5EF4-FFF2-40B4-BE49-F238E27FC236}">
                <a16:creationId xmlns:a16="http://schemas.microsoft.com/office/drawing/2014/main" id="{E6738A6A-0E3C-4616-BE01-1C1CEA5126AE}"/>
              </a:ext>
            </a:extLst>
          </p:cNvPr>
          <p:cNvSpPr/>
          <p:nvPr/>
        </p:nvSpPr>
        <p:spPr>
          <a:xfrm>
            <a:off x="5917580" y="4757378"/>
            <a:ext cx="5177883"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1">
            <a:extLst>
              <a:ext uri="{FF2B5EF4-FFF2-40B4-BE49-F238E27FC236}">
                <a16:creationId xmlns:a16="http://schemas.microsoft.com/office/drawing/2014/main" id="{25694F31-196B-4743-9FFF-335C3A4C40DB}"/>
              </a:ext>
            </a:extLst>
          </p:cNvPr>
          <p:cNvSpPr>
            <a:spLocks noChangeArrowheads="1"/>
          </p:cNvSpPr>
          <p:nvPr/>
        </p:nvSpPr>
        <p:spPr bwMode="auto">
          <a:xfrm>
            <a:off x="6358197" y="6064036"/>
            <a:ext cx="5543871" cy="640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380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300" b="0" i="0" u="none" strike="noStrike" cap="none" normalizeH="0" baseline="0" dirty="0">
                <a:ln>
                  <a:noFill/>
                </a:ln>
                <a:solidFill>
                  <a:srgbClr val="3A3A3A"/>
                </a:solidFill>
                <a:effectLst/>
                <a:latin typeface="Consolas" panose="020B0609020204030204" pitchFamily="49" charset="0"/>
              </a:rPr>
              <a:t>https://raw.githubusercontent.com/espressif/arduino-esp32/gh-pages/package_esp32_index.json</a:t>
            </a:r>
            <a:r>
              <a:rPr kumimoji="0" lang="ko-KR" altLang="ko-KR" sz="800" b="0" i="0" u="none" strike="noStrike" cap="none" normalizeH="0" baseline="0" dirty="0">
                <a:ln>
                  <a:noFill/>
                </a:ln>
                <a:solidFill>
                  <a:schemeClr val="tx1"/>
                </a:solidFill>
                <a:effectLst/>
              </a:rPr>
              <a:t> </a:t>
            </a:r>
            <a:endParaRPr kumimoji="0" lang="ko-KR" altLang="ko-KR" sz="1800" b="0" i="0" u="none" strike="noStrike" cap="none" normalizeH="0" baseline="0" dirty="0">
              <a:ln>
                <a:noFill/>
              </a:ln>
              <a:solidFill>
                <a:schemeClr val="tx1"/>
              </a:solidFill>
              <a:effectLst/>
              <a:latin typeface="Arial" panose="020B0604020202020204" pitchFamily="34" charset="0"/>
            </a:endParaRPr>
          </a:p>
        </p:txBody>
      </p:sp>
      <p:cxnSp>
        <p:nvCxnSpPr>
          <p:cNvPr id="12" name="직선 화살표 연결선 11">
            <a:extLst>
              <a:ext uri="{FF2B5EF4-FFF2-40B4-BE49-F238E27FC236}">
                <a16:creationId xmlns:a16="http://schemas.microsoft.com/office/drawing/2014/main" id="{76BFE8E9-19D0-4447-B6A6-F2998B56B019}"/>
              </a:ext>
            </a:extLst>
          </p:cNvPr>
          <p:cNvCxnSpPr/>
          <p:nvPr/>
        </p:nvCxnSpPr>
        <p:spPr>
          <a:xfrm>
            <a:off x="8798312" y="5091916"/>
            <a:ext cx="0" cy="972120"/>
          </a:xfrm>
          <a:prstGeom prst="straightConnector1">
            <a:avLst/>
          </a:prstGeom>
          <a:ln w="19050">
            <a:solidFill>
              <a:srgbClr val="3A0DFB"/>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사각형: 둥근 모서리 12">
            <a:extLst>
              <a:ext uri="{FF2B5EF4-FFF2-40B4-BE49-F238E27FC236}">
                <a16:creationId xmlns:a16="http://schemas.microsoft.com/office/drawing/2014/main" id="{E1C31273-F0E4-493B-8861-597C29E5DDBC}"/>
              </a:ext>
            </a:extLst>
          </p:cNvPr>
          <p:cNvSpPr/>
          <p:nvPr/>
        </p:nvSpPr>
        <p:spPr>
          <a:xfrm>
            <a:off x="10677574" y="5708275"/>
            <a:ext cx="596309"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4FAE82D7-6DCD-4045-AA57-05F78EEF3BCD}"/>
              </a:ext>
            </a:extLst>
          </p:cNvPr>
          <p:cNvSpPr txBox="1"/>
          <p:nvPr/>
        </p:nvSpPr>
        <p:spPr>
          <a:xfrm>
            <a:off x="8786383" y="5697715"/>
            <a:ext cx="1367682" cy="276999"/>
          </a:xfrm>
          <a:prstGeom prst="rect">
            <a:avLst/>
          </a:prstGeom>
          <a:noFill/>
        </p:spPr>
        <p:txBody>
          <a:bodyPr wrap="none" rtlCol="0">
            <a:spAutoFit/>
          </a:bodyPr>
          <a:lstStyle/>
          <a:p>
            <a:r>
              <a:rPr lang="ko-KR" altLang="en-US" sz="1200" b="1" dirty="0">
                <a:solidFill>
                  <a:srgbClr val="3A0DFB"/>
                </a:solidFill>
              </a:rPr>
              <a:t>복사 </a:t>
            </a:r>
            <a:r>
              <a:rPr lang="en-US" altLang="ko-KR" sz="1200" b="1" dirty="0">
                <a:solidFill>
                  <a:srgbClr val="3A0DFB"/>
                </a:solidFill>
                <a:sym typeface="Wingdings" panose="05000000000000000000" pitchFamily="2" charset="2"/>
              </a:rPr>
              <a:t> </a:t>
            </a:r>
            <a:r>
              <a:rPr lang="ko-KR" altLang="en-US" sz="1200" b="1" dirty="0">
                <a:solidFill>
                  <a:srgbClr val="3A0DFB"/>
                </a:solidFill>
                <a:sym typeface="Wingdings" panose="05000000000000000000" pitchFamily="2" charset="2"/>
              </a:rPr>
              <a:t>붙여넣기</a:t>
            </a:r>
            <a:endParaRPr lang="ko-KR" altLang="en-US" sz="1200" b="1" dirty="0">
              <a:solidFill>
                <a:srgbClr val="3A0DFB"/>
              </a:solidFill>
            </a:endParaRPr>
          </a:p>
        </p:txBody>
      </p:sp>
    </p:spTree>
    <p:extLst>
      <p:ext uri="{BB962C8B-B14F-4D97-AF65-F5344CB8AC3E}">
        <p14:creationId xmlns:p14="http://schemas.microsoft.com/office/powerpoint/2010/main" val="1852765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보드 매니저에 </a:t>
            </a:r>
            <a:r>
              <a:rPr lang="en-US" altLang="ko-KR" sz="2000" b="1">
                <a:solidFill>
                  <a:schemeClr val="tx1"/>
                </a:solidFill>
              </a:rPr>
              <a:t>ESP32 </a:t>
            </a:r>
            <a:r>
              <a:rPr lang="ko-KR" altLang="en-US" sz="2000" b="1">
                <a:solidFill>
                  <a:schemeClr val="tx1"/>
                </a:solidFill>
              </a:rPr>
              <a:t>보드 추가</a:t>
            </a: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6" name="그림 5">
            <a:extLst>
              <a:ext uri="{FF2B5EF4-FFF2-40B4-BE49-F238E27FC236}">
                <a16:creationId xmlns:a16="http://schemas.microsoft.com/office/drawing/2014/main" id="{C053213A-992A-40E4-8914-F65CBCEE2ACA}"/>
              </a:ext>
            </a:extLst>
          </p:cNvPr>
          <p:cNvPicPr>
            <a:picLocks noChangeAspect="1"/>
          </p:cNvPicPr>
          <p:nvPr/>
        </p:nvPicPr>
        <p:blipFill>
          <a:blip r:embed="rId3"/>
          <a:stretch>
            <a:fillRect/>
          </a:stretch>
        </p:blipFill>
        <p:spPr>
          <a:xfrm>
            <a:off x="347402" y="872248"/>
            <a:ext cx="7059010" cy="4801270"/>
          </a:xfrm>
          <a:prstGeom prst="rect">
            <a:avLst/>
          </a:prstGeom>
          <a:ln>
            <a:solidFill>
              <a:schemeClr val="accent3">
                <a:lumMod val="75000"/>
              </a:schemeClr>
            </a:solidFill>
          </a:ln>
        </p:spPr>
      </p:pic>
      <p:pic>
        <p:nvPicPr>
          <p:cNvPr id="11" name="그림 10">
            <a:extLst>
              <a:ext uri="{FF2B5EF4-FFF2-40B4-BE49-F238E27FC236}">
                <a16:creationId xmlns:a16="http://schemas.microsoft.com/office/drawing/2014/main" id="{EACE4A57-550A-40DF-8240-D35AC1EBF471}"/>
              </a:ext>
            </a:extLst>
          </p:cNvPr>
          <p:cNvPicPr>
            <a:picLocks noChangeAspect="1"/>
          </p:cNvPicPr>
          <p:nvPr/>
        </p:nvPicPr>
        <p:blipFill>
          <a:blip r:embed="rId4"/>
          <a:stretch>
            <a:fillRect/>
          </a:stretch>
        </p:blipFill>
        <p:spPr>
          <a:xfrm>
            <a:off x="5664820" y="3226210"/>
            <a:ext cx="6527180" cy="3631790"/>
          </a:xfrm>
          <a:prstGeom prst="rect">
            <a:avLst/>
          </a:prstGeom>
          <a:ln>
            <a:solidFill>
              <a:schemeClr val="accent3">
                <a:lumMod val="75000"/>
              </a:schemeClr>
            </a:solidFill>
          </a:ln>
        </p:spPr>
      </p:pic>
      <p:sp>
        <p:nvSpPr>
          <p:cNvPr id="14" name="사각형: 둥근 모서리 13">
            <a:extLst>
              <a:ext uri="{FF2B5EF4-FFF2-40B4-BE49-F238E27FC236}">
                <a16:creationId xmlns:a16="http://schemas.microsoft.com/office/drawing/2014/main" id="{242A726A-AAA5-41A8-9A15-2EE116FCF22B}"/>
              </a:ext>
            </a:extLst>
          </p:cNvPr>
          <p:cNvSpPr/>
          <p:nvPr/>
        </p:nvSpPr>
        <p:spPr>
          <a:xfrm>
            <a:off x="11168227" y="4392431"/>
            <a:ext cx="596309"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사각형: 둥근 모서리 14">
            <a:extLst>
              <a:ext uri="{FF2B5EF4-FFF2-40B4-BE49-F238E27FC236}">
                <a16:creationId xmlns:a16="http://schemas.microsoft.com/office/drawing/2014/main" id="{F8EA5DA1-9B63-43DD-8D25-AED91EBA56BA}"/>
              </a:ext>
            </a:extLst>
          </p:cNvPr>
          <p:cNvSpPr/>
          <p:nvPr/>
        </p:nvSpPr>
        <p:spPr>
          <a:xfrm>
            <a:off x="11203684" y="5486400"/>
            <a:ext cx="596309" cy="20827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a:solidFill>
                  <a:schemeClr val="tx1"/>
                </a:solidFill>
              </a:rPr>
              <a:t>설치</a:t>
            </a:r>
          </a:p>
        </p:txBody>
      </p:sp>
      <p:pic>
        <p:nvPicPr>
          <p:cNvPr id="4" name="그림 3">
            <a:extLst>
              <a:ext uri="{FF2B5EF4-FFF2-40B4-BE49-F238E27FC236}">
                <a16:creationId xmlns:a16="http://schemas.microsoft.com/office/drawing/2014/main" id="{206221C0-271E-48F1-8E8A-664BDB0B5747}"/>
              </a:ext>
            </a:extLst>
          </p:cNvPr>
          <p:cNvPicPr>
            <a:picLocks noChangeAspect="1"/>
          </p:cNvPicPr>
          <p:nvPr/>
        </p:nvPicPr>
        <p:blipFill>
          <a:blip r:embed="rId5"/>
          <a:stretch>
            <a:fillRect/>
          </a:stretch>
        </p:blipFill>
        <p:spPr>
          <a:xfrm>
            <a:off x="5803040" y="4952177"/>
            <a:ext cx="5811061" cy="447737"/>
          </a:xfrm>
          <a:prstGeom prst="rect">
            <a:avLst/>
          </a:prstGeom>
        </p:spPr>
      </p:pic>
      <p:sp>
        <p:nvSpPr>
          <p:cNvPr id="5" name="TextBox 4">
            <a:extLst>
              <a:ext uri="{FF2B5EF4-FFF2-40B4-BE49-F238E27FC236}">
                <a16:creationId xmlns:a16="http://schemas.microsoft.com/office/drawing/2014/main" id="{ED2B71D9-7BD9-48D9-A71D-2DA7C402F99F}"/>
              </a:ext>
            </a:extLst>
          </p:cNvPr>
          <p:cNvSpPr txBox="1"/>
          <p:nvPr/>
        </p:nvSpPr>
        <p:spPr>
          <a:xfrm>
            <a:off x="6391469" y="5598367"/>
            <a:ext cx="3623108" cy="523220"/>
          </a:xfrm>
          <a:prstGeom prst="rect">
            <a:avLst/>
          </a:prstGeom>
          <a:solidFill>
            <a:srgbClr val="FFC000"/>
          </a:solidFill>
        </p:spPr>
        <p:txBody>
          <a:bodyPr wrap="none" rtlCol="0">
            <a:spAutoFit/>
          </a:bodyPr>
          <a:lstStyle/>
          <a:p>
            <a:r>
              <a:rPr lang="en-US" altLang="ko-KR" sz="1400" b="1">
                <a:solidFill>
                  <a:srgbClr val="3A0DFB"/>
                </a:solidFill>
              </a:rPr>
              <a:t>esp32 </a:t>
            </a:r>
            <a:r>
              <a:rPr lang="ko-KR" altLang="en-US" sz="1400" b="1">
                <a:solidFill>
                  <a:srgbClr val="3A0DFB"/>
                </a:solidFill>
              </a:rPr>
              <a:t>버전은 반드시 </a:t>
            </a:r>
            <a:r>
              <a:rPr lang="en-US" altLang="ko-KR" sz="1400" b="1">
                <a:solidFill>
                  <a:srgbClr val="3A0DFB"/>
                </a:solidFill>
              </a:rPr>
              <a:t>3.0.1 </a:t>
            </a:r>
            <a:r>
              <a:rPr lang="ko-KR" altLang="en-US" sz="1400" b="1">
                <a:solidFill>
                  <a:srgbClr val="3A0DFB"/>
                </a:solidFill>
              </a:rPr>
              <a:t>로 설치해야 함</a:t>
            </a:r>
            <a:endParaRPr lang="en-US" altLang="ko-KR" sz="1400" b="1">
              <a:solidFill>
                <a:srgbClr val="3A0DFB"/>
              </a:solidFill>
            </a:endParaRPr>
          </a:p>
          <a:p>
            <a:r>
              <a:rPr lang="ko-KR" altLang="en-US" sz="1400" b="1">
                <a:solidFill>
                  <a:srgbClr val="3A0DFB"/>
                </a:solidFill>
              </a:rPr>
              <a:t>최신 버전은 </a:t>
            </a:r>
            <a:r>
              <a:rPr lang="en-US" altLang="ko-KR" sz="1400" b="1">
                <a:solidFill>
                  <a:srgbClr val="3A0DFB"/>
                </a:solidFill>
              </a:rPr>
              <a:t>Web </a:t>
            </a:r>
            <a:r>
              <a:rPr lang="ko-KR" altLang="en-US" sz="1400" b="1">
                <a:solidFill>
                  <a:srgbClr val="3A0DFB"/>
                </a:solidFill>
              </a:rPr>
              <a:t>연결시 보드 </a:t>
            </a:r>
            <a:r>
              <a:rPr lang="en-US" altLang="ko-KR" sz="1400" b="1">
                <a:solidFill>
                  <a:srgbClr val="3A0DFB"/>
                </a:solidFill>
              </a:rPr>
              <a:t>Reset </a:t>
            </a:r>
            <a:r>
              <a:rPr lang="ko-KR" altLang="en-US" sz="1400" b="1">
                <a:solidFill>
                  <a:srgbClr val="3A0DFB"/>
                </a:solidFill>
              </a:rPr>
              <a:t>됨</a:t>
            </a:r>
          </a:p>
        </p:txBody>
      </p:sp>
    </p:spTree>
    <p:extLst>
      <p:ext uri="{BB962C8B-B14F-4D97-AF65-F5344CB8AC3E}">
        <p14:creationId xmlns:p14="http://schemas.microsoft.com/office/powerpoint/2010/main" val="1374586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(1/3)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sp>
        <p:nvSpPr>
          <p:cNvPr id="4" name="TextBox 3">
            <a:extLst>
              <a:ext uri="{FF2B5EF4-FFF2-40B4-BE49-F238E27FC236}">
                <a16:creationId xmlns:a16="http://schemas.microsoft.com/office/drawing/2014/main" id="{53F75E5B-0EE1-427F-BD7D-FD3CC377F83F}"/>
              </a:ext>
            </a:extLst>
          </p:cNvPr>
          <p:cNvSpPr txBox="1"/>
          <p:nvPr/>
        </p:nvSpPr>
        <p:spPr>
          <a:xfrm>
            <a:off x="178419" y="703869"/>
            <a:ext cx="4089581" cy="7833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sz="1600"/>
              <a:t>ESP32 </a:t>
            </a:r>
            <a:r>
              <a:rPr lang="ko-KR" altLang="en-US" sz="1600"/>
              <a:t>실습 보드를 </a:t>
            </a:r>
            <a:r>
              <a:rPr lang="en-US" altLang="ko-KR" sz="1600"/>
              <a:t>PC</a:t>
            </a:r>
            <a:r>
              <a:rPr lang="ko-KR" altLang="en-US" sz="1600"/>
              <a:t>에 연결하자</a:t>
            </a:r>
            <a:r>
              <a:rPr lang="en-US" altLang="ko-KR" sz="1600"/>
              <a:t>.</a:t>
            </a:r>
          </a:p>
          <a:p>
            <a:pPr marL="285750" indent="-285750">
              <a:lnSpc>
                <a:spcPct val="150000"/>
              </a:lnSpc>
              <a:buFont typeface="Arial" panose="020B0604020202020204" pitchFamily="34" charset="0"/>
              <a:buChar char="•"/>
            </a:pPr>
            <a:r>
              <a:rPr lang="ko-KR" altLang="en-US" sz="1600"/>
              <a:t>실습 보드를 선택하고 포트를 연결한다</a:t>
            </a:r>
            <a:r>
              <a:rPr lang="en-US" altLang="ko-KR" sz="1600"/>
              <a:t>.</a:t>
            </a:r>
            <a:endParaRPr lang="ko-KR" altLang="en-US" sz="1600"/>
          </a:p>
        </p:txBody>
      </p:sp>
      <p:pic>
        <p:nvPicPr>
          <p:cNvPr id="5" name="그림 4">
            <a:extLst>
              <a:ext uri="{FF2B5EF4-FFF2-40B4-BE49-F238E27FC236}">
                <a16:creationId xmlns:a16="http://schemas.microsoft.com/office/drawing/2014/main" id="{FDD0B183-4F52-4BBD-B37B-056E3E2576FD}"/>
              </a:ext>
            </a:extLst>
          </p:cNvPr>
          <p:cNvPicPr>
            <a:picLocks noChangeAspect="1"/>
          </p:cNvPicPr>
          <p:nvPr/>
        </p:nvPicPr>
        <p:blipFill>
          <a:blip r:embed="rId3"/>
          <a:stretch>
            <a:fillRect/>
          </a:stretch>
        </p:blipFill>
        <p:spPr>
          <a:xfrm>
            <a:off x="903831" y="1666987"/>
            <a:ext cx="8287907" cy="4067743"/>
          </a:xfrm>
          <a:prstGeom prst="rect">
            <a:avLst/>
          </a:prstGeom>
          <a:ln w="19050">
            <a:solidFill>
              <a:schemeClr val="bg1">
                <a:lumMod val="50000"/>
              </a:schemeClr>
            </a:solidFill>
          </a:ln>
        </p:spPr>
      </p:pic>
      <p:sp>
        <p:nvSpPr>
          <p:cNvPr id="10" name="사각형: 둥근 모서리 9">
            <a:extLst>
              <a:ext uri="{FF2B5EF4-FFF2-40B4-BE49-F238E27FC236}">
                <a16:creationId xmlns:a16="http://schemas.microsoft.com/office/drawing/2014/main" id="{19627A25-70EB-400E-9635-438FD8B5DF90}"/>
              </a:ext>
            </a:extLst>
          </p:cNvPr>
          <p:cNvSpPr/>
          <p:nvPr/>
        </p:nvSpPr>
        <p:spPr>
          <a:xfrm>
            <a:off x="2079983" y="3906587"/>
            <a:ext cx="908544"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B0984411-4EFA-4AB0-9AE7-2439A43BB3F7}"/>
              </a:ext>
            </a:extLst>
          </p:cNvPr>
          <p:cNvSpPr txBox="1"/>
          <p:nvPr/>
        </p:nvSpPr>
        <p:spPr>
          <a:xfrm>
            <a:off x="1159727" y="5132088"/>
            <a:ext cx="3482043" cy="369332"/>
          </a:xfrm>
          <a:prstGeom prst="rect">
            <a:avLst/>
          </a:prstGeom>
          <a:noFill/>
        </p:spPr>
        <p:txBody>
          <a:bodyPr wrap="none" rtlCol="0">
            <a:spAutoFit/>
          </a:bodyPr>
          <a:lstStyle/>
          <a:p>
            <a:r>
              <a:rPr lang="ko-KR" altLang="en-US">
                <a:solidFill>
                  <a:srgbClr val="FF0000"/>
                </a:solidFill>
              </a:rPr>
              <a:t>반드시 포트 설정해주어야 한다</a:t>
            </a:r>
            <a:r>
              <a:rPr lang="en-US" altLang="ko-KR">
                <a:solidFill>
                  <a:srgbClr val="FF0000"/>
                </a:solidFill>
              </a:rPr>
              <a:t>.</a:t>
            </a:r>
          </a:p>
        </p:txBody>
      </p:sp>
      <p:sp>
        <p:nvSpPr>
          <p:cNvPr id="6" name="TextBox 5">
            <a:extLst>
              <a:ext uri="{FF2B5EF4-FFF2-40B4-BE49-F238E27FC236}">
                <a16:creationId xmlns:a16="http://schemas.microsoft.com/office/drawing/2014/main" id="{39CBEDE7-B197-40EE-9C89-1F2C22391630}"/>
              </a:ext>
            </a:extLst>
          </p:cNvPr>
          <p:cNvSpPr txBox="1"/>
          <p:nvPr/>
        </p:nvSpPr>
        <p:spPr>
          <a:xfrm>
            <a:off x="9447634" y="4947422"/>
            <a:ext cx="2178802" cy="369332"/>
          </a:xfrm>
          <a:prstGeom prst="rect">
            <a:avLst/>
          </a:prstGeom>
          <a:noFill/>
        </p:spPr>
        <p:txBody>
          <a:bodyPr wrap="none" rtlCol="0">
            <a:spAutoFit/>
          </a:bodyPr>
          <a:lstStyle/>
          <a:p>
            <a:r>
              <a:rPr lang="en-US" altLang="ko-KR">
                <a:solidFill>
                  <a:srgbClr val="3A0DFB"/>
                </a:solidFill>
              </a:rPr>
              <a:t>ESP32 Dev Module</a:t>
            </a:r>
            <a:endParaRPr lang="ko-KR" altLang="en-US">
              <a:solidFill>
                <a:srgbClr val="3A0DFB"/>
              </a:solidFill>
            </a:endParaRPr>
          </a:p>
        </p:txBody>
      </p:sp>
    </p:spTree>
    <p:extLst>
      <p:ext uri="{BB962C8B-B14F-4D97-AF65-F5344CB8AC3E}">
        <p14:creationId xmlns:p14="http://schemas.microsoft.com/office/powerpoint/2010/main" val="1663995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(2/3)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6" name="그림 5">
            <a:extLst>
              <a:ext uri="{FF2B5EF4-FFF2-40B4-BE49-F238E27FC236}">
                <a16:creationId xmlns:a16="http://schemas.microsoft.com/office/drawing/2014/main" id="{D734F14F-8103-4440-81E9-99E22A42296A}"/>
              </a:ext>
            </a:extLst>
          </p:cNvPr>
          <p:cNvPicPr>
            <a:picLocks noChangeAspect="1"/>
          </p:cNvPicPr>
          <p:nvPr/>
        </p:nvPicPr>
        <p:blipFill>
          <a:blip r:embed="rId3"/>
          <a:stretch>
            <a:fillRect/>
          </a:stretch>
        </p:blipFill>
        <p:spPr>
          <a:xfrm>
            <a:off x="275732" y="984150"/>
            <a:ext cx="5740332" cy="5469562"/>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95807AE3-8BC4-41D4-9127-9342C359170D}"/>
              </a:ext>
            </a:extLst>
          </p:cNvPr>
          <p:cNvSpPr txBox="1"/>
          <p:nvPr/>
        </p:nvSpPr>
        <p:spPr>
          <a:xfrm>
            <a:off x="275732" y="612728"/>
            <a:ext cx="6274475" cy="307777"/>
          </a:xfrm>
          <a:prstGeom prst="rect">
            <a:avLst/>
          </a:prstGeom>
          <a:noFill/>
        </p:spPr>
        <p:txBody>
          <a:bodyPr wrap="none" rtlCol="0">
            <a:spAutoFit/>
          </a:bodyPr>
          <a:lstStyle/>
          <a:p>
            <a:pPr marL="285750" indent="-285750">
              <a:buFont typeface="Arial" panose="020B0604020202020204" pitchFamily="34" charset="0"/>
              <a:buChar char="•"/>
            </a:pPr>
            <a:r>
              <a:rPr lang="ko-KR" altLang="en-US" sz="1400"/>
              <a:t>아두이노에서 제공하는 예제 파일을 실행하여 정상동작하는지 확인하자</a:t>
            </a:r>
            <a:r>
              <a:rPr lang="en-US" altLang="ko-KR" sz="1400"/>
              <a:t>.</a:t>
            </a:r>
            <a:endParaRPr lang="ko-KR" altLang="en-US" sz="1400"/>
          </a:p>
        </p:txBody>
      </p:sp>
      <p:pic>
        <p:nvPicPr>
          <p:cNvPr id="9" name="그림 8">
            <a:extLst>
              <a:ext uri="{FF2B5EF4-FFF2-40B4-BE49-F238E27FC236}">
                <a16:creationId xmlns:a16="http://schemas.microsoft.com/office/drawing/2014/main" id="{3E9961E7-C071-41F7-BC20-35221B37ED26}"/>
              </a:ext>
            </a:extLst>
          </p:cNvPr>
          <p:cNvPicPr>
            <a:picLocks noChangeAspect="1"/>
          </p:cNvPicPr>
          <p:nvPr/>
        </p:nvPicPr>
        <p:blipFill>
          <a:blip r:embed="rId4"/>
          <a:stretch>
            <a:fillRect/>
          </a:stretch>
        </p:blipFill>
        <p:spPr>
          <a:xfrm>
            <a:off x="6550207" y="614566"/>
            <a:ext cx="5641794" cy="6243434"/>
          </a:xfrm>
          <a:prstGeom prst="rect">
            <a:avLst/>
          </a:prstGeom>
        </p:spPr>
      </p:pic>
      <p:sp>
        <p:nvSpPr>
          <p:cNvPr id="11" name="사각형: 둥근 모서리 10">
            <a:extLst>
              <a:ext uri="{FF2B5EF4-FFF2-40B4-BE49-F238E27FC236}">
                <a16:creationId xmlns:a16="http://schemas.microsoft.com/office/drawing/2014/main" id="{0D5DB69D-35AE-4171-9F05-4F710D8F6B26}"/>
              </a:ext>
            </a:extLst>
          </p:cNvPr>
          <p:cNvSpPr/>
          <p:nvPr/>
        </p:nvSpPr>
        <p:spPr>
          <a:xfrm>
            <a:off x="6730042" y="1085329"/>
            <a:ext cx="295226"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80DF16E4-2841-479A-AD6C-920970243FB7}"/>
              </a:ext>
            </a:extLst>
          </p:cNvPr>
          <p:cNvSpPr txBox="1"/>
          <p:nvPr/>
        </p:nvSpPr>
        <p:spPr>
          <a:xfrm>
            <a:off x="8173845" y="676373"/>
            <a:ext cx="1503938" cy="307777"/>
          </a:xfrm>
          <a:prstGeom prst="rect">
            <a:avLst/>
          </a:prstGeom>
          <a:noFill/>
        </p:spPr>
        <p:txBody>
          <a:bodyPr wrap="none" rtlCol="0">
            <a:spAutoFit/>
          </a:bodyPr>
          <a:lstStyle/>
          <a:p>
            <a:r>
              <a:rPr lang="ko-KR" altLang="en-US" sz="1400" b="1">
                <a:solidFill>
                  <a:srgbClr val="3A0DFB"/>
                </a:solidFill>
              </a:rPr>
              <a:t>펌웨어 다운로드</a:t>
            </a:r>
          </a:p>
        </p:txBody>
      </p:sp>
    </p:spTree>
    <p:extLst>
      <p:ext uri="{BB962C8B-B14F-4D97-AF65-F5344CB8AC3E}">
        <p14:creationId xmlns:p14="http://schemas.microsoft.com/office/powerpoint/2010/main" val="2811166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(3/3)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4" name="그림 3">
            <a:extLst>
              <a:ext uri="{FF2B5EF4-FFF2-40B4-BE49-F238E27FC236}">
                <a16:creationId xmlns:a16="http://schemas.microsoft.com/office/drawing/2014/main" id="{E4564E99-EC48-400A-A6F2-15292A369D21}"/>
              </a:ext>
            </a:extLst>
          </p:cNvPr>
          <p:cNvPicPr>
            <a:picLocks noChangeAspect="1"/>
          </p:cNvPicPr>
          <p:nvPr/>
        </p:nvPicPr>
        <p:blipFill>
          <a:blip r:embed="rId3"/>
          <a:stretch>
            <a:fillRect/>
          </a:stretch>
        </p:blipFill>
        <p:spPr>
          <a:xfrm>
            <a:off x="1452488" y="704181"/>
            <a:ext cx="7725853" cy="5696745"/>
          </a:xfrm>
          <a:prstGeom prst="rect">
            <a:avLst/>
          </a:prstGeom>
        </p:spPr>
      </p:pic>
      <p:sp>
        <p:nvSpPr>
          <p:cNvPr id="10" name="사각형: 둥근 모서리 9">
            <a:extLst>
              <a:ext uri="{FF2B5EF4-FFF2-40B4-BE49-F238E27FC236}">
                <a16:creationId xmlns:a16="http://schemas.microsoft.com/office/drawing/2014/main" id="{9F38D4FC-464C-4E59-8F8E-2DCAA31A7372}"/>
              </a:ext>
            </a:extLst>
          </p:cNvPr>
          <p:cNvSpPr/>
          <p:nvPr/>
        </p:nvSpPr>
        <p:spPr>
          <a:xfrm>
            <a:off x="8603447" y="1174539"/>
            <a:ext cx="295226"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54F7D059-C42D-449B-92BD-5CF5442A0250}"/>
              </a:ext>
            </a:extLst>
          </p:cNvPr>
          <p:cNvSpPr txBox="1"/>
          <p:nvPr/>
        </p:nvSpPr>
        <p:spPr>
          <a:xfrm>
            <a:off x="9178341" y="1201300"/>
            <a:ext cx="2167581" cy="523220"/>
          </a:xfrm>
          <a:prstGeom prst="rect">
            <a:avLst/>
          </a:prstGeom>
          <a:noFill/>
        </p:spPr>
        <p:txBody>
          <a:bodyPr wrap="none" rtlCol="0">
            <a:spAutoFit/>
          </a:bodyPr>
          <a:lstStyle/>
          <a:p>
            <a:r>
              <a:rPr lang="ko-KR" altLang="en-US" sz="1400" b="1">
                <a:solidFill>
                  <a:srgbClr val="3A0DFB"/>
                </a:solidFill>
              </a:rPr>
              <a:t>시리얼 모니터 창을 열어</a:t>
            </a:r>
            <a:endParaRPr lang="en-US" altLang="ko-KR" sz="1400" b="1">
              <a:solidFill>
                <a:srgbClr val="3A0DFB"/>
              </a:solidFill>
            </a:endParaRPr>
          </a:p>
          <a:p>
            <a:r>
              <a:rPr lang="ko-KR" altLang="en-US" sz="1400" b="1">
                <a:solidFill>
                  <a:srgbClr val="3A0DFB"/>
                </a:solidFill>
              </a:rPr>
              <a:t>출력 내용 확인</a:t>
            </a:r>
            <a:r>
              <a:rPr lang="en-US" altLang="ko-KR" sz="1400" b="1">
                <a:solidFill>
                  <a:srgbClr val="3A0DFB"/>
                </a:solidFill>
              </a:rPr>
              <a:t>.</a:t>
            </a:r>
            <a:endParaRPr lang="ko-KR" altLang="en-US" sz="1400" b="1">
              <a:solidFill>
                <a:srgbClr val="3A0DFB"/>
              </a:solidFill>
            </a:endParaRPr>
          </a:p>
        </p:txBody>
      </p:sp>
    </p:spTree>
    <p:extLst>
      <p:ext uri="{BB962C8B-B14F-4D97-AF65-F5344CB8AC3E}">
        <p14:creationId xmlns:p14="http://schemas.microsoft.com/office/powerpoint/2010/main" val="1221044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Digital Input/Output</a:t>
            </a:r>
            <a:endParaRPr lang="ko-KR" altLang="en-US" sz="5400" b="1">
              <a:solidFill>
                <a:schemeClr val="tx1"/>
              </a:solidFill>
            </a:endParaRPr>
          </a:p>
        </p:txBody>
      </p:sp>
    </p:spTree>
    <p:extLst>
      <p:ext uri="{BB962C8B-B14F-4D97-AF65-F5344CB8AC3E}">
        <p14:creationId xmlns:p14="http://schemas.microsoft.com/office/powerpoint/2010/main" val="1462059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Digital Outputs</a:t>
            </a:r>
            <a:endParaRPr lang="ko-KR" altLang="en-US" b="1">
              <a:solidFill>
                <a:schemeClr val="tx1"/>
              </a:solidFill>
            </a:endParaRPr>
          </a:p>
        </p:txBody>
      </p:sp>
      <p:sp>
        <p:nvSpPr>
          <p:cNvPr id="3" name="TextBox 2">
            <a:extLst>
              <a:ext uri="{FF2B5EF4-FFF2-40B4-BE49-F238E27FC236}">
                <a16:creationId xmlns:a16="http://schemas.microsoft.com/office/drawing/2014/main" id="{F7845228-796B-40B1-BCEF-22F51809AFDE}"/>
              </a:ext>
            </a:extLst>
          </p:cNvPr>
          <p:cNvSpPr txBox="1"/>
          <p:nvPr/>
        </p:nvSpPr>
        <p:spPr>
          <a:xfrm>
            <a:off x="735981" y="1550020"/>
            <a:ext cx="5522794" cy="646331"/>
          </a:xfrm>
          <a:prstGeom prst="rect">
            <a:avLst/>
          </a:prstGeom>
          <a:solidFill>
            <a:schemeClr val="accent3">
              <a:lumMod val="20000"/>
              <a:lumOff val="80000"/>
            </a:schemeClr>
          </a:solidFill>
        </p:spPr>
        <p:txBody>
          <a:bodyPr wrap="none" rtlCol="0">
            <a:spAutoFit/>
          </a:bodyPr>
          <a:lstStyle/>
          <a:p>
            <a:r>
              <a:rPr lang="en-US" altLang="ko-KR" sz="3600"/>
              <a:t>pinMode(GPIO, OUTPUT);</a:t>
            </a:r>
            <a:endParaRPr lang="ko-KR" altLang="en-US" sz="3600"/>
          </a:p>
        </p:txBody>
      </p:sp>
      <p:sp>
        <p:nvSpPr>
          <p:cNvPr id="5" name="TextBox 4">
            <a:extLst>
              <a:ext uri="{FF2B5EF4-FFF2-40B4-BE49-F238E27FC236}">
                <a16:creationId xmlns:a16="http://schemas.microsoft.com/office/drawing/2014/main" id="{9E7BF23A-7854-462C-B471-12BC12652278}"/>
              </a:ext>
            </a:extLst>
          </p:cNvPr>
          <p:cNvSpPr txBox="1"/>
          <p:nvPr/>
        </p:nvSpPr>
        <p:spPr>
          <a:xfrm>
            <a:off x="446049" y="1023213"/>
            <a:ext cx="3228769"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핀을 출력으로 설정</a:t>
            </a:r>
          </a:p>
        </p:txBody>
      </p:sp>
      <p:sp>
        <p:nvSpPr>
          <p:cNvPr id="6" name="TextBox 5">
            <a:extLst>
              <a:ext uri="{FF2B5EF4-FFF2-40B4-BE49-F238E27FC236}">
                <a16:creationId xmlns:a16="http://schemas.microsoft.com/office/drawing/2014/main" id="{568110B2-75D8-4C6B-8246-4E0761679E98}"/>
              </a:ext>
            </a:extLst>
          </p:cNvPr>
          <p:cNvSpPr txBox="1"/>
          <p:nvPr/>
        </p:nvSpPr>
        <p:spPr>
          <a:xfrm>
            <a:off x="735981" y="2353826"/>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
        <p:nvSpPr>
          <p:cNvPr id="7" name="TextBox 6">
            <a:extLst>
              <a:ext uri="{FF2B5EF4-FFF2-40B4-BE49-F238E27FC236}">
                <a16:creationId xmlns:a16="http://schemas.microsoft.com/office/drawing/2014/main" id="{3BB7815B-0873-4463-BE1D-5ADC42ED4A40}"/>
              </a:ext>
            </a:extLst>
          </p:cNvPr>
          <p:cNvSpPr txBox="1"/>
          <p:nvPr/>
        </p:nvSpPr>
        <p:spPr>
          <a:xfrm>
            <a:off x="446049" y="3081354"/>
            <a:ext cx="4209807" cy="369332"/>
          </a:xfrm>
          <a:prstGeom prst="rect">
            <a:avLst/>
          </a:prstGeom>
          <a:noFill/>
        </p:spPr>
        <p:txBody>
          <a:bodyPr wrap="none" rtlCol="0">
            <a:spAutoFit/>
          </a:bodyPr>
          <a:lstStyle/>
          <a:p>
            <a:r>
              <a:rPr lang="en-US" altLang="ko-KR" b="1">
                <a:solidFill>
                  <a:srgbClr val="3A0DFB"/>
                </a:solidFill>
              </a:rPr>
              <a:t>2. </a:t>
            </a:r>
            <a:r>
              <a:rPr lang="ko-KR" altLang="en-US" b="1">
                <a:solidFill>
                  <a:srgbClr val="3A0DFB"/>
                </a:solidFill>
              </a:rPr>
              <a:t>설정한 핀으로 </a:t>
            </a:r>
            <a:r>
              <a:rPr lang="en-US" altLang="ko-KR" b="1">
                <a:solidFill>
                  <a:srgbClr val="3A0DFB"/>
                </a:solidFill>
              </a:rPr>
              <a:t>High, Low </a:t>
            </a:r>
            <a:r>
              <a:rPr lang="ko-KR" altLang="en-US" b="1">
                <a:solidFill>
                  <a:srgbClr val="3A0DFB"/>
                </a:solidFill>
              </a:rPr>
              <a:t>상태 출력</a:t>
            </a:r>
          </a:p>
        </p:txBody>
      </p:sp>
      <p:sp>
        <p:nvSpPr>
          <p:cNvPr id="8" name="TextBox 7">
            <a:extLst>
              <a:ext uri="{FF2B5EF4-FFF2-40B4-BE49-F238E27FC236}">
                <a16:creationId xmlns:a16="http://schemas.microsoft.com/office/drawing/2014/main" id="{27DBFEF8-9FF0-48B3-B3AE-BFAA9376E69A}"/>
              </a:ext>
            </a:extLst>
          </p:cNvPr>
          <p:cNvSpPr txBox="1"/>
          <p:nvPr/>
        </p:nvSpPr>
        <p:spPr>
          <a:xfrm>
            <a:off x="735981" y="3674440"/>
            <a:ext cx="5506572" cy="646331"/>
          </a:xfrm>
          <a:prstGeom prst="rect">
            <a:avLst/>
          </a:prstGeom>
          <a:solidFill>
            <a:schemeClr val="accent3">
              <a:lumMod val="20000"/>
              <a:lumOff val="80000"/>
            </a:schemeClr>
          </a:solidFill>
        </p:spPr>
        <p:txBody>
          <a:bodyPr wrap="none" rtlCol="0">
            <a:spAutoFit/>
          </a:bodyPr>
          <a:lstStyle/>
          <a:p>
            <a:r>
              <a:rPr lang="en-US" altLang="ko-KR" sz="3600"/>
              <a:t>digitalWrite(GPIO, STATE);</a:t>
            </a:r>
            <a:endParaRPr lang="ko-KR" altLang="en-US" sz="3600"/>
          </a:p>
        </p:txBody>
      </p:sp>
      <p:sp>
        <p:nvSpPr>
          <p:cNvPr id="9" name="TextBox 8">
            <a:extLst>
              <a:ext uri="{FF2B5EF4-FFF2-40B4-BE49-F238E27FC236}">
                <a16:creationId xmlns:a16="http://schemas.microsoft.com/office/drawing/2014/main" id="{F437F7E4-153E-4723-8CF1-0958D170F923}"/>
              </a:ext>
            </a:extLst>
          </p:cNvPr>
          <p:cNvSpPr txBox="1"/>
          <p:nvPr/>
        </p:nvSpPr>
        <p:spPr>
          <a:xfrm>
            <a:off x="735981" y="4514690"/>
            <a:ext cx="4524252" cy="369332"/>
          </a:xfrm>
          <a:prstGeom prst="rect">
            <a:avLst/>
          </a:prstGeom>
          <a:noFill/>
        </p:spPr>
        <p:txBody>
          <a:bodyPr wrap="none" rtlCol="0">
            <a:spAutoFit/>
          </a:bodyPr>
          <a:lstStyle/>
          <a:p>
            <a:r>
              <a:rPr lang="en-US" altLang="ko-KR"/>
              <a:t>STATE </a:t>
            </a:r>
            <a:r>
              <a:rPr lang="ko-KR" altLang="en-US"/>
              <a:t>항목에 </a:t>
            </a:r>
            <a:r>
              <a:rPr lang="en-US" altLang="ko-KR"/>
              <a:t>High, Low</a:t>
            </a:r>
            <a:r>
              <a:rPr lang="ko-KR" altLang="en-US"/>
              <a:t>를 적어주면 된다</a:t>
            </a:r>
            <a:r>
              <a:rPr lang="en-US" altLang="ko-KR"/>
              <a:t>.</a:t>
            </a:r>
            <a:endParaRPr lang="ko-KR" altLang="en-US"/>
          </a:p>
        </p:txBody>
      </p:sp>
    </p:spTree>
    <p:extLst>
      <p:ext uri="{BB962C8B-B14F-4D97-AF65-F5344CB8AC3E}">
        <p14:creationId xmlns:p14="http://schemas.microsoft.com/office/powerpoint/2010/main" val="184350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Digital Input</a:t>
            </a:r>
            <a:endParaRPr lang="ko-KR" altLang="en-US" b="1">
              <a:solidFill>
                <a:schemeClr val="tx1"/>
              </a:solidFill>
            </a:endParaRPr>
          </a:p>
        </p:txBody>
      </p:sp>
      <p:sp>
        <p:nvSpPr>
          <p:cNvPr id="3" name="TextBox 2">
            <a:extLst>
              <a:ext uri="{FF2B5EF4-FFF2-40B4-BE49-F238E27FC236}">
                <a16:creationId xmlns:a16="http://schemas.microsoft.com/office/drawing/2014/main" id="{F7845228-796B-40B1-BCEF-22F51809AFDE}"/>
              </a:ext>
            </a:extLst>
          </p:cNvPr>
          <p:cNvSpPr txBox="1"/>
          <p:nvPr/>
        </p:nvSpPr>
        <p:spPr>
          <a:xfrm>
            <a:off x="735981" y="1550020"/>
            <a:ext cx="5072351" cy="646331"/>
          </a:xfrm>
          <a:prstGeom prst="rect">
            <a:avLst/>
          </a:prstGeom>
          <a:solidFill>
            <a:schemeClr val="accent3">
              <a:lumMod val="20000"/>
              <a:lumOff val="80000"/>
            </a:schemeClr>
          </a:solidFill>
        </p:spPr>
        <p:txBody>
          <a:bodyPr wrap="none" rtlCol="0">
            <a:spAutoFit/>
          </a:bodyPr>
          <a:lstStyle/>
          <a:p>
            <a:r>
              <a:rPr lang="en-US" altLang="ko-KR" sz="3600"/>
              <a:t>pinMode(GPIO, INPUT);</a:t>
            </a:r>
            <a:endParaRPr lang="ko-KR" altLang="en-US" sz="3600"/>
          </a:p>
        </p:txBody>
      </p:sp>
      <p:sp>
        <p:nvSpPr>
          <p:cNvPr id="5" name="TextBox 4">
            <a:extLst>
              <a:ext uri="{FF2B5EF4-FFF2-40B4-BE49-F238E27FC236}">
                <a16:creationId xmlns:a16="http://schemas.microsoft.com/office/drawing/2014/main" id="{9E7BF23A-7854-462C-B471-12BC12652278}"/>
              </a:ext>
            </a:extLst>
          </p:cNvPr>
          <p:cNvSpPr txBox="1"/>
          <p:nvPr/>
        </p:nvSpPr>
        <p:spPr>
          <a:xfrm>
            <a:off x="446049" y="1023213"/>
            <a:ext cx="3244799"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핀을 입력으로 설정</a:t>
            </a:r>
          </a:p>
        </p:txBody>
      </p:sp>
      <p:sp>
        <p:nvSpPr>
          <p:cNvPr id="6" name="TextBox 5">
            <a:extLst>
              <a:ext uri="{FF2B5EF4-FFF2-40B4-BE49-F238E27FC236}">
                <a16:creationId xmlns:a16="http://schemas.microsoft.com/office/drawing/2014/main" id="{568110B2-75D8-4C6B-8246-4E0761679E98}"/>
              </a:ext>
            </a:extLst>
          </p:cNvPr>
          <p:cNvSpPr txBox="1"/>
          <p:nvPr/>
        </p:nvSpPr>
        <p:spPr>
          <a:xfrm>
            <a:off x="735981" y="2353826"/>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
        <p:nvSpPr>
          <p:cNvPr id="7" name="TextBox 6">
            <a:extLst>
              <a:ext uri="{FF2B5EF4-FFF2-40B4-BE49-F238E27FC236}">
                <a16:creationId xmlns:a16="http://schemas.microsoft.com/office/drawing/2014/main" id="{3BB7815B-0873-4463-BE1D-5ADC42ED4A40}"/>
              </a:ext>
            </a:extLst>
          </p:cNvPr>
          <p:cNvSpPr txBox="1"/>
          <p:nvPr/>
        </p:nvSpPr>
        <p:spPr>
          <a:xfrm>
            <a:off x="446049" y="3081354"/>
            <a:ext cx="2552302" cy="369332"/>
          </a:xfrm>
          <a:prstGeom prst="rect">
            <a:avLst/>
          </a:prstGeom>
          <a:noFill/>
        </p:spPr>
        <p:txBody>
          <a:bodyPr wrap="none" rtlCol="0">
            <a:spAutoFit/>
          </a:bodyPr>
          <a:lstStyle/>
          <a:p>
            <a:r>
              <a:rPr lang="en-US" altLang="ko-KR" b="1">
                <a:solidFill>
                  <a:srgbClr val="3A0DFB"/>
                </a:solidFill>
              </a:rPr>
              <a:t>2. </a:t>
            </a:r>
            <a:r>
              <a:rPr lang="ko-KR" altLang="en-US" b="1">
                <a:solidFill>
                  <a:srgbClr val="3A0DFB"/>
                </a:solidFill>
              </a:rPr>
              <a:t>설정한 핀 상태 읽기</a:t>
            </a:r>
          </a:p>
        </p:txBody>
      </p:sp>
      <p:sp>
        <p:nvSpPr>
          <p:cNvPr id="8" name="TextBox 7">
            <a:extLst>
              <a:ext uri="{FF2B5EF4-FFF2-40B4-BE49-F238E27FC236}">
                <a16:creationId xmlns:a16="http://schemas.microsoft.com/office/drawing/2014/main" id="{27DBFEF8-9FF0-48B3-B3AE-BFAA9376E69A}"/>
              </a:ext>
            </a:extLst>
          </p:cNvPr>
          <p:cNvSpPr txBox="1"/>
          <p:nvPr/>
        </p:nvSpPr>
        <p:spPr>
          <a:xfrm>
            <a:off x="735981" y="3674440"/>
            <a:ext cx="3964996" cy="646331"/>
          </a:xfrm>
          <a:prstGeom prst="rect">
            <a:avLst/>
          </a:prstGeom>
          <a:solidFill>
            <a:schemeClr val="accent3">
              <a:lumMod val="20000"/>
              <a:lumOff val="80000"/>
            </a:schemeClr>
          </a:solidFill>
        </p:spPr>
        <p:txBody>
          <a:bodyPr wrap="none" rtlCol="0">
            <a:spAutoFit/>
          </a:bodyPr>
          <a:lstStyle/>
          <a:p>
            <a:r>
              <a:rPr lang="en-US" altLang="ko-KR" sz="3600"/>
              <a:t>digitalRead(GPIO);</a:t>
            </a:r>
            <a:endParaRPr lang="ko-KR" altLang="en-US" sz="3600"/>
          </a:p>
        </p:txBody>
      </p:sp>
      <p:sp>
        <p:nvSpPr>
          <p:cNvPr id="10" name="TextBox 9">
            <a:extLst>
              <a:ext uri="{FF2B5EF4-FFF2-40B4-BE49-F238E27FC236}">
                <a16:creationId xmlns:a16="http://schemas.microsoft.com/office/drawing/2014/main" id="{7DF81E96-02E4-4AD8-8CE9-20329173990D}"/>
              </a:ext>
            </a:extLst>
          </p:cNvPr>
          <p:cNvSpPr txBox="1"/>
          <p:nvPr/>
        </p:nvSpPr>
        <p:spPr>
          <a:xfrm>
            <a:off x="735981" y="4411967"/>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Tree>
    <p:extLst>
      <p:ext uri="{BB962C8B-B14F-4D97-AF65-F5344CB8AC3E}">
        <p14:creationId xmlns:p14="http://schemas.microsoft.com/office/powerpoint/2010/main" val="174069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GPIO </a:t>
            </a:r>
            <a:r>
              <a:rPr lang="ko-KR" altLang="en-US" b="1">
                <a:solidFill>
                  <a:schemeClr val="tx1"/>
                </a:solidFill>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pic>
        <p:nvPicPr>
          <p:cNvPr id="4" name="그림 3">
            <a:extLst>
              <a:ext uri="{FF2B5EF4-FFF2-40B4-BE49-F238E27FC236}">
                <a16:creationId xmlns:a16="http://schemas.microsoft.com/office/drawing/2014/main" id="{91EDCB21-17C5-4157-A98E-F77D18533F6F}"/>
              </a:ext>
            </a:extLst>
          </p:cNvPr>
          <p:cNvPicPr>
            <a:picLocks noChangeAspect="1"/>
          </p:cNvPicPr>
          <p:nvPr/>
        </p:nvPicPr>
        <p:blipFill>
          <a:blip r:embed="rId2"/>
          <a:stretch>
            <a:fillRect/>
          </a:stretch>
        </p:blipFill>
        <p:spPr>
          <a:xfrm>
            <a:off x="440818" y="914511"/>
            <a:ext cx="4131182" cy="2091961"/>
          </a:xfrm>
          <a:prstGeom prst="rect">
            <a:avLst/>
          </a:prstGeom>
          <a:ln>
            <a:solidFill>
              <a:schemeClr val="accent1">
                <a:shade val="50000"/>
              </a:schemeClr>
            </a:solidFill>
          </a:ln>
        </p:spPr>
      </p:pic>
      <p:sp>
        <p:nvSpPr>
          <p:cNvPr id="9" name="TextBox 8">
            <a:extLst>
              <a:ext uri="{FF2B5EF4-FFF2-40B4-BE49-F238E27FC236}">
                <a16:creationId xmlns:a16="http://schemas.microsoft.com/office/drawing/2014/main" id="{1FB74491-6879-459F-BD3F-10077BCEC8B4}"/>
              </a:ext>
            </a:extLst>
          </p:cNvPr>
          <p:cNvSpPr txBox="1"/>
          <p:nvPr/>
        </p:nvSpPr>
        <p:spPr>
          <a:xfrm>
            <a:off x="0" y="6488668"/>
            <a:ext cx="8568692" cy="369332"/>
          </a:xfrm>
          <a:prstGeom prst="rect">
            <a:avLst/>
          </a:prstGeom>
          <a:noFill/>
        </p:spPr>
        <p:txBody>
          <a:bodyPr wrap="none" rtlCol="0">
            <a:spAutoFit/>
          </a:bodyPr>
          <a:lstStyle/>
          <a:p>
            <a:r>
              <a:rPr lang="en-US" altLang="ko-KR">
                <a:hlinkClick r:id="rId3"/>
              </a:rPr>
              <a:t>ESP32 Digital Inputs and Digital Outputs (Arduino IDE) | Random Nerd Tutorials</a:t>
            </a:r>
            <a:endParaRPr lang="ko-KR" altLang="en-US"/>
          </a:p>
        </p:txBody>
      </p:sp>
      <p:pic>
        <p:nvPicPr>
          <p:cNvPr id="11" name="그림 10">
            <a:extLst>
              <a:ext uri="{FF2B5EF4-FFF2-40B4-BE49-F238E27FC236}">
                <a16:creationId xmlns:a16="http://schemas.microsoft.com/office/drawing/2014/main" id="{C51AED43-D70C-481A-A7C8-E8BF780A6305}"/>
              </a:ext>
            </a:extLst>
          </p:cNvPr>
          <p:cNvPicPr>
            <a:picLocks noChangeAspect="1"/>
          </p:cNvPicPr>
          <p:nvPr/>
        </p:nvPicPr>
        <p:blipFill>
          <a:blip r:embed="rId4"/>
          <a:stretch>
            <a:fillRect/>
          </a:stretch>
        </p:blipFill>
        <p:spPr>
          <a:xfrm>
            <a:off x="4701698" y="914511"/>
            <a:ext cx="7049484" cy="4744112"/>
          </a:xfrm>
          <a:prstGeom prst="rect">
            <a:avLst/>
          </a:prstGeom>
        </p:spPr>
      </p:pic>
    </p:spTree>
    <p:extLst>
      <p:ext uri="{BB962C8B-B14F-4D97-AF65-F5344CB8AC3E}">
        <p14:creationId xmlns:p14="http://schemas.microsoft.com/office/powerpoint/2010/main" val="140068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GPIO </a:t>
            </a:r>
            <a:r>
              <a:rPr lang="ko-KR" altLang="en-US" b="1">
                <a:solidFill>
                  <a:schemeClr val="tx1"/>
                </a:solidFill>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sp>
        <p:nvSpPr>
          <p:cNvPr id="9" name="TextBox 8">
            <a:extLst>
              <a:ext uri="{FF2B5EF4-FFF2-40B4-BE49-F238E27FC236}">
                <a16:creationId xmlns:a16="http://schemas.microsoft.com/office/drawing/2014/main" id="{1FB74491-6879-459F-BD3F-10077BCEC8B4}"/>
              </a:ext>
            </a:extLst>
          </p:cNvPr>
          <p:cNvSpPr txBox="1"/>
          <p:nvPr/>
        </p:nvSpPr>
        <p:spPr>
          <a:xfrm>
            <a:off x="0" y="6488668"/>
            <a:ext cx="8568692" cy="369332"/>
          </a:xfrm>
          <a:prstGeom prst="rect">
            <a:avLst/>
          </a:prstGeom>
          <a:noFill/>
        </p:spPr>
        <p:txBody>
          <a:bodyPr wrap="none" rtlCol="0">
            <a:spAutoFit/>
          </a:bodyPr>
          <a:lstStyle/>
          <a:p>
            <a:r>
              <a:rPr lang="en-US" altLang="ko-KR">
                <a:hlinkClick r:id="rId2"/>
              </a:rPr>
              <a:t>ESP32 Digital Inputs and Digital Outputs (Arduino IDE) | Random Nerd Tutorials</a:t>
            </a:r>
            <a:endParaRPr lang="ko-KR" altLang="en-US"/>
          </a:p>
        </p:txBody>
      </p:sp>
      <p:pic>
        <p:nvPicPr>
          <p:cNvPr id="5" name="그림 4">
            <a:extLst>
              <a:ext uri="{FF2B5EF4-FFF2-40B4-BE49-F238E27FC236}">
                <a16:creationId xmlns:a16="http://schemas.microsoft.com/office/drawing/2014/main" id="{2E462E26-239C-4496-9693-92F7B07AB537}"/>
              </a:ext>
            </a:extLst>
          </p:cNvPr>
          <p:cNvPicPr>
            <a:picLocks noChangeAspect="1"/>
          </p:cNvPicPr>
          <p:nvPr/>
        </p:nvPicPr>
        <p:blipFill>
          <a:blip r:embed="rId3"/>
          <a:stretch>
            <a:fillRect/>
          </a:stretch>
        </p:blipFill>
        <p:spPr>
          <a:xfrm>
            <a:off x="6387147" y="0"/>
            <a:ext cx="5804853" cy="6813822"/>
          </a:xfrm>
          <a:prstGeom prst="rect">
            <a:avLst/>
          </a:prstGeom>
          <a:ln>
            <a:solidFill>
              <a:schemeClr val="bg2">
                <a:lumMod val="90000"/>
              </a:schemeClr>
            </a:solidFill>
          </a:ln>
        </p:spPr>
      </p:pic>
      <p:sp>
        <p:nvSpPr>
          <p:cNvPr id="6" name="TextBox 5">
            <a:extLst>
              <a:ext uri="{FF2B5EF4-FFF2-40B4-BE49-F238E27FC236}">
                <a16:creationId xmlns:a16="http://schemas.microsoft.com/office/drawing/2014/main" id="{35995744-0F5E-42F7-9DF5-313928F77DE3}"/>
              </a:ext>
            </a:extLst>
          </p:cNvPr>
          <p:cNvSpPr txBox="1"/>
          <p:nvPr/>
        </p:nvSpPr>
        <p:spPr>
          <a:xfrm>
            <a:off x="2732049" y="1773043"/>
            <a:ext cx="2725426" cy="1020216"/>
          </a:xfrm>
          <a:prstGeom prst="rect">
            <a:avLst/>
          </a:prstGeom>
          <a:noFill/>
        </p:spPr>
        <p:txBody>
          <a:bodyPr wrap="none" rtlCol="0">
            <a:spAutoFit/>
          </a:bodyPr>
          <a:lstStyle/>
          <a:p>
            <a:pPr marL="177800" indent="-177800">
              <a:lnSpc>
                <a:spcPct val="150000"/>
              </a:lnSpc>
              <a:buFont typeface="Arial" panose="020B0604020202020204" pitchFamily="34" charset="0"/>
              <a:buChar char="•"/>
            </a:pPr>
            <a:r>
              <a:rPr lang="en-US" altLang="ko-KR" sz="1400"/>
              <a:t>setup() </a:t>
            </a:r>
            <a:r>
              <a:rPr lang="ko-KR" altLang="en-US" sz="1400"/>
              <a:t>함수에서 시리얼 정의</a:t>
            </a:r>
            <a:endParaRPr lang="en-US" altLang="ko-KR" sz="1400"/>
          </a:p>
          <a:p>
            <a:pPr marL="177800" indent="-177800">
              <a:lnSpc>
                <a:spcPct val="150000"/>
              </a:lnSpc>
              <a:buFont typeface="Arial" panose="020B0604020202020204" pitchFamily="34" charset="0"/>
              <a:buChar char="•"/>
            </a:pPr>
            <a:r>
              <a:rPr lang="en-US" altLang="ko-KR" sz="1400"/>
              <a:t>buttonPin </a:t>
            </a:r>
            <a:r>
              <a:rPr lang="ko-KR" altLang="en-US" sz="1400"/>
              <a:t>입력으로 정의</a:t>
            </a:r>
            <a:endParaRPr lang="en-US" altLang="ko-KR" sz="1400"/>
          </a:p>
          <a:p>
            <a:pPr marL="177800" indent="-177800">
              <a:lnSpc>
                <a:spcPct val="150000"/>
              </a:lnSpc>
              <a:buFont typeface="Arial" panose="020B0604020202020204" pitchFamily="34" charset="0"/>
              <a:buChar char="•"/>
            </a:pPr>
            <a:r>
              <a:rPr lang="en-US" altLang="ko-KR" sz="1400"/>
              <a:t>ledPin </a:t>
            </a:r>
            <a:r>
              <a:rPr lang="ko-KR" altLang="en-US" sz="1400"/>
              <a:t>출력으로 정의</a:t>
            </a:r>
          </a:p>
        </p:txBody>
      </p:sp>
      <p:sp>
        <p:nvSpPr>
          <p:cNvPr id="10" name="TextBox 9">
            <a:extLst>
              <a:ext uri="{FF2B5EF4-FFF2-40B4-BE49-F238E27FC236}">
                <a16:creationId xmlns:a16="http://schemas.microsoft.com/office/drawing/2014/main" id="{35E66D88-F94F-4F6E-B6CE-3A57BCA22701}"/>
              </a:ext>
            </a:extLst>
          </p:cNvPr>
          <p:cNvSpPr txBox="1"/>
          <p:nvPr/>
        </p:nvSpPr>
        <p:spPr>
          <a:xfrm>
            <a:off x="2732049" y="3765394"/>
            <a:ext cx="2457724" cy="2312877"/>
          </a:xfrm>
          <a:prstGeom prst="rect">
            <a:avLst/>
          </a:prstGeom>
          <a:noFill/>
        </p:spPr>
        <p:txBody>
          <a:bodyPr wrap="none" rtlCol="0">
            <a:spAutoFit/>
          </a:bodyPr>
          <a:lstStyle/>
          <a:p>
            <a:pPr marL="177800" indent="-177800">
              <a:lnSpc>
                <a:spcPct val="150000"/>
              </a:lnSpc>
              <a:buFont typeface="Arial" panose="020B0604020202020204" pitchFamily="34" charset="0"/>
              <a:buChar char="•"/>
            </a:pPr>
            <a:r>
              <a:rPr lang="ko-KR" altLang="en-US" sz="1400"/>
              <a:t>버튼 입력 변수에 저장</a:t>
            </a:r>
            <a:endParaRPr lang="en-US" altLang="ko-KR" sz="1400"/>
          </a:p>
          <a:p>
            <a:pPr marL="177800" indent="-177800">
              <a:lnSpc>
                <a:spcPct val="150000"/>
              </a:lnSpc>
              <a:buFont typeface="Arial" panose="020B0604020202020204" pitchFamily="34" charset="0"/>
              <a:buChar char="•"/>
            </a:pPr>
            <a:r>
              <a:rPr lang="ko-KR" altLang="en-US" sz="1400"/>
              <a:t>버튼 상태 출력</a:t>
            </a:r>
            <a:endParaRPr lang="en-US" altLang="ko-KR" sz="1400"/>
          </a:p>
          <a:p>
            <a:pPr marL="177800" indent="-177800">
              <a:lnSpc>
                <a:spcPct val="150000"/>
              </a:lnSpc>
              <a:buFont typeface="Arial" panose="020B0604020202020204" pitchFamily="34" charset="0"/>
              <a:buChar char="•"/>
            </a:pPr>
            <a:endParaRPr lang="en-US" altLang="ko-KR" sz="1400"/>
          </a:p>
          <a:p>
            <a:pPr marL="177800" indent="-177800">
              <a:lnSpc>
                <a:spcPct val="150000"/>
              </a:lnSpc>
              <a:buFont typeface="Arial" panose="020B0604020202020204" pitchFamily="34" charset="0"/>
              <a:buChar char="•"/>
            </a:pPr>
            <a:r>
              <a:rPr lang="ko-KR" altLang="en-US" sz="1400"/>
              <a:t>버튼이 </a:t>
            </a:r>
            <a:r>
              <a:rPr lang="en-US" altLang="ko-KR" sz="1400"/>
              <a:t>high </a:t>
            </a:r>
            <a:r>
              <a:rPr lang="ko-KR" altLang="en-US" sz="1400"/>
              <a:t>이면 </a:t>
            </a:r>
            <a:r>
              <a:rPr lang="en-US" altLang="ko-KR" sz="1400"/>
              <a:t>LED ON</a:t>
            </a:r>
          </a:p>
          <a:p>
            <a:pPr marL="177800" indent="-177800">
              <a:lnSpc>
                <a:spcPct val="150000"/>
              </a:lnSpc>
              <a:buFont typeface="Arial" panose="020B0604020202020204" pitchFamily="34" charset="0"/>
              <a:buChar char="•"/>
            </a:pPr>
            <a:endParaRPr lang="en-US" altLang="ko-KR" sz="1400"/>
          </a:p>
          <a:p>
            <a:pPr marL="177800" indent="-177800">
              <a:lnSpc>
                <a:spcPct val="150000"/>
              </a:lnSpc>
              <a:buFont typeface="Arial" panose="020B0604020202020204" pitchFamily="34" charset="0"/>
              <a:buChar char="•"/>
            </a:pPr>
            <a:r>
              <a:rPr lang="ko-KR" altLang="en-US" sz="1400"/>
              <a:t>아니면 </a:t>
            </a:r>
            <a:r>
              <a:rPr lang="en-US" altLang="ko-KR" sz="1400"/>
              <a:t>LED OFF</a:t>
            </a:r>
          </a:p>
          <a:p>
            <a:pPr marL="177800" indent="-177800">
              <a:lnSpc>
                <a:spcPct val="150000"/>
              </a:lnSpc>
              <a:buFont typeface="Arial" panose="020B0604020202020204" pitchFamily="34" charset="0"/>
              <a:buChar char="•"/>
            </a:pPr>
            <a:endParaRPr lang="en-US" altLang="ko-KR" sz="1400"/>
          </a:p>
        </p:txBody>
      </p:sp>
    </p:spTree>
    <p:extLst>
      <p:ext uri="{BB962C8B-B14F-4D97-AF65-F5344CB8AC3E}">
        <p14:creationId xmlns:p14="http://schemas.microsoft.com/office/powerpoint/2010/main" val="117769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383602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9600" b="1">
                <a:solidFill>
                  <a:schemeClr val="tx1"/>
                </a:solidFill>
              </a:rPr>
              <a:t>PWM</a:t>
            </a:r>
          </a:p>
          <a:p>
            <a:pPr marL="179387" algn="ctr"/>
            <a:r>
              <a:rPr lang="en-US" altLang="ko-KR" sz="6600" b="1">
                <a:solidFill>
                  <a:schemeClr val="tx1"/>
                </a:solidFill>
              </a:rPr>
              <a:t>Pulse Width Modulation</a:t>
            </a:r>
            <a:endParaRPr lang="ko-KR" altLang="en-US" sz="6000" b="1">
              <a:solidFill>
                <a:schemeClr val="tx1"/>
              </a:solidFill>
            </a:endParaRPr>
          </a:p>
        </p:txBody>
      </p:sp>
    </p:spTree>
    <p:extLst>
      <p:ext uri="{BB962C8B-B14F-4D97-AF65-F5344CB8AC3E}">
        <p14:creationId xmlns:p14="http://schemas.microsoft.com/office/powerpoint/2010/main" val="3889984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rPr>
              <a:t>개념</a:t>
            </a:r>
          </a:p>
        </p:txBody>
      </p:sp>
      <p:pic>
        <p:nvPicPr>
          <p:cNvPr id="8" name="그림 7">
            <a:extLst>
              <a:ext uri="{FF2B5EF4-FFF2-40B4-BE49-F238E27FC236}">
                <a16:creationId xmlns:a16="http://schemas.microsoft.com/office/drawing/2014/main" id="{93E9F395-BAEC-4B42-BC60-FB246DFF92AB}"/>
              </a:ext>
            </a:extLst>
          </p:cNvPr>
          <p:cNvPicPr>
            <a:picLocks noChangeAspect="1"/>
          </p:cNvPicPr>
          <p:nvPr/>
        </p:nvPicPr>
        <p:blipFill>
          <a:blip r:embed="rId2"/>
          <a:stretch>
            <a:fillRect/>
          </a:stretch>
        </p:blipFill>
        <p:spPr>
          <a:xfrm>
            <a:off x="2999656" y="836713"/>
            <a:ext cx="5334274" cy="3410125"/>
          </a:xfrm>
          <a:prstGeom prst="rect">
            <a:avLst/>
          </a:prstGeom>
        </p:spPr>
      </p:pic>
      <p:sp>
        <p:nvSpPr>
          <p:cNvPr id="11" name="TextBox 10">
            <a:extLst>
              <a:ext uri="{FF2B5EF4-FFF2-40B4-BE49-F238E27FC236}">
                <a16:creationId xmlns:a16="http://schemas.microsoft.com/office/drawing/2014/main" id="{D51491E8-308C-47BB-904D-BEF27A5428DE}"/>
              </a:ext>
            </a:extLst>
          </p:cNvPr>
          <p:cNvSpPr txBox="1"/>
          <p:nvPr/>
        </p:nvSpPr>
        <p:spPr>
          <a:xfrm>
            <a:off x="2999657" y="4466354"/>
            <a:ext cx="4297971" cy="400110"/>
          </a:xfrm>
          <a:prstGeom prst="rect">
            <a:avLst/>
          </a:prstGeom>
          <a:noFill/>
        </p:spPr>
        <p:txBody>
          <a:bodyPr wrap="none" rtlCol="0">
            <a:spAutoFit/>
          </a:bodyPr>
          <a:lstStyle/>
          <a:p>
            <a:pPr marL="285750" indent="-285750">
              <a:buFont typeface="Arial" panose="020B0604020202020204" pitchFamily="34" charset="0"/>
              <a:buChar char="•"/>
            </a:pPr>
            <a:r>
              <a:rPr lang="ko-KR" altLang="en-US" sz="2000" b="1">
                <a:solidFill>
                  <a:schemeClr val="tx1">
                    <a:lumMod val="95000"/>
                    <a:lumOff val="5000"/>
                  </a:schemeClr>
                </a:solidFill>
                <a:latin typeface="+mn-ea"/>
              </a:rPr>
              <a:t>주기는 고정</a:t>
            </a:r>
            <a:r>
              <a:rPr lang="en-US" altLang="ko-KR" sz="2000" b="1">
                <a:solidFill>
                  <a:schemeClr val="tx1">
                    <a:lumMod val="95000"/>
                    <a:lumOff val="5000"/>
                  </a:schemeClr>
                </a:solidFill>
                <a:latin typeface="+mn-ea"/>
              </a:rPr>
              <a:t>, On pulse </a:t>
            </a:r>
            <a:r>
              <a:rPr lang="ko-KR" altLang="en-US" sz="2000" b="1">
                <a:solidFill>
                  <a:schemeClr val="tx1">
                    <a:lumMod val="95000"/>
                    <a:lumOff val="5000"/>
                  </a:schemeClr>
                </a:solidFill>
                <a:latin typeface="+mn-ea"/>
              </a:rPr>
              <a:t>폭을 변경</a:t>
            </a:r>
          </a:p>
        </p:txBody>
      </p:sp>
    </p:spTree>
    <p:extLst>
      <p:ext uri="{BB962C8B-B14F-4D97-AF65-F5344CB8AC3E}">
        <p14:creationId xmlns:p14="http://schemas.microsoft.com/office/powerpoint/2010/main" val="1310263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rPr>
              <a:t>개념</a:t>
            </a:r>
          </a:p>
        </p:txBody>
      </p:sp>
      <p:sp>
        <p:nvSpPr>
          <p:cNvPr id="3" name="직사각형 2">
            <a:extLst>
              <a:ext uri="{FF2B5EF4-FFF2-40B4-BE49-F238E27FC236}">
                <a16:creationId xmlns:a16="http://schemas.microsoft.com/office/drawing/2014/main" id="{A389694A-12F7-4536-8081-455A69D2A6DD}"/>
              </a:ext>
            </a:extLst>
          </p:cNvPr>
          <p:cNvSpPr/>
          <p:nvPr/>
        </p:nvSpPr>
        <p:spPr>
          <a:xfrm>
            <a:off x="315951" y="750025"/>
            <a:ext cx="11303619" cy="391677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ESP32</a:t>
            </a:r>
            <a:r>
              <a:rPr lang="ko-KR" altLang="en-US">
                <a:latin typeface="+mn-ea"/>
              </a:rPr>
              <a:t>를 사용하여 </a:t>
            </a:r>
            <a:r>
              <a:rPr lang="en-US" altLang="ko-KR">
                <a:latin typeface="+mn-ea"/>
              </a:rPr>
              <a:t>Arduino IDE</a:t>
            </a:r>
            <a:r>
              <a:rPr lang="ko-KR" altLang="en-US">
                <a:latin typeface="+mn-ea"/>
              </a:rPr>
              <a:t>에서 </a:t>
            </a:r>
            <a:r>
              <a:rPr lang="en-US" altLang="ko-KR">
                <a:latin typeface="+mn-ea"/>
              </a:rPr>
              <a:t>PWM </a:t>
            </a:r>
            <a:r>
              <a:rPr lang="ko-KR" altLang="en-US">
                <a:latin typeface="+mn-ea"/>
              </a:rPr>
              <a:t>신호를 생성하는 방법을 배워보자</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PWM</a:t>
            </a:r>
            <a:r>
              <a:rPr lang="ko-KR" altLang="en-US">
                <a:latin typeface="+mn-ea"/>
              </a:rPr>
              <a:t>을 사용하는 두 가지 방법이 있다</a:t>
            </a:r>
            <a:r>
              <a:rPr lang="en-US" altLang="ko-KR">
                <a:latin typeface="+mn-ea"/>
              </a:rPr>
              <a:t>. </a:t>
            </a:r>
          </a:p>
          <a:p>
            <a:pPr marL="285750" indent="-285750">
              <a:lnSpc>
                <a:spcPct val="150000"/>
              </a:lnSpc>
              <a:buFont typeface="Arial" panose="020B0604020202020204" pitchFamily="34" charset="0"/>
              <a:buChar char="•"/>
            </a:pPr>
            <a:r>
              <a:rPr lang="en-US" altLang="ko-KR" b="1">
                <a:latin typeface="+mn-ea"/>
              </a:rPr>
              <a:t>analogWrite</a:t>
            </a:r>
            <a:r>
              <a:rPr lang="ko-KR" altLang="en-US">
                <a:latin typeface="+mn-ea"/>
              </a:rPr>
              <a:t>를 사용하는 방법과 </a:t>
            </a:r>
            <a:r>
              <a:rPr lang="en-US" altLang="ko-KR" b="1">
                <a:latin typeface="+mn-ea"/>
              </a:rPr>
              <a:t>LEDC API</a:t>
            </a:r>
            <a:r>
              <a:rPr lang="ko-KR" altLang="en-US">
                <a:latin typeface="+mn-ea"/>
              </a:rPr>
              <a:t>를 사용하는 방법이다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예제로 </a:t>
            </a:r>
            <a:r>
              <a:rPr lang="en-US" altLang="ko-KR">
                <a:latin typeface="+mn-ea"/>
              </a:rPr>
              <a:t>LED</a:t>
            </a:r>
            <a:r>
              <a:rPr lang="ko-KR" altLang="en-US">
                <a:latin typeface="+mn-ea"/>
              </a:rPr>
              <a:t>의 밝기를 점점 밝게</a:t>
            </a:r>
            <a:r>
              <a:rPr lang="en-US" altLang="ko-KR">
                <a:latin typeface="+mn-ea"/>
              </a:rPr>
              <a:t>/</a:t>
            </a:r>
            <a:r>
              <a:rPr lang="ko-KR" altLang="en-US">
                <a:latin typeface="+mn-ea"/>
              </a:rPr>
              <a:t>어둡게 변화시키는 간단한 회로를 만들어 실습해보자</a:t>
            </a:r>
            <a:r>
              <a:rPr lang="en-US" altLang="ko-KR">
                <a:latin typeface="+mn-ea"/>
              </a:rPr>
              <a:t>.</a:t>
            </a:r>
          </a:p>
          <a:p>
            <a:pPr marL="285750" indent="-285750">
              <a:lnSpc>
                <a:spcPct val="150000"/>
              </a:lnSpc>
              <a:buFont typeface="Arial" panose="020B0604020202020204" pitchFamily="34" charset="0"/>
              <a:buChar char="•"/>
            </a:pPr>
            <a:r>
              <a:rPr lang="en-US" altLang="ko-KR"/>
              <a:t>ESP32</a:t>
            </a:r>
            <a:r>
              <a:rPr lang="ko-KR" altLang="en-US"/>
              <a:t>에는 </a:t>
            </a:r>
            <a:r>
              <a:rPr lang="en-US" altLang="ko-KR"/>
              <a:t>LED PWM </a:t>
            </a:r>
            <a:r>
              <a:rPr lang="ko-KR" altLang="en-US"/>
              <a:t>컨트롤러가 있으며</a:t>
            </a:r>
            <a:r>
              <a:rPr lang="en-US" altLang="ko-KR"/>
              <a:t>, </a:t>
            </a:r>
            <a:r>
              <a:rPr lang="ko-KR" altLang="en-US"/>
              <a:t>모델에 따라 </a:t>
            </a:r>
            <a:r>
              <a:rPr lang="en-US" altLang="ko-KR"/>
              <a:t>6</a:t>
            </a:r>
            <a:r>
              <a:rPr lang="ko-KR" altLang="en-US"/>
              <a:t>개에서 </a:t>
            </a:r>
            <a:r>
              <a:rPr lang="en-US" altLang="ko-KR"/>
              <a:t>16</a:t>
            </a:r>
            <a:r>
              <a:rPr lang="ko-KR" altLang="en-US"/>
              <a:t>개의 독립적인 채널을 제공한다</a:t>
            </a:r>
            <a:r>
              <a:rPr lang="en-US" altLang="ko-KR"/>
              <a:t>. </a:t>
            </a:r>
          </a:p>
          <a:p>
            <a:pPr marL="285750" indent="-285750">
              <a:lnSpc>
                <a:spcPct val="150000"/>
              </a:lnSpc>
              <a:buFont typeface="Arial" panose="020B0604020202020204" pitchFamily="34" charset="0"/>
              <a:buChar char="•"/>
            </a:pPr>
            <a:r>
              <a:rPr lang="ko-KR" altLang="en-US"/>
              <a:t>이 채널들은 서로 다른 특성을 가진 </a:t>
            </a:r>
            <a:r>
              <a:rPr lang="en-US" altLang="ko-KR"/>
              <a:t>PWM </a:t>
            </a:r>
            <a:r>
              <a:rPr lang="ko-KR" altLang="en-US"/>
              <a:t>신호를 생성하도록 설정할 수 있다</a:t>
            </a:r>
            <a:r>
              <a:rPr lang="en-US" altLang="ko-KR"/>
              <a:t>.</a:t>
            </a:r>
          </a:p>
          <a:p>
            <a:pPr marL="285750" indent="-285750">
              <a:lnSpc>
                <a:spcPct val="150000"/>
              </a:lnSpc>
              <a:buFont typeface="Arial" panose="020B0604020202020204" pitchFamily="34" charset="0"/>
              <a:buChar char="•"/>
            </a:pPr>
            <a:r>
              <a:rPr lang="en-US" altLang="ko-KR"/>
              <a:t>PWM </a:t>
            </a:r>
            <a:r>
              <a:rPr lang="ko-KR" altLang="en-US"/>
              <a:t>신호를 생성하고 동일한 결과를 얻기 위해 사용할 수 있는 다양한 함수가 있다</a:t>
            </a:r>
            <a:r>
              <a:rPr lang="en-US" altLang="ko-KR"/>
              <a:t>. </a:t>
            </a:r>
          </a:p>
          <a:p>
            <a:pPr marL="285750" indent="-285750">
              <a:lnSpc>
                <a:spcPct val="150000"/>
              </a:lnSpc>
              <a:buFont typeface="Arial" panose="020B0604020202020204" pitchFamily="34" charset="0"/>
              <a:buChar char="•"/>
            </a:pPr>
            <a:r>
              <a:rPr lang="en-US" altLang="ko-KR"/>
              <a:t>Arduino </a:t>
            </a:r>
            <a:r>
              <a:rPr lang="ko-KR" altLang="en-US"/>
              <a:t>보드처럼 </a:t>
            </a:r>
            <a:r>
              <a:rPr lang="en-US" altLang="ko-KR" b="1"/>
              <a:t>analogWrite</a:t>
            </a:r>
            <a:r>
              <a:rPr lang="ko-KR" altLang="en-US"/>
              <a:t>를 사용할 수도 있고</a:t>
            </a:r>
            <a:r>
              <a:rPr lang="en-US" altLang="ko-KR"/>
              <a:t>, </a:t>
            </a:r>
            <a:r>
              <a:rPr lang="en-US" altLang="ko-KR" b="1"/>
              <a:t>LEDC </a:t>
            </a:r>
            <a:r>
              <a:rPr lang="ko-KR" altLang="en-US" b="1"/>
              <a:t>함수</a:t>
            </a:r>
            <a:r>
              <a:rPr lang="ko-KR" altLang="en-US"/>
              <a:t>를 사용할 수도 있습니다</a:t>
            </a:r>
            <a:r>
              <a:rPr lang="en-US" altLang="ko-KR"/>
              <a:t>.</a:t>
            </a:r>
          </a:p>
          <a:p>
            <a:pPr marL="285750" indent="-285750">
              <a:lnSpc>
                <a:spcPct val="150000"/>
              </a:lnSpc>
              <a:buFont typeface="Arial" panose="020B0604020202020204" pitchFamily="34" charset="0"/>
              <a:buChar char="•"/>
            </a:pPr>
            <a:endParaRPr lang="ko-KR" altLang="en-US">
              <a:latin typeface="+mn-ea"/>
            </a:endParaRPr>
          </a:p>
        </p:txBody>
      </p:sp>
    </p:spTree>
    <p:extLst>
      <p:ext uri="{BB962C8B-B14F-4D97-AF65-F5344CB8AC3E}">
        <p14:creationId xmlns:p14="http://schemas.microsoft.com/office/powerpoint/2010/main" val="802779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en-US" altLang="ko-KR" b="1">
                <a:solidFill>
                  <a:schemeClr val="tx1"/>
                </a:solidFill>
                <a:sym typeface="Wingdings" panose="05000000000000000000" pitchFamily="2" charset="2"/>
              </a:rPr>
              <a:t> analogWrite</a:t>
            </a:r>
            <a:endParaRPr lang="ko-KR" altLang="en-US" b="1">
              <a:solidFill>
                <a:schemeClr val="tx1"/>
              </a:solidFill>
            </a:endParaRPr>
          </a:p>
        </p:txBody>
      </p:sp>
      <p:sp>
        <p:nvSpPr>
          <p:cNvPr id="4" name="TextBox 3">
            <a:extLst>
              <a:ext uri="{FF2B5EF4-FFF2-40B4-BE49-F238E27FC236}">
                <a16:creationId xmlns:a16="http://schemas.microsoft.com/office/drawing/2014/main" id="{C58BA900-D25B-4821-B0D5-A9D259316FA5}"/>
              </a:ext>
            </a:extLst>
          </p:cNvPr>
          <p:cNvSpPr txBox="1"/>
          <p:nvPr/>
        </p:nvSpPr>
        <p:spPr>
          <a:xfrm>
            <a:off x="735981" y="1326998"/>
            <a:ext cx="7520392" cy="584775"/>
          </a:xfrm>
          <a:prstGeom prst="rect">
            <a:avLst/>
          </a:prstGeom>
          <a:solidFill>
            <a:schemeClr val="accent3">
              <a:lumMod val="20000"/>
              <a:lumOff val="80000"/>
            </a:schemeClr>
          </a:solidFill>
        </p:spPr>
        <p:txBody>
          <a:bodyPr wrap="none" rtlCol="0">
            <a:spAutoFit/>
          </a:bodyPr>
          <a:lstStyle/>
          <a:p>
            <a:r>
              <a:rPr lang="en-US" altLang="ko-KR" sz="3200"/>
              <a:t>void </a:t>
            </a:r>
            <a:r>
              <a:rPr lang="en-US" altLang="ko-KR" sz="3200">
                <a:solidFill>
                  <a:schemeClr val="accent2">
                    <a:lumMod val="75000"/>
                  </a:schemeClr>
                </a:solidFill>
              </a:rPr>
              <a:t>analogWrite</a:t>
            </a:r>
            <a:r>
              <a:rPr lang="en-US" altLang="ko-KR" sz="3200"/>
              <a:t>(uint8_t pin, int value);</a:t>
            </a:r>
            <a:endParaRPr lang="ko-KR" altLang="en-US" sz="3200"/>
          </a:p>
        </p:txBody>
      </p:sp>
      <p:sp>
        <p:nvSpPr>
          <p:cNvPr id="5" name="TextBox 4">
            <a:extLst>
              <a:ext uri="{FF2B5EF4-FFF2-40B4-BE49-F238E27FC236}">
                <a16:creationId xmlns:a16="http://schemas.microsoft.com/office/drawing/2014/main" id="{3A7634FE-088C-47DD-ABD0-DEF31466B8B8}"/>
              </a:ext>
            </a:extLst>
          </p:cNvPr>
          <p:cNvSpPr txBox="1"/>
          <p:nvPr/>
        </p:nvSpPr>
        <p:spPr>
          <a:xfrm>
            <a:off x="446049" y="800191"/>
            <a:ext cx="5531386"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핀으로 </a:t>
            </a:r>
            <a:r>
              <a:rPr lang="en-US" altLang="ko-KR" b="1">
                <a:solidFill>
                  <a:srgbClr val="3A0DFB"/>
                </a:solidFill>
              </a:rPr>
              <a:t>duty cycle </a:t>
            </a:r>
            <a:r>
              <a:rPr lang="ko-KR" altLang="en-US" b="1">
                <a:solidFill>
                  <a:srgbClr val="3A0DFB"/>
                </a:solidFill>
              </a:rPr>
              <a:t>값 입력</a:t>
            </a:r>
            <a:r>
              <a:rPr lang="en-US" altLang="ko-KR" b="1">
                <a:solidFill>
                  <a:srgbClr val="3A0DFB"/>
                </a:solidFill>
              </a:rPr>
              <a:t>(</a:t>
            </a:r>
            <a:r>
              <a:rPr lang="ko-KR" altLang="en-US" b="1">
                <a:solidFill>
                  <a:srgbClr val="3A0DFB"/>
                </a:solidFill>
              </a:rPr>
              <a:t>범위 </a:t>
            </a:r>
            <a:r>
              <a:rPr lang="en-US" altLang="ko-KR" b="1">
                <a:solidFill>
                  <a:srgbClr val="3A0DFB"/>
                </a:solidFill>
              </a:rPr>
              <a:t>: 0~255)</a:t>
            </a:r>
            <a:endParaRPr lang="ko-KR" altLang="en-US" b="1">
              <a:solidFill>
                <a:srgbClr val="3A0DFB"/>
              </a:solidFill>
            </a:endParaRPr>
          </a:p>
        </p:txBody>
      </p:sp>
      <p:sp>
        <p:nvSpPr>
          <p:cNvPr id="6" name="TextBox 5">
            <a:extLst>
              <a:ext uri="{FF2B5EF4-FFF2-40B4-BE49-F238E27FC236}">
                <a16:creationId xmlns:a16="http://schemas.microsoft.com/office/drawing/2014/main" id="{A4C1894D-6E49-4FB0-BE67-D60215C97877}"/>
              </a:ext>
            </a:extLst>
          </p:cNvPr>
          <p:cNvSpPr txBox="1"/>
          <p:nvPr/>
        </p:nvSpPr>
        <p:spPr>
          <a:xfrm>
            <a:off x="735981" y="2130804"/>
            <a:ext cx="2305439" cy="369332"/>
          </a:xfrm>
          <a:prstGeom prst="rect">
            <a:avLst/>
          </a:prstGeom>
          <a:noFill/>
        </p:spPr>
        <p:txBody>
          <a:bodyPr wrap="none" rtlCol="0">
            <a:spAutoFit/>
          </a:bodyPr>
          <a:lstStyle/>
          <a:p>
            <a:r>
              <a:rPr lang="en-US" altLang="ko-KR"/>
              <a:t>pin </a:t>
            </a:r>
            <a:r>
              <a:rPr lang="ko-KR" altLang="en-US"/>
              <a:t>번호와  값 입력 </a:t>
            </a:r>
          </a:p>
        </p:txBody>
      </p:sp>
      <p:sp>
        <p:nvSpPr>
          <p:cNvPr id="7" name="TextBox 6">
            <a:extLst>
              <a:ext uri="{FF2B5EF4-FFF2-40B4-BE49-F238E27FC236}">
                <a16:creationId xmlns:a16="http://schemas.microsoft.com/office/drawing/2014/main" id="{1579A957-B352-4BF6-8968-B516FA07BADA}"/>
              </a:ext>
            </a:extLst>
          </p:cNvPr>
          <p:cNvSpPr txBox="1"/>
          <p:nvPr/>
        </p:nvSpPr>
        <p:spPr>
          <a:xfrm>
            <a:off x="446049" y="2858332"/>
            <a:ext cx="2796022" cy="369332"/>
          </a:xfrm>
          <a:prstGeom prst="rect">
            <a:avLst/>
          </a:prstGeom>
          <a:noFill/>
        </p:spPr>
        <p:txBody>
          <a:bodyPr wrap="none" rtlCol="0">
            <a:spAutoFit/>
          </a:bodyPr>
          <a:lstStyle/>
          <a:p>
            <a:r>
              <a:rPr lang="en-US" altLang="ko-KR" b="1">
                <a:solidFill>
                  <a:srgbClr val="3A0DFB"/>
                </a:solidFill>
              </a:rPr>
              <a:t>2. PWM resolution </a:t>
            </a:r>
            <a:r>
              <a:rPr lang="ko-KR" altLang="en-US" b="1">
                <a:solidFill>
                  <a:srgbClr val="3A0DFB"/>
                </a:solidFill>
              </a:rPr>
              <a:t>설정</a:t>
            </a:r>
          </a:p>
        </p:txBody>
      </p:sp>
      <p:sp>
        <p:nvSpPr>
          <p:cNvPr id="8" name="TextBox 7">
            <a:extLst>
              <a:ext uri="{FF2B5EF4-FFF2-40B4-BE49-F238E27FC236}">
                <a16:creationId xmlns:a16="http://schemas.microsoft.com/office/drawing/2014/main" id="{386E14AD-966A-467D-9A35-1ECB729F4DEA}"/>
              </a:ext>
            </a:extLst>
          </p:cNvPr>
          <p:cNvSpPr txBox="1"/>
          <p:nvPr/>
        </p:nvSpPr>
        <p:spPr>
          <a:xfrm>
            <a:off x="735981" y="3451418"/>
            <a:ext cx="9762224" cy="523220"/>
          </a:xfrm>
          <a:prstGeom prst="rect">
            <a:avLst/>
          </a:prstGeom>
          <a:solidFill>
            <a:schemeClr val="accent3">
              <a:lumMod val="20000"/>
              <a:lumOff val="80000"/>
            </a:schemeClr>
          </a:solidFill>
        </p:spPr>
        <p:txBody>
          <a:bodyPr wrap="none" rtlCol="0">
            <a:spAutoFit/>
          </a:bodyPr>
          <a:lstStyle/>
          <a:p>
            <a:r>
              <a:rPr lang="en-US" altLang="ko-KR" sz="2800"/>
              <a:t>void </a:t>
            </a:r>
            <a:r>
              <a:rPr lang="en-US" altLang="ko-KR" sz="2800">
                <a:solidFill>
                  <a:schemeClr val="accent2">
                    <a:lumMod val="75000"/>
                  </a:schemeClr>
                </a:solidFill>
              </a:rPr>
              <a:t>analogWriteResolution</a:t>
            </a:r>
            <a:r>
              <a:rPr lang="en-US" altLang="ko-KR" sz="2800"/>
              <a:t>(uint8_t pin, uint8_t resolution);</a:t>
            </a:r>
            <a:endParaRPr lang="ko-KR" altLang="en-US" sz="4800"/>
          </a:p>
        </p:txBody>
      </p:sp>
      <p:sp>
        <p:nvSpPr>
          <p:cNvPr id="9" name="TextBox 8">
            <a:extLst>
              <a:ext uri="{FF2B5EF4-FFF2-40B4-BE49-F238E27FC236}">
                <a16:creationId xmlns:a16="http://schemas.microsoft.com/office/drawing/2014/main" id="{C42A05D3-0C37-4502-834C-FE6E6CABBA69}"/>
              </a:ext>
            </a:extLst>
          </p:cNvPr>
          <p:cNvSpPr txBox="1"/>
          <p:nvPr/>
        </p:nvSpPr>
        <p:spPr>
          <a:xfrm>
            <a:off x="702528" y="4001742"/>
            <a:ext cx="5307735" cy="369332"/>
          </a:xfrm>
          <a:prstGeom prst="rect">
            <a:avLst/>
          </a:prstGeom>
          <a:noFill/>
        </p:spPr>
        <p:txBody>
          <a:bodyPr wrap="none" rtlCol="0">
            <a:spAutoFit/>
          </a:bodyPr>
          <a:lstStyle/>
          <a:p>
            <a:r>
              <a:rPr lang="en-US" altLang="ko-KR"/>
              <a:t>ESP32</a:t>
            </a:r>
            <a:r>
              <a:rPr lang="ko-KR" altLang="en-US"/>
              <a:t>는 </a:t>
            </a:r>
            <a:r>
              <a:rPr lang="en-US" altLang="ko-KR"/>
              <a:t>8, 10, 12, 15 bit PWM</a:t>
            </a:r>
            <a:r>
              <a:rPr lang="ko-KR" altLang="en-US"/>
              <a:t> </a:t>
            </a:r>
            <a:r>
              <a:rPr lang="en-US" altLang="ko-KR"/>
              <a:t>resolution</a:t>
            </a:r>
            <a:r>
              <a:rPr lang="ko-KR" altLang="en-US"/>
              <a:t>을 가짐</a:t>
            </a:r>
          </a:p>
        </p:txBody>
      </p:sp>
      <p:sp>
        <p:nvSpPr>
          <p:cNvPr id="10" name="TextBox 9">
            <a:extLst>
              <a:ext uri="{FF2B5EF4-FFF2-40B4-BE49-F238E27FC236}">
                <a16:creationId xmlns:a16="http://schemas.microsoft.com/office/drawing/2014/main" id="{3BDB725E-296C-4DED-AAFE-8B73CE0A976E}"/>
              </a:ext>
            </a:extLst>
          </p:cNvPr>
          <p:cNvSpPr txBox="1"/>
          <p:nvPr/>
        </p:nvSpPr>
        <p:spPr>
          <a:xfrm>
            <a:off x="446049" y="4631081"/>
            <a:ext cx="2131161" cy="369332"/>
          </a:xfrm>
          <a:prstGeom prst="rect">
            <a:avLst/>
          </a:prstGeom>
          <a:noFill/>
        </p:spPr>
        <p:txBody>
          <a:bodyPr wrap="none" rtlCol="0">
            <a:spAutoFit/>
          </a:bodyPr>
          <a:lstStyle/>
          <a:p>
            <a:r>
              <a:rPr lang="en-US" altLang="ko-KR" b="1">
                <a:solidFill>
                  <a:srgbClr val="3A0DFB"/>
                </a:solidFill>
              </a:rPr>
              <a:t>3. Frequency </a:t>
            </a:r>
            <a:r>
              <a:rPr lang="ko-KR" altLang="en-US" b="1">
                <a:solidFill>
                  <a:srgbClr val="3A0DFB"/>
                </a:solidFill>
              </a:rPr>
              <a:t>설정</a:t>
            </a:r>
          </a:p>
        </p:txBody>
      </p:sp>
      <p:sp>
        <p:nvSpPr>
          <p:cNvPr id="11" name="TextBox 10">
            <a:extLst>
              <a:ext uri="{FF2B5EF4-FFF2-40B4-BE49-F238E27FC236}">
                <a16:creationId xmlns:a16="http://schemas.microsoft.com/office/drawing/2014/main" id="{F6F5B219-0F30-4B12-B6DE-4830AB2B2162}"/>
              </a:ext>
            </a:extLst>
          </p:cNvPr>
          <p:cNvSpPr txBox="1"/>
          <p:nvPr/>
        </p:nvSpPr>
        <p:spPr>
          <a:xfrm>
            <a:off x="735981" y="5224167"/>
            <a:ext cx="8950527" cy="523220"/>
          </a:xfrm>
          <a:prstGeom prst="rect">
            <a:avLst/>
          </a:prstGeom>
          <a:solidFill>
            <a:schemeClr val="accent3">
              <a:lumMod val="20000"/>
              <a:lumOff val="80000"/>
            </a:schemeClr>
          </a:solidFill>
        </p:spPr>
        <p:txBody>
          <a:bodyPr wrap="none" rtlCol="0">
            <a:spAutoFit/>
          </a:bodyPr>
          <a:lstStyle/>
          <a:p>
            <a:r>
              <a:rPr lang="en-US" altLang="ko-KR" sz="2800"/>
              <a:t>void </a:t>
            </a:r>
            <a:r>
              <a:rPr lang="en-US" altLang="ko-KR" sz="2800">
                <a:solidFill>
                  <a:schemeClr val="accent2">
                    <a:lumMod val="75000"/>
                  </a:schemeClr>
                </a:solidFill>
              </a:rPr>
              <a:t>analogWriteFrequency</a:t>
            </a:r>
            <a:r>
              <a:rPr lang="en-US" altLang="ko-KR" sz="2800"/>
              <a:t>(uint8_t pin, uint32_t freq);</a:t>
            </a:r>
            <a:endParaRPr lang="ko-KR" altLang="en-US" sz="6600"/>
          </a:p>
        </p:txBody>
      </p:sp>
      <p:sp>
        <p:nvSpPr>
          <p:cNvPr id="12" name="TextBox 11">
            <a:extLst>
              <a:ext uri="{FF2B5EF4-FFF2-40B4-BE49-F238E27FC236}">
                <a16:creationId xmlns:a16="http://schemas.microsoft.com/office/drawing/2014/main" id="{70D7CAA5-8C6A-4632-8343-BBD5BD12BF98}"/>
              </a:ext>
            </a:extLst>
          </p:cNvPr>
          <p:cNvSpPr txBox="1"/>
          <p:nvPr/>
        </p:nvSpPr>
        <p:spPr>
          <a:xfrm>
            <a:off x="702528" y="5774491"/>
            <a:ext cx="4939109" cy="369332"/>
          </a:xfrm>
          <a:prstGeom prst="rect">
            <a:avLst/>
          </a:prstGeom>
          <a:noFill/>
        </p:spPr>
        <p:txBody>
          <a:bodyPr wrap="none" rtlCol="0">
            <a:spAutoFit/>
          </a:bodyPr>
          <a:lstStyle/>
          <a:p>
            <a:r>
              <a:rPr lang="en-US" altLang="ko-KR"/>
              <a:t>duty frequency </a:t>
            </a:r>
            <a:r>
              <a:rPr lang="ko-KR" altLang="en-US"/>
              <a:t>는 펄스 반복 주기를 변화시킴</a:t>
            </a:r>
          </a:p>
        </p:txBody>
      </p:sp>
    </p:spTree>
    <p:extLst>
      <p:ext uri="{BB962C8B-B14F-4D97-AF65-F5344CB8AC3E}">
        <p14:creationId xmlns:p14="http://schemas.microsoft.com/office/powerpoint/2010/main" val="2452090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en-US" altLang="ko-KR" b="1">
                <a:solidFill>
                  <a:schemeClr val="tx1"/>
                </a:solidFill>
                <a:sym typeface="Wingdings" panose="05000000000000000000" pitchFamily="2" charset="2"/>
              </a:rPr>
              <a:t> LEDC Functions</a:t>
            </a:r>
            <a:endParaRPr lang="ko-KR" altLang="en-US" b="1">
              <a:solidFill>
                <a:schemeClr val="tx1"/>
              </a:solidFill>
            </a:endParaRPr>
          </a:p>
        </p:txBody>
      </p:sp>
      <p:sp>
        <p:nvSpPr>
          <p:cNvPr id="4" name="TextBox 3">
            <a:extLst>
              <a:ext uri="{FF2B5EF4-FFF2-40B4-BE49-F238E27FC236}">
                <a16:creationId xmlns:a16="http://schemas.microsoft.com/office/drawing/2014/main" id="{C58BA900-D25B-4821-B0D5-A9D259316FA5}"/>
              </a:ext>
            </a:extLst>
          </p:cNvPr>
          <p:cNvSpPr txBox="1"/>
          <p:nvPr/>
        </p:nvSpPr>
        <p:spPr>
          <a:xfrm>
            <a:off x="680226" y="1200941"/>
            <a:ext cx="8371202" cy="369332"/>
          </a:xfrm>
          <a:prstGeom prst="rect">
            <a:avLst/>
          </a:prstGeom>
          <a:solidFill>
            <a:schemeClr val="accent3">
              <a:lumMod val="20000"/>
              <a:lumOff val="80000"/>
            </a:schemeClr>
          </a:solidFill>
        </p:spPr>
        <p:txBody>
          <a:bodyPr wrap="none" rtlCol="0">
            <a:spAutoFit/>
          </a:bodyPr>
          <a:lstStyle/>
          <a:p>
            <a:r>
              <a:rPr lang="ko-KR" altLang="ko-KR">
                <a:solidFill>
                  <a:srgbClr val="000000"/>
                </a:solidFill>
                <a:latin typeface="Consolas" panose="020B0609020204030204" pitchFamily="49" charset="0"/>
              </a:rPr>
              <a:t>bool ledcAttach(uint8_t pin, uint32_t</a:t>
            </a:r>
            <a:r>
              <a:rPr lang="ko-KR" altLang="ko-KR" b="1">
                <a:solidFill>
                  <a:srgbClr val="000000"/>
                </a:solidFill>
                <a:latin typeface="Consolas" panose="020B0609020204030204" pitchFamily="49" charset="0"/>
              </a:rPr>
              <a:t> </a:t>
            </a:r>
            <a:r>
              <a:rPr lang="ko-KR" altLang="ko-KR">
                <a:solidFill>
                  <a:srgbClr val="000000"/>
                </a:solidFill>
                <a:latin typeface="Consolas" panose="020B0609020204030204" pitchFamily="49" charset="0"/>
              </a:rPr>
              <a:t>freq, uint8_t resolution);</a:t>
            </a:r>
            <a:r>
              <a:rPr lang="ko-KR" altLang="ko-KR"/>
              <a:t> </a:t>
            </a:r>
            <a:endParaRPr lang="ko-KR" altLang="ko-KR">
              <a:latin typeface="Arial" panose="020B0604020202020204" pitchFamily="34" charset="0"/>
            </a:endParaRPr>
          </a:p>
        </p:txBody>
      </p:sp>
      <p:sp>
        <p:nvSpPr>
          <p:cNvPr id="5" name="TextBox 4">
            <a:extLst>
              <a:ext uri="{FF2B5EF4-FFF2-40B4-BE49-F238E27FC236}">
                <a16:creationId xmlns:a16="http://schemas.microsoft.com/office/drawing/2014/main" id="{3A7634FE-088C-47DD-ABD0-DEF31466B8B8}"/>
              </a:ext>
            </a:extLst>
          </p:cNvPr>
          <p:cNvSpPr txBox="1"/>
          <p:nvPr/>
        </p:nvSpPr>
        <p:spPr>
          <a:xfrm>
            <a:off x="390294" y="755588"/>
            <a:ext cx="1997663" cy="369332"/>
          </a:xfrm>
          <a:prstGeom prst="rect">
            <a:avLst/>
          </a:prstGeom>
          <a:noFill/>
        </p:spPr>
        <p:txBody>
          <a:bodyPr wrap="none" rtlCol="0">
            <a:spAutoFit/>
          </a:bodyPr>
          <a:lstStyle/>
          <a:p>
            <a:r>
              <a:rPr lang="en-US" altLang="ko-KR" b="1">
                <a:solidFill>
                  <a:srgbClr val="3A0DFB"/>
                </a:solidFill>
              </a:rPr>
              <a:t>1. LEDC pin </a:t>
            </a:r>
            <a:r>
              <a:rPr lang="ko-KR" altLang="en-US" b="1">
                <a:solidFill>
                  <a:srgbClr val="3A0DFB"/>
                </a:solidFill>
              </a:rPr>
              <a:t>설정</a:t>
            </a:r>
          </a:p>
        </p:txBody>
      </p:sp>
      <p:sp>
        <p:nvSpPr>
          <p:cNvPr id="6" name="TextBox 5">
            <a:extLst>
              <a:ext uri="{FF2B5EF4-FFF2-40B4-BE49-F238E27FC236}">
                <a16:creationId xmlns:a16="http://schemas.microsoft.com/office/drawing/2014/main" id="{A4C1894D-6E49-4FB0-BE67-D60215C97877}"/>
              </a:ext>
            </a:extLst>
          </p:cNvPr>
          <p:cNvSpPr txBox="1"/>
          <p:nvPr/>
        </p:nvSpPr>
        <p:spPr>
          <a:xfrm>
            <a:off x="665799" y="1629566"/>
            <a:ext cx="9708812" cy="7833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sz="1600" b="1"/>
              <a:t>ledcAttach</a:t>
            </a:r>
            <a:r>
              <a:rPr lang="ko-KR" altLang="en-US" sz="1600"/>
              <a:t> 함수는 주어진 주파수와 해상도로 </a:t>
            </a:r>
            <a:r>
              <a:rPr lang="en-US" altLang="ko-KR" sz="1600"/>
              <a:t>LEDC </a:t>
            </a:r>
            <a:r>
              <a:rPr lang="ko-KR" altLang="en-US" sz="1600"/>
              <a:t>핀을 설정한다</a:t>
            </a:r>
            <a:r>
              <a:rPr lang="en-US" altLang="ko-KR" sz="1600"/>
              <a:t>. LEDC </a:t>
            </a:r>
            <a:r>
              <a:rPr lang="ko-KR" altLang="en-US" sz="1600"/>
              <a:t>채널은 자동으로 선택된다</a:t>
            </a:r>
            <a:r>
              <a:rPr lang="en-US" altLang="ko-KR" sz="1600"/>
              <a:t>.</a:t>
            </a:r>
          </a:p>
          <a:p>
            <a:pPr marL="285750" indent="-285750">
              <a:lnSpc>
                <a:spcPct val="150000"/>
              </a:lnSpc>
              <a:buFont typeface="Arial" panose="020B0604020202020204" pitchFamily="34" charset="0"/>
              <a:buChar char="•"/>
            </a:pPr>
            <a:r>
              <a:rPr lang="ko-KR" altLang="en-US" sz="1600"/>
              <a:t>이 함수는 설정 성공하면 </a:t>
            </a:r>
            <a:r>
              <a:rPr lang="en-US" altLang="ko-KR" sz="1600" b="1"/>
              <a:t>true</a:t>
            </a:r>
            <a:r>
              <a:rPr lang="ko-KR" altLang="en-US" sz="1600"/>
              <a:t>를 반환</a:t>
            </a:r>
            <a:r>
              <a:rPr lang="en-US" altLang="ko-KR" sz="1600"/>
              <a:t>, </a:t>
            </a:r>
            <a:r>
              <a:rPr lang="en-US" altLang="ko-KR" sz="1600" b="1"/>
              <a:t>false</a:t>
            </a:r>
            <a:r>
              <a:rPr lang="ko-KR" altLang="en-US" sz="1600"/>
              <a:t>가 반환되면 오류가 발생한 것이다</a:t>
            </a:r>
            <a:r>
              <a:rPr lang="en-US" altLang="ko-KR" sz="1600"/>
              <a:t>.</a:t>
            </a:r>
            <a:endParaRPr lang="ko-KR" altLang="en-US" sz="1600"/>
          </a:p>
        </p:txBody>
      </p:sp>
      <p:sp>
        <p:nvSpPr>
          <p:cNvPr id="7" name="TextBox 6">
            <a:extLst>
              <a:ext uri="{FF2B5EF4-FFF2-40B4-BE49-F238E27FC236}">
                <a16:creationId xmlns:a16="http://schemas.microsoft.com/office/drawing/2014/main" id="{1579A957-B352-4BF6-8968-B516FA07BADA}"/>
              </a:ext>
            </a:extLst>
          </p:cNvPr>
          <p:cNvSpPr txBox="1"/>
          <p:nvPr/>
        </p:nvSpPr>
        <p:spPr>
          <a:xfrm>
            <a:off x="390294" y="2835914"/>
            <a:ext cx="2653290" cy="369332"/>
          </a:xfrm>
          <a:prstGeom prst="rect">
            <a:avLst/>
          </a:prstGeom>
          <a:noFill/>
        </p:spPr>
        <p:txBody>
          <a:bodyPr wrap="none" rtlCol="0">
            <a:spAutoFit/>
          </a:bodyPr>
          <a:lstStyle/>
          <a:p>
            <a:r>
              <a:rPr lang="en-US" altLang="ko-KR" b="1">
                <a:solidFill>
                  <a:srgbClr val="3A0DFB"/>
                </a:solidFill>
              </a:rPr>
              <a:t>2. LEDC </a:t>
            </a:r>
            <a:r>
              <a:rPr lang="ko-KR" altLang="en-US" b="1">
                <a:solidFill>
                  <a:srgbClr val="3A0DFB"/>
                </a:solidFill>
              </a:rPr>
              <a:t>채널 수동 설정</a:t>
            </a:r>
          </a:p>
        </p:txBody>
      </p:sp>
      <p:sp>
        <p:nvSpPr>
          <p:cNvPr id="8" name="TextBox 7">
            <a:extLst>
              <a:ext uri="{FF2B5EF4-FFF2-40B4-BE49-F238E27FC236}">
                <a16:creationId xmlns:a16="http://schemas.microsoft.com/office/drawing/2014/main" id="{386E14AD-966A-467D-9A35-1ECB729F4DEA}"/>
              </a:ext>
            </a:extLst>
          </p:cNvPr>
          <p:cNvSpPr txBox="1"/>
          <p:nvPr/>
        </p:nvSpPr>
        <p:spPr>
          <a:xfrm>
            <a:off x="680226" y="3362556"/>
            <a:ext cx="9138848" cy="369332"/>
          </a:xfrm>
          <a:prstGeom prst="rect">
            <a:avLst/>
          </a:prstGeom>
          <a:solidFill>
            <a:schemeClr val="accent3">
              <a:lumMod val="20000"/>
              <a:lumOff val="80000"/>
            </a:schemeClr>
          </a:solidFill>
        </p:spPr>
        <p:txBody>
          <a:bodyPr wrap="none" rtlCol="0">
            <a:spAutoFit/>
          </a:bodyPr>
          <a:lstStyle/>
          <a:p>
            <a:r>
              <a:rPr lang="fr-FR" altLang="ko-KR"/>
              <a:t>bool ledcAttachChannel(uint8_t pin, uint32_t freq, uint8_t resolution, uint8_t channel);</a:t>
            </a:r>
            <a:endParaRPr lang="ko-KR" altLang="en-US" sz="3600"/>
          </a:p>
        </p:txBody>
      </p:sp>
      <p:sp>
        <p:nvSpPr>
          <p:cNvPr id="10" name="Rectangle 2">
            <a:extLst>
              <a:ext uri="{FF2B5EF4-FFF2-40B4-BE49-F238E27FC236}">
                <a16:creationId xmlns:a16="http://schemas.microsoft.com/office/drawing/2014/main" id="{08846D96-1567-4211-931C-065AF80F8604}"/>
              </a:ext>
            </a:extLst>
          </p:cNvPr>
          <p:cNvSpPr>
            <a:spLocks noChangeArrowheads="1"/>
          </p:cNvSpPr>
          <p:nvPr/>
        </p:nvSpPr>
        <p:spPr bwMode="auto">
          <a:xfrm>
            <a:off x="680226" y="1374563"/>
            <a:ext cx="65" cy="2769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800" b="0" i="0" u="none" strike="noStrike" cap="none" normalizeH="0" baseline="0">
              <a:ln>
                <a:noFill/>
              </a:ln>
              <a:solidFill>
                <a:schemeClr val="tx1"/>
              </a:solidFill>
              <a:effectLst/>
              <a:latin typeface="Arial" panose="020B0604020202020204" pitchFamily="34" charset="0"/>
            </a:endParaRPr>
          </a:p>
        </p:txBody>
      </p:sp>
      <p:sp>
        <p:nvSpPr>
          <p:cNvPr id="11" name="직사각형 10">
            <a:extLst>
              <a:ext uri="{FF2B5EF4-FFF2-40B4-BE49-F238E27FC236}">
                <a16:creationId xmlns:a16="http://schemas.microsoft.com/office/drawing/2014/main" id="{4A6F93EB-13A7-48EF-8401-C792FC8B8F12}"/>
              </a:ext>
            </a:extLst>
          </p:cNvPr>
          <p:cNvSpPr/>
          <p:nvPr/>
        </p:nvSpPr>
        <p:spPr>
          <a:xfrm>
            <a:off x="680225" y="3811732"/>
            <a:ext cx="9500837"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 함수는 설정 성공하면 </a:t>
            </a:r>
            <a:r>
              <a:rPr lang="en-US" altLang="ko-KR" sz="1600" b="1"/>
              <a:t>true</a:t>
            </a:r>
            <a:r>
              <a:rPr lang="ko-KR" altLang="en-US" sz="1600"/>
              <a:t>를 반환</a:t>
            </a:r>
            <a:r>
              <a:rPr lang="en-US" altLang="ko-KR" sz="1600"/>
              <a:t>, </a:t>
            </a:r>
            <a:r>
              <a:rPr lang="en-US" altLang="ko-KR" sz="1600" b="1"/>
              <a:t>false</a:t>
            </a:r>
            <a:r>
              <a:rPr lang="ko-KR" altLang="en-US" sz="1600"/>
              <a:t>가 반환되면 오류가 발생한 것이다</a:t>
            </a:r>
            <a:r>
              <a:rPr lang="en-US" altLang="ko-KR" sz="1600"/>
              <a:t>.</a:t>
            </a:r>
            <a:endParaRPr lang="ko-KR" altLang="en-US" sz="1600"/>
          </a:p>
        </p:txBody>
      </p:sp>
      <p:sp>
        <p:nvSpPr>
          <p:cNvPr id="12" name="TextBox 11">
            <a:extLst>
              <a:ext uri="{FF2B5EF4-FFF2-40B4-BE49-F238E27FC236}">
                <a16:creationId xmlns:a16="http://schemas.microsoft.com/office/drawing/2014/main" id="{F490D6F2-54B1-401B-BC70-4821F1BAAD39}"/>
              </a:ext>
            </a:extLst>
          </p:cNvPr>
          <p:cNvSpPr txBox="1"/>
          <p:nvPr/>
        </p:nvSpPr>
        <p:spPr>
          <a:xfrm>
            <a:off x="390294" y="4441736"/>
            <a:ext cx="1707262" cy="369332"/>
          </a:xfrm>
          <a:prstGeom prst="rect">
            <a:avLst/>
          </a:prstGeom>
          <a:noFill/>
        </p:spPr>
        <p:txBody>
          <a:bodyPr wrap="none" rtlCol="0">
            <a:spAutoFit/>
          </a:bodyPr>
          <a:lstStyle/>
          <a:p>
            <a:r>
              <a:rPr lang="en-US" altLang="ko-KR" b="1">
                <a:solidFill>
                  <a:srgbClr val="3A0DFB"/>
                </a:solidFill>
              </a:rPr>
              <a:t>2. LEDC Write</a:t>
            </a:r>
            <a:endParaRPr lang="ko-KR" altLang="en-US" b="1">
              <a:solidFill>
                <a:srgbClr val="3A0DFB"/>
              </a:solidFill>
            </a:endParaRPr>
          </a:p>
        </p:txBody>
      </p:sp>
      <p:sp>
        <p:nvSpPr>
          <p:cNvPr id="13" name="TextBox 12">
            <a:extLst>
              <a:ext uri="{FF2B5EF4-FFF2-40B4-BE49-F238E27FC236}">
                <a16:creationId xmlns:a16="http://schemas.microsoft.com/office/drawing/2014/main" id="{7D89ECC9-B4D4-4C1E-9B04-ECA98D23BC70}"/>
              </a:ext>
            </a:extLst>
          </p:cNvPr>
          <p:cNvSpPr txBox="1"/>
          <p:nvPr/>
        </p:nvSpPr>
        <p:spPr>
          <a:xfrm>
            <a:off x="680226" y="4968378"/>
            <a:ext cx="4520597" cy="369332"/>
          </a:xfrm>
          <a:prstGeom prst="rect">
            <a:avLst/>
          </a:prstGeom>
          <a:solidFill>
            <a:schemeClr val="accent3">
              <a:lumMod val="20000"/>
              <a:lumOff val="80000"/>
            </a:schemeClr>
          </a:solidFill>
        </p:spPr>
        <p:txBody>
          <a:bodyPr wrap="none" rtlCol="0">
            <a:spAutoFit/>
          </a:bodyPr>
          <a:lstStyle/>
          <a:p>
            <a:r>
              <a:rPr lang="fr-FR" altLang="ko-KR"/>
              <a:t>void ledcWrite(uint8_t pin, uint32_t duty);</a:t>
            </a:r>
            <a:endParaRPr lang="ko-KR" altLang="en-US" sz="3600"/>
          </a:p>
        </p:txBody>
      </p:sp>
      <p:sp>
        <p:nvSpPr>
          <p:cNvPr id="14" name="직사각형 13">
            <a:extLst>
              <a:ext uri="{FF2B5EF4-FFF2-40B4-BE49-F238E27FC236}">
                <a16:creationId xmlns:a16="http://schemas.microsoft.com/office/drawing/2014/main" id="{52F41CCC-0F50-424A-9F60-858E691C8C75}"/>
              </a:ext>
            </a:extLst>
          </p:cNvPr>
          <p:cNvSpPr/>
          <p:nvPr/>
        </p:nvSpPr>
        <p:spPr>
          <a:xfrm>
            <a:off x="680225" y="5417554"/>
            <a:ext cx="9500837"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PWM</a:t>
            </a:r>
            <a:r>
              <a:rPr lang="ko-KR" altLang="en-US" sz="1600"/>
              <a:t> 설정 핀 번호와 </a:t>
            </a:r>
            <a:r>
              <a:rPr lang="en-US" altLang="ko-KR" sz="1600"/>
              <a:t>duty </a:t>
            </a:r>
            <a:r>
              <a:rPr lang="ko-KR" altLang="en-US" sz="1600"/>
              <a:t>값을 입력</a:t>
            </a:r>
          </a:p>
        </p:txBody>
      </p:sp>
    </p:spTree>
    <p:extLst>
      <p:ext uri="{BB962C8B-B14F-4D97-AF65-F5344CB8AC3E}">
        <p14:creationId xmlns:p14="http://schemas.microsoft.com/office/powerpoint/2010/main" val="2344940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pic>
        <p:nvPicPr>
          <p:cNvPr id="3" name="그림 2">
            <a:extLst>
              <a:ext uri="{FF2B5EF4-FFF2-40B4-BE49-F238E27FC236}">
                <a16:creationId xmlns:a16="http://schemas.microsoft.com/office/drawing/2014/main" id="{5B26EE60-DBDB-4AD9-81D1-8298B8E7B523}"/>
              </a:ext>
            </a:extLst>
          </p:cNvPr>
          <p:cNvPicPr>
            <a:picLocks noChangeAspect="1"/>
          </p:cNvPicPr>
          <p:nvPr/>
        </p:nvPicPr>
        <p:blipFill>
          <a:blip r:embed="rId2"/>
          <a:stretch>
            <a:fillRect/>
          </a:stretch>
        </p:blipFill>
        <p:spPr>
          <a:xfrm>
            <a:off x="2551647" y="742304"/>
            <a:ext cx="6754168" cy="4258269"/>
          </a:xfrm>
          <a:prstGeom prst="rect">
            <a:avLst/>
          </a:prstGeom>
        </p:spPr>
      </p:pic>
      <p:sp>
        <p:nvSpPr>
          <p:cNvPr id="9" name="TextBox 8">
            <a:extLst>
              <a:ext uri="{FF2B5EF4-FFF2-40B4-BE49-F238E27FC236}">
                <a16:creationId xmlns:a16="http://schemas.microsoft.com/office/drawing/2014/main" id="{E1AE74D9-9FE8-4169-A740-9A398ED49BA8}"/>
              </a:ext>
            </a:extLst>
          </p:cNvPr>
          <p:cNvSpPr txBox="1"/>
          <p:nvPr/>
        </p:nvSpPr>
        <p:spPr>
          <a:xfrm>
            <a:off x="591015" y="6488668"/>
            <a:ext cx="7747890" cy="369332"/>
          </a:xfrm>
          <a:prstGeom prst="rect">
            <a:avLst/>
          </a:prstGeom>
          <a:noFill/>
        </p:spPr>
        <p:txBody>
          <a:bodyPr wrap="none" rtlCol="0">
            <a:spAutoFit/>
          </a:bodyPr>
          <a:lstStyle/>
          <a:p>
            <a:r>
              <a:rPr lang="en-US" altLang="ko-KR">
                <a:hlinkClick r:id="rId3"/>
              </a:rPr>
              <a:t>ESP32 PWM with Arduino IDE (Analog Output) | Random Nerd Tutorials</a:t>
            </a:r>
            <a:endParaRPr lang="ko-KR" altLang="en-US"/>
          </a:p>
        </p:txBody>
      </p:sp>
    </p:spTree>
    <p:extLst>
      <p:ext uri="{BB962C8B-B14F-4D97-AF65-F5344CB8AC3E}">
        <p14:creationId xmlns:p14="http://schemas.microsoft.com/office/powerpoint/2010/main" val="366124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Code using analogWrite</a:t>
            </a:r>
            <a:endParaRPr lang="ko-KR" altLang="en-US" b="1">
              <a:solidFill>
                <a:schemeClr val="tx1"/>
              </a:solidFill>
            </a:endParaRPr>
          </a:p>
        </p:txBody>
      </p:sp>
      <p:sp>
        <p:nvSpPr>
          <p:cNvPr id="3" name="직사각형 2">
            <a:extLst>
              <a:ext uri="{FF2B5EF4-FFF2-40B4-BE49-F238E27FC236}">
                <a16:creationId xmlns:a16="http://schemas.microsoft.com/office/drawing/2014/main" id="{AD3E6BB7-3907-48F3-B5BD-E12919B52950}"/>
              </a:ext>
            </a:extLst>
          </p:cNvPr>
          <p:cNvSpPr/>
          <p:nvPr/>
        </p:nvSpPr>
        <p:spPr>
          <a:xfrm>
            <a:off x="457200" y="680225"/>
            <a:ext cx="8285356" cy="5755422"/>
          </a:xfrm>
          <a:prstGeom prst="rect">
            <a:avLst/>
          </a:prstGeom>
          <a:solidFill>
            <a:schemeClr val="bg1">
              <a:lumMod val="95000"/>
            </a:schemeClr>
          </a:solidFill>
        </p:spPr>
        <p:txBody>
          <a:bodyPr wrap="square">
            <a:spAutoFit/>
          </a:bodyPr>
          <a:lstStyle/>
          <a:p>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number</a:t>
            </a:r>
            <a:r>
              <a:rPr lang="ko-KR" altLang="en-US" sz="1600" dirty="0">
                <a:latin typeface="Consolas" panose="020B0609020204030204" pitchFamily="49" charset="0"/>
              </a:rPr>
              <a:t> of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pin</a:t>
            </a:r>
            <a:endParaRPr lang="ko-KR" altLang="en-US" sz="1600" dirty="0">
              <a:latin typeface="Consolas" panose="020B0609020204030204" pitchFamily="49" charset="0"/>
            </a:endParaRP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ledPin</a:t>
            </a:r>
            <a:r>
              <a:rPr lang="ko-KR" altLang="en-US" sz="1600" dirty="0">
                <a:latin typeface="Consolas" panose="020B0609020204030204" pitchFamily="49" charset="0"/>
              </a:rPr>
              <a:t> = 16;  // 16 </a:t>
            </a:r>
            <a:r>
              <a:rPr lang="ko-KR" altLang="en-US" sz="1600" dirty="0" err="1">
                <a:latin typeface="Consolas" panose="020B0609020204030204" pitchFamily="49" charset="0"/>
              </a:rPr>
              <a:t>corresponds</a:t>
            </a:r>
            <a:r>
              <a:rPr lang="ko-KR" altLang="en-US" sz="1600" dirty="0">
                <a:latin typeface="Consolas" panose="020B0609020204030204" pitchFamily="49" charset="0"/>
              </a:rPr>
              <a:t> </a:t>
            </a:r>
            <a:r>
              <a:rPr lang="ko-KR" altLang="en-US" sz="1600" dirty="0" err="1">
                <a:latin typeface="Consolas" panose="020B0609020204030204" pitchFamily="49" charset="0"/>
              </a:rPr>
              <a:t>to</a:t>
            </a:r>
            <a:r>
              <a:rPr lang="ko-KR" altLang="en-US" sz="1600" dirty="0">
                <a:latin typeface="Consolas" panose="020B0609020204030204" pitchFamily="49" charset="0"/>
              </a:rPr>
              <a:t> GPIO 16</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as</a:t>
            </a:r>
            <a:r>
              <a:rPr lang="ko-KR" altLang="en-US" sz="1600" dirty="0">
                <a:latin typeface="Consolas" panose="020B0609020204030204" pitchFamily="49" charset="0"/>
              </a:rPr>
              <a:t> </a:t>
            </a:r>
            <a:r>
              <a:rPr lang="ko-KR" altLang="en-US" sz="1600" dirty="0" err="1">
                <a:latin typeface="Consolas" panose="020B0609020204030204" pitchFamily="49" charset="0"/>
              </a:rPr>
              <a:t>an</a:t>
            </a:r>
            <a:r>
              <a:rPr lang="ko-KR" altLang="en-US" sz="1600" dirty="0">
                <a:latin typeface="Consolas" panose="020B0609020204030204" pitchFamily="49" charset="0"/>
              </a:rPr>
              <a:t> </a:t>
            </a:r>
            <a:r>
              <a:rPr lang="ko-KR" altLang="en-US" sz="1600" dirty="0" err="1">
                <a:latin typeface="Consolas" panose="020B0609020204030204" pitchFamily="49" charset="0"/>
              </a:rPr>
              <a:t>output</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OUTPUT);</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a:t>
            </a:r>
          </a:p>
          <a:p>
            <a:r>
              <a:rPr lang="ko-KR" altLang="en-US" sz="1600" dirty="0">
                <a:latin typeface="Consolas" panose="020B0609020204030204" pitchFamily="49" charset="0"/>
              </a:rPr>
              <a:t>  // </a:t>
            </a:r>
            <a:r>
              <a:rPr lang="ko-KR" altLang="en-US" sz="1600" dirty="0" err="1">
                <a:latin typeface="Consolas" panose="020B0609020204030204" pitchFamily="49" charset="0"/>
              </a:rPr>
              <a:t>increase</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 = 0; </a:t>
            </a:r>
            <a:r>
              <a:rPr lang="ko-KR" altLang="en-US" sz="1600" dirty="0" err="1">
                <a:latin typeface="Consolas" panose="020B0609020204030204" pitchFamily="49" charset="0"/>
              </a:rPr>
              <a:t>dutyCycle</a:t>
            </a:r>
            <a:r>
              <a:rPr lang="ko-KR" altLang="en-US" sz="1600" dirty="0">
                <a:latin typeface="Consolas" panose="020B0609020204030204" pitchFamily="49" charset="0"/>
              </a:rPr>
              <a:t> &lt;= 255; </a:t>
            </a:r>
            <a:r>
              <a:rPr lang="ko-KR" altLang="en-US" sz="1600" dirty="0" err="1">
                <a:latin typeface="Consolas" panose="020B0609020204030204" pitchFamily="49" charset="0"/>
              </a:rPr>
              <a:t>dutyCycle</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changing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r>
              <a:rPr lang="ko-KR" altLang="en-US" sz="1600" dirty="0">
                <a:latin typeface="Consolas" panose="020B0609020204030204" pitchFamily="49" charset="0"/>
              </a:rPr>
              <a:t> </a:t>
            </a:r>
            <a:r>
              <a:rPr lang="ko-KR" altLang="en-US" sz="1600" dirty="0" err="1">
                <a:latin typeface="Consolas" panose="020B0609020204030204" pitchFamily="49" charset="0"/>
              </a:rPr>
              <a:t>with</a:t>
            </a:r>
            <a:r>
              <a:rPr lang="ko-KR" altLang="en-US" sz="1600" dirty="0">
                <a:latin typeface="Consolas" panose="020B0609020204030204" pitchFamily="49" charset="0"/>
              </a:rPr>
              <a:t> PWM</a:t>
            </a:r>
          </a:p>
          <a:p>
            <a:r>
              <a:rPr lang="ko-KR" altLang="en-US" sz="1600" dirty="0">
                <a:latin typeface="Consolas" panose="020B0609020204030204" pitchFamily="49" charset="0"/>
              </a:rPr>
              <a:t>    </a:t>
            </a:r>
            <a:r>
              <a:rPr lang="ko-KR" altLang="en-US" sz="1600" dirty="0" err="1">
                <a:latin typeface="Consolas" panose="020B0609020204030204" pitchFamily="49" charset="0"/>
              </a:rPr>
              <a:t>analogWrite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(15);</a:t>
            </a:r>
          </a:p>
          <a:p>
            <a:r>
              <a:rPr lang="ko-KR" altLang="en-US" sz="1600" dirty="0">
                <a:latin typeface="Consolas" panose="020B0609020204030204" pitchFamily="49" charset="0"/>
              </a:rPr>
              <a:t>  }</a:t>
            </a:r>
          </a:p>
          <a:p>
            <a:endParaRPr lang="ko-KR" altLang="en-US" sz="1600" dirty="0">
              <a:latin typeface="Consolas" panose="020B0609020204030204" pitchFamily="49" charset="0"/>
            </a:endParaRPr>
          </a:p>
          <a:p>
            <a:r>
              <a:rPr lang="ko-KR" altLang="en-US" sz="1600" dirty="0">
                <a:latin typeface="Consolas" panose="020B0609020204030204" pitchFamily="49" charset="0"/>
              </a:rPr>
              <a:t>  // </a:t>
            </a:r>
            <a:r>
              <a:rPr lang="ko-KR" altLang="en-US" sz="1600" dirty="0" err="1">
                <a:latin typeface="Consolas" panose="020B0609020204030204" pitchFamily="49" charset="0"/>
              </a:rPr>
              <a:t>decrease</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 = 255; </a:t>
            </a:r>
            <a:r>
              <a:rPr lang="ko-KR" altLang="en-US" sz="1600" dirty="0" err="1">
                <a:latin typeface="Consolas" panose="020B0609020204030204" pitchFamily="49" charset="0"/>
              </a:rPr>
              <a:t>dutyCycle</a:t>
            </a:r>
            <a:r>
              <a:rPr lang="ko-KR" altLang="en-US" sz="1600" dirty="0">
                <a:latin typeface="Consolas" panose="020B0609020204030204" pitchFamily="49" charset="0"/>
              </a:rPr>
              <a:t> &gt;= 0;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 </a:t>
            </a:r>
            <a:r>
              <a:rPr lang="ko-KR" altLang="en-US" sz="1600" dirty="0" err="1">
                <a:latin typeface="Consolas" panose="020B0609020204030204" pitchFamily="49" charset="0"/>
              </a:rPr>
              <a:t>changing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r>
              <a:rPr lang="ko-KR" altLang="en-US" sz="1600" dirty="0">
                <a:latin typeface="Consolas" panose="020B0609020204030204" pitchFamily="49" charset="0"/>
              </a:rPr>
              <a:t> </a:t>
            </a:r>
            <a:r>
              <a:rPr lang="ko-KR" altLang="en-US" sz="1600" dirty="0" err="1">
                <a:latin typeface="Consolas" panose="020B0609020204030204" pitchFamily="49" charset="0"/>
              </a:rPr>
              <a:t>with</a:t>
            </a:r>
            <a:r>
              <a:rPr lang="ko-KR" altLang="en-US" sz="1600" dirty="0">
                <a:latin typeface="Consolas" panose="020B0609020204030204" pitchFamily="49" charset="0"/>
              </a:rPr>
              <a:t> PWM</a:t>
            </a:r>
          </a:p>
          <a:p>
            <a:r>
              <a:rPr lang="ko-KR" altLang="en-US" sz="1600" dirty="0">
                <a:latin typeface="Consolas" panose="020B0609020204030204" pitchFamily="49" charset="0"/>
              </a:rPr>
              <a:t>    </a:t>
            </a:r>
            <a:r>
              <a:rPr lang="ko-KR" altLang="en-US" sz="1600" dirty="0" err="1">
                <a:latin typeface="Consolas" panose="020B0609020204030204" pitchFamily="49" charset="0"/>
              </a:rPr>
              <a:t>analogWrite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(15);</a:t>
            </a:r>
          </a:p>
          <a:p>
            <a:r>
              <a:rPr lang="ko-KR" altLang="en-US" sz="1600" dirty="0">
                <a:latin typeface="Consolas" panose="020B0609020204030204" pitchFamily="49" charset="0"/>
              </a:rPr>
              <a:t>  }</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213443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Code using LEDC API</a:t>
            </a:r>
            <a:endParaRPr lang="ko-KR" altLang="en-US" b="1">
              <a:solidFill>
                <a:schemeClr val="tx1"/>
              </a:solidFill>
            </a:endParaRPr>
          </a:p>
        </p:txBody>
      </p:sp>
      <p:sp>
        <p:nvSpPr>
          <p:cNvPr id="3" name="직사각형 2">
            <a:extLst>
              <a:ext uri="{FF2B5EF4-FFF2-40B4-BE49-F238E27FC236}">
                <a16:creationId xmlns:a16="http://schemas.microsoft.com/office/drawing/2014/main" id="{AD3E6BB7-3907-48F3-B5BD-E12919B52950}"/>
              </a:ext>
            </a:extLst>
          </p:cNvPr>
          <p:cNvSpPr/>
          <p:nvPr/>
        </p:nvSpPr>
        <p:spPr>
          <a:xfrm>
            <a:off x="457200" y="680225"/>
            <a:ext cx="10749776" cy="5509200"/>
          </a:xfrm>
          <a:prstGeom prst="rect">
            <a:avLst/>
          </a:prstGeom>
          <a:solidFill>
            <a:schemeClr val="bg1">
              <a:lumMod val="95000"/>
            </a:schemeClr>
          </a:solidFill>
        </p:spPr>
        <p:txBody>
          <a:bodyPr wrap="square">
            <a:spAutoFit/>
          </a:bodyPr>
          <a:lstStyle/>
          <a:p>
            <a:r>
              <a:rPr lang="en-US" altLang="ko-KR" sz="1600">
                <a:latin typeface="Consolas" panose="020B0609020204030204" pitchFamily="49" charset="0"/>
              </a:rPr>
              <a:t>// the number of the LED pin</a:t>
            </a:r>
          </a:p>
          <a:p>
            <a:r>
              <a:rPr lang="en-US" altLang="ko-KR" sz="1600">
                <a:latin typeface="Consolas" panose="020B0609020204030204" pitchFamily="49" charset="0"/>
              </a:rPr>
              <a:t>const int ledPin = 16;  // 16 corresponds to GPIO16</a:t>
            </a:r>
          </a:p>
          <a:p>
            <a:r>
              <a:rPr lang="en-US" altLang="ko-KR" sz="1600">
                <a:latin typeface="Consolas" panose="020B0609020204030204" pitchFamily="49" charset="0"/>
              </a:rPr>
              <a:t>// setting PWM properties</a:t>
            </a:r>
          </a:p>
          <a:p>
            <a:r>
              <a:rPr lang="en-US" altLang="ko-KR" sz="1600">
                <a:latin typeface="Consolas" panose="020B0609020204030204" pitchFamily="49" charset="0"/>
              </a:rPr>
              <a:t>const int freq = 5000;</a:t>
            </a:r>
          </a:p>
          <a:p>
            <a:r>
              <a:rPr lang="en-US" altLang="ko-KR" sz="1600">
                <a:latin typeface="Consolas" panose="020B0609020204030204" pitchFamily="49" charset="0"/>
              </a:rPr>
              <a:t>const int resolution = 8;</a:t>
            </a:r>
          </a:p>
          <a:p>
            <a:r>
              <a:rPr lang="en-US" altLang="ko-KR" sz="1600">
                <a:latin typeface="Consolas" panose="020B0609020204030204" pitchFamily="49" charset="0"/>
              </a:rPr>
              <a:t> </a:t>
            </a:r>
          </a:p>
          <a:p>
            <a:r>
              <a:rPr lang="en-US" altLang="ko-KR" sz="1600">
                <a:latin typeface="Consolas" panose="020B0609020204030204" pitchFamily="49" charset="0"/>
              </a:rPr>
              <a:t>void setup(){</a:t>
            </a:r>
          </a:p>
          <a:p>
            <a:r>
              <a:rPr lang="en-US" altLang="ko-KR" sz="1600">
                <a:latin typeface="Consolas" panose="020B0609020204030204" pitchFamily="49" charset="0"/>
              </a:rPr>
              <a:t>  // configure LED PWM</a:t>
            </a:r>
          </a:p>
          <a:p>
            <a:r>
              <a:rPr lang="en-US" altLang="ko-KR" sz="1600">
                <a:latin typeface="Consolas" panose="020B0609020204030204" pitchFamily="49" charset="0"/>
              </a:rPr>
              <a:t>  ledcAttach(ledPin, freq, resolution);  </a:t>
            </a:r>
          </a:p>
          <a:p>
            <a:r>
              <a:rPr lang="en-US" altLang="ko-KR" sz="1600">
                <a:latin typeface="Consolas" panose="020B0609020204030204" pitchFamily="49" charset="0"/>
              </a:rPr>
              <a:t>} </a:t>
            </a:r>
          </a:p>
          <a:p>
            <a:r>
              <a:rPr lang="en-US" altLang="ko-KR" sz="1600">
                <a:latin typeface="Consolas" panose="020B0609020204030204" pitchFamily="49" charset="0"/>
              </a:rPr>
              <a:t>void loop(){</a:t>
            </a:r>
          </a:p>
          <a:p>
            <a:r>
              <a:rPr lang="en-US" altLang="ko-KR" sz="1600">
                <a:latin typeface="Consolas" panose="020B0609020204030204" pitchFamily="49" charset="0"/>
              </a:rPr>
              <a:t>for(int dutyCycle = 0; dutyCycle &lt;= 255; dutyCycle++){   </a:t>
            </a:r>
          </a:p>
          <a:p>
            <a:r>
              <a:rPr lang="en-US" altLang="ko-KR" sz="1600">
                <a:latin typeface="Consolas" panose="020B0609020204030204" pitchFamily="49" charset="0"/>
              </a:rPr>
              <a:t>    // changing the LED brightness with PWM</a:t>
            </a:r>
          </a:p>
          <a:p>
            <a:r>
              <a:rPr lang="en-US" altLang="ko-KR" sz="1600">
                <a:latin typeface="Consolas" panose="020B0609020204030204" pitchFamily="49" charset="0"/>
              </a:rPr>
              <a:t>    ledcWrite(ledPin, dutyCycle);</a:t>
            </a:r>
          </a:p>
          <a:p>
            <a:r>
              <a:rPr lang="en-US" altLang="ko-KR" sz="1600">
                <a:latin typeface="Consolas" panose="020B0609020204030204" pitchFamily="49" charset="0"/>
              </a:rPr>
              <a:t>    delay(15);</a:t>
            </a:r>
          </a:p>
          <a:p>
            <a:r>
              <a:rPr lang="en-US" altLang="ko-KR" sz="1600">
                <a:latin typeface="Consolas" panose="020B0609020204030204" pitchFamily="49" charset="0"/>
              </a:rPr>
              <a:t>  }</a:t>
            </a:r>
          </a:p>
          <a:p>
            <a:r>
              <a:rPr lang="en-US" altLang="ko-KR" sz="1600">
                <a:latin typeface="Consolas" panose="020B0609020204030204" pitchFamily="49" charset="0"/>
              </a:rPr>
              <a:t>for(int dutyCycle = 255; dutyCycle &gt;= 0; dutyCycle--){</a:t>
            </a:r>
          </a:p>
          <a:p>
            <a:r>
              <a:rPr lang="en-US" altLang="ko-KR" sz="1600">
                <a:latin typeface="Consolas" panose="020B0609020204030204" pitchFamily="49" charset="0"/>
              </a:rPr>
              <a:t>    // changing the LED brightness with PWM</a:t>
            </a:r>
          </a:p>
          <a:p>
            <a:r>
              <a:rPr lang="en-US" altLang="ko-KR" sz="1600">
                <a:latin typeface="Consolas" panose="020B0609020204030204" pitchFamily="49" charset="0"/>
              </a:rPr>
              <a:t>    ledcWrite(ledPin, dutyCycle);   </a:t>
            </a:r>
          </a:p>
          <a:p>
            <a:r>
              <a:rPr lang="en-US" altLang="ko-KR" sz="1600">
                <a:latin typeface="Consolas" panose="020B0609020204030204" pitchFamily="49" charset="0"/>
              </a:rPr>
              <a:t>    delay(15);</a:t>
            </a:r>
          </a:p>
          <a:p>
            <a:r>
              <a:rPr lang="en-US" altLang="ko-KR" sz="1600">
                <a:latin typeface="Consolas" panose="020B0609020204030204" pitchFamily="49" charset="0"/>
              </a:rPr>
              <a:t>  }</a:t>
            </a:r>
          </a:p>
          <a:p>
            <a:r>
              <a:rPr lang="en-US" altLang="ko-KR" sz="1600">
                <a:latin typeface="Consolas" panose="020B0609020204030204" pitchFamily="49" charset="0"/>
              </a:rPr>
              <a:t>}</a:t>
            </a:r>
            <a:endParaRPr lang="ko-KR" altLang="en-US" sz="1600">
              <a:latin typeface="Consolas" panose="020B0609020204030204" pitchFamily="49" charset="0"/>
            </a:endParaRPr>
          </a:p>
        </p:txBody>
      </p:sp>
    </p:spTree>
    <p:extLst>
      <p:ext uri="{BB962C8B-B14F-4D97-AF65-F5344CB8AC3E}">
        <p14:creationId xmlns:p14="http://schemas.microsoft.com/office/powerpoint/2010/main" val="879041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9D51-4449-AC98-3C0B-78B6B63DC2C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0457F37-2085-F0CA-763E-D110A3D21E4F}"/>
              </a:ext>
            </a:extLst>
          </p:cNvPr>
          <p:cNvSpPr/>
          <p:nvPr/>
        </p:nvSpPr>
        <p:spPr>
          <a:xfrm>
            <a:off x="0" y="0"/>
            <a:ext cx="12192000" cy="264621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dirty="0">
                <a:solidFill>
                  <a:schemeClr val="bg1"/>
                </a:solidFill>
              </a:rPr>
              <a:t>ESP32 OTA(Over-the-Air) Update</a:t>
            </a:r>
          </a:p>
          <a:p>
            <a:pPr marL="179387" algn="ctr"/>
            <a:r>
              <a:rPr lang="en-US" altLang="ko-KR" sz="4400" b="1" dirty="0" err="1">
                <a:solidFill>
                  <a:schemeClr val="bg1"/>
                </a:solidFill>
              </a:rPr>
              <a:t>AsyncElegantOTA</a:t>
            </a:r>
            <a:r>
              <a:rPr lang="en-US" altLang="ko-KR" sz="4400" b="1" dirty="0">
                <a:solidFill>
                  <a:schemeClr val="bg1"/>
                </a:solidFill>
              </a:rPr>
              <a:t>  V3 version</a:t>
            </a:r>
            <a:endParaRPr lang="ko-KR" altLang="en-US" sz="4400" b="1" dirty="0">
              <a:solidFill>
                <a:schemeClr val="bg1"/>
              </a:solidFill>
            </a:endParaRPr>
          </a:p>
        </p:txBody>
      </p:sp>
      <p:sp>
        <p:nvSpPr>
          <p:cNvPr id="7" name="TextBox 6">
            <a:extLst>
              <a:ext uri="{FF2B5EF4-FFF2-40B4-BE49-F238E27FC236}">
                <a16:creationId xmlns:a16="http://schemas.microsoft.com/office/drawing/2014/main" id="{4E16D31E-CD9A-B304-53BB-06D99CBA560D}"/>
              </a:ext>
            </a:extLst>
          </p:cNvPr>
          <p:cNvSpPr txBox="1"/>
          <p:nvPr/>
        </p:nvSpPr>
        <p:spPr>
          <a:xfrm>
            <a:off x="27876" y="6466366"/>
            <a:ext cx="10654990" cy="369332"/>
          </a:xfrm>
          <a:prstGeom prst="rect">
            <a:avLst/>
          </a:prstGeom>
          <a:noFill/>
        </p:spPr>
        <p:txBody>
          <a:bodyPr wrap="square">
            <a:spAutoFit/>
          </a:bodyPr>
          <a:lstStyle/>
          <a:p>
            <a:r>
              <a:rPr lang="en-US" altLang="ko-KR" dirty="0">
                <a:hlinkClick r:id="rId2"/>
              </a:rPr>
              <a:t>ESP32 OTA (Over-the-Air) Updates – ElegantOTA Library with Arduino IDE | Random Nerd Tutorials</a:t>
            </a:r>
            <a:endParaRPr lang="ko-KR" altLang="en-US" dirty="0"/>
          </a:p>
        </p:txBody>
      </p:sp>
    </p:spTree>
    <p:extLst>
      <p:ext uri="{BB962C8B-B14F-4D97-AF65-F5344CB8AC3E}">
        <p14:creationId xmlns:p14="http://schemas.microsoft.com/office/powerpoint/2010/main" val="1504909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Table of contents</a:t>
            </a:r>
            <a:endParaRPr lang="ko-KR" altLang="en-US" b="1" dirty="0">
              <a:solidFill>
                <a:schemeClr val="bg1"/>
              </a:solidFill>
            </a:endParaRPr>
          </a:p>
        </p:txBody>
      </p:sp>
      <p:sp>
        <p:nvSpPr>
          <p:cNvPr id="6" name="TextBox 5">
            <a:extLst>
              <a:ext uri="{FF2B5EF4-FFF2-40B4-BE49-F238E27FC236}">
                <a16:creationId xmlns:a16="http://schemas.microsoft.com/office/drawing/2014/main" id="{E71A22D1-6806-B2B6-25FA-9FC69375D987}"/>
              </a:ext>
            </a:extLst>
          </p:cNvPr>
          <p:cNvSpPr txBox="1"/>
          <p:nvPr/>
        </p:nvSpPr>
        <p:spPr>
          <a:xfrm>
            <a:off x="351692" y="914399"/>
            <a:ext cx="8018221" cy="1499578"/>
          </a:xfrm>
          <a:prstGeom prst="rect">
            <a:avLst/>
          </a:prstGeom>
          <a:noFill/>
        </p:spPr>
        <p:txBody>
          <a:bodyPr wrap="none" rtlCol="0">
            <a:spAutoFit/>
          </a:bodyPr>
          <a:lstStyle/>
          <a:p>
            <a:pPr marL="285750" indent="-285750">
              <a:lnSpc>
                <a:spcPts val="3800"/>
              </a:lnSpc>
              <a:buFont typeface="Arial" panose="020B0604020202020204" pitchFamily="34" charset="0"/>
              <a:buChar char="•"/>
            </a:pPr>
            <a:r>
              <a:rPr lang="en-US" altLang="ko-KR" sz="2400" b="1" dirty="0"/>
              <a:t>Add the ElegantOTA feature to your web server</a:t>
            </a:r>
          </a:p>
          <a:p>
            <a:pPr marL="285750" indent="-285750">
              <a:lnSpc>
                <a:spcPts val="3800"/>
              </a:lnSpc>
              <a:buFont typeface="Arial" panose="020B0604020202020204" pitchFamily="34" charset="0"/>
              <a:buChar char="•"/>
            </a:pPr>
            <a:r>
              <a:rPr lang="en-US" altLang="ko-KR" sz="2400" b="1" dirty="0"/>
              <a:t>Upload new firmware via OTA to the ESP32 board</a:t>
            </a:r>
          </a:p>
          <a:p>
            <a:pPr marL="285750" indent="-285750">
              <a:lnSpc>
                <a:spcPts val="3800"/>
              </a:lnSpc>
              <a:buFont typeface="Arial" panose="020B0604020202020204" pitchFamily="34" charset="0"/>
              <a:buChar char="•"/>
            </a:pPr>
            <a:r>
              <a:rPr lang="en-US" altLang="ko-KR" sz="2400" b="1" dirty="0"/>
              <a:t>Upload files to </a:t>
            </a:r>
            <a:r>
              <a:rPr lang="en-US" altLang="ko-KR" sz="2400" b="1" dirty="0" err="1"/>
              <a:t>LittleFS</a:t>
            </a:r>
            <a:r>
              <a:rPr lang="en-US" altLang="ko-KR" sz="2400" b="1" dirty="0"/>
              <a:t> via OTA to the ESP32 board</a:t>
            </a:r>
            <a:endParaRPr lang="ko-KR" altLang="en-US" sz="2400" b="1" dirty="0"/>
          </a:p>
        </p:txBody>
      </p:sp>
      <p:sp>
        <p:nvSpPr>
          <p:cNvPr id="8" name="TextBox 7">
            <a:extLst>
              <a:ext uri="{FF2B5EF4-FFF2-40B4-BE49-F238E27FC236}">
                <a16:creationId xmlns:a16="http://schemas.microsoft.com/office/drawing/2014/main" id="{32BE0D5D-37F5-D2A7-9129-E77ADBE548F5}"/>
              </a:ext>
            </a:extLst>
          </p:cNvPr>
          <p:cNvSpPr txBox="1"/>
          <p:nvPr/>
        </p:nvSpPr>
        <p:spPr>
          <a:xfrm>
            <a:off x="691375" y="2666252"/>
            <a:ext cx="8374566" cy="646331"/>
          </a:xfrm>
          <a:prstGeom prst="rect">
            <a:avLst/>
          </a:prstGeom>
          <a:noFill/>
        </p:spPr>
        <p:txBody>
          <a:bodyPr wrap="square">
            <a:spAutoFit/>
          </a:bodyPr>
          <a:lstStyle/>
          <a:p>
            <a:r>
              <a:rPr lang="en-US" altLang="ko-KR" dirty="0">
                <a:hlinkClick r:id="rId2"/>
              </a:rPr>
              <a:t>ayushsharma82/ElegantOTA: OTA updates made slick and simple for everyone! (ESP8266, ESP32, RP2040+W, RP2350+W)</a:t>
            </a:r>
            <a:endParaRPr lang="ko-KR" altLang="en-US" dirty="0"/>
          </a:p>
        </p:txBody>
      </p:sp>
    </p:spTree>
    <p:extLst>
      <p:ext uri="{BB962C8B-B14F-4D97-AF65-F5344CB8AC3E}">
        <p14:creationId xmlns:p14="http://schemas.microsoft.com/office/powerpoint/2010/main" val="3936812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7E03-FA40-7C36-A1C2-3C1115598ED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6B90B9B-7E01-BCCE-47FB-E07594A1F53E}"/>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ESP32 OTA Programming</a:t>
            </a:r>
            <a:endParaRPr lang="ko-KR" altLang="en-US" b="1" dirty="0">
              <a:solidFill>
                <a:schemeClr val="bg1"/>
              </a:solidFill>
            </a:endParaRPr>
          </a:p>
        </p:txBody>
      </p:sp>
      <p:sp>
        <p:nvSpPr>
          <p:cNvPr id="4" name="TextBox 3">
            <a:extLst>
              <a:ext uri="{FF2B5EF4-FFF2-40B4-BE49-F238E27FC236}">
                <a16:creationId xmlns:a16="http://schemas.microsoft.com/office/drawing/2014/main" id="{5000C347-FA63-64CE-F628-6D9465750B8D}"/>
              </a:ext>
            </a:extLst>
          </p:cNvPr>
          <p:cNvSpPr txBox="1"/>
          <p:nvPr/>
        </p:nvSpPr>
        <p:spPr>
          <a:xfrm>
            <a:off x="0" y="6488667"/>
            <a:ext cx="11089887" cy="369332"/>
          </a:xfrm>
          <a:prstGeom prst="rect">
            <a:avLst/>
          </a:prstGeom>
          <a:noFill/>
        </p:spPr>
        <p:txBody>
          <a:bodyPr wrap="square">
            <a:spAutoFit/>
          </a:bodyPr>
          <a:lstStyle/>
          <a:p>
            <a:r>
              <a:rPr lang="en-US" altLang="ko-KR" dirty="0">
                <a:hlinkClick r:id="rId2"/>
              </a:rPr>
              <a:t>ESP32 OTA (Over-the-Air) Updates – ElegantOTA Library with Arduino IDE | Random Nerd Tutorials</a:t>
            </a:r>
            <a:endParaRPr lang="ko-KR" altLang="en-US" dirty="0"/>
          </a:p>
        </p:txBody>
      </p:sp>
      <p:pic>
        <p:nvPicPr>
          <p:cNvPr id="7" name="그림 6">
            <a:extLst>
              <a:ext uri="{FF2B5EF4-FFF2-40B4-BE49-F238E27FC236}">
                <a16:creationId xmlns:a16="http://schemas.microsoft.com/office/drawing/2014/main" id="{EE2EFB33-D510-DB45-C879-ED303BA37814}"/>
              </a:ext>
            </a:extLst>
          </p:cNvPr>
          <p:cNvPicPr>
            <a:picLocks noChangeAspect="1"/>
          </p:cNvPicPr>
          <p:nvPr/>
        </p:nvPicPr>
        <p:blipFill>
          <a:blip r:embed="rId3"/>
          <a:stretch>
            <a:fillRect/>
          </a:stretch>
        </p:blipFill>
        <p:spPr>
          <a:xfrm>
            <a:off x="1038332" y="772795"/>
            <a:ext cx="9454966" cy="4787157"/>
          </a:xfrm>
          <a:prstGeom prst="rect">
            <a:avLst/>
          </a:prstGeom>
        </p:spPr>
      </p:pic>
    </p:spTree>
    <p:extLst>
      <p:ext uri="{BB962C8B-B14F-4D97-AF65-F5344CB8AC3E}">
        <p14:creationId xmlns:p14="http://schemas.microsoft.com/office/powerpoint/2010/main" val="590236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CED52-8C14-623F-B008-EF550C55C7B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7C69AFF-9EC0-ADFC-15B0-1CCFB2F5DF54}"/>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ElegantOTA Library</a:t>
            </a:r>
            <a:endParaRPr lang="ko-KR" altLang="en-US" b="1" dirty="0">
              <a:solidFill>
                <a:schemeClr val="bg1"/>
              </a:solidFill>
            </a:endParaRPr>
          </a:p>
        </p:txBody>
      </p:sp>
      <p:sp>
        <p:nvSpPr>
          <p:cNvPr id="3" name="Rectangle 1">
            <a:extLst>
              <a:ext uri="{FF2B5EF4-FFF2-40B4-BE49-F238E27FC236}">
                <a16:creationId xmlns:a16="http://schemas.microsoft.com/office/drawing/2014/main" id="{102AF79A-7C3E-99FC-9D53-73EA77DEF2E9}"/>
              </a:ext>
            </a:extLst>
          </p:cNvPr>
          <p:cNvSpPr>
            <a:spLocks noChangeArrowheads="1"/>
          </p:cNvSpPr>
          <p:nvPr/>
        </p:nvSpPr>
        <p:spPr bwMode="auto">
          <a:xfrm>
            <a:off x="189570" y="857014"/>
            <a:ext cx="11187293" cy="2571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177800" marR="0" lvl="0" indent="-177800" algn="l" defTabSz="914400" rtl="0" eaLnBrk="0" fontAlgn="base" latinLnBrk="0" hangingPunct="0">
              <a:lnSpc>
                <a:spcPts val="3300"/>
              </a:lnSpc>
              <a:spcBef>
                <a:spcPct val="0"/>
              </a:spcBef>
              <a:spcAft>
                <a:spcPct val="0"/>
              </a:spcAft>
              <a:buClrTx/>
              <a:buSzTx/>
              <a:buFontTx/>
              <a:buChar char="•"/>
              <a:tabLst/>
            </a:pPr>
            <a:r>
              <a:rPr kumimoji="0" lang="ko-KR" altLang="ko-KR" sz="1600" b="1" i="0" u="none" strike="noStrike" cap="none" normalizeH="0" baseline="0" dirty="0">
                <a:ln>
                  <a:noFill/>
                </a:ln>
                <a:solidFill>
                  <a:schemeClr val="tx1"/>
                </a:solidFill>
                <a:effectLst/>
                <a:latin typeface="Arial" panose="020B0604020202020204" pitchFamily="34" charset="0"/>
              </a:rPr>
              <a:t>이 라이브러리는 내장된 </a:t>
            </a:r>
            <a:r>
              <a:rPr kumimoji="0" lang="ko-KR" altLang="ko-KR" sz="1600" b="1" i="0" u="none" strike="noStrike" cap="none" normalizeH="0" baseline="0" dirty="0" err="1">
                <a:ln>
                  <a:noFill/>
                </a:ln>
                <a:solidFill>
                  <a:schemeClr val="tx1"/>
                </a:solidFill>
                <a:effectLst/>
                <a:latin typeface="Arial Unicode MS"/>
              </a:rPr>
              <a:t>WebServer.h</a:t>
            </a:r>
            <a:r>
              <a:rPr kumimoji="0" lang="ko-KR" altLang="ko-KR" sz="1600" b="1" i="0" u="none" strike="noStrike" cap="none" normalizeH="0" baseline="0" dirty="0">
                <a:ln>
                  <a:noFill/>
                </a:ln>
                <a:solidFill>
                  <a:schemeClr val="tx1"/>
                </a:solidFill>
                <a:effectLst/>
              </a:rPr>
              <a:t> </a:t>
            </a:r>
            <a:r>
              <a:rPr kumimoji="0" lang="ko-KR" altLang="ko-KR" sz="1600" b="1" i="0" u="none" strike="noStrike" cap="none" normalizeH="0" baseline="0" dirty="0" err="1">
                <a:ln>
                  <a:noFill/>
                </a:ln>
                <a:solidFill>
                  <a:schemeClr val="tx1"/>
                </a:solidFill>
                <a:effectLst/>
              </a:rPr>
              <a:t>라이브러리뿐만</a:t>
            </a:r>
            <a:r>
              <a:rPr kumimoji="0" lang="ko-KR" altLang="ko-KR" sz="1600" b="1" i="0" u="none" strike="noStrike" cap="none" normalizeH="0" baseline="0" dirty="0">
                <a:ln>
                  <a:noFill/>
                </a:ln>
                <a:solidFill>
                  <a:schemeClr val="tx1"/>
                </a:solidFill>
                <a:effectLst/>
              </a:rPr>
              <a:t> 아니라, 여러 가지 </a:t>
            </a:r>
            <a:r>
              <a:rPr kumimoji="0" lang="ko-KR" altLang="ko-KR" sz="1600" b="1" i="0" u="none" strike="noStrike" cap="none" normalizeH="0" baseline="0" dirty="0" err="1">
                <a:ln>
                  <a:noFill/>
                </a:ln>
                <a:solidFill>
                  <a:schemeClr val="tx1"/>
                </a:solidFill>
                <a:effectLst/>
                <a:latin typeface="Arial Unicode MS"/>
              </a:rPr>
              <a:t>ESPAsyncWebServer</a:t>
            </a:r>
            <a:r>
              <a:rPr kumimoji="0" lang="ko-KR" altLang="ko-KR" sz="1600" b="1" i="0" u="none" strike="noStrike" cap="none" normalizeH="0" baseline="0" dirty="0">
                <a:ln>
                  <a:noFill/>
                </a:ln>
                <a:solidFill>
                  <a:schemeClr val="tx1"/>
                </a:solidFill>
                <a:effectLst/>
              </a:rPr>
              <a:t> </a:t>
            </a:r>
            <a:r>
              <a:rPr kumimoji="0" lang="en-US" altLang="ko-KR" sz="1600" b="1" i="0" u="none" strike="noStrike" cap="none" normalizeH="0" baseline="0" dirty="0">
                <a:ln>
                  <a:noFill/>
                </a:ln>
                <a:solidFill>
                  <a:schemeClr val="tx1"/>
                </a:solidFill>
                <a:effectLst/>
              </a:rPr>
              <a:t>fork </a:t>
            </a:r>
            <a:r>
              <a:rPr kumimoji="0" lang="ko-KR" altLang="en-US" sz="1600" b="1" i="0" u="none" strike="noStrike" cap="none" normalizeH="0" baseline="0" dirty="0" err="1">
                <a:ln>
                  <a:noFill/>
                </a:ln>
                <a:solidFill>
                  <a:schemeClr val="tx1"/>
                </a:solidFill>
                <a:effectLst/>
              </a:rPr>
              <a:t>들</a:t>
            </a:r>
            <a:r>
              <a:rPr kumimoji="0" lang="ko-KR" altLang="ko-KR" sz="1600" b="1" i="0" u="none" strike="noStrike" cap="none" normalizeH="0" baseline="0" dirty="0" err="1">
                <a:ln>
                  <a:noFill/>
                </a:ln>
                <a:solidFill>
                  <a:schemeClr val="tx1"/>
                </a:solidFill>
                <a:effectLst/>
              </a:rPr>
              <a:t>과도</a:t>
            </a:r>
            <a:r>
              <a:rPr kumimoji="0" lang="ko-KR" altLang="ko-KR" sz="1600" b="1" i="0" u="none" strike="noStrike" cap="none" normalizeH="0" baseline="0" dirty="0">
                <a:ln>
                  <a:noFill/>
                </a:ln>
                <a:solidFill>
                  <a:schemeClr val="tx1"/>
                </a:solidFill>
                <a:effectLst/>
              </a:rPr>
              <a:t> 호환</a:t>
            </a:r>
            <a:r>
              <a:rPr kumimoji="0" lang="ko-KR" altLang="en-US" sz="1600" b="1" i="0" u="none" strike="noStrike" cap="none" normalizeH="0" baseline="0" dirty="0">
                <a:ln>
                  <a:noFill/>
                </a:ln>
                <a:solidFill>
                  <a:schemeClr val="tx1"/>
                </a:solidFill>
                <a:effectLst/>
              </a:rPr>
              <a:t>된</a:t>
            </a:r>
            <a:r>
              <a:rPr kumimoji="0" lang="ko-KR" altLang="ko-KR" sz="1600" b="1"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177800" marR="0" lvl="0" indent="-177800" algn="l" defTabSz="914400" rtl="0" eaLnBrk="0" fontAlgn="base" latinLnBrk="0" hangingPunct="0">
              <a:lnSpc>
                <a:spcPts val="3300"/>
              </a:lnSpc>
              <a:spcBef>
                <a:spcPct val="0"/>
              </a:spcBef>
              <a:spcAft>
                <a:spcPct val="0"/>
              </a:spcAft>
              <a:buClrTx/>
              <a:buSzTx/>
              <a:buFontTx/>
              <a:buChar char="•"/>
              <a:tabLst/>
            </a:pPr>
            <a:r>
              <a:rPr kumimoji="0" lang="ko-KR" altLang="ko-KR" sz="1600" b="1" i="0" u="none" strike="noStrike" cap="none" normalizeH="0" baseline="0" dirty="0">
                <a:ln>
                  <a:noFill/>
                </a:ln>
                <a:solidFill>
                  <a:schemeClr val="tx1"/>
                </a:solidFill>
                <a:effectLst/>
                <a:latin typeface="Arial" panose="020B0604020202020204" pitchFamily="34" charset="0"/>
              </a:rPr>
              <a:t>일반적인 웹 서버에 OTA 기능을 추가하려면 단 3줄의 코드만 추가하면 </a:t>
            </a:r>
            <a:r>
              <a:rPr kumimoji="0" lang="ko-KR" altLang="en-US" sz="1600" b="1" i="0" u="none" strike="noStrike" cap="none" normalizeH="0" baseline="0" dirty="0">
                <a:ln>
                  <a:noFill/>
                </a:ln>
                <a:solidFill>
                  <a:schemeClr val="tx1"/>
                </a:solidFill>
                <a:effectLst/>
                <a:latin typeface="Arial" panose="020B0604020202020204" pitchFamily="34" charset="0"/>
              </a:rPr>
              <a:t>된</a:t>
            </a:r>
            <a:r>
              <a:rPr kumimoji="0" lang="ko-KR" altLang="ko-KR" sz="1600" b="1" i="0" u="none" strike="noStrike" cap="none" normalizeH="0" baseline="0" dirty="0">
                <a:ln>
                  <a:noFill/>
                </a:ln>
                <a:solidFill>
                  <a:schemeClr val="tx1"/>
                </a:solidFill>
                <a:effectLst/>
                <a:latin typeface="Arial" panose="020B0604020202020204" pitchFamily="34" charset="0"/>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177800" marR="0" lvl="0" indent="-177800" algn="l" defTabSz="914400" rtl="0" eaLnBrk="0" fontAlgn="base" latinLnBrk="0" hangingPunct="0">
              <a:lnSpc>
                <a:spcPts val="3300"/>
              </a:lnSpc>
              <a:spcBef>
                <a:spcPct val="0"/>
              </a:spcBef>
              <a:spcAft>
                <a:spcPct val="0"/>
              </a:spcAft>
              <a:buClrTx/>
              <a:buSzTx/>
              <a:buFontTx/>
              <a:buChar char="•"/>
              <a:tabLst/>
            </a:pPr>
            <a:r>
              <a:rPr kumimoji="0" lang="ko-KR" altLang="ko-KR" sz="1600" b="1" i="0" u="none" strike="noStrike" cap="none" normalizeH="0" baseline="0" dirty="0">
                <a:ln>
                  <a:noFill/>
                </a:ln>
                <a:solidFill>
                  <a:schemeClr val="tx1"/>
                </a:solidFill>
                <a:effectLst/>
                <a:latin typeface="Arial" panose="020B0604020202020204" pitchFamily="34" charset="0"/>
              </a:rPr>
              <a:t>이 라이브러리를 사용하면 새로운 </a:t>
            </a:r>
            <a:r>
              <a:rPr kumimoji="0" lang="ko-KR" altLang="ko-KR" sz="1600" b="1" i="0" u="none" strike="noStrike" cap="none" normalizeH="0" baseline="0" dirty="0" err="1">
                <a:ln>
                  <a:noFill/>
                </a:ln>
                <a:solidFill>
                  <a:schemeClr val="tx1"/>
                </a:solidFill>
                <a:effectLst/>
                <a:latin typeface="Arial" panose="020B0604020202020204" pitchFamily="34" charset="0"/>
              </a:rPr>
              <a:t>펌웨어뿐만</a:t>
            </a:r>
            <a:r>
              <a:rPr kumimoji="0" lang="ko-KR" altLang="ko-KR" sz="1600" b="1" i="0" u="none" strike="noStrike" cap="none" normalizeH="0" baseline="0" dirty="0">
                <a:ln>
                  <a:noFill/>
                </a:ln>
                <a:solidFill>
                  <a:schemeClr val="tx1"/>
                </a:solidFill>
                <a:effectLst/>
                <a:latin typeface="Arial" panose="020B0604020202020204" pitchFamily="34" charset="0"/>
              </a:rPr>
              <a:t> 아니라 </a:t>
            </a:r>
            <a:br>
              <a:rPr kumimoji="0" lang="en-US" altLang="ko-KR" sz="1600" b="1" i="0" u="none" strike="noStrike" cap="none" normalizeH="0" baseline="0" dirty="0">
                <a:ln>
                  <a:noFill/>
                </a:ln>
                <a:solidFill>
                  <a:schemeClr val="tx1"/>
                </a:solidFill>
                <a:effectLst/>
                <a:latin typeface="Arial" panose="020B0604020202020204" pitchFamily="34" charset="0"/>
              </a:rPr>
            </a:b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ESP32 파일 시스템(</a:t>
            </a:r>
            <a:r>
              <a:rPr kumimoji="0" lang="ko-KR" altLang="ko-KR" sz="1600" b="1" i="0" u="none" strike="noStrike" cap="none" normalizeH="0" baseline="0" dirty="0" err="1">
                <a:ln>
                  <a:noFill/>
                </a:ln>
                <a:solidFill>
                  <a:schemeClr val="tx1"/>
                </a:solidFill>
                <a:effectLst/>
                <a:latin typeface="Arial" panose="020B0604020202020204" pitchFamily="34" charset="0"/>
              </a:rPr>
              <a:t>LittleFS</a:t>
            </a:r>
            <a:r>
              <a:rPr kumimoji="0" lang="ko-KR" altLang="ko-KR" sz="1600" b="1" i="0" u="none" strike="noStrike" cap="none" normalizeH="0" baseline="0" dirty="0">
                <a:ln>
                  <a:noFill/>
                </a:ln>
                <a:solidFill>
                  <a:schemeClr val="tx1"/>
                </a:solidFill>
                <a:effectLst/>
                <a:latin typeface="Arial" panose="020B0604020202020204" pitchFamily="34" charset="0"/>
              </a:rPr>
              <a:t> 또는 SPIFFS)에 있는 파일들도 업데이트할 수 있다.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177800" marR="0" lvl="0" indent="-177800" algn="l" defTabSz="914400" rtl="0" eaLnBrk="0" fontAlgn="base" latinLnBrk="0" hangingPunct="0">
              <a:lnSpc>
                <a:spcPts val="3300"/>
              </a:lnSpc>
              <a:spcBef>
                <a:spcPct val="0"/>
              </a:spcBef>
              <a:spcAft>
                <a:spcPct val="0"/>
              </a:spcAft>
              <a:buClrTx/>
              <a:buSzTx/>
              <a:buFontTx/>
              <a:buChar char="•"/>
              <a:tabLst/>
            </a:pPr>
            <a:r>
              <a:rPr kumimoji="0" lang="ko-KR" altLang="ko-KR" sz="1600" b="1" i="0" u="none" strike="noStrike" cap="none" normalizeH="0" baseline="0" dirty="0">
                <a:ln>
                  <a:noFill/>
                </a:ln>
                <a:solidFill>
                  <a:schemeClr val="tx1"/>
                </a:solidFill>
                <a:effectLst/>
                <a:latin typeface="Arial" panose="020B0604020202020204" pitchFamily="34" charset="0"/>
              </a:rPr>
              <a:t>아름답고 현대적인 웹 인터페이스를 제공</a:t>
            </a:r>
            <a:r>
              <a:rPr lang="ko-KR" altLang="en-US" sz="1600" b="1" dirty="0">
                <a:latin typeface="Arial" panose="020B0604020202020204" pitchFamily="34" charset="0"/>
              </a:rPr>
              <a:t>한</a:t>
            </a:r>
            <a:r>
              <a:rPr kumimoji="0" lang="ko-KR" altLang="ko-KR" sz="1600" b="1" i="0" u="none" strike="noStrike" cap="none" normalizeH="0" baseline="0" dirty="0">
                <a:ln>
                  <a:noFill/>
                </a:ln>
                <a:solidFill>
                  <a:schemeClr val="tx1"/>
                </a:solidFill>
                <a:effectLst/>
                <a:latin typeface="Arial" panose="020B0604020202020204" pitchFamily="34" charset="0"/>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177800" marR="0" lvl="0" indent="-177800" algn="l" defTabSz="914400" rtl="0" eaLnBrk="0" fontAlgn="base" latinLnBrk="0" hangingPunct="0">
              <a:lnSpc>
                <a:spcPts val="3300"/>
              </a:lnSpc>
              <a:spcBef>
                <a:spcPct val="0"/>
              </a:spcBef>
              <a:spcAft>
                <a:spcPct val="0"/>
              </a:spcAft>
              <a:buClrTx/>
              <a:buSzTx/>
              <a:buFontTx/>
              <a:buChar char="•"/>
              <a:tabLst/>
            </a:pPr>
            <a:r>
              <a:rPr kumimoji="0" lang="ko-KR" altLang="ko-KR" sz="1600" b="1" i="0" u="none" strike="noStrike" cap="none" normalizeH="0" baseline="0" dirty="0">
                <a:ln>
                  <a:noFill/>
                </a:ln>
                <a:solidFill>
                  <a:schemeClr val="tx1"/>
                </a:solidFill>
                <a:effectLst/>
                <a:latin typeface="Arial" panose="020B0604020202020204" pitchFamily="34" charset="0"/>
              </a:rPr>
              <a:t>추가 기능이 포함된 유료 프로 버전도 제공</a:t>
            </a:r>
            <a:r>
              <a:rPr kumimoji="0" lang="ko-KR" altLang="en-US" sz="1600" b="1" i="0" u="none" strike="noStrike" cap="none" normalizeH="0" baseline="0" dirty="0">
                <a:ln>
                  <a:noFill/>
                </a:ln>
                <a:solidFill>
                  <a:schemeClr val="tx1"/>
                </a:solidFill>
                <a:effectLst/>
                <a:latin typeface="Arial" panose="020B0604020202020204" pitchFamily="34" charset="0"/>
              </a:rPr>
              <a:t>된</a:t>
            </a:r>
            <a:r>
              <a:rPr kumimoji="0" lang="ko-KR" altLang="ko-KR" sz="1600" b="1" i="0" u="none" strike="noStrike" cap="none" normalizeH="0" baseline="0" dirty="0">
                <a:ln>
                  <a:noFill/>
                </a:ln>
                <a:solidFill>
                  <a:schemeClr val="tx1"/>
                </a:solidFill>
                <a:effectLst/>
                <a:latin typeface="Arial" panose="020B0604020202020204" pitchFamily="34" charset="0"/>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5288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DC741-BBFA-2FEB-49BE-03523E44A00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80F33E7-B3A7-436D-20AA-AD2EDC0577F5}"/>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OTA Updates with ElegantOTA Library – Quick Summary</a:t>
            </a:r>
            <a:endParaRPr lang="ko-KR" altLang="en-US" b="1" dirty="0">
              <a:solidFill>
                <a:schemeClr val="bg1"/>
              </a:solidFill>
            </a:endParaRPr>
          </a:p>
        </p:txBody>
      </p:sp>
      <p:sp>
        <p:nvSpPr>
          <p:cNvPr id="4" name="TextBox 3">
            <a:extLst>
              <a:ext uri="{FF2B5EF4-FFF2-40B4-BE49-F238E27FC236}">
                <a16:creationId xmlns:a16="http://schemas.microsoft.com/office/drawing/2014/main" id="{75146E6D-1B12-4E8D-3ED4-40469834598E}"/>
              </a:ext>
            </a:extLst>
          </p:cNvPr>
          <p:cNvSpPr txBox="1"/>
          <p:nvPr/>
        </p:nvSpPr>
        <p:spPr>
          <a:xfrm>
            <a:off x="390293" y="791737"/>
            <a:ext cx="8366521" cy="2870979"/>
          </a:xfrm>
          <a:prstGeom prst="rect">
            <a:avLst/>
          </a:prstGeom>
          <a:noFill/>
        </p:spPr>
        <p:txBody>
          <a:bodyPr wrap="none" rtlCol="0">
            <a:spAutoFit/>
          </a:bodyPr>
          <a:lstStyle/>
          <a:p>
            <a:pPr marL="342900" indent="-342900">
              <a:lnSpc>
                <a:spcPts val="3700"/>
              </a:lnSpc>
              <a:buAutoNum type="arabicPeriod"/>
            </a:pPr>
            <a:r>
              <a:rPr lang="ko-KR" altLang="en-US" dirty="0"/>
              <a:t>라이브러리 </a:t>
            </a:r>
            <a:r>
              <a:rPr lang="en-US" altLang="ko-KR" dirty="0"/>
              <a:t>Install : </a:t>
            </a:r>
            <a:r>
              <a:rPr lang="en-US" altLang="ko-KR" dirty="0">
                <a:hlinkClick r:id="rId2"/>
              </a:rPr>
              <a:t>ElegantOTA</a:t>
            </a:r>
            <a:r>
              <a:rPr lang="en-US" altLang="ko-KR" dirty="0"/>
              <a:t>, </a:t>
            </a:r>
            <a:r>
              <a:rPr lang="en-US" altLang="ko-KR" dirty="0">
                <a:hlinkClick r:id="rId3"/>
              </a:rPr>
              <a:t>AsyncTCP</a:t>
            </a:r>
            <a:r>
              <a:rPr lang="en-US" altLang="ko-KR" dirty="0"/>
              <a:t>, </a:t>
            </a:r>
            <a:r>
              <a:rPr lang="en-US" altLang="ko-KR" dirty="0">
                <a:hlinkClick r:id="rId4"/>
              </a:rPr>
              <a:t>ESPAsyncWebServer</a:t>
            </a:r>
            <a:endParaRPr lang="en-US" altLang="ko-KR" dirty="0"/>
          </a:p>
          <a:p>
            <a:pPr marL="342900" indent="-342900">
              <a:lnSpc>
                <a:spcPts val="3700"/>
              </a:lnSpc>
              <a:buAutoNum type="arabicPeriod"/>
            </a:pPr>
            <a:r>
              <a:rPr lang="en-US" altLang="ko-KR" dirty="0"/>
              <a:t>Arduino sketch </a:t>
            </a:r>
            <a:r>
              <a:rPr lang="ko-KR" altLang="en-US" dirty="0"/>
              <a:t>제일 위에 </a:t>
            </a:r>
            <a:r>
              <a:rPr lang="en-US" altLang="ko-KR" dirty="0"/>
              <a:t>ElegantOTA include</a:t>
            </a:r>
            <a:br>
              <a:rPr lang="en-US" altLang="ko-KR" dirty="0"/>
            </a:br>
            <a:r>
              <a:rPr lang="en-US" altLang="ko-KR" dirty="0"/>
              <a:t>#include &lt;</a:t>
            </a:r>
            <a:r>
              <a:rPr lang="en-US" altLang="ko-KR" dirty="0" err="1"/>
              <a:t>ElegantOTA.h</a:t>
            </a:r>
            <a:r>
              <a:rPr lang="en-US" altLang="ko-KR" dirty="0"/>
              <a:t>&gt;</a:t>
            </a:r>
          </a:p>
          <a:p>
            <a:pPr marL="342900" indent="-342900">
              <a:lnSpc>
                <a:spcPts val="3700"/>
              </a:lnSpc>
              <a:buAutoNum type="arabicPeriod"/>
            </a:pPr>
            <a:r>
              <a:rPr lang="en-US" altLang="ko-KR" dirty="0" err="1"/>
              <a:t>server.begin</a:t>
            </a:r>
            <a:r>
              <a:rPr lang="en-US" altLang="ko-KR" dirty="0"/>
              <a:t>() </a:t>
            </a:r>
            <a:r>
              <a:rPr lang="ko-KR" altLang="en-US" dirty="0"/>
              <a:t>호출 전에 </a:t>
            </a:r>
            <a:r>
              <a:rPr lang="en-US" altLang="ko-KR" dirty="0"/>
              <a:t>setup() </a:t>
            </a:r>
            <a:r>
              <a:rPr lang="ko-KR" altLang="en-US" dirty="0"/>
              <a:t>함수 안에 </a:t>
            </a:r>
            <a:r>
              <a:rPr lang="en-US" altLang="ko-KR" dirty="0" err="1"/>
              <a:t>ElegantOTA.begin</a:t>
            </a:r>
            <a:r>
              <a:rPr lang="en-US" altLang="ko-KR" dirty="0"/>
              <a:t>(&amp;server); </a:t>
            </a:r>
            <a:r>
              <a:rPr lang="ko-KR" altLang="en-US" dirty="0"/>
              <a:t>추가</a:t>
            </a:r>
            <a:endParaRPr lang="en-US" altLang="ko-KR" dirty="0"/>
          </a:p>
          <a:p>
            <a:pPr marL="342900" indent="-342900">
              <a:lnSpc>
                <a:spcPts val="3700"/>
              </a:lnSpc>
              <a:buAutoNum type="arabicPeriod"/>
            </a:pPr>
            <a:r>
              <a:rPr lang="en-US" altLang="ko-KR" dirty="0"/>
              <a:t>loop() </a:t>
            </a:r>
            <a:r>
              <a:rPr lang="ko-KR" altLang="en-US" dirty="0"/>
              <a:t>안에 </a:t>
            </a:r>
            <a:r>
              <a:rPr lang="en-US" altLang="ko-KR" dirty="0" err="1"/>
              <a:t>ElegantOTA.loop</a:t>
            </a:r>
            <a:r>
              <a:rPr lang="en-US" altLang="ko-KR" dirty="0"/>
              <a:t>(); </a:t>
            </a:r>
            <a:r>
              <a:rPr lang="ko-KR" altLang="en-US" dirty="0"/>
              <a:t>추가</a:t>
            </a:r>
            <a:endParaRPr lang="en-US" altLang="ko-KR" dirty="0"/>
          </a:p>
          <a:p>
            <a:pPr marL="342900" indent="-342900">
              <a:lnSpc>
                <a:spcPts val="3700"/>
              </a:lnSpc>
              <a:buAutoNum type="arabicPeriod"/>
            </a:pPr>
            <a:r>
              <a:rPr lang="en-US" altLang="ko-KR" dirty="0"/>
              <a:t>http://&lt;IPAddress&gt;/update </a:t>
            </a:r>
            <a:r>
              <a:rPr lang="ko-KR" altLang="en-US" dirty="0"/>
              <a:t>에 접속하여 </a:t>
            </a:r>
            <a:r>
              <a:rPr lang="en-US" altLang="ko-KR" dirty="0"/>
              <a:t>OTA update</a:t>
            </a:r>
            <a:r>
              <a:rPr lang="ko-KR" altLang="en-US" dirty="0"/>
              <a:t>를 실행한다</a:t>
            </a:r>
            <a:r>
              <a:rPr lang="en-US" altLang="ko-KR" dirty="0"/>
              <a:t>.</a:t>
            </a:r>
            <a:endParaRPr lang="ko-KR" altLang="en-US" dirty="0"/>
          </a:p>
        </p:txBody>
      </p:sp>
    </p:spTree>
    <p:extLst>
      <p:ext uri="{BB962C8B-B14F-4D97-AF65-F5344CB8AC3E}">
        <p14:creationId xmlns:p14="http://schemas.microsoft.com/office/powerpoint/2010/main" val="1354728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76B5-0B07-0D13-2322-9EDA4989245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E32A890-AC29-535F-99B4-E6312F6BBEE0}"/>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Installing the ElegantOTA Library</a:t>
            </a:r>
            <a:endParaRPr lang="ko-KR" altLang="en-US" b="1" dirty="0">
              <a:solidFill>
                <a:schemeClr val="bg1"/>
              </a:solidFill>
            </a:endParaRPr>
          </a:p>
        </p:txBody>
      </p:sp>
      <p:sp>
        <p:nvSpPr>
          <p:cNvPr id="3" name="TextBox 2">
            <a:extLst>
              <a:ext uri="{FF2B5EF4-FFF2-40B4-BE49-F238E27FC236}">
                <a16:creationId xmlns:a16="http://schemas.microsoft.com/office/drawing/2014/main" id="{9497138A-7672-EADD-B5E9-434560C85455}"/>
              </a:ext>
            </a:extLst>
          </p:cNvPr>
          <p:cNvSpPr txBox="1"/>
          <p:nvPr/>
        </p:nvSpPr>
        <p:spPr>
          <a:xfrm>
            <a:off x="156117" y="646770"/>
            <a:ext cx="5801588" cy="772904"/>
          </a:xfrm>
          <a:prstGeom prst="rect">
            <a:avLst/>
          </a:prstGeom>
          <a:noFill/>
        </p:spPr>
        <p:txBody>
          <a:bodyPr wrap="none" rtlCol="0">
            <a:spAutoFit/>
          </a:bodyPr>
          <a:lstStyle/>
          <a:p>
            <a:pPr marL="285750" indent="-285750">
              <a:lnSpc>
                <a:spcPts val="2800"/>
              </a:lnSpc>
              <a:buFont typeface="Arial" panose="020B0604020202020204" pitchFamily="34" charset="0"/>
              <a:buChar char="•"/>
            </a:pPr>
            <a:r>
              <a:rPr lang="ko-KR" altLang="en-US" dirty="0"/>
              <a:t>스케치 </a:t>
            </a:r>
            <a:r>
              <a:rPr lang="en-US" altLang="ko-KR" dirty="0">
                <a:sym typeface="Wingdings" panose="05000000000000000000" pitchFamily="2" charset="2"/>
              </a:rPr>
              <a:t> </a:t>
            </a:r>
            <a:r>
              <a:rPr lang="ko-KR" altLang="en-US" dirty="0">
                <a:sym typeface="Wingdings" panose="05000000000000000000" pitchFamily="2" charset="2"/>
              </a:rPr>
              <a:t>라이브러리 포함하기 </a:t>
            </a:r>
            <a:r>
              <a:rPr lang="en-US" altLang="ko-KR" dirty="0">
                <a:sym typeface="Wingdings" panose="05000000000000000000" pitchFamily="2" charset="2"/>
              </a:rPr>
              <a:t> </a:t>
            </a:r>
            <a:r>
              <a:rPr lang="ko-KR" altLang="en-US" dirty="0">
                <a:sym typeface="Wingdings" panose="05000000000000000000" pitchFamily="2" charset="2"/>
              </a:rPr>
              <a:t>라이브러리 관리</a:t>
            </a:r>
            <a:endParaRPr lang="en-US" altLang="ko-KR" dirty="0">
              <a:sym typeface="Wingdings" panose="05000000000000000000" pitchFamily="2" charset="2"/>
            </a:endParaRPr>
          </a:p>
          <a:p>
            <a:pPr marL="285750" indent="-285750">
              <a:lnSpc>
                <a:spcPts val="2800"/>
              </a:lnSpc>
              <a:buFont typeface="Arial" panose="020B0604020202020204" pitchFamily="34" charset="0"/>
              <a:buChar char="•"/>
            </a:pPr>
            <a:r>
              <a:rPr lang="ko-KR" altLang="en-US" dirty="0">
                <a:sym typeface="Wingdings" panose="05000000000000000000" pitchFamily="2" charset="2"/>
              </a:rPr>
              <a:t>검색 </a:t>
            </a:r>
            <a:r>
              <a:rPr lang="en-US" altLang="ko-KR" dirty="0">
                <a:sym typeface="Wingdings" panose="05000000000000000000" pitchFamily="2" charset="2"/>
              </a:rPr>
              <a:t> </a:t>
            </a:r>
            <a:r>
              <a:rPr lang="en-US" altLang="ko-KR" dirty="0" err="1">
                <a:sym typeface="Wingdings" panose="05000000000000000000" pitchFamily="2" charset="2"/>
              </a:rPr>
              <a:t>ElegantOTA</a:t>
            </a:r>
            <a:endParaRPr lang="ko-KR" altLang="en-US" dirty="0"/>
          </a:p>
        </p:txBody>
      </p:sp>
      <p:pic>
        <p:nvPicPr>
          <p:cNvPr id="5" name="그림 4">
            <a:extLst>
              <a:ext uri="{FF2B5EF4-FFF2-40B4-BE49-F238E27FC236}">
                <a16:creationId xmlns:a16="http://schemas.microsoft.com/office/drawing/2014/main" id="{6D525A9E-5C95-A9EA-98D5-570382B5CA83}"/>
              </a:ext>
            </a:extLst>
          </p:cNvPr>
          <p:cNvPicPr>
            <a:picLocks noChangeAspect="1"/>
          </p:cNvPicPr>
          <p:nvPr/>
        </p:nvPicPr>
        <p:blipFill>
          <a:blip r:embed="rId2"/>
          <a:stretch>
            <a:fillRect/>
          </a:stretch>
        </p:blipFill>
        <p:spPr>
          <a:xfrm>
            <a:off x="636853" y="1683393"/>
            <a:ext cx="7430537" cy="1876687"/>
          </a:xfrm>
          <a:prstGeom prst="rect">
            <a:avLst/>
          </a:prstGeom>
          <a:ln>
            <a:solidFill>
              <a:schemeClr val="tx1">
                <a:lumMod val="50000"/>
                <a:lumOff val="50000"/>
              </a:schemeClr>
            </a:solidFill>
          </a:ln>
        </p:spPr>
      </p:pic>
    </p:spTree>
    <p:extLst>
      <p:ext uri="{BB962C8B-B14F-4D97-AF65-F5344CB8AC3E}">
        <p14:creationId xmlns:p14="http://schemas.microsoft.com/office/powerpoint/2010/main" val="465599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C6E2C-49EC-0C23-1060-C4AC7DD75F5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589D49A-465B-CA50-7970-27556D39AF93}"/>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Enable Async Mode</a:t>
            </a:r>
            <a:endParaRPr lang="ko-KR" altLang="en-US" b="1" dirty="0">
              <a:solidFill>
                <a:schemeClr val="bg1"/>
              </a:solidFill>
            </a:endParaRPr>
          </a:p>
        </p:txBody>
      </p:sp>
      <p:sp>
        <p:nvSpPr>
          <p:cNvPr id="4" name="TextBox 3">
            <a:extLst>
              <a:ext uri="{FF2B5EF4-FFF2-40B4-BE49-F238E27FC236}">
                <a16:creationId xmlns:a16="http://schemas.microsoft.com/office/drawing/2014/main" id="{83977E35-522E-2989-5E12-30952E1ADF9A}"/>
              </a:ext>
            </a:extLst>
          </p:cNvPr>
          <p:cNvSpPr txBox="1"/>
          <p:nvPr/>
        </p:nvSpPr>
        <p:spPr>
          <a:xfrm>
            <a:off x="518531" y="1226009"/>
            <a:ext cx="10565782" cy="369332"/>
          </a:xfrm>
          <a:prstGeom prst="rect">
            <a:avLst/>
          </a:prstGeom>
          <a:noFill/>
        </p:spPr>
        <p:txBody>
          <a:bodyPr wrap="square">
            <a:spAutoFit/>
          </a:bodyPr>
          <a:lstStyle/>
          <a:p>
            <a:r>
              <a:rPr lang="ko-KR" altLang="en-US" dirty="0">
                <a:solidFill>
                  <a:srgbClr val="3A0DFB"/>
                </a:solidFill>
              </a:rPr>
              <a:t>C:\Users\</a:t>
            </a:r>
            <a:r>
              <a:rPr lang="en-US" altLang="ko-KR" dirty="0">
                <a:solidFill>
                  <a:srgbClr val="3A0DFB"/>
                </a:solidFill>
              </a:rPr>
              <a:t>&lt;</a:t>
            </a:r>
            <a:r>
              <a:rPr lang="ko-KR" altLang="en-US" dirty="0">
                <a:solidFill>
                  <a:srgbClr val="3A0DFB"/>
                </a:solidFill>
              </a:rPr>
              <a:t>사용자이름</a:t>
            </a:r>
            <a:r>
              <a:rPr lang="en-US" altLang="ko-KR" dirty="0">
                <a:solidFill>
                  <a:srgbClr val="3A0DFB"/>
                </a:solidFill>
              </a:rPr>
              <a:t>&gt;</a:t>
            </a:r>
            <a:r>
              <a:rPr lang="ko-KR" altLang="en-US" dirty="0">
                <a:solidFill>
                  <a:srgbClr val="3A0DFB"/>
                </a:solidFill>
              </a:rPr>
              <a:t>\Documents\Arduino\libraries\ElegantOTA\src</a:t>
            </a:r>
          </a:p>
        </p:txBody>
      </p:sp>
      <p:sp>
        <p:nvSpPr>
          <p:cNvPr id="5" name="TextBox 4">
            <a:extLst>
              <a:ext uri="{FF2B5EF4-FFF2-40B4-BE49-F238E27FC236}">
                <a16:creationId xmlns:a16="http://schemas.microsoft.com/office/drawing/2014/main" id="{7C48CB65-4C4F-2632-61F8-CE6F9A4FF1D9}"/>
              </a:ext>
            </a:extLst>
          </p:cNvPr>
          <p:cNvSpPr txBox="1"/>
          <p:nvPr/>
        </p:nvSpPr>
        <p:spPr>
          <a:xfrm>
            <a:off x="156117" y="646770"/>
            <a:ext cx="6236644" cy="5079917"/>
          </a:xfrm>
          <a:prstGeom prst="rect">
            <a:avLst/>
          </a:prstGeom>
          <a:noFill/>
        </p:spPr>
        <p:txBody>
          <a:bodyPr wrap="none" rtlCol="0">
            <a:spAutoFit/>
          </a:bodyPr>
          <a:lstStyle/>
          <a:p>
            <a:pPr marL="285750" indent="-285750">
              <a:lnSpc>
                <a:spcPts val="2800"/>
              </a:lnSpc>
              <a:buFont typeface="Arial" panose="020B0604020202020204" pitchFamily="34" charset="0"/>
              <a:buChar char="•"/>
            </a:pPr>
            <a:r>
              <a:rPr lang="en-US" altLang="ko-KR" dirty="0" err="1">
                <a:latin typeface="+mn-ea"/>
                <a:sym typeface="Wingdings" panose="05000000000000000000" pitchFamily="2" charset="2"/>
              </a:rPr>
              <a:t>ElegantOTA</a:t>
            </a:r>
            <a:r>
              <a:rPr lang="en-US" altLang="ko-KR" dirty="0">
                <a:latin typeface="+mn-ea"/>
                <a:sym typeface="Wingdings" panose="05000000000000000000" pitchFamily="2" charset="2"/>
              </a:rPr>
              <a:t>  Library </a:t>
            </a:r>
            <a:r>
              <a:rPr lang="ko-KR" altLang="en-US" dirty="0">
                <a:latin typeface="+mn-ea"/>
                <a:sym typeface="Wingdings" panose="05000000000000000000" pitchFamily="2" charset="2"/>
              </a:rPr>
              <a:t>설치 폴더로 이동</a:t>
            </a:r>
            <a:endParaRPr lang="en-US" altLang="ko-KR" dirty="0">
              <a:latin typeface="+mn-ea"/>
              <a:sym typeface="Wingdings" panose="05000000000000000000" pitchFamily="2" charset="2"/>
            </a:endParaRPr>
          </a:p>
          <a:p>
            <a:pPr marL="285750" indent="-285750">
              <a:lnSpc>
                <a:spcPts val="2800"/>
              </a:lnSpc>
              <a:buFont typeface="Arial" panose="020B0604020202020204" pitchFamily="34" charset="0"/>
              <a:buChar char="•"/>
            </a:pPr>
            <a:endParaRPr lang="en-US" altLang="ko-KR" dirty="0">
              <a:latin typeface="+mn-ea"/>
              <a:sym typeface="Wingdings" panose="05000000000000000000" pitchFamily="2" charset="2"/>
            </a:endParaRPr>
          </a:p>
          <a:p>
            <a:pPr marL="285750" indent="-285750">
              <a:lnSpc>
                <a:spcPts val="2800"/>
              </a:lnSpc>
              <a:buFont typeface="Arial" panose="020B0604020202020204" pitchFamily="34" charset="0"/>
              <a:buChar char="•"/>
            </a:pPr>
            <a:endParaRPr lang="en-US" altLang="ko-KR" dirty="0">
              <a:latin typeface="+mn-ea"/>
              <a:sym typeface="Wingdings" panose="05000000000000000000" pitchFamily="2" charset="2"/>
            </a:endParaRPr>
          </a:p>
          <a:p>
            <a:pPr marL="285750" indent="-285750">
              <a:lnSpc>
                <a:spcPts val="2800"/>
              </a:lnSpc>
              <a:buFont typeface="Arial" panose="020B0604020202020204" pitchFamily="34" charset="0"/>
              <a:buChar char="•"/>
            </a:pPr>
            <a:r>
              <a:rPr lang="en-US" altLang="ko-KR" dirty="0" err="1">
                <a:latin typeface="+mn-ea"/>
              </a:rPr>
              <a:t>ElegrantTOA.h</a:t>
            </a:r>
            <a:r>
              <a:rPr lang="en-US" altLang="ko-KR" dirty="0">
                <a:latin typeface="+mn-ea"/>
              </a:rPr>
              <a:t> </a:t>
            </a:r>
            <a:r>
              <a:rPr lang="ko-KR" altLang="en-US" dirty="0">
                <a:latin typeface="+mn-ea"/>
              </a:rPr>
              <a:t>열기</a:t>
            </a:r>
            <a:endParaRPr lang="en-US" altLang="ko-KR" dirty="0">
              <a:latin typeface="+mn-ea"/>
            </a:endParaRPr>
          </a:p>
          <a:p>
            <a:pPr marL="285750" indent="-285750">
              <a:lnSpc>
                <a:spcPts val="2800"/>
              </a:lnSpc>
              <a:buFont typeface="Arial" panose="020B0604020202020204" pitchFamily="34" charset="0"/>
              <a:buChar char="•"/>
            </a:pPr>
            <a:r>
              <a:rPr lang="en-US" altLang="ko-KR" b="0" dirty="0">
                <a:effectLst/>
                <a:latin typeface="+mn-ea"/>
              </a:rPr>
              <a:t>ELEGANTOTA_USE_ASYNC_WEBSERVER </a:t>
            </a:r>
            <a:r>
              <a:rPr lang="en-US" altLang="ko-KR" b="1" dirty="0">
                <a:solidFill>
                  <a:srgbClr val="C00000"/>
                </a:solidFill>
                <a:effectLst/>
                <a:latin typeface="+mn-ea"/>
              </a:rPr>
              <a:t>1  </a:t>
            </a:r>
            <a:r>
              <a:rPr lang="en-US" altLang="ko-KR" dirty="0">
                <a:effectLst/>
                <a:latin typeface="+mn-ea"/>
              </a:rPr>
              <a:t>(default = 0)</a:t>
            </a:r>
          </a:p>
          <a:p>
            <a:pPr marL="285750" indent="-285750">
              <a:lnSpc>
                <a:spcPts val="2800"/>
              </a:lnSpc>
              <a:buFont typeface="Arial" panose="020B0604020202020204" pitchFamily="34" charset="0"/>
              <a:buChar char="•"/>
            </a:pPr>
            <a:endParaRPr lang="en-US" altLang="ko-KR" dirty="0">
              <a:latin typeface="+mn-ea"/>
            </a:endParaRPr>
          </a:p>
          <a:p>
            <a:pPr marL="285750" indent="-285750">
              <a:lnSpc>
                <a:spcPts val="2800"/>
              </a:lnSpc>
              <a:buFont typeface="Arial" panose="020B0604020202020204" pitchFamily="34" charset="0"/>
              <a:buChar char="•"/>
            </a:pPr>
            <a:endParaRPr lang="en-US" altLang="ko-KR" dirty="0">
              <a:effectLst/>
              <a:latin typeface="+mn-ea"/>
            </a:endParaRPr>
          </a:p>
          <a:p>
            <a:pPr marL="285750" indent="-285750">
              <a:lnSpc>
                <a:spcPts val="2800"/>
              </a:lnSpc>
              <a:buFont typeface="Arial" panose="020B0604020202020204" pitchFamily="34" charset="0"/>
              <a:buChar char="•"/>
            </a:pPr>
            <a:endParaRPr lang="en-US" altLang="ko-KR" dirty="0">
              <a:latin typeface="+mn-ea"/>
            </a:endParaRPr>
          </a:p>
          <a:p>
            <a:pPr marL="285750" indent="-285750">
              <a:lnSpc>
                <a:spcPts val="2800"/>
              </a:lnSpc>
              <a:buFont typeface="Arial" panose="020B0604020202020204" pitchFamily="34" charset="0"/>
              <a:buChar char="•"/>
            </a:pPr>
            <a:endParaRPr lang="en-US" altLang="ko-KR" dirty="0">
              <a:effectLst/>
              <a:latin typeface="+mn-ea"/>
            </a:endParaRPr>
          </a:p>
          <a:p>
            <a:pPr marL="285750" indent="-285750">
              <a:lnSpc>
                <a:spcPts val="2800"/>
              </a:lnSpc>
              <a:buFont typeface="Arial" panose="020B0604020202020204" pitchFamily="34" charset="0"/>
              <a:buChar char="•"/>
            </a:pPr>
            <a:endParaRPr lang="en-US" altLang="ko-KR" dirty="0">
              <a:latin typeface="+mn-ea"/>
            </a:endParaRPr>
          </a:p>
          <a:p>
            <a:pPr marL="285750" indent="-285750">
              <a:lnSpc>
                <a:spcPts val="2800"/>
              </a:lnSpc>
              <a:buFont typeface="Arial" panose="020B0604020202020204" pitchFamily="34" charset="0"/>
              <a:buChar char="•"/>
            </a:pPr>
            <a:endParaRPr lang="en-US" altLang="ko-KR" dirty="0">
              <a:effectLst/>
              <a:latin typeface="+mn-ea"/>
            </a:endParaRPr>
          </a:p>
          <a:p>
            <a:pPr marL="285750" indent="-285750">
              <a:lnSpc>
                <a:spcPts val="2800"/>
              </a:lnSpc>
              <a:buFont typeface="Arial" panose="020B0604020202020204" pitchFamily="34" charset="0"/>
              <a:buChar char="•"/>
            </a:pPr>
            <a:endParaRPr lang="en-US" altLang="ko-KR" dirty="0">
              <a:latin typeface="+mn-ea"/>
            </a:endParaRPr>
          </a:p>
          <a:p>
            <a:pPr marL="285750" indent="-285750">
              <a:lnSpc>
                <a:spcPts val="2800"/>
              </a:lnSpc>
              <a:buFont typeface="Arial" panose="020B0604020202020204" pitchFamily="34" charset="0"/>
              <a:buChar char="•"/>
            </a:pPr>
            <a:r>
              <a:rPr lang="ko-KR" altLang="en-US" dirty="0">
                <a:latin typeface="+mn-ea"/>
              </a:rPr>
              <a:t>저장</a:t>
            </a:r>
            <a:endParaRPr lang="en-US" altLang="ko-KR" dirty="0">
              <a:effectLst/>
              <a:latin typeface="+mn-ea"/>
            </a:endParaRPr>
          </a:p>
          <a:p>
            <a:pPr marL="285750" indent="-285750">
              <a:lnSpc>
                <a:spcPts val="2800"/>
              </a:lnSpc>
              <a:buFont typeface="Arial" panose="020B0604020202020204" pitchFamily="34" charset="0"/>
              <a:buChar char="•"/>
            </a:pPr>
            <a:endParaRPr lang="ko-KR" altLang="en-US" dirty="0">
              <a:latin typeface="+mn-ea"/>
            </a:endParaRPr>
          </a:p>
        </p:txBody>
      </p:sp>
      <p:pic>
        <p:nvPicPr>
          <p:cNvPr id="9" name="그림 8">
            <a:extLst>
              <a:ext uri="{FF2B5EF4-FFF2-40B4-BE49-F238E27FC236}">
                <a16:creationId xmlns:a16="http://schemas.microsoft.com/office/drawing/2014/main" id="{A0D564C2-E55A-7F39-F6D3-31F45FFE3FFC}"/>
              </a:ext>
            </a:extLst>
          </p:cNvPr>
          <p:cNvPicPr>
            <a:picLocks noChangeAspect="1"/>
          </p:cNvPicPr>
          <p:nvPr/>
        </p:nvPicPr>
        <p:blipFill>
          <a:blip r:embed="rId2"/>
          <a:stretch>
            <a:fillRect/>
          </a:stretch>
        </p:blipFill>
        <p:spPr>
          <a:xfrm>
            <a:off x="518531" y="2656140"/>
            <a:ext cx="5430711" cy="1888943"/>
          </a:xfrm>
          <a:prstGeom prst="rect">
            <a:avLst/>
          </a:prstGeom>
        </p:spPr>
      </p:pic>
    </p:spTree>
    <p:extLst>
      <p:ext uri="{BB962C8B-B14F-4D97-AF65-F5344CB8AC3E}">
        <p14:creationId xmlns:p14="http://schemas.microsoft.com/office/powerpoint/2010/main" val="33339961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F393-204C-60C1-2B7F-4F128245C9D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2099CB5-4686-CD4D-4CB1-E93FAC6E94F8}"/>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Install </a:t>
            </a:r>
            <a:r>
              <a:rPr lang="en-US" altLang="ko-KR" b="1" dirty="0" err="1">
                <a:solidFill>
                  <a:schemeClr val="bg1"/>
                </a:solidFill>
              </a:rPr>
              <a:t>AsyncTCP</a:t>
            </a:r>
            <a:r>
              <a:rPr lang="en-US" altLang="ko-KR" b="1" dirty="0">
                <a:solidFill>
                  <a:schemeClr val="bg1"/>
                </a:solidFill>
              </a:rPr>
              <a:t> and ESP Async </a:t>
            </a:r>
            <a:r>
              <a:rPr lang="en-US" altLang="ko-KR" b="1" dirty="0" err="1">
                <a:solidFill>
                  <a:schemeClr val="bg1"/>
                </a:solidFill>
              </a:rPr>
              <a:t>WebServer</a:t>
            </a:r>
            <a:r>
              <a:rPr lang="en-US" altLang="ko-KR" b="1" dirty="0">
                <a:solidFill>
                  <a:schemeClr val="bg1"/>
                </a:solidFill>
              </a:rPr>
              <a:t> Libraries</a:t>
            </a:r>
            <a:endParaRPr lang="ko-KR" altLang="en-US" b="1" dirty="0">
              <a:solidFill>
                <a:schemeClr val="bg1"/>
              </a:solidFill>
            </a:endParaRPr>
          </a:p>
        </p:txBody>
      </p:sp>
      <p:sp>
        <p:nvSpPr>
          <p:cNvPr id="4" name="TextBox 3">
            <a:extLst>
              <a:ext uri="{FF2B5EF4-FFF2-40B4-BE49-F238E27FC236}">
                <a16:creationId xmlns:a16="http://schemas.microsoft.com/office/drawing/2014/main" id="{15B59566-1527-945D-AE9D-B91C363850B6}"/>
              </a:ext>
            </a:extLst>
          </p:cNvPr>
          <p:cNvSpPr txBox="1"/>
          <p:nvPr/>
        </p:nvSpPr>
        <p:spPr>
          <a:xfrm>
            <a:off x="156117" y="646770"/>
            <a:ext cx="5801588" cy="1130118"/>
          </a:xfrm>
          <a:prstGeom prst="rect">
            <a:avLst/>
          </a:prstGeom>
          <a:noFill/>
        </p:spPr>
        <p:txBody>
          <a:bodyPr wrap="none" rtlCol="0">
            <a:spAutoFit/>
          </a:bodyPr>
          <a:lstStyle/>
          <a:p>
            <a:pPr marL="285750" indent="-285750">
              <a:lnSpc>
                <a:spcPts val="2800"/>
              </a:lnSpc>
              <a:buFont typeface="Arial" panose="020B0604020202020204" pitchFamily="34" charset="0"/>
              <a:buChar char="•"/>
            </a:pPr>
            <a:r>
              <a:rPr lang="ko-KR" altLang="en-US" dirty="0"/>
              <a:t>스케치 </a:t>
            </a:r>
            <a:r>
              <a:rPr lang="en-US" altLang="ko-KR" dirty="0">
                <a:sym typeface="Wingdings" panose="05000000000000000000" pitchFamily="2" charset="2"/>
              </a:rPr>
              <a:t> </a:t>
            </a:r>
            <a:r>
              <a:rPr lang="ko-KR" altLang="en-US" dirty="0">
                <a:sym typeface="Wingdings" panose="05000000000000000000" pitchFamily="2" charset="2"/>
              </a:rPr>
              <a:t>라이브러리 포함하기 </a:t>
            </a:r>
            <a:r>
              <a:rPr lang="en-US" altLang="ko-KR" dirty="0">
                <a:sym typeface="Wingdings" panose="05000000000000000000" pitchFamily="2" charset="2"/>
              </a:rPr>
              <a:t> </a:t>
            </a:r>
            <a:r>
              <a:rPr lang="ko-KR" altLang="en-US" dirty="0">
                <a:sym typeface="Wingdings" panose="05000000000000000000" pitchFamily="2" charset="2"/>
              </a:rPr>
              <a:t>라이브러리 관리</a:t>
            </a:r>
            <a:endParaRPr lang="en-US" altLang="ko-KR" dirty="0">
              <a:sym typeface="Wingdings" panose="05000000000000000000" pitchFamily="2" charset="2"/>
            </a:endParaRPr>
          </a:p>
          <a:p>
            <a:pPr marL="285750" indent="-285750">
              <a:lnSpc>
                <a:spcPts val="2800"/>
              </a:lnSpc>
              <a:buFont typeface="Arial" panose="020B0604020202020204" pitchFamily="34" charset="0"/>
              <a:buChar char="•"/>
            </a:pPr>
            <a:r>
              <a:rPr lang="ko-KR" altLang="en-US" dirty="0">
                <a:sym typeface="Wingdings" panose="05000000000000000000" pitchFamily="2" charset="2"/>
              </a:rPr>
              <a:t>검색 </a:t>
            </a:r>
            <a:r>
              <a:rPr lang="en-US" altLang="ko-KR" dirty="0">
                <a:sym typeface="Wingdings" panose="05000000000000000000" pitchFamily="2" charset="2"/>
              </a:rPr>
              <a:t> ESPAsyncWebServer </a:t>
            </a:r>
            <a:r>
              <a:rPr lang="ko-KR" altLang="en-US" dirty="0">
                <a:sym typeface="Wingdings" panose="05000000000000000000" pitchFamily="2" charset="2"/>
              </a:rPr>
              <a:t>설치</a:t>
            </a:r>
            <a:endParaRPr lang="en-US" altLang="ko-KR" dirty="0">
              <a:sym typeface="Wingdings" panose="05000000000000000000" pitchFamily="2" charset="2"/>
            </a:endParaRPr>
          </a:p>
          <a:p>
            <a:pPr marL="285750" indent="-285750">
              <a:lnSpc>
                <a:spcPts val="2800"/>
              </a:lnSpc>
              <a:buFont typeface="Arial" panose="020B0604020202020204" pitchFamily="34" charset="0"/>
              <a:buChar char="•"/>
            </a:pPr>
            <a:r>
              <a:rPr lang="ko-KR" altLang="en-US" dirty="0">
                <a:sym typeface="Wingdings" panose="05000000000000000000" pitchFamily="2" charset="2"/>
              </a:rPr>
              <a:t>검색 </a:t>
            </a:r>
            <a:r>
              <a:rPr lang="en-US" altLang="ko-KR" dirty="0">
                <a:sym typeface="Wingdings" panose="05000000000000000000" pitchFamily="2" charset="2"/>
              </a:rPr>
              <a:t> </a:t>
            </a:r>
            <a:r>
              <a:rPr lang="en-US" altLang="ko-KR" dirty="0" err="1">
                <a:sym typeface="Wingdings" panose="05000000000000000000" pitchFamily="2" charset="2"/>
              </a:rPr>
              <a:t>AsyncTCP</a:t>
            </a:r>
            <a:r>
              <a:rPr lang="en-US" altLang="ko-KR" dirty="0">
                <a:sym typeface="Wingdings" panose="05000000000000000000" pitchFamily="2" charset="2"/>
              </a:rPr>
              <a:t> </a:t>
            </a:r>
            <a:r>
              <a:rPr lang="ko-KR" altLang="en-US" dirty="0">
                <a:sym typeface="Wingdings" panose="05000000000000000000" pitchFamily="2" charset="2"/>
              </a:rPr>
              <a:t>설치</a:t>
            </a:r>
            <a:endParaRPr lang="ko-KR" altLang="en-US" dirty="0"/>
          </a:p>
        </p:txBody>
      </p:sp>
    </p:spTree>
    <p:extLst>
      <p:ext uri="{BB962C8B-B14F-4D97-AF65-F5344CB8AC3E}">
        <p14:creationId xmlns:p14="http://schemas.microsoft.com/office/powerpoint/2010/main" val="827673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34EBD-008E-4566-46C5-96A6E254405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6D9CA4D-BF6F-5695-E2F8-BBB00DB8AA9D}"/>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1/2 </a:t>
            </a:r>
            <a:endParaRPr lang="ko-KR" altLang="en-US" b="1" dirty="0">
              <a:solidFill>
                <a:schemeClr val="bg1"/>
              </a:solidFill>
            </a:endParaRPr>
          </a:p>
        </p:txBody>
      </p:sp>
      <p:sp>
        <p:nvSpPr>
          <p:cNvPr id="5" name="Rectangle 1">
            <a:extLst>
              <a:ext uri="{FF2B5EF4-FFF2-40B4-BE49-F238E27FC236}">
                <a16:creationId xmlns:a16="http://schemas.microsoft.com/office/drawing/2014/main" id="{BA619D4D-9209-C961-38A1-90B9FC8C7B23}"/>
              </a:ext>
            </a:extLst>
          </p:cNvPr>
          <p:cNvSpPr>
            <a:spLocks noChangeArrowheads="1"/>
          </p:cNvSpPr>
          <p:nvPr/>
        </p:nvSpPr>
        <p:spPr bwMode="auto">
          <a:xfrm>
            <a:off x="0" y="707207"/>
            <a:ext cx="6126677" cy="585115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Arduino.h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AsyncTCP.h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ElegantOTA.h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mode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WIFI_STA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endParaRPr kumimoji="0" lang="en-US" altLang="ko-KR" sz="1600" b="0" i="0" u="none" strike="noStrike" cap="none" normalizeH="0" baseline="0" dirty="0">
              <a:ln>
                <a:noFill/>
              </a:ln>
              <a:solidFill>
                <a:srgbClr val="70809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endParaRPr lang="en-US" altLang="ko-KR" sz="1600" dirty="0">
              <a:solidFill>
                <a:srgbClr val="708090"/>
              </a:solidFill>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graphicFrame>
        <p:nvGraphicFramePr>
          <p:cNvPr id="7" name="표 6">
            <a:extLst>
              <a:ext uri="{FF2B5EF4-FFF2-40B4-BE49-F238E27FC236}">
                <a16:creationId xmlns:a16="http://schemas.microsoft.com/office/drawing/2014/main" id="{ECF0D8A7-C1E0-F908-DBC0-7169F65C0E8C}"/>
              </a:ext>
            </a:extLst>
          </p:cNvPr>
          <p:cNvGraphicFramePr>
            <a:graphicFrameLocks noGrp="1"/>
          </p:cNvGraphicFramePr>
          <p:nvPr>
            <p:extLst>
              <p:ext uri="{D42A27DB-BD31-4B8C-83A1-F6EECF244321}">
                <p14:modId xmlns:p14="http://schemas.microsoft.com/office/powerpoint/2010/main" val="2970770829"/>
              </p:ext>
            </p:extLst>
          </p:nvPr>
        </p:nvGraphicFramePr>
        <p:xfrm>
          <a:off x="6434251" y="5057491"/>
          <a:ext cx="5140714" cy="1112520"/>
        </p:xfrm>
        <a:graphic>
          <a:graphicData uri="http://schemas.openxmlformats.org/drawingml/2006/table">
            <a:tbl>
              <a:tblPr firstRow="1" bandRow="1">
                <a:tableStyleId>{5940675A-B579-460E-94D1-54222C63F5DA}</a:tableStyleId>
              </a:tblPr>
              <a:tblGrid>
                <a:gridCol w="1382753">
                  <a:extLst>
                    <a:ext uri="{9D8B030D-6E8A-4147-A177-3AD203B41FA5}">
                      <a16:colId xmlns:a16="http://schemas.microsoft.com/office/drawing/2014/main" val="1994269566"/>
                    </a:ext>
                  </a:extLst>
                </a:gridCol>
                <a:gridCol w="3757961">
                  <a:extLst>
                    <a:ext uri="{9D8B030D-6E8A-4147-A177-3AD203B41FA5}">
                      <a16:colId xmlns:a16="http://schemas.microsoft.com/office/drawing/2014/main" val="2341282227"/>
                    </a:ext>
                  </a:extLst>
                </a:gridCol>
              </a:tblGrid>
              <a:tr h="370840">
                <a:tc>
                  <a:txBody>
                    <a:bodyPr/>
                    <a:lstStyle/>
                    <a:p>
                      <a:pPr algn="ctr" latinLnBrk="1"/>
                      <a:r>
                        <a:rPr lang="en-US" altLang="ko-KR" sz="1400" dirty="0">
                          <a:latin typeface="+mn-ea"/>
                          <a:ea typeface="+mn-ea"/>
                        </a:rPr>
                        <a:t>WIFI_STA</a:t>
                      </a:r>
                      <a:endParaRPr lang="ko-KR" altLang="en-US" sz="1400" dirty="0">
                        <a:latin typeface="+mn-ea"/>
                        <a:ea typeface="+mn-ea"/>
                      </a:endParaRPr>
                    </a:p>
                  </a:txBody>
                  <a:tcPr anchor="ctr"/>
                </a:tc>
                <a:tc>
                  <a:txBody>
                    <a:bodyPr/>
                    <a:lstStyle/>
                    <a:p>
                      <a:pPr latinLnBrk="1"/>
                      <a:r>
                        <a:rPr lang="en-US" altLang="ko-KR" sz="1400" dirty="0">
                          <a:latin typeface="+mn-ea"/>
                          <a:ea typeface="+mn-ea"/>
                        </a:rPr>
                        <a:t>Station mode (</a:t>
                      </a:r>
                      <a:r>
                        <a:rPr lang="ko-KR" altLang="en-US" sz="1400" dirty="0">
                          <a:latin typeface="+mn-ea"/>
                          <a:ea typeface="+mn-ea"/>
                        </a:rPr>
                        <a:t>일반적인 인터넷 연결 방식</a:t>
                      </a:r>
                      <a:r>
                        <a:rPr lang="en-US" altLang="ko-KR" sz="1400" dirty="0">
                          <a:latin typeface="+mn-ea"/>
                          <a:ea typeface="+mn-ea"/>
                        </a:rPr>
                        <a:t>)</a:t>
                      </a:r>
                      <a:endParaRPr lang="ko-KR" altLang="en-US" sz="1400" dirty="0">
                        <a:latin typeface="+mn-ea"/>
                        <a:ea typeface="+mn-ea"/>
                      </a:endParaRPr>
                    </a:p>
                  </a:txBody>
                  <a:tcPr anchor="ctr"/>
                </a:tc>
                <a:extLst>
                  <a:ext uri="{0D108BD9-81ED-4DB2-BD59-A6C34878D82A}">
                    <a16:rowId xmlns:a16="http://schemas.microsoft.com/office/drawing/2014/main" val="921716766"/>
                  </a:ext>
                </a:extLst>
              </a:tr>
              <a:tr h="370840">
                <a:tc>
                  <a:txBody>
                    <a:bodyPr/>
                    <a:lstStyle/>
                    <a:p>
                      <a:pPr algn="ctr" latinLnBrk="1"/>
                      <a:r>
                        <a:rPr lang="en-US" altLang="ko-KR" sz="1400" dirty="0">
                          <a:latin typeface="+mn-ea"/>
                          <a:ea typeface="+mn-ea"/>
                        </a:rPr>
                        <a:t>WIFI_AP</a:t>
                      </a:r>
                      <a:endParaRPr lang="ko-KR" altLang="en-US" sz="1400" dirty="0">
                        <a:latin typeface="+mn-ea"/>
                        <a:ea typeface="+mn-ea"/>
                      </a:endParaRPr>
                    </a:p>
                  </a:txBody>
                  <a:tcPr anchor="ctr"/>
                </a:tc>
                <a:tc>
                  <a:txBody>
                    <a:bodyPr/>
                    <a:lstStyle/>
                    <a:p>
                      <a:pPr latinLnBrk="1"/>
                      <a:r>
                        <a:rPr lang="en-US" altLang="ko-KR" sz="1400" dirty="0" err="1">
                          <a:latin typeface="+mn-ea"/>
                          <a:ea typeface="+mn-ea"/>
                        </a:rPr>
                        <a:t>Acess</a:t>
                      </a:r>
                      <a:r>
                        <a:rPr lang="en-US" altLang="ko-KR" sz="1400" dirty="0">
                          <a:latin typeface="+mn-ea"/>
                          <a:ea typeface="+mn-ea"/>
                        </a:rPr>
                        <a:t> Point mode (ESP</a:t>
                      </a:r>
                      <a:r>
                        <a:rPr lang="ko-KR" altLang="en-US" sz="1400" dirty="0">
                          <a:latin typeface="+mn-ea"/>
                          <a:ea typeface="+mn-ea"/>
                        </a:rPr>
                        <a:t>가 </a:t>
                      </a:r>
                      <a:r>
                        <a:rPr lang="en-US" altLang="ko-KR" sz="1400" dirty="0">
                          <a:latin typeface="+mn-ea"/>
                          <a:ea typeface="+mn-ea"/>
                        </a:rPr>
                        <a:t>Hot spot </a:t>
                      </a:r>
                      <a:r>
                        <a:rPr lang="ko-KR" altLang="en-US" sz="1400" dirty="0">
                          <a:latin typeface="+mn-ea"/>
                          <a:ea typeface="+mn-ea"/>
                        </a:rPr>
                        <a:t>가능</a:t>
                      </a:r>
                      <a:r>
                        <a:rPr lang="en-US" altLang="ko-KR" sz="1400" dirty="0">
                          <a:latin typeface="+mn-ea"/>
                          <a:ea typeface="+mn-ea"/>
                        </a:rPr>
                        <a:t>)</a:t>
                      </a:r>
                      <a:endParaRPr lang="ko-KR" altLang="en-US" sz="1400" dirty="0">
                        <a:latin typeface="+mn-ea"/>
                        <a:ea typeface="+mn-ea"/>
                      </a:endParaRPr>
                    </a:p>
                  </a:txBody>
                  <a:tcPr anchor="ctr"/>
                </a:tc>
                <a:extLst>
                  <a:ext uri="{0D108BD9-81ED-4DB2-BD59-A6C34878D82A}">
                    <a16:rowId xmlns:a16="http://schemas.microsoft.com/office/drawing/2014/main" val="3151758162"/>
                  </a:ext>
                </a:extLst>
              </a:tr>
              <a:tr h="370840">
                <a:tc>
                  <a:txBody>
                    <a:bodyPr/>
                    <a:lstStyle/>
                    <a:p>
                      <a:pPr algn="ctr" latinLnBrk="1"/>
                      <a:r>
                        <a:rPr lang="en-US" altLang="ko-KR" sz="1400" dirty="0">
                          <a:latin typeface="+mn-ea"/>
                          <a:ea typeface="+mn-ea"/>
                        </a:rPr>
                        <a:t>WIFI_AP_STA</a:t>
                      </a:r>
                      <a:endParaRPr lang="ko-KR" altLang="en-US" sz="1400" dirty="0">
                        <a:latin typeface="+mn-ea"/>
                        <a:ea typeface="+mn-ea"/>
                      </a:endParaRPr>
                    </a:p>
                  </a:txBody>
                  <a:tcPr anchor="ctr"/>
                </a:tc>
                <a:tc>
                  <a:txBody>
                    <a:bodyPr/>
                    <a:lstStyle/>
                    <a:p>
                      <a:pPr latinLnBrk="1"/>
                      <a:r>
                        <a:rPr lang="ko-KR" altLang="en-US" sz="1400" dirty="0">
                          <a:latin typeface="+mn-ea"/>
                          <a:ea typeface="+mn-ea"/>
                        </a:rPr>
                        <a:t>동시 모드</a:t>
                      </a:r>
                    </a:p>
                  </a:txBody>
                  <a:tcPr anchor="ctr"/>
                </a:tc>
                <a:extLst>
                  <a:ext uri="{0D108BD9-81ED-4DB2-BD59-A6C34878D82A}">
                    <a16:rowId xmlns:a16="http://schemas.microsoft.com/office/drawing/2014/main" val="899021112"/>
                  </a:ext>
                </a:extLst>
              </a:tr>
            </a:tbl>
          </a:graphicData>
        </a:graphic>
      </p:graphicFrame>
    </p:spTree>
    <p:extLst>
      <p:ext uri="{BB962C8B-B14F-4D97-AF65-F5344CB8AC3E}">
        <p14:creationId xmlns:p14="http://schemas.microsoft.com/office/powerpoint/2010/main" val="1435997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50C5D-9126-0B80-E68B-54B05A33210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3C669317-C80D-732B-651A-A94D5BE3DFEA}"/>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2/2 </a:t>
            </a:r>
            <a:endParaRPr lang="ko-KR" altLang="en-US" b="1" dirty="0">
              <a:solidFill>
                <a:schemeClr val="bg1"/>
              </a:solidFill>
            </a:endParaRPr>
          </a:p>
        </p:txBody>
      </p:sp>
      <p:sp>
        <p:nvSpPr>
          <p:cNvPr id="5" name="Rectangle 1">
            <a:extLst>
              <a:ext uri="{FF2B5EF4-FFF2-40B4-BE49-F238E27FC236}">
                <a16:creationId xmlns:a16="http://schemas.microsoft.com/office/drawing/2014/main" id="{0FF97802-C731-85F9-5A28-5C73DEB21ED1}"/>
              </a:ext>
            </a:extLst>
          </p:cNvPr>
          <p:cNvSpPr>
            <a:spLocks noChangeArrowheads="1"/>
          </p:cNvSpPr>
          <p:nvPr/>
        </p:nvSpPr>
        <p:spPr bwMode="auto">
          <a:xfrm>
            <a:off x="0" y="551093"/>
            <a:ext cx="7473200" cy="61970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ts val="27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en-US" altLang="ko-KR" sz="1600" b="0" i="0" u="none" strike="noStrike" cap="none" normalizeH="0" baseline="0" dirty="0">
                <a:ln>
                  <a:noFill/>
                </a:ln>
                <a:solidFill>
                  <a:srgbClr val="708090"/>
                </a:solidFill>
                <a:effectLst/>
                <a:latin typeface="Consolas" panose="020B0609020204030204" pitchFamily="49" charset="0"/>
              </a:rPr>
              <a:t>  // </a:t>
            </a:r>
            <a:r>
              <a:rPr kumimoji="0" lang="ko-KR" altLang="ko-KR" sz="1600" b="0" i="0" u="none" strike="noStrike" cap="none" normalizeH="0" baseline="0" dirty="0" err="1">
                <a:ln>
                  <a:noFill/>
                </a:ln>
                <a:solidFill>
                  <a:srgbClr val="708090"/>
                </a:solidFill>
                <a:effectLst/>
                <a:latin typeface="Consolas" panose="020B0609020204030204" pitchFamily="49" charset="0"/>
              </a:rPr>
              <a:t>Wait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connection</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en-US" altLang="ko-KR" sz="1600" b="0" i="0" u="none" strike="noStrike" cap="none" normalizeH="0" baseline="0" dirty="0">
                <a:ln>
                  <a:noFill/>
                </a:ln>
                <a:solidFill>
                  <a:srgbClr val="0077AA"/>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500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"IP </a:t>
            </a:r>
            <a:r>
              <a:rPr kumimoji="0" lang="ko-KR" altLang="ko-KR" sz="1600" b="0" i="0" u="none" strike="noStrike" cap="none" normalizeH="0" baseline="0" dirty="0" err="1">
                <a:ln>
                  <a:noFill/>
                </a:ln>
                <a:solidFill>
                  <a:srgbClr val="669900"/>
                </a:solidFill>
                <a:effectLst/>
                <a:latin typeface="Consolas" panose="020B0609020204030204" pitchFamily="49" charset="0"/>
              </a:rPr>
              <a:t>address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text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plain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Hi</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am</a:t>
            </a:r>
            <a:r>
              <a:rPr kumimoji="0" lang="ko-KR" altLang="ko-KR" sz="1600" b="0" i="0" u="none" strike="noStrike" cap="none" normalizeH="0" baseline="0" dirty="0">
                <a:ln>
                  <a:noFill/>
                </a:ln>
                <a:solidFill>
                  <a:srgbClr val="669900"/>
                </a:solidFill>
                <a:effectLst/>
                <a:latin typeface="Consolas" panose="020B0609020204030204" pitchFamily="49" charset="0"/>
              </a:rPr>
              <a:t> ESP32."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"HTTP </a:t>
            </a:r>
            <a:r>
              <a:rPr kumimoji="0" lang="ko-KR" altLang="ko-KR" sz="1600" b="0" i="0" u="none" strike="noStrike" cap="none" normalizeH="0" baseline="0" dirty="0" err="1">
                <a:ln>
                  <a:noFill/>
                </a:ln>
                <a:solidFill>
                  <a:srgbClr val="669900"/>
                </a:solidFill>
                <a:effectLst/>
                <a:latin typeface="Consolas" panose="020B0609020204030204" pitchFamily="49" charset="0"/>
              </a:rPr>
              <a:t>server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started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ElegantOTA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Start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ElegantOTA</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ElegantOTA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4983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D6B8E-875F-CD6B-687F-4FFABABB8C0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B38FC30-1002-9F60-CA50-63E643D08B56}"/>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dirty="0">
                <a:solidFill>
                  <a:schemeClr val="bg1"/>
                </a:solidFill>
              </a:rPr>
              <a:t>코드 실행</a:t>
            </a:r>
          </a:p>
        </p:txBody>
      </p:sp>
      <p:pic>
        <p:nvPicPr>
          <p:cNvPr id="4" name="그림 3">
            <a:extLst>
              <a:ext uri="{FF2B5EF4-FFF2-40B4-BE49-F238E27FC236}">
                <a16:creationId xmlns:a16="http://schemas.microsoft.com/office/drawing/2014/main" id="{5AE92D0F-8B9F-C1D9-DC2A-143A8816F794}"/>
              </a:ext>
            </a:extLst>
          </p:cNvPr>
          <p:cNvPicPr>
            <a:picLocks noChangeAspect="1"/>
          </p:cNvPicPr>
          <p:nvPr/>
        </p:nvPicPr>
        <p:blipFill>
          <a:blip r:embed="rId2"/>
          <a:stretch>
            <a:fillRect/>
          </a:stretch>
        </p:blipFill>
        <p:spPr>
          <a:xfrm>
            <a:off x="277182" y="803336"/>
            <a:ext cx="6601746" cy="4086795"/>
          </a:xfrm>
          <a:prstGeom prst="rect">
            <a:avLst/>
          </a:prstGeom>
          <a:ln>
            <a:solidFill>
              <a:schemeClr val="tx1">
                <a:lumMod val="65000"/>
                <a:lumOff val="35000"/>
              </a:schemeClr>
            </a:solidFill>
          </a:ln>
        </p:spPr>
      </p:pic>
      <p:pic>
        <p:nvPicPr>
          <p:cNvPr id="7" name="그림 6">
            <a:extLst>
              <a:ext uri="{FF2B5EF4-FFF2-40B4-BE49-F238E27FC236}">
                <a16:creationId xmlns:a16="http://schemas.microsoft.com/office/drawing/2014/main" id="{D878A5B8-600A-290F-4637-8D3C26F7AF26}"/>
              </a:ext>
            </a:extLst>
          </p:cNvPr>
          <p:cNvPicPr>
            <a:picLocks noChangeAspect="1"/>
          </p:cNvPicPr>
          <p:nvPr/>
        </p:nvPicPr>
        <p:blipFill>
          <a:blip r:embed="rId3"/>
          <a:stretch>
            <a:fillRect/>
          </a:stretch>
        </p:blipFill>
        <p:spPr>
          <a:xfrm>
            <a:off x="7042482" y="856090"/>
            <a:ext cx="5028699" cy="1451012"/>
          </a:xfrm>
          <a:prstGeom prst="rect">
            <a:avLst/>
          </a:prstGeom>
        </p:spPr>
      </p:pic>
    </p:spTree>
    <p:extLst>
      <p:ext uri="{BB962C8B-B14F-4D97-AF65-F5344CB8AC3E}">
        <p14:creationId xmlns:p14="http://schemas.microsoft.com/office/powerpoint/2010/main" val="270489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9F27-281F-5612-1796-619580BBA66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B04143F-4217-320E-5212-928BC9271EC1}"/>
              </a:ext>
            </a:extLst>
          </p:cNvPr>
          <p:cNvSpPr/>
          <p:nvPr/>
        </p:nvSpPr>
        <p:spPr>
          <a:xfrm>
            <a:off x="0" y="1"/>
            <a:ext cx="12192000" cy="47950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dirty="0">
                <a:solidFill>
                  <a:schemeClr val="bg1"/>
                </a:solidFill>
              </a:rPr>
              <a:t>코드 실행 </a:t>
            </a:r>
            <a:r>
              <a:rPr lang="en-US" altLang="ko-KR" b="1" dirty="0">
                <a:solidFill>
                  <a:schemeClr val="bg1"/>
                </a:solidFill>
                <a:sym typeface="Wingdings" panose="05000000000000000000" pitchFamily="2" charset="2"/>
              </a:rPr>
              <a:t> update</a:t>
            </a:r>
            <a:endParaRPr lang="ko-KR" altLang="en-US" b="1" dirty="0">
              <a:solidFill>
                <a:schemeClr val="bg1"/>
              </a:solidFill>
            </a:endParaRPr>
          </a:p>
        </p:txBody>
      </p:sp>
      <p:pic>
        <p:nvPicPr>
          <p:cNvPr id="5" name="그림 4">
            <a:extLst>
              <a:ext uri="{FF2B5EF4-FFF2-40B4-BE49-F238E27FC236}">
                <a16:creationId xmlns:a16="http://schemas.microsoft.com/office/drawing/2014/main" id="{58C482CF-90EF-A81C-DCE5-28749EF2E44E}"/>
              </a:ext>
            </a:extLst>
          </p:cNvPr>
          <p:cNvPicPr>
            <a:picLocks noChangeAspect="1"/>
          </p:cNvPicPr>
          <p:nvPr/>
        </p:nvPicPr>
        <p:blipFill>
          <a:blip r:embed="rId2"/>
          <a:stretch>
            <a:fillRect/>
          </a:stretch>
        </p:blipFill>
        <p:spPr>
          <a:xfrm>
            <a:off x="513067" y="1012874"/>
            <a:ext cx="4752287" cy="5393220"/>
          </a:xfrm>
          <a:prstGeom prst="rect">
            <a:avLst/>
          </a:prstGeom>
          <a:ln>
            <a:solidFill>
              <a:schemeClr val="tx1">
                <a:lumMod val="65000"/>
                <a:lumOff val="35000"/>
              </a:schemeClr>
            </a:solidFill>
          </a:ln>
        </p:spPr>
      </p:pic>
      <p:sp>
        <p:nvSpPr>
          <p:cNvPr id="6" name="TextBox 5">
            <a:extLst>
              <a:ext uri="{FF2B5EF4-FFF2-40B4-BE49-F238E27FC236}">
                <a16:creationId xmlns:a16="http://schemas.microsoft.com/office/drawing/2014/main" id="{898912B2-282B-DE24-CF0D-E58DA97BBD3B}"/>
              </a:ext>
            </a:extLst>
          </p:cNvPr>
          <p:cNvSpPr txBox="1"/>
          <p:nvPr/>
        </p:nvSpPr>
        <p:spPr>
          <a:xfrm>
            <a:off x="5731160" y="1012874"/>
            <a:ext cx="4743606" cy="1200329"/>
          </a:xfrm>
          <a:prstGeom prst="rect">
            <a:avLst/>
          </a:prstGeom>
          <a:noFill/>
        </p:spPr>
        <p:txBody>
          <a:bodyPr wrap="none" rtlCol="0">
            <a:spAutoFit/>
          </a:bodyPr>
          <a:lstStyle/>
          <a:p>
            <a:r>
              <a:rPr lang="en-US" altLang="ko-KR" b="1" dirty="0"/>
              <a:t>.bin format file </a:t>
            </a:r>
            <a:r>
              <a:rPr lang="ko-KR" altLang="en-US" b="1" dirty="0"/>
              <a:t>필요</a:t>
            </a:r>
            <a:endParaRPr lang="en-US" altLang="ko-KR" b="1" dirty="0"/>
          </a:p>
          <a:p>
            <a:endParaRPr lang="en-US" altLang="ko-KR" b="1" dirty="0"/>
          </a:p>
          <a:p>
            <a:r>
              <a:rPr lang="ko-KR" altLang="en-US" b="1" dirty="0"/>
              <a:t>스케치 </a:t>
            </a:r>
            <a:r>
              <a:rPr lang="en-US" altLang="ko-KR" b="1" dirty="0">
                <a:sym typeface="Wingdings" panose="05000000000000000000" pitchFamily="2" charset="2"/>
              </a:rPr>
              <a:t> </a:t>
            </a:r>
            <a:r>
              <a:rPr lang="ko-KR" altLang="en-US" b="1" dirty="0" err="1">
                <a:sym typeface="Wingdings" panose="05000000000000000000" pitchFamily="2" charset="2"/>
              </a:rPr>
              <a:t>컴파일된</a:t>
            </a:r>
            <a:r>
              <a:rPr lang="ko-KR" altLang="en-US" b="1" dirty="0">
                <a:sym typeface="Wingdings" panose="05000000000000000000" pitchFamily="2" charset="2"/>
              </a:rPr>
              <a:t> 바이너리 내보내기 클릭</a:t>
            </a:r>
            <a:endParaRPr lang="en-US" altLang="ko-KR" b="1" dirty="0">
              <a:sym typeface="Wingdings" panose="05000000000000000000" pitchFamily="2" charset="2"/>
            </a:endParaRPr>
          </a:p>
          <a:p>
            <a:r>
              <a:rPr lang="ko-KR" altLang="en-US" b="1" dirty="0">
                <a:sym typeface="Wingdings" panose="05000000000000000000" pitchFamily="2" charset="2"/>
              </a:rPr>
              <a:t>생성된 </a:t>
            </a:r>
            <a:r>
              <a:rPr lang="en-US" altLang="ko-KR" b="1" dirty="0">
                <a:sym typeface="Wingdings" panose="05000000000000000000" pitchFamily="2" charset="2"/>
              </a:rPr>
              <a:t>.bin </a:t>
            </a:r>
            <a:r>
              <a:rPr lang="ko-KR" altLang="en-US" b="1" dirty="0">
                <a:sym typeface="Wingdings" panose="05000000000000000000" pitchFamily="2" charset="2"/>
              </a:rPr>
              <a:t>파일 </a:t>
            </a:r>
            <a:r>
              <a:rPr lang="en-US" altLang="ko-KR" b="1" dirty="0">
                <a:sym typeface="Wingdings" panose="05000000000000000000" pitchFamily="2" charset="2"/>
              </a:rPr>
              <a:t>upload</a:t>
            </a:r>
            <a:endParaRPr lang="ko-KR" altLang="en-US" b="1" dirty="0"/>
          </a:p>
        </p:txBody>
      </p:sp>
      <p:pic>
        <p:nvPicPr>
          <p:cNvPr id="9" name="그림 8">
            <a:extLst>
              <a:ext uri="{FF2B5EF4-FFF2-40B4-BE49-F238E27FC236}">
                <a16:creationId xmlns:a16="http://schemas.microsoft.com/office/drawing/2014/main" id="{F3F9150A-0A4C-5898-5316-A06B201DC574}"/>
              </a:ext>
            </a:extLst>
          </p:cNvPr>
          <p:cNvPicPr>
            <a:picLocks noChangeAspect="1"/>
          </p:cNvPicPr>
          <p:nvPr/>
        </p:nvPicPr>
        <p:blipFill>
          <a:blip r:embed="rId3"/>
          <a:stretch>
            <a:fillRect/>
          </a:stretch>
        </p:blipFill>
        <p:spPr>
          <a:xfrm>
            <a:off x="5731160" y="2652061"/>
            <a:ext cx="5850638" cy="2918745"/>
          </a:xfrm>
          <a:prstGeom prst="rect">
            <a:avLst/>
          </a:prstGeom>
          <a:ln>
            <a:solidFill>
              <a:schemeClr val="tx1">
                <a:lumMod val="65000"/>
                <a:lumOff val="35000"/>
              </a:schemeClr>
            </a:solidFill>
          </a:ln>
        </p:spPr>
      </p:pic>
    </p:spTree>
    <p:extLst>
      <p:ext uri="{BB962C8B-B14F-4D97-AF65-F5344CB8AC3E}">
        <p14:creationId xmlns:p14="http://schemas.microsoft.com/office/powerpoint/2010/main" val="20485909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ADC</a:t>
            </a:r>
          </a:p>
          <a:p>
            <a:pPr marL="179387" algn="ctr"/>
            <a:r>
              <a:rPr lang="en-US" altLang="ko-KR" sz="4400" b="1">
                <a:solidFill>
                  <a:schemeClr val="tx1"/>
                </a:solidFill>
              </a:rPr>
              <a:t>Analog Digital Converor</a:t>
            </a:r>
            <a:endParaRPr lang="ko-KR" altLang="en-US" sz="4400" b="1">
              <a:solidFill>
                <a:schemeClr val="tx1"/>
              </a:solidFill>
            </a:endParaRPr>
          </a:p>
        </p:txBody>
      </p:sp>
      <p:sp>
        <p:nvSpPr>
          <p:cNvPr id="3" name="TextBox 2">
            <a:extLst>
              <a:ext uri="{FF2B5EF4-FFF2-40B4-BE49-F238E27FC236}">
                <a16:creationId xmlns:a16="http://schemas.microsoft.com/office/drawing/2014/main" id="{2B9113E0-D642-4CBF-A0AF-F4706B15CD8A}"/>
              </a:ext>
            </a:extLst>
          </p:cNvPr>
          <p:cNvSpPr txBox="1"/>
          <p:nvPr/>
        </p:nvSpPr>
        <p:spPr>
          <a:xfrm>
            <a:off x="0" y="6488668"/>
            <a:ext cx="6762108" cy="369332"/>
          </a:xfrm>
          <a:prstGeom prst="rect">
            <a:avLst/>
          </a:prstGeom>
          <a:noFill/>
        </p:spPr>
        <p:txBody>
          <a:bodyPr wrap="none" rtlCol="0">
            <a:spAutoFit/>
          </a:bodyPr>
          <a:lstStyle/>
          <a:p>
            <a:r>
              <a:rPr lang="en-US" altLang="ko-KR">
                <a:hlinkClick r:id="rId2"/>
              </a:rPr>
              <a:t>ESP32 Analog Input with Arduino IDE | Random Nerd Tutorials</a:t>
            </a:r>
            <a:endParaRPr lang="ko-KR" altLang="en-US"/>
          </a:p>
        </p:txBody>
      </p:sp>
    </p:spTree>
    <p:extLst>
      <p:ext uri="{BB962C8B-B14F-4D97-AF65-F5344CB8AC3E}">
        <p14:creationId xmlns:p14="http://schemas.microsoft.com/office/powerpoint/2010/main" val="22041691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F2F9-D5AA-6034-4D72-61C6B4C502B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5837594-21D2-F4F9-A001-CF8A63F21B5A}"/>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range</a:t>
            </a:r>
            <a:endParaRPr lang="ko-KR" altLang="en-US" b="1">
              <a:solidFill>
                <a:schemeClr val="tx1"/>
              </a:solidFill>
            </a:endParaRPr>
          </a:p>
        </p:txBody>
      </p:sp>
      <p:pic>
        <p:nvPicPr>
          <p:cNvPr id="3" name="그림 2">
            <a:extLst>
              <a:ext uri="{FF2B5EF4-FFF2-40B4-BE49-F238E27FC236}">
                <a16:creationId xmlns:a16="http://schemas.microsoft.com/office/drawing/2014/main" id="{DFBB437B-F45F-13A8-5063-67674AA80F37}"/>
              </a:ext>
            </a:extLst>
          </p:cNvPr>
          <p:cNvPicPr>
            <a:picLocks noChangeAspect="1"/>
          </p:cNvPicPr>
          <p:nvPr/>
        </p:nvPicPr>
        <p:blipFill>
          <a:blip r:embed="rId2"/>
          <a:stretch>
            <a:fillRect/>
          </a:stretch>
        </p:blipFill>
        <p:spPr>
          <a:xfrm>
            <a:off x="1240056" y="886203"/>
            <a:ext cx="9197485" cy="5689166"/>
          </a:xfrm>
          <a:prstGeom prst="rect">
            <a:avLst/>
          </a:prstGeom>
        </p:spPr>
      </p:pic>
      <p:sp>
        <p:nvSpPr>
          <p:cNvPr id="4" name="사각형: 둥근 모서리 3">
            <a:extLst>
              <a:ext uri="{FF2B5EF4-FFF2-40B4-BE49-F238E27FC236}">
                <a16:creationId xmlns:a16="http://schemas.microsoft.com/office/drawing/2014/main" id="{58F752B3-C686-961A-C0CB-B855919B4A76}"/>
              </a:ext>
            </a:extLst>
          </p:cNvPr>
          <p:cNvSpPr/>
          <p:nvPr/>
        </p:nvSpPr>
        <p:spPr>
          <a:xfrm>
            <a:off x="1137424" y="6222380"/>
            <a:ext cx="769435" cy="35298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381F6E22-C1EA-34A7-68CB-152D0299A154}"/>
              </a:ext>
            </a:extLst>
          </p:cNvPr>
          <p:cNvSpPr txBox="1"/>
          <p:nvPr/>
        </p:nvSpPr>
        <p:spPr>
          <a:xfrm>
            <a:off x="10427836" y="1734685"/>
            <a:ext cx="955711" cy="646331"/>
          </a:xfrm>
          <a:prstGeom prst="rect">
            <a:avLst/>
          </a:prstGeom>
          <a:noFill/>
        </p:spPr>
        <p:txBody>
          <a:bodyPr wrap="none" rtlCol="0">
            <a:spAutoFit/>
          </a:bodyPr>
          <a:lstStyle/>
          <a:p>
            <a:r>
              <a:rPr lang="en-US" altLang="ko-KR"/>
              <a:t>4095</a:t>
            </a:r>
          </a:p>
          <a:p>
            <a:r>
              <a:rPr lang="en-US" altLang="ko-KR"/>
              <a:t>= 12bit</a:t>
            </a:r>
            <a:endParaRPr lang="ko-KR" altLang="en-US"/>
          </a:p>
        </p:txBody>
      </p:sp>
    </p:spTree>
    <p:extLst>
      <p:ext uri="{BB962C8B-B14F-4D97-AF65-F5344CB8AC3E}">
        <p14:creationId xmlns:p14="http://schemas.microsoft.com/office/powerpoint/2010/main" val="29769033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a:t>
            </a:r>
            <a:r>
              <a:rPr lang="ko-KR" altLang="en-US" b="1">
                <a:solidFill>
                  <a:schemeClr val="tx1"/>
                </a:solidFill>
              </a:rPr>
              <a:t>하드웨어 구성</a:t>
            </a:r>
          </a:p>
        </p:txBody>
      </p:sp>
      <p:pic>
        <p:nvPicPr>
          <p:cNvPr id="6" name="그림 5">
            <a:extLst>
              <a:ext uri="{FF2B5EF4-FFF2-40B4-BE49-F238E27FC236}">
                <a16:creationId xmlns:a16="http://schemas.microsoft.com/office/drawing/2014/main" id="{C7F1C19C-9B20-476C-B9A8-D5E9D5E9ED2F}"/>
              </a:ext>
            </a:extLst>
          </p:cNvPr>
          <p:cNvPicPr>
            <a:picLocks noChangeAspect="1"/>
          </p:cNvPicPr>
          <p:nvPr/>
        </p:nvPicPr>
        <p:blipFill>
          <a:blip r:embed="rId2"/>
          <a:stretch>
            <a:fillRect/>
          </a:stretch>
        </p:blipFill>
        <p:spPr>
          <a:xfrm>
            <a:off x="2101270" y="1193053"/>
            <a:ext cx="7840169" cy="4210638"/>
          </a:xfrm>
          <a:prstGeom prst="rect">
            <a:avLst/>
          </a:prstGeom>
        </p:spPr>
      </p:pic>
    </p:spTree>
    <p:extLst>
      <p:ext uri="{BB962C8B-B14F-4D97-AF65-F5344CB8AC3E}">
        <p14:creationId xmlns:p14="http://schemas.microsoft.com/office/powerpoint/2010/main" val="14221329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code</a:t>
            </a:r>
            <a:endParaRPr lang="ko-KR" altLang="en-US" b="1">
              <a:solidFill>
                <a:schemeClr val="tx1"/>
              </a:solidFill>
            </a:endParaRPr>
          </a:p>
        </p:txBody>
      </p:sp>
      <p:sp>
        <p:nvSpPr>
          <p:cNvPr id="3" name="직사각형 2">
            <a:extLst>
              <a:ext uri="{FF2B5EF4-FFF2-40B4-BE49-F238E27FC236}">
                <a16:creationId xmlns:a16="http://schemas.microsoft.com/office/drawing/2014/main" id="{A34C2602-1304-4AC1-9CB0-20F2496CE626}"/>
              </a:ext>
            </a:extLst>
          </p:cNvPr>
          <p:cNvSpPr/>
          <p:nvPr/>
        </p:nvSpPr>
        <p:spPr>
          <a:xfrm>
            <a:off x="180998" y="734865"/>
            <a:ext cx="7368377" cy="4278094"/>
          </a:xfrm>
          <a:prstGeom prst="rect">
            <a:avLst/>
          </a:prstGeom>
          <a:solidFill>
            <a:schemeClr val="bg2"/>
          </a:solidFill>
        </p:spPr>
        <p:txBody>
          <a:bodyPr wrap="square">
            <a:spAutoFit/>
          </a:bodyPr>
          <a:lstStyle/>
          <a:p>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is</a:t>
            </a:r>
            <a:r>
              <a:rPr lang="ko-KR" altLang="en-US" sz="1600" dirty="0">
                <a:latin typeface="Consolas" panose="020B0609020204030204" pitchFamily="49" charset="0"/>
              </a:rPr>
              <a:t> </a:t>
            </a:r>
            <a:r>
              <a:rPr lang="ko-KR" altLang="en-US" sz="1600" dirty="0" err="1">
                <a:latin typeface="Consolas" panose="020B0609020204030204" pitchFamily="49" charset="0"/>
              </a:rPr>
              <a:t>connected</a:t>
            </a:r>
            <a:r>
              <a:rPr lang="ko-KR" altLang="en-US" sz="1600" dirty="0">
                <a:latin typeface="Consolas" panose="020B0609020204030204" pitchFamily="49" charset="0"/>
              </a:rPr>
              <a:t> </a:t>
            </a:r>
            <a:r>
              <a:rPr lang="ko-KR" altLang="en-US" sz="1600" dirty="0" err="1">
                <a:latin typeface="Consolas" panose="020B0609020204030204" pitchFamily="49" charset="0"/>
              </a:rPr>
              <a:t>to</a:t>
            </a:r>
            <a:r>
              <a:rPr lang="ko-KR" altLang="en-US" sz="1600" dirty="0">
                <a:latin typeface="Consolas" panose="020B0609020204030204" pitchFamily="49" charset="0"/>
              </a:rPr>
              <a:t> GPIO 34 (</a:t>
            </a:r>
            <a:r>
              <a:rPr lang="ko-KR" altLang="en-US" sz="1600" dirty="0" err="1">
                <a:latin typeface="Consolas" panose="020B0609020204030204" pitchFamily="49" charset="0"/>
              </a:rPr>
              <a:t>Analog</a:t>
            </a:r>
            <a:r>
              <a:rPr lang="ko-KR" altLang="en-US" sz="1600" dirty="0">
                <a:latin typeface="Consolas" panose="020B0609020204030204" pitchFamily="49" charset="0"/>
              </a:rPr>
              <a:t> ADC1_CH6) </a:t>
            </a: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potPin</a:t>
            </a:r>
            <a:r>
              <a:rPr lang="ko-KR" altLang="en-US" sz="1600" dirty="0">
                <a:latin typeface="Consolas" panose="020B0609020204030204" pitchFamily="49" charset="0"/>
              </a:rPr>
              <a:t> = 34;</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variable</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a:t>
            </a:r>
            <a:r>
              <a:rPr lang="ko-KR" altLang="en-US" sz="1600" dirty="0" err="1">
                <a:latin typeface="Consolas" panose="020B0609020204030204" pitchFamily="49" charset="0"/>
              </a:rPr>
              <a:t>storing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value</a:t>
            </a:r>
            <a:endParaRPr lang="ko-KR" altLang="en-US" sz="1600" dirty="0">
              <a:latin typeface="Consolas" panose="020B0609020204030204" pitchFamily="49" charset="0"/>
            </a:endParaRPr>
          </a:p>
          <a:p>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potValue</a:t>
            </a:r>
            <a:r>
              <a:rPr lang="ko-KR" altLang="en-US" sz="1600" dirty="0">
                <a:latin typeface="Consolas" panose="020B0609020204030204" pitchFamily="49" charset="0"/>
              </a:rPr>
              <a:t> = 0;</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Serial.begin</a:t>
            </a:r>
            <a:r>
              <a:rPr lang="ko-KR" altLang="en-US" sz="1600" dirty="0">
                <a:latin typeface="Consolas" panose="020B0609020204030204" pitchFamily="49" charset="0"/>
              </a:rPr>
              <a:t>(115200);</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(1000);</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Reading</a:t>
            </a:r>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value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potValue</a:t>
            </a:r>
            <a:r>
              <a:rPr lang="ko-KR" altLang="en-US" sz="1600" dirty="0">
                <a:latin typeface="Consolas" panose="020B0609020204030204" pitchFamily="49" charset="0"/>
              </a:rPr>
              <a:t> = </a:t>
            </a:r>
            <a:r>
              <a:rPr lang="ko-KR" altLang="en-US" sz="1600" dirty="0" err="1">
                <a:latin typeface="Consolas" panose="020B0609020204030204" pitchFamily="49" charset="0"/>
              </a:rPr>
              <a:t>analogRead</a:t>
            </a:r>
            <a:r>
              <a:rPr lang="ko-KR" altLang="en-US" sz="1600" dirty="0">
                <a:latin typeface="Consolas" panose="020B0609020204030204" pitchFamily="49" charset="0"/>
              </a:rPr>
              <a:t>(</a:t>
            </a:r>
            <a:r>
              <a:rPr lang="ko-KR" altLang="en-US" sz="1600" dirty="0" err="1">
                <a:latin typeface="Consolas" panose="020B0609020204030204" pitchFamily="49" charset="0"/>
              </a:rPr>
              <a:t>potPin</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a:t>
            </a:r>
            <a:r>
              <a:rPr lang="ko-KR" altLang="en-US" sz="1600" dirty="0" err="1">
                <a:latin typeface="Consolas" panose="020B0609020204030204" pitchFamily="49" charset="0"/>
              </a:rPr>
              <a:t>potValue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(500);</a:t>
            </a:r>
          </a:p>
          <a:p>
            <a:r>
              <a:rPr lang="ko-KR" altLang="en-US" sz="1600" dirty="0">
                <a:latin typeface="Consolas" panose="020B0609020204030204" pitchFamily="49" charset="0"/>
              </a:rPr>
              <a:t>}</a:t>
            </a:r>
          </a:p>
        </p:txBody>
      </p:sp>
      <p:pic>
        <p:nvPicPr>
          <p:cNvPr id="4" name="그림 3">
            <a:extLst>
              <a:ext uri="{FF2B5EF4-FFF2-40B4-BE49-F238E27FC236}">
                <a16:creationId xmlns:a16="http://schemas.microsoft.com/office/drawing/2014/main" id="{B250F894-0684-4FAD-8A27-25BD85B77BFB}"/>
              </a:ext>
            </a:extLst>
          </p:cNvPr>
          <p:cNvPicPr>
            <a:picLocks noChangeAspect="1"/>
          </p:cNvPicPr>
          <p:nvPr/>
        </p:nvPicPr>
        <p:blipFill>
          <a:blip r:embed="rId2"/>
          <a:stretch>
            <a:fillRect/>
          </a:stretch>
        </p:blipFill>
        <p:spPr>
          <a:xfrm>
            <a:off x="7979919" y="734865"/>
            <a:ext cx="3327418" cy="4300048"/>
          </a:xfrm>
          <a:prstGeom prst="rect">
            <a:avLst/>
          </a:prstGeom>
          <a:ln w="12700">
            <a:solidFill>
              <a:schemeClr val="tx1">
                <a:lumMod val="50000"/>
                <a:lumOff val="50000"/>
              </a:schemeClr>
            </a:solidFill>
          </a:ln>
        </p:spPr>
      </p:pic>
    </p:spTree>
    <p:extLst>
      <p:ext uri="{BB962C8B-B14F-4D97-AF65-F5344CB8AC3E}">
        <p14:creationId xmlns:p14="http://schemas.microsoft.com/office/powerpoint/2010/main" val="35613344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Interrupts Timers</a:t>
            </a:r>
            <a:endParaRPr lang="ko-KR" altLang="en-US" sz="5400" b="1">
              <a:solidFill>
                <a:schemeClr val="tx1"/>
              </a:solidFill>
            </a:endParaRPr>
          </a:p>
        </p:txBody>
      </p:sp>
      <p:sp>
        <p:nvSpPr>
          <p:cNvPr id="3" name="직사각형 2">
            <a:extLst>
              <a:ext uri="{FF2B5EF4-FFF2-40B4-BE49-F238E27FC236}">
                <a16:creationId xmlns:a16="http://schemas.microsoft.com/office/drawing/2014/main" id="{E3E22B0B-9AAE-42C9-990B-E84E80CC5E5B}"/>
              </a:ext>
            </a:extLst>
          </p:cNvPr>
          <p:cNvSpPr/>
          <p:nvPr/>
        </p:nvSpPr>
        <p:spPr>
          <a:xfrm>
            <a:off x="1330712" y="3136384"/>
            <a:ext cx="9865112"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latin typeface="+mn-ea"/>
              </a:rPr>
              <a:t>이번 수업에서는 </a:t>
            </a:r>
            <a:r>
              <a:rPr lang="en-US" altLang="ko-KR">
                <a:latin typeface="+mn-ea"/>
              </a:rPr>
              <a:t>ESP32</a:t>
            </a:r>
            <a:r>
              <a:rPr lang="ko-KR" altLang="en-US">
                <a:latin typeface="+mn-ea"/>
              </a:rPr>
              <a:t>와 </a:t>
            </a:r>
            <a:r>
              <a:rPr lang="en-US" altLang="ko-KR">
                <a:latin typeface="+mn-ea"/>
              </a:rPr>
              <a:t>PIR </a:t>
            </a:r>
            <a:r>
              <a:rPr lang="ko-KR" altLang="en-US">
                <a:latin typeface="+mn-ea"/>
              </a:rPr>
              <a:t>모션 센서를 사용하여 움직임을 감지하는 방법을 보여준다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이 예제에서 움직임이 감지되면</a:t>
            </a:r>
            <a:r>
              <a:rPr lang="en-US" altLang="ko-KR">
                <a:latin typeface="+mn-ea"/>
              </a:rPr>
              <a:t>(</a:t>
            </a:r>
            <a:r>
              <a:rPr lang="ko-KR" altLang="en-US">
                <a:latin typeface="+mn-ea"/>
              </a:rPr>
              <a:t>인터럽트가 발생하면</a:t>
            </a:r>
            <a:r>
              <a:rPr lang="en-US" altLang="ko-KR">
                <a:latin typeface="+mn-ea"/>
              </a:rPr>
              <a:t>), ESP32</a:t>
            </a:r>
            <a:r>
              <a:rPr lang="ko-KR" altLang="en-US">
                <a:latin typeface="+mn-ea"/>
              </a:rPr>
              <a:t>가 타이머를 시작하고 </a:t>
            </a:r>
            <a:br>
              <a:rPr lang="en-US" altLang="ko-KR">
                <a:latin typeface="+mn-ea"/>
              </a:rPr>
            </a:br>
            <a:r>
              <a:rPr lang="en-US" altLang="ko-KR">
                <a:latin typeface="+mn-ea"/>
              </a:rPr>
              <a:t>LED</a:t>
            </a:r>
            <a:r>
              <a:rPr lang="ko-KR" altLang="en-US">
                <a:latin typeface="+mn-ea"/>
              </a:rPr>
              <a:t>를 미리 정의된 시간 동안 켠다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타이머가 카운트다운을 완료하면 </a:t>
            </a:r>
            <a:r>
              <a:rPr lang="en-US" altLang="ko-KR">
                <a:latin typeface="+mn-ea"/>
              </a:rPr>
              <a:t>LED</a:t>
            </a:r>
            <a:r>
              <a:rPr lang="ko-KR" altLang="en-US">
                <a:latin typeface="+mn-ea"/>
              </a:rPr>
              <a:t>는 자동으로 꺼진다</a:t>
            </a:r>
            <a:r>
              <a:rPr lang="en-US" altLang="ko-KR">
                <a:latin typeface="+mn-ea"/>
              </a:rPr>
              <a:t>.</a:t>
            </a:r>
            <a:endParaRPr lang="ko-KR" altLang="en-US">
              <a:latin typeface="+mn-ea"/>
            </a:endParaRPr>
          </a:p>
        </p:txBody>
      </p:sp>
    </p:spTree>
    <p:extLst>
      <p:ext uri="{BB962C8B-B14F-4D97-AF65-F5344CB8AC3E}">
        <p14:creationId xmlns:p14="http://schemas.microsoft.com/office/powerpoint/2010/main" val="2800029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Interrupt </a:t>
            </a:r>
            <a:r>
              <a:rPr lang="ko-KR" altLang="en-US" b="1">
                <a:solidFill>
                  <a:schemeClr val="tx1"/>
                </a:solidFill>
              </a:rPr>
              <a:t>소개</a:t>
            </a:r>
          </a:p>
        </p:txBody>
      </p:sp>
      <p:sp>
        <p:nvSpPr>
          <p:cNvPr id="3" name="직사각형 2">
            <a:extLst>
              <a:ext uri="{FF2B5EF4-FFF2-40B4-BE49-F238E27FC236}">
                <a16:creationId xmlns:a16="http://schemas.microsoft.com/office/drawing/2014/main" id="{EB55675C-1521-428A-AF34-D2B77F40BD28}"/>
              </a:ext>
            </a:extLst>
          </p:cNvPr>
          <p:cNvSpPr/>
          <p:nvPr/>
        </p:nvSpPr>
        <p:spPr>
          <a:xfrm>
            <a:off x="315950" y="655009"/>
            <a:ext cx="11515493" cy="294728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PIR </a:t>
            </a:r>
            <a:r>
              <a:rPr lang="ko-KR" altLang="en-US">
                <a:latin typeface="+mn-ea"/>
              </a:rPr>
              <a:t>모션 센서를 사용하여 이벤트를 트리거하려면 </a:t>
            </a:r>
            <a:r>
              <a:rPr lang="ko-KR" altLang="en-US" b="1">
                <a:latin typeface="+mn-ea"/>
              </a:rPr>
              <a:t>인터럽트</a:t>
            </a:r>
            <a:r>
              <a:rPr lang="ko-KR" altLang="en-US">
                <a:latin typeface="+mn-ea"/>
              </a:rPr>
              <a:t>를 사용한다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인터럽트는 마이크로컨트롤러 프로그램에서 자동으로 작업을 수행하도록 하며</a:t>
            </a:r>
            <a:r>
              <a:rPr lang="en-US" altLang="ko-KR">
                <a:latin typeface="+mn-ea"/>
              </a:rPr>
              <a:t>, </a:t>
            </a:r>
            <a:r>
              <a:rPr lang="ko-KR" altLang="en-US">
                <a:latin typeface="+mn-ea"/>
              </a:rPr>
              <a:t>타이밍 문제를 해결하는 데 유용하다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인터럽트를 사용하면 핀의 현재 값을 지속적으로 확인할 필요가 없다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인터럽트를 통해 변화가 감지되면 이벤트가 트리거되고</a:t>
            </a:r>
            <a:r>
              <a:rPr lang="en-US" altLang="ko-KR">
                <a:latin typeface="+mn-ea"/>
              </a:rPr>
              <a:t>(</a:t>
            </a:r>
            <a:r>
              <a:rPr lang="ko-KR" altLang="en-US">
                <a:latin typeface="+mn-ea"/>
              </a:rPr>
              <a:t>특정 함수가 호출됨</a:t>
            </a:r>
            <a:r>
              <a:rPr lang="en-US" altLang="ko-KR">
                <a:latin typeface="+mn-ea"/>
              </a:rPr>
              <a:t>) </a:t>
            </a:r>
            <a:r>
              <a:rPr lang="ko-KR" altLang="en-US">
                <a:latin typeface="+mn-ea"/>
              </a:rPr>
              <a:t>동작이 실행된다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Arduino IDE</a:t>
            </a:r>
            <a:r>
              <a:rPr lang="ko-KR" altLang="en-US">
                <a:latin typeface="+mn-ea"/>
              </a:rPr>
              <a:t>에서 인터럽트를 설정하려면 </a:t>
            </a:r>
            <a:r>
              <a:rPr lang="en-US" altLang="ko-KR" b="1">
                <a:latin typeface="+mn-ea"/>
              </a:rPr>
              <a:t>attachInterrupt()</a:t>
            </a:r>
            <a:r>
              <a:rPr lang="ko-KR" altLang="en-US">
                <a:latin typeface="+mn-ea"/>
              </a:rPr>
              <a:t> 함수를 사용한다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이 함수는 다음과 같은 인수를 받는다</a:t>
            </a:r>
            <a:r>
              <a:rPr lang="en-US" altLang="ko-KR">
                <a:latin typeface="+mn-ea"/>
              </a:rPr>
              <a:t>: </a:t>
            </a:r>
            <a:r>
              <a:rPr lang="en-US" altLang="ko-KR">
                <a:solidFill>
                  <a:srgbClr val="3A0DFB"/>
                </a:solidFill>
                <a:latin typeface="+mn-ea"/>
              </a:rPr>
              <a:t>GPIO </a:t>
            </a:r>
            <a:r>
              <a:rPr lang="ko-KR" altLang="en-US">
                <a:solidFill>
                  <a:srgbClr val="3A0DFB"/>
                </a:solidFill>
                <a:latin typeface="+mn-ea"/>
              </a:rPr>
              <a:t>핀</a:t>
            </a:r>
            <a:r>
              <a:rPr lang="en-US" altLang="ko-KR">
                <a:solidFill>
                  <a:srgbClr val="3A0DFB"/>
                </a:solidFill>
                <a:latin typeface="+mn-ea"/>
              </a:rPr>
              <a:t>, </a:t>
            </a:r>
            <a:r>
              <a:rPr lang="ko-KR" altLang="en-US">
                <a:solidFill>
                  <a:srgbClr val="3A0DFB"/>
                </a:solidFill>
                <a:latin typeface="+mn-ea"/>
              </a:rPr>
              <a:t>실행할 함수의 이름</a:t>
            </a:r>
            <a:r>
              <a:rPr lang="en-US" altLang="ko-KR">
                <a:latin typeface="+mn-ea"/>
              </a:rPr>
              <a:t>, </a:t>
            </a:r>
            <a:r>
              <a:rPr lang="ko-KR" altLang="en-US">
                <a:latin typeface="+mn-ea"/>
              </a:rPr>
              <a:t>그리고 </a:t>
            </a:r>
            <a:r>
              <a:rPr lang="ko-KR" altLang="en-US">
                <a:solidFill>
                  <a:srgbClr val="3A0DFB"/>
                </a:solidFill>
                <a:latin typeface="+mn-ea"/>
              </a:rPr>
              <a:t>모드</a:t>
            </a:r>
            <a:r>
              <a:rPr lang="ko-KR" altLang="en-US">
                <a:latin typeface="+mn-ea"/>
              </a:rPr>
              <a:t>이다</a:t>
            </a:r>
            <a:r>
              <a:rPr lang="en-US" altLang="ko-KR">
                <a:latin typeface="+mn-ea"/>
              </a:rPr>
              <a:t>.</a:t>
            </a:r>
          </a:p>
        </p:txBody>
      </p:sp>
      <p:sp>
        <p:nvSpPr>
          <p:cNvPr id="4" name="직사각형 3">
            <a:extLst>
              <a:ext uri="{FF2B5EF4-FFF2-40B4-BE49-F238E27FC236}">
                <a16:creationId xmlns:a16="http://schemas.microsoft.com/office/drawing/2014/main" id="{19B18EDA-D6CE-4784-9541-C8FA8D3A7A1F}"/>
              </a:ext>
            </a:extLst>
          </p:cNvPr>
          <p:cNvSpPr/>
          <p:nvPr/>
        </p:nvSpPr>
        <p:spPr>
          <a:xfrm>
            <a:off x="706245" y="3777797"/>
            <a:ext cx="8738838" cy="400110"/>
          </a:xfrm>
          <a:prstGeom prst="rect">
            <a:avLst/>
          </a:prstGeom>
          <a:solidFill>
            <a:schemeClr val="bg2"/>
          </a:solidFill>
        </p:spPr>
        <p:txBody>
          <a:bodyPr wrap="square">
            <a:spAutoFit/>
          </a:bodyPr>
          <a:lstStyle/>
          <a:p>
            <a:r>
              <a:rPr lang="fr-FR" altLang="ko-KR" sz="2000">
                <a:solidFill>
                  <a:srgbClr val="3A3A3A"/>
                </a:solidFill>
                <a:latin typeface="Consolas" panose="020B0609020204030204" pitchFamily="49" charset="0"/>
              </a:rPr>
              <a:t>attachInterrupt(digitalPinToInterrupt(GPIO), function, mode);</a:t>
            </a:r>
            <a:endParaRPr lang="ko-KR" altLang="en-US" sz="2000"/>
          </a:p>
        </p:txBody>
      </p:sp>
    </p:spTree>
    <p:extLst>
      <p:ext uri="{BB962C8B-B14F-4D97-AF65-F5344CB8AC3E}">
        <p14:creationId xmlns:p14="http://schemas.microsoft.com/office/powerpoint/2010/main" val="2463261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Interrupt </a:t>
            </a:r>
            <a:r>
              <a:rPr lang="ko-KR" altLang="en-US" b="1">
                <a:solidFill>
                  <a:schemeClr val="tx1"/>
                </a:solidFill>
              </a:rPr>
              <a:t>소개</a:t>
            </a:r>
          </a:p>
        </p:txBody>
      </p:sp>
      <p:sp>
        <p:nvSpPr>
          <p:cNvPr id="4" name="직사각형 3">
            <a:extLst>
              <a:ext uri="{FF2B5EF4-FFF2-40B4-BE49-F238E27FC236}">
                <a16:creationId xmlns:a16="http://schemas.microsoft.com/office/drawing/2014/main" id="{19B18EDA-D6CE-4784-9541-C8FA8D3A7A1F}"/>
              </a:ext>
            </a:extLst>
          </p:cNvPr>
          <p:cNvSpPr/>
          <p:nvPr/>
        </p:nvSpPr>
        <p:spPr>
          <a:xfrm>
            <a:off x="159836" y="680456"/>
            <a:ext cx="8738838" cy="400110"/>
          </a:xfrm>
          <a:prstGeom prst="rect">
            <a:avLst/>
          </a:prstGeom>
          <a:solidFill>
            <a:schemeClr val="bg2"/>
          </a:solidFill>
        </p:spPr>
        <p:txBody>
          <a:bodyPr wrap="square">
            <a:spAutoFit/>
          </a:bodyPr>
          <a:lstStyle/>
          <a:p>
            <a:r>
              <a:rPr lang="fr-FR" altLang="ko-KR" sz="2000">
                <a:solidFill>
                  <a:srgbClr val="3A3A3A"/>
                </a:solidFill>
                <a:latin typeface="Consolas" panose="020B0609020204030204" pitchFamily="49" charset="0"/>
              </a:rPr>
              <a:t>attachInterrupt(digitalPinToInterrupt(GPIO), function, mode);</a:t>
            </a:r>
            <a:endParaRPr lang="ko-KR" altLang="en-US" sz="2000"/>
          </a:p>
        </p:txBody>
      </p:sp>
      <p:sp>
        <p:nvSpPr>
          <p:cNvPr id="5" name="TextBox 4">
            <a:extLst>
              <a:ext uri="{FF2B5EF4-FFF2-40B4-BE49-F238E27FC236}">
                <a16:creationId xmlns:a16="http://schemas.microsoft.com/office/drawing/2014/main" id="{F1F8CD4E-42F7-45EF-B1F5-CA20DF906510}"/>
              </a:ext>
            </a:extLst>
          </p:cNvPr>
          <p:cNvSpPr txBox="1"/>
          <p:nvPr/>
        </p:nvSpPr>
        <p:spPr>
          <a:xfrm>
            <a:off x="159836" y="1271238"/>
            <a:ext cx="5838458" cy="2116285"/>
          </a:xfrm>
          <a:prstGeom prst="rect">
            <a:avLst/>
          </a:prstGeom>
          <a:noFill/>
        </p:spPr>
        <p:txBody>
          <a:bodyPr wrap="none" rtlCol="0">
            <a:spAutoFit/>
          </a:bodyPr>
          <a:lstStyle/>
          <a:p>
            <a:pPr marL="342900" indent="-342900">
              <a:lnSpc>
                <a:spcPct val="150000"/>
              </a:lnSpc>
              <a:buAutoNum type="arabicPeriod"/>
            </a:pPr>
            <a:r>
              <a:rPr lang="en-US" altLang="ko-KR"/>
              <a:t>digitalPinToInterrupt(27)</a:t>
            </a:r>
            <a:br>
              <a:rPr lang="en-US" altLang="ko-KR"/>
            </a:br>
            <a:r>
              <a:rPr lang="en-US" altLang="ko-KR"/>
              <a:t>   </a:t>
            </a:r>
            <a:r>
              <a:rPr lang="ko-KR" altLang="en-US"/>
              <a:t>인터럽트로 지정할 핀 번호를 입력한다</a:t>
            </a:r>
            <a:r>
              <a:rPr lang="en-US" altLang="ko-KR"/>
              <a:t>.</a:t>
            </a:r>
          </a:p>
          <a:p>
            <a:pPr marL="342900" indent="-342900">
              <a:lnSpc>
                <a:spcPct val="150000"/>
              </a:lnSpc>
              <a:buAutoNum type="arabicPeriod"/>
            </a:pPr>
            <a:r>
              <a:rPr lang="en-US" altLang="ko-KR"/>
              <a:t>function</a:t>
            </a:r>
            <a:br>
              <a:rPr lang="en-US" altLang="ko-KR"/>
            </a:br>
            <a:r>
              <a:rPr lang="ko-KR" altLang="en-US"/>
              <a:t>인터럽트가 발생하면 실행될 함수 이름을 입력한다</a:t>
            </a:r>
            <a:r>
              <a:rPr lang="en-US" altLang="ko-KR"/>
              <a:t>.</a:t>
            </a:r>
          </a:p>
          <a:p>
            <a:pPr marL="342900" indent="-342900">
              <a:lnSpc>
                <a:spcPct val="150000"/>
              </a:lnSpc>
              <a:buAutoNum type="arabicPeriod"/>
            </a:pPr>
            <a:r>
              <a:rPr lang="en-US" altLang="ko-KR"/>
              <a:t>mode</a:t>
            </a:r>
            <a:endParaRPr lang="ko-KR" altLang="en-US"/>
          </a:p>
        </p:txBody>
      </p:sp>
      <p:sp>
        <p:nvSpPr>
          <p:cNvPr id="6" name="직사각형 5">
            <a:extLst>
              <a:ext uri="{FF2B5EF4-FFF2-40B4-BE49-F238E27FC236}">
                <a16:creationId xmlns:a16="http://schemas.microsoft.com/office/drawing/2014/main" id="{B996AD6E-11E6-4E1D-B316-AD1D9DB33FAA}"/>
              </a:ext>
            </a:extLst>
          </p:cNvPr>
          <p:cNvSpPr/>
          <p:nvPr/>
        </p:nvSpPr>
        <p:spPr>
          <a:xfrm>
            <a:off x="438614" y="3387523"/>
            <a:ext cx="11314772" cy="1893339"/>
          </a:xfrm>
          <a:prstGeom prst="rect">
            <a:avLst/>
          </a:prstGeom>
        </p:spPr>
        <p:txBody>
          <a:bodyPr wrap="square">
            <a:spAutoFit/>
          </a:bodyPr>
          <a:lstStyle/>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LOW</a:t>
            </a:r>
            <a:r>
              <a:rPr lang="en-US" altLang="ko-KR" sz="1600">
                <a:solidFill>
                  <a:srgbClr val="3A3A3A"/>
                </a:solidFill>
                <a:latin typeface="Arial" panose="020B0604020202020204" pitchFamily="34" charset="0"/>
                <a:cs typeface="Arial" panose="020B0604020202020204" pitchFamily="34" charset="0"/>
              </a:rPr>
              <a:t>: to trigger the interrupt whenever the pin is LOW;</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HIGH</a:t>
            </a:r>
            <a:r>
              <a:rPr lang="en-US" altLang="ko-KR" sz="1600">
                <a:solidFill>
                  <a:srgbClr val="3A3A3A"/>
                </a:solidFill>
                <a:latin typeface="Arial" panose="020B0604020202020204" pitchFamily="34" charset="0"/>
                <a:cs typeface="Arial" panose="020B0604020202020204" pitchFamily="34" charset="0"/>
              </a:rPr>
              <a:t>: to trigger the interrupt whenever the pin is HIGH;</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CHANGE</a:t>
            </a:r>
            <a:r>
              <a:rPr lang="en-US" altLang="ko-KR" sz="1600">
                <a:solidFill>
                  <a:srgbClr val="3A3A3A"/>
                </a:solidFill>
                <a:latin typeface="Arial" panose="020B0604020202020204" pitchFamily="34" charset="0"/>
                <a:cs typeface="Arial" panose="020B0604020202020204" pitchFamily="34" charset="0"/>
              </a:rPr>
              <a:t>: to trigger the interrupt whenever the pin changes value – for example from HIGH to LOW or LOW to HIGH;</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FALLING</a:t>
            </a:r>
            <a:r>
              <a:rPr lang="en-US" altLang="ko-KR" sz="1600">
                <a:solidFill>
                  <a:srgbClr val="3A3A3A"/>
                </a:solidFill>
                <a:latin typeface="Arial" panose="020B0604020202020204" pitchFamily="34" charset="0"/>
                <a:cs typeface="Arial" panose="020B0604020202020204" pitchFamily="34" charset="0"/>
              </a:rPr>
              <a:t>: for when the pin goes from HIGH to LOW;</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RISING</a:t>
            </a:r>
            <a:r>
              <a:rPr lang="en-US" altLang="ko-KR" sz="1600">
                <a:solidFill>
                  <a:srgbClr val="3A3A3A"/>
                </a:solidFill>
                <a:latin typeface="Arial" panose="020B0604020202020204" pitchFamily="34" charset="0"/>
                <a:cs typeface="Arial" panose="020B0604020202020204" pitchFamily="34" charset="0"/>
              </a:rPr>
              <a:t>: to trigger when the pin goes from LOW to HIGH.</a:t>
            </a:r>
            <a:endParaRPr lang="en-US" altLang="ko-KR" sz="1600" b="0" i="0">
              <a:solidFill>
                <a:srgbClr val="3A3A3A"/>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342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A171E7DE-D60C-4E6C-AB9C-820AAD415A36}"/>
              </a:ext>
            </a:extLst>
          </p:cNvPr>
          <p:cNvPicPr>
            <a:picLocks noChangeAspect="1"/>
          </p:cNvPicPr>
          <p:nvPr/>
        </p:nvPicPr>
        <p:blipFill>
          <a:blip r:embed="rId2"/>
          <a:stretch>
            <a:fillRect/>
          </a:stretch>
        </p:blipFill>
        <p:spPr>
          <a:xfrm>
            <a:off x="2166389" y="1118865"/>
            <a:ext cx="7859222" cy="4620270"/>
          </a:xfrm>
          <a:prstGeom prst="rect">
            <a:avLst/>
          </a:prstGeom>
        </p:spPr>
      </p:pic>
    </p:spTree>
    <p:extLst>
      <p:ext uri="{BB962C8B-B14F-4D97-AF65-F5344CB8AC3E}">
        <p14:creationId xmlns:p14="http://schemas.microsoft.com/office/powerpoint/2010/main" val="8079327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(1/3)</a:t>
            </a:r>
            <a:endParaRPr lang="ko-KR" altLang="en-US" b="1">
              <a:solidFill>
                <a:schemeClr val="tx1"/>
              </a:solidFill>
            </a:endParaRPr>
          </a:p>
        </p:txBody>
      </p:sp>
      <p:sp>
        <p:nvSpPr>
          <p:cNvPr id="4" name="직사각형 3">
            <a:extLst>
              <a:ext uri="{FF2B5EF4-FFF2-40B4-BE49-F238E27FC236}">
                <a16:creationId xmlns:a16="http://schemas.microsoft.com/office/drawing/2014/main" id="{99475F9C-A599-437A-8B6C-48068DBE4F18}"/>
              </a:ext>
            </a:extLst>
          </p:cNvPr>
          <p:cNvSpPr/>
          <p:nvPr/>
        </p:nvSpPr>
        <p:spPr>
          <a:xfrm>
            <a:off x="446048" y="691377"/>
            <a:ext cx="5036636" cy="4524315"/>
          </a:xfrm>
          <a:prstGeom prst="rect">
            <a:avLst/>
          </a:prstGeom>
          <a:solidFill>
            <a:schemeClr val="bg2"/>
          </a:solidFill>
        </p:spPr>
        <p:txBody>
          <a:bodyPr wrap="square">
            <a:spAutoFit/>
          </a:bodyPr>
          <a:lstStyle/>
          <a:p>
            <a:r>
              <a:rPr lang="ko-KR" altLang="en-US" sz="1600" dirty="0">
                <a:latin typeface="Consolas" panose="020B0609020204030204" pitchFamily="49" charset="0"/>
              </a:rPr>
              <a:t>#define </a:t>
            </a:r>
            <a:r>
              <a:rPr lang="ko-KR" altLang="en-US" sz="1600" dirty="0" err="1">
                <a:latin typeface="Consolas" panose="020B0609020204030204" pitchFamily="49" charset="0"/>
              </a:rPr>
              <a:t>timeSeconds</a:t>
            </a:r>
            <a:r>
              <a:rPr lang="ko-KR" altLang="en-US" sz="1600" dirty="0">
                <a:latin typeface="Consolas" panose="020B0609020204030204" pitchFamily="49" charset="0"/>
              </a:rPr>
              <a:t> 10</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GPIOs</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LED and PIR </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Sensor</a:t>
            </a:r>
            <a:endParaRPr lang="ko-KR" altLang="en-US" sz="1600" dirty="0">
              <a:latin typeface="Consolas" panose="020B0609020204030204" pitchFamily="49" charset="0"/>
            </a:endParaRP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led</a:t>
            </a:r>
            <a:r>
              <a:rPr lang="ko-KR" altLang="en-US" sz="1600" dirty="0">
                <a:latin typeface="Consolas" panose="020B0609020204030204" pitchFamily="49" charset="0"/>
              </a:rPr>
              <a:t> = 26;</a:t>
            </a: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motionSensor</a:t>
            </a:r>
            <a:r>
              <a:rPr lang="ko-KR" altLang="en-US" sz="1600" dirty="0">
                <a:latin typeface="Consolas" panose="020B0609020204030204" pitchFamily="49" charset="0"/>
              </a:rPr>
              <a:t> = 27;</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Timer</a:t>
            </a:r>
            <a:r>
              <a:rPr lang="ko-KR" altLang="en-US" sz="1600" dirty="0">
                <a:latin typeface="Consolas" panose="020B0609020204030204" pitchFamily="49" charset="0"/>
              </a:rPr>
              <a:t>: </a:t>
            </a:r>
            <a:r>
              <a:rPr lang="ko-KR" altLang="en-US" sz="1600" dirty="0" err="1">
                <a:latin typeface="Consolas" panose="020B0609020204030204" pitchFamily="49" charset="0"/>
              </a:rPr>
              <a:t>Auxiliary</a:t>
            </a:r>
            <a:r>
              <a:rPr lang="ko-KR" altLang="en-US" sz="1600" dirty="0">
                <a:latin typeface="Consolas" panose="020B0609020204030204" pitchFamily="49" charset="0"/>
              </a:rPr>
              <a:t> </a:t>
            </a:r>
            <a:r>
              <a:rPr lang="ko-KR" altLang="en-US" sz="1600" dirty="0" err="1">
                <a:latin typeface="Consolas" panose="020B0609020204030204" pitchFamily="49" charset="0"/>
              </a:rPr>
              <a:t>variables</a:t>
            </a:r>
            <a:endParaRPr lang="ko-KR" altLang="en-US" sz="1600" dirty="0">
              <a:latin typeface="Consolas" panose="020B0609020204030204" pitchFamily="49" charset="0"/>
            </a:endParaRPr>
          </a:p>
          <a:p>
            <a:r>
              <a:rPr lang="ko-KR" altLang="en-US" sz="1600" dirty="0" err="1">
                <a:latin typeface="Consolas" panose="020B0609020204030204" pitchFamily="49" charset="0"/>
              </a:rPr>
              <a:t>unsigned</a:t>
            </a:r>
            <a:r>
              <a:rPr lang="ko-KR" altLang="en-US" sz="1600" dirty="0">
                <a:latin typeface="Consolas" panose="020B0609020204030204" pitchFamily="49" charset="0"/>
              </a:rPr>
              <a:t> </a:t>
            </a:r>
            <a:r>
              <a:rPr lang="ko-KR" altLang="en-US" sz="1600" dirty="0" err="1">
                <a:latin typeface="Consolas" panose="020B0609020204030204" pitchFamily="49" charset="0"/>
              </a:rPr>
              <a:t>long</a:t>
            </a:r>
            <a:r>
              <a:rPr lang="ko-KR" altLang="en-US" sz="1600" dirty="0">
                <a:latin typeface="Consolas" panose="020B0609020204030204" pitchFamily="49" charset="0"/>
              </a:rPr>
              <a:t>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err="1">
                <a:latin typeface="Consolas" panose="020B0609020204030204" pitchFamily="49" charset="0"/>
              </a:rPr>
              <a:t>unsigned</a:t>
            </a:r>
            <a:r>
              <a:rPr lang="ko-KR" altLang="en-US" sz="1600" dirty="0">
                <a:latin typeface="Consolas" panose="020B0609020204030204" pitchFamily="49" charset="0"/>
              </a:rPr>
              <a:t> </a:t>
            </a:r>
            <a:r>
              <a:rPr lang="ko-KR" altLang="en-US" sz="1600" dirty="0" err="1">
                <a:latin typeface="Consolas" panose="020B0609020204030204" pitchFamily="49" charset="0"/>
              </a:rPr>
              <a:t>long</a:t>
            </a:r>
            <a:r>
              <a:rPr lang="ko-KR" altLang="en-US" sz="1600" dirty="0">
                <a:latin typeface="Consolas" panose="020B0609020204030204" pitchFamily="49" charset="0"/>
              </a:rPr>
              <a:t> </a:t>
            </a:r>
            <a:r>
              <a:rPr lang="ko-KR" altLang="en-US" sz="1600" dirty="0" err="1">
                <a:latin typeface="Consolas" panose="020B0609020204030204" pitchFamily="49" charset="0"/>
              </a:rPr>
              <a:t>lastTrigger</a:t>
            </a:r>
            <a:r>
              <a:rPr lang="ko-KR" altLang="en-US" sz="1600" dirty="0">
                <a:latin typeface="Consolas" panose="020B0609020204030204" pitchFamily="49" charset="0"/>
              </a:rPr>
              <a:t> = 0;</a:t>
            </a:r>
          </a:p>
          <a:p>
            <a:r>
              <a:rPr lang="ko-KR" altLang="en-US" sz="1600" dirty="0" err="1">
                <a:latin typeface="Consolas" panose="020B0609020204030204" pitchFamily="49" charset="0"/>
              </a:rPr>
              <a:t>boolean</a:t>
            </a:r>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err="1">
                <a:latin typeface="Consolas" panose="020B0609020204030204" pitchFamily="49" charset="0"/>
              </a:rPr>
              <a:t>boolean</a:t>
            </a:r>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IRAM_ATTR </a:t>
            </a:r>
            <a:r>
              <a:rPr lang="ko-KR" altLang="en-US" sz="1600" dirty="0" err="1">
                <a:latin typeface="Consolas" panose="020B0609020204030204" pitchFamily="49" charset="0"/>
              </a:rPr>
              <a:t>detectsMovement</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HIGH);</a:t>
            </a:r>
          </a:p>
          <a:p>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true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lastTrigger</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p:txBody>
      </p:sp>
    </p:spTree>
    <p:extLst>
      <p:ext uri="{BB962C8B-B14F-4D97-AF65-F5344CB8AC3E}">
        <p14:creationId xmlns:p14="http://schemas.microsoft.com/office/powerpoint/2010/main" val="41753863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(2/3)</a:t>
            </a:r>
            <a:endParaRPr lang="ko-KR" altLang="en-US" b="1">
              <a:solidFill>
                <a:schemeClr val="tx1"/>
              </a:solidFill>
            </a:endParaRPr>
          </a:p>
        </p:txBody>
      </p:sp>
      <p:sp>
        <p:nvSpPr>
          <p:cNvPr id="3" name="직사각형 2">
            <a:extLst>
              <a:ext uri="{FF2B5EF4-FFF2-40B4-BE49-F238E27FC236}">
                <a16:creationId xmlns:a16="http://schemas.microsoft.com/office/drawing/2014/main" id="{5A697516-EFFF-40C2-8BFE-D29028691173}"/>
              </a:ext>
            </a:extLst>
          </p:cNvPr>
          <p:cNvSpPr/>
          <p:nvPr/>
        </p:nvSpPr>
        <p:spPr>
          <a:xfrm>
            <a:off x="499946" y="748027"/>
            <a:ext cx="11192107" cy="3293209"/>
          </a:xfrm>
          <a:prstGeom prst="rect">
            <a:avLst/>
          </a:prstGeom>
          <a:solidFill>
            <a:schemeClr val="bg2"/>
          </a:solidFill>
        </p:spPr>
        <p:txBody>
          <a:bodyPr wrap="square">
            <a:spAutoFit/>
          </a:bodyPr>
          <a:lstStyle/>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Serial</a:t>
            </a:r>
            <a:r>
              <a:rPr lang="ko-KR" altLang="en-US" sz="1600" dirty="0">
                <a:latin typeface="Consolas" panose="020B0609020204030204" pitchFamily="49" charset="0"/>
              </a:rPr>
              <a:t> </a:t>
            </a:r>
            <a:r>
              <a:rPr lang="ko-KR" altLang="en-US" sz="1600" dirty="0" err="1">
                <a:latin typeface="Consolas" panose="020B0609020204030204" pitchFamily="49" charset="0"/>
              </a:rPr>
              <a:t>port</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a:t>
            </a:r>
            <a:r>
              <a:rPr lang="ko-KR" altLang="en-US" sz="1600" dirty="0" err="1">
                <a:latin typeface="Consolas" panose="020B0609020204030204" pitchFamily="49" charset="0"/>
              </a:rPr>
              <a:t>debugging</a:t>
            </a:r>
            <a:r>
              <a:rPr lang="ko-KR" altLang="en-US" sz="1600" dirty="0">
                <a:latin typeface="Consolas" panose="020B0609020204030204" pitchFamily="49" charset="0"/>
              </a:rPr>
              <a:t> </a:t>
            </a:r>
            <a:r>
              <a:rPr lang="ko-KR" altLang="en-US" sz="1600" dirty="0" err="1">
                <a:latin typeface="Consolas" panose="020B0609020204030204" pitchFamily="49" charset="0"/>
              </a:rPr>
              <a:t>purposes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Serial.begin</a:t>
            </a:r>
            <a:r>
              <a:rPr lang="ko-KR" altLang="en-US" sz="1600" dirty="0">
                <a:latin typeface="Consolas" panose="020B0609020204030204" pitchFamily="49" charset="0"/>
              </a:rPr>
              <a:t>(115200);</a:t>
            </a:r>
          </a:p>
          <a:p>
            <a:r>
              <a:rPr lang="ko-KR" altLang="en-US" sz="1600" dirty="0">
                <a:latin typeface="Consolas" panose="020B0609020204030204" pitchFamily="49" charset="0"/>
              </a:rPr>
              <a:t>  </a:t>
            </a:r>
          </a:p>
          <a:p>
            <a:r>
              <a:rPr lang="ko-KR" altLang="en-US" sz="1600" dirty="0">
                <a:latin typeface="Consolas" panose="020B0609020204030204" pitchFamily="49" charset="0"/>
              </a:rPr>
              <a:t>  // PIR </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Sensor</a:t>
            </a:r>
            <a:r>
              <a:rPr lang="ko-KR" altLang="en-US" sz="1600" dirty="0">
                <a:latin typeface="Consolas" panose="020B0609020204030204" pitchFamily="49" charset="0"/>
              </a:rPr>
              <a:t> </a:t>
            </a:r>
            <a:r>
              <a:rPr lang="ko-KR" altLang="en-US" sz="1600" dirty="0" err="1">
                <a:latin typeface="Consolas" panose="020B0609020204030204" pitchFamily="49" charset="0"/>
              </a:rPr>
              <a:t>mode</a:t>
            </a:r>
            <a:r>
              <a:rPr lang="ko-KR" altLang="en-US" sz="1600" dirty="0">
                <a:latin typeface="Consolas" panose="020B0609020204030204" pitchFamily="49" charset="0"/>
              </a:rPr>
              <a:t> INPUT_PULLUP</a:t>
            </a: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motionSensor</a:t>
            </a:r>
            <a:r>
              <a:rPr lang="ko-KR" altLang="en-US" sz="1600" dirty="0">
                <a:latin typeface="Consolas" panose="020B0609020204030204" pitchFamily="49" charset="0"/>
              </a:rPr>
              <a:t>, INPUT_PULLUP);</a:t>
            </a: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motionSensor</a:t>
            </a:r>
            <a:r>
              <a:rPr lang="ko-KR" altLang="en-US" sz="1600" dirty="0">
                <a:latin typeface="Consolas" panose="020B0609020204030204" pitchFamily="49" charset="0"/>
              </a:rPr>
              <a:t> </a:t>
            </a:r>
            <a:r>
              <a:rPr lang="ko-KR" altLang="en-US" sz="1600" dirty="0" err="1">
                <a:latin typeface="Consolas" panose="020B0609020204030204" pitchFamily="49" charset="0"/>
              </a:rPr>
              <a:t>pin</a:t>
            </a:r>
            <a:r>
              <a:rPr lang="ko-KR" altLang="en-US" sz="1600" dirty="0">
                <a:latin typeface="Consolas" panose="020B0609020204030204" pitchFamily="49" charset="0"/>
              </a:rPr>
              <a:t> </a:t>
            </a:r>
            <a:r>
              <a:rPr lang="ko-KR" altLang="en-US" sz="1600" dirty="0" err="1">
                <a:latin typeface="Consolas" panose="020B0609020204030204" pitchFamily="49" charset="0"/>
              </a:rPr>
              <a:t>as</a:t>
            </a:r>
            <a:r>
              <a:rPr lang="ko-KR" altLang="en-US" sz="1600" dirty="0">
                <a:latin typeface="Consolas" panose="020B0609020204030204" pitchFamily="49" charset="0"/>
              </a:rPr>
              <a:t> </a:t>
            </a:r>
            <a:r>
              <a:rPr lang="ko-KR" altLang="en-US" sz="1600" dirty="0" err="1">
                <a:latin typeface="Consolas" panose="020B0609020204030204" pitchFamily="49" charset="0"/>
              </a:rPr>
              <a:t>interrupt</a:t>
            </a:r>
            <a:r>
              <a:rPr lang="ko-KR" altLang="en-US" sz="1600" dirty="0">
                <a:latin typeface="Consolas" panose="020B0609020204030204" pitchFamily="49" charset="0"/>
              </a:rPr>
              <a:t>, </a:t>
            </a:r>
            <a:r>
              <a:rPr lang="ko-KR" altLang="en-US" sz="1600" dirty="0" err="1">
                <a:latin typeface="Consolas" panose="020B0609020204030204" pitchFamily="49" charset="0"/>
              </a:rPr>
              <a:t>assign</a:t>
            </a:r>
            <a:r>
              <a:rPr lang="ko-KR" altLang="en-US" sz="1600" dirty="0">
                <a:latin typeface="Consolas" panose="020B0609020204030204" pitchFamily="49" charset="0"/>
              </a:rPr>
              <a:t> </a:t>
            </a:r>
            <a:r>
              <a:rPr lang="ko-KR" altLang="en-US" sz="1600" dirty="0" err="1">
                <a:latin typeface="Consolas" panose="020B0609020204030204" pitchFamily="49" charset="0"/>
              </a:rPr>
              <a:t>interrupt</a:t>
            </a:r>
            <a:r>
              <a:rPr lang="ko-KR" altLang="en-US" sz="1600" dirty="0">
                <a:latin typeface="Consolas" panose="020B0609020204030204" pitchFamily="49" charset="0"/>
              </a:rPr>
              <a:t> </a:t>
            </a:r>
            <a:r>
              <a:rPr lang="ko-KR" altLang="en-US" sz="1600" dirty="0" err="1">
                <a:latin typeface="Consolas" panose="020B0609020204030204" pitchFamily="49" charset="0"/>
              </a:rPr>
              <a:t>function</a:t>
            </a:r>
            <a:r>
              <a:rPr lang="ko-KR" altLang="en-US" sz="1600" dirty="0">
                <a:latin typeface="Consolas" panose="020B0609020204030204" pitchFamily="49" charset="0"/>
              </a:rPr>
              <a:t> and </a:t>
            </a:r>
            <a:r>
              <a:rPr lang="ko-KR" altLang="en-US" sz="1600" dirty="0" err="1">
                <a:latin typeface="Consolas" panose="020B0609020204030204" pitchFamily="49" charset="0"/>
              </a:rPr>
              <a:t>set</a:t>
            </a:r>
            <a:r>
              <a:rPr lang="ko-KR" altLang="en-US" sz="1600" dirty="0">
                <a:latin typeface="Consolas" panose="020B0609020204030204" pitchFamily="49" charset="0"/>
              </a:rPr>
              <a:t> RISING </a:t>
            </a:r>
            <a:r>
              <a:rPr lang="ko-KR" altLang="en-US" sz="1600" dirty="0" err="1">
                <a:latin typeface="Consolas" panose="020B0609020204030204" pitchFamily="49" charset="0"/>
              </a:rPr>
              <a:t>mode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attachInterrupt</a:t>
            </a:r>
            <a:r>
              <a:rPr lang="ko-KR" altLang="en-US" sz="1600" dirty="0">
                <a:latin typeface="Consolas" panose="020B0609020204030204" pitchFamily="49" charset="0"/>
              </a:rPr>
              <a:t>(</a:t>
            </a:r>
            <a:r>
              <a:rPr lang="ko-KR" altLang="en-US" sz="1600" dirty="0" err="1">
                <a:latin typeface="Consolas" panose="020B0609020204030204" pitchFamily="49" charset="0"/>
              </a:rPr>
              <a:t>digitalPinToInterrupt</a:t>
            </a:r>
            <a:r>
              <a:rPr lang="ko-KR" altLang="en-US" sz="1600" dirty="0">
                <a:latin typeface="Consolas" panose="020B0609020204030204" pitchFamily="49" charset="0"/>
              </a:rPr>
              <a:t>(</a:t>
            </a:r>
            <a:r>
              <a:rPr lang="ko-KR" altLang="en-US" sz="1600" dirty="0" err="1">
                <a:latin typeface="Consolas" panose="020B0609020204030204" pitchFamily="49" charset="0"/>
              </a:rPr>
              <a:t>motionSensor</a:t>
            </a:r>
            <a:r>
              <a:rPr lang="ko-KR" altLang="en-US" sz="1600" dirty="0">
                <a:latin typeface="Consolas" panose="020B0609020204030204" pitchFamily="49" charset="0"/>
              </a:rPr>
              <a:t>), </a:t>
            </a:r>
            <a:r>
              <a:rPr lang="ko-KR" altLang="en-US" sz="1600" dirty="0" err="1">
                <a:latin typeface="Consolas" panose="020B0609020204030204" pitchFamily="49" charset="0"/>
              </a:rPr>
              <a:t>detectsMovement</a:t>
            </a:r>
            <a:r>
              <a:rPr lang="ko-KR" altLang="en-US" sz="1600" dirty="0">
                <a:latin typeface="Consolas" panose="020B0609020204030204" pitchFamily="49" charset="0"/>
              </a:rPr>
              <a:t>, RISING);</a:t>
            </a:r>
          </a:p>
          <a:p>
            <a:endParaRPr lang="ko-KR" altLang="en-US" sz="1600" dirty="0">
              <a:latin typeface="Consolas" panose="020B0609020204030204" pitchFamily="49" charset="0"/>
            </a:endParaRP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LED </a:t>
            </a:r>
            <a:r>
              <a:rPr lang="ko-KR" altLang="en-US" sz="1600" dirty="0" err="1">
                <a:latin typeface="Consolas" panose="020B0609020204030204" pitchFamily="49" charset="0"/>
              </a:rPr>
              <a:t>to</a:t>
            </a:r>
            <a:r>
              <a:rPr lang="ko-KR" altLang="en-US" sz="1600" dirty="0">
                <a:latin typeface="Consolas" panose="020B0609020204030204" pitchFamily="49" charset="0"/>
              </a:rPr>
              <a:t> LOW</a:t>
            </a: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OUTPUT);</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LOW);</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17951930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(3/3)</a:t>
            </a:r>
            <a:endParaRPr lang="ko-KR" altLang="en-US" b="1">
              <a:solidFill>
                <a:schemeClr val="tx1"/>
              </a:solidFill>
            </a:endParaRPr>
          </a:p>
        </p:txBody>
      </p:sp>
      <p:sp>
        <p:nvSpPr>
          <p:cNvPr id="5" name="직사각형 4">
            <a:extLst>
              <a:ext uri="{FF2B5EF4-FFF2-40B4-BE49-F238E27FC236}">
                <a16:creationId xmlns:a16="http://schemas.microsoft.com/office/drawing/2014/main" id="{DBE5AD56-EE72-4D3E-A55E-73E7738A3782}"/>
              </a:ext>
            </a:extLst>
          </p:cNvPr>
          <p:cNvSpPr/>
          <p:nvPr/>
        </p:nvSpPr>
        <p:spPr>
          <a:xfrm>
            <a:off x="501805" y="642800"/>
            <a:ext cx="10493297" cy="4031873"/>
          </a:xfrm>
          <a:prstGeom prst="rect">
            <a:avLst/>
          </a:prstGeom>
          <a:solidFill>
            <a:schemeClr val="bg2"/>
          </a:solidFill>
        </p:spPr>
        <p:txBody>
          <a:bodyPr wrap="square">
            <a:spAutoFit/>
          </a:bodyPr>
          <a:lstStyle/>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Current</a:t>
            </a:r>
            <a:r>
              <a:rPr lang="ko-KR" altLang="en-US" sz="1600" dirty="0">
                <a:latin typeface="Consolas" panose="020B0609020204030204" pitchFamily="49" charset="0"/>
              </a:rPr>
              <a:t> </a:t>
            </a:r>
            <a:r>
              <a:rPr lang="ko-KR" altLang="en-US" sz="1600" dirty="0" err="1">
                <a:latin typeface="Consolas" panose="020B0609020204030204" pitchFamily="49" charset="0"/>
              </a:rPr>
              <a:t>time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if</a:t>
            </a:r>
            <a:r>
              <a:rPr lang="ko-KR" altLang="en-US" sz="1600" dirty="0">
                <a:latin typeface="Consolas" panose="020B0609020204030204" pitchFamily="49" charset="0"/>
              </a:rPr>
              <a:t>((</a:t>
            </a:r>
            <a:r>
              <a:rPr lang="ko-KR" altLang="en-US" sz="1600" dirty="0" err="1">
                <a:latin typeface="Consolas" panose="020B0609020204030204" pitchFamily="49" charset="0"/>
              </a:rPr>
              <a:t>digitalRead</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 HIGH) &amp;&amp;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("MOTION DETECTED!!!");</a:t>
            </a:r>
          </a:p>
          <a:p>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true</a:t>
            </a:r>
            <a:r>
              <a:rPr lang="ko-KR" altLang="en-US" sz="1600" dirty="0">
                <a:latin typeface="Consolas" panose="020B0609020204030204" pitchFamily="49" charset="0"/>
              </a:rPr>
              <a:t>;</a:t>
            </a:r>
          </a:p>
          <a:p>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Turn</a:t>
            </a:r>
            <a:r>
              <a:rPr lang="ko-KR" altLang="en-US" sz="1600" dirty="0">
                <a:latin typeface="Consolas" panose="020B0609020204030204" pitchFamily="49" charset="0"/>
              </a:rPr>
              <a:t> </a:t>
            </a:r>
            <a:r>
              <a:rPr lang="ko-KR" altLang="en-US" sz="1600" dirty="0" err="1">
                <a:latin typeface="Consolas" panose="020B0609020204030204" pitchFamily="49" charset="0"/>
              </a:rPr>
              <a:t>off</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after</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number</a:t>
            </a:r>
            <a:r>
              <a:rPr lang="ko-KR" altLang="en-US" sz="1600" dirty="0">
                <a:latin typeface="Consolas" panose="020B0609020204030204" pitchFamily="49" charset="0"/>
              </a:rPr>
              <a:t> of </a:t>
            </a:r>
            <a:r>
              <a:rPr lang="ko-KR" altLang="en-US" sz="1600" dirty="0" err="1">
                <a:latin typeface="Consolas" panose="020B0609020204030204" pitchFamily="49" charset="0"/>
              </a:rPr>
              <a:t>seconds</a:t>
            </a:r>
            <a:r>
              <a:rPr lang="ko-KR" altLang="en-US" sz="1600" dirty="0">
                <a:latin typeface="Consolas" panose="020B0609020204030204" pitchFamily="49" charset="0"/>
              </a:rPr>
              <a:t> </a:t>
            </a:r>
            <a:r>
              <a:rPr lang="ko-KR" altLang="en-US" sz="1600" dirty="0" err="1">
                <a:latin typeface="Consolas" panose="020B0609020204030204" pitchFamily="49" charset="0"/>
              </a:rPr>
              <a:t>defined</a:t>
            </a:r>
            <a:r>
              <a:rPr lang="ko-KR" altLang="en-US" sz="1600" dirty="0">
                <a:latin typeface="Consolas" panose="020B0609020204030204" pitchFamily="49" charset="0"/>
              </a:rPr>
              <a:t> </a:t>
            </a:r>
            <a:r>
              <a:rPr lang="ko-KR" altLang="en-US" sz="1600" dirty="0" err="1">
                <a:latin typeface="Consolas" panose="020B0609020204030204" pitchFamily="49" charset="0"/>
              </a:rPr>
              <a:t>in</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timeSeconds</a:t>
            </a:r>
            <a:r>
              <a:rPr lang="ko-KR" altLang="en-US" sz="1600" dirty="0">
                <a:latin typeface="Consolas" panose="020B0609020204030204" pitchFamily="49" charset="0"/>
              </a:rPr>
              <a:t> </a:t>
            </a:r>
            <a:r>
              <a:rPr lang="ko-KR" altLang="en-US" sz="1600" dirty="0" err="1">
                <a:latin typeface="Consolas" panose="020B0609020204030204" pitchFamily="49" charset="0"/>
              </a:rPr>
              <a:t>variable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if</a:t>
            </a:r>
            <a:r>
              <a:rPr lang="ko-KR" altLang="en-US" sz="1600" dirty="0">
                <a:latin typeface="Consolas" panose="020B0609020204030204" pitchFamily="49" charset="0"/>
              </a:rPr>
              <a:t>(</a:t>
            </a:r>
            <a:r>
              <a:rPr lang="ko-KR" altLang="en-US" sz="1600" dirty="0" err="1">
                <a:latin typeface="Consolas" panose="020B0609020204030204" pitchFamily="49" charset="0"/>
              </a:rPr>
              <a:t>startTimer</a:t>
            </a:r>
            <a:r>
              <a:rPr lang="ko-KR" altLang="en-US" sz="1600" dirty="0">
                <a:latin typeface="Consolas" panose="020B0609020204030204" pitchFamily="49" charset="0"/>
              </a:rPr>
              <a:t> &amp;&amp;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lastTrigger</a:t>
            </a:r>
            <a:r>
              <a:rPr lang="ko-KR" altLang="en-US" sz="1600" dirty="0">
                <a:latin typeface="Consolas" panose="020B0609020204030204" pitchFamily="49" charset="0"/>
              </a:rPr>
              <a:t> &gt; (</a:t>
            </a:r>
            <a:r>
              <a:rPr lang="ko-KR" altLang="en-US" sz="1600" dirty="0" err="1">
                <a:latin typeface="Consolas" panose="020B0609020204030204" pitchFamily="49" charset="0"/>
              </a:rPr>
              <a:t>timeSeconds</a:t>
            </a:r>
            <a:r>
              <a:rPr lang="ko-KR" altLang="en-US" sz="1600" dirty="0">
                <a:latin typeface="Consolas" panose="020B0609020204030204" pitchFamily="49" charset="0"/>
              </a:rPr>
              <a:t>*1000))) {</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stopped</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LOW);</a:t>
            </a:r>
          </a:p>
          <a:p>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a:latin typeface="Consolas" panose="020B0609020204030204" pitchFamily="49" charset="0"/>
              </a:rPr>
              <a:t>  }</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2758269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Deep Sleep</a:t>
            </a:r>
            <a:endParaRPr lang="ko-KR" altLang="en-US" sz="5400" b="1">
              <a:solidFill>
                <a:schemeClr val="tx1"/>
              </a:solidFill>
            </a:endParaRPr>
          </a:p>
        </p:txBody>
      </p:sp>
      <p:sp>
        <p:nvSpPr>
          <p:cNvPr id="3" name="직사각형 2">
            <a:extLst>
              <a:ext uri="{FF2B5EF4-FFF2-40B4-BE49-F238E27FC236}">
                <a16:creationId xmlns:a16="http://schemas.microsoft.com/office/drawing/2014/main" id="{D7A6F6B5-043D-4E91-860D-1324C624EE2F}"/>
              </a:ext>
            </a:extLst>
          </p:cNvPr>
          <p:cNvSpPr/>
          <p:nvPr/>
        </p:nvSpPr>
        <p:spPr>
          <a:xfrm>
            <a:off x="2077843" y="2878125"/>
            <a:ext cx="803631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a:t>
            </a:r>
            <a:r>
              <a:rPr lang="ko-KR" altLang="en-US"/>
              <a:t>를 </a:t>
            </a:r>
            <a:r>
              <a:rPr lang="en-US" altLang="ko-KR"/>
              <a:t>Deep Sleep </a:t>
            </a:r>
            <a:r>
              <a:rPr lang="ko-KR" altLang="en-US"/>
              <a:t>모드로 전환하는 방법과 이를 깨우는 다양한 모드</a:t>
            </a:r>
            <a:br>
              <a:rPr lang="en-US" altLang="ko-KR"/>
            </a:br>
            <a:r>
              <a:rPr lang="en-US" altLang="ko-KR"/>
              <a:t>(</a:t>
            </a:r>
            <a:r>
              <a:rPr lang="ko-KR" altLang="en-US"/>
              <a:t>타이머 웨이크업</a:t>
            </a:r>
            <a:r>
              <a:rPr lang="en-US" altLang="ko-KR"/>
              <a:t>, </a:t>
            </a:r>
            <a:r>
              <a:rPr lang="ko-KR" altLang="en-US"/>
              <a:t>터치 웨이크업</a:t>
            </a:r>
            <a:r>
              <a:rPr lang="en-US" altLang="ko-KR"/>
              <a:t>, </a:t>
            </a:r>
            <a:r>
              <a:rPr lang="ko-KR" altLang="en-US"/>
              <a:t>외부 웨이크업</a:t>
            </a:r>
            <a:r>
              <a:rPr lang="en-US" altLang="ko-KR"/>
              <a:t>)</a:t>
            </a:r>
            <a:r>
              <a:rPr lang="ko-KR" altLang="en-US"/>
              <a:t>를 살펴보자</a:t>
            </a:r>
            <a:r>
              <a:rPr lang="en-US" altLang="ko-KR"/>
              <a:t>. </a:t>
            </a:r>
            <a:endParaRPr lang="ko-KR" altLang="en-US"/>
          </a:p>
        </p:txBody>
      </p:sp>
      <p:sp>
        <p:nvSpPr>
          <p:cNvPr id="4" name="TextBox 3">
            <a:extLst>
              <a:ext uri="{FF2B5EF4-FFF2-40B4-BE49-F238E27FC236}">
                <a16:creationId xmlns:a16="http://schemas.microsoft.com/office/drawing/2014/main" id="{453FD34B-ABA7-4CFC-A7C0-20C9F84090D9}"/>
              </a:ext>
            </a:extLst>
          </p:cNvPr>
          <p:cNvSpPr txBox="1"/>
          <p:nvPr/>
        </p:nvSpPr>
        <p:spPr>
          <a:xfrm>
            <a:off x="0" y="6488668"/>
            <a:ext cx="8984062" cy="369332"/>
          </a:xfrm>
          <a:prstGeom prst="rect">
            <a:avLst/>
          </a:prstGeom>
          <a:noFill/>
        </p:spPr>
        <p:txBody>
          <a:bodyPr wrap="none" rtlCol="0">
            <a:spAutoFit/>
          </a:bodyPr>
          <a:lstStyle/>
          <a:p>
            <a:r>
              <a:rPr lang="en-US" altLang="ko-KR">
                <a:hlinkClick r:id="rId2"/>
              </a:rPr>
              <a:t>ESP32 Deep Sleep with Arduino IDE and Wake Up Sources | Random Nerd Tutorials</a:t>
            </a:r>
            <a:endParaRPr lang="ko-KR" altLang="en-US"/>
          </a:p>
        </p:txBody>
      </p:sp>
    </p:spTree>
    <p:extLst>
      <p:ext uri="{BB962C8B-B14F-4D97-AF65-F5344CB8AC3E}">
        <p14:creationId xmlns:p14="http://schemas.microsoft.com/office/powerpoint/2010/main" val="22901465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소개</a:t>
            </a:r>
          </a:p>
        </p:txBody>
      </p:sp>
      <p:sp>
        <p:nvSpPr>
          <p:cNvPr id="3" name="TextBox 2">
            <a:extLst>
              <a:ext uri="{FF2B5EF4-FFF2-40B4-BE49-F238E27FC236}">
                <a16:creationId xmlns:a16="http://schemas.microsoft.com/office/drawing/2014/main" id="{8258EF2A-6CC4-4A8B-95A3-3F99CAFA4E2D}"/>
              </a:ext>
            </a:extLst>
          </p:cNvPr>
          <p:cNvSpPr txBox="1"/>
          <p:nvPr/>
        </p:nvSpPr>
        <p:spPr>
          <a:xfrm>
            <a:off x="223024" y="737322"/>
            <a:ext cx="4891083" cy="253178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ESP32</a:t>
            </a:r>
            <a:r>
              <a:rPr lang="ko-KR" altLang="en-US"/>
              <a:t>는 다음과 같은 </a:t>
            </a:r>
            <a:r>
              <a:rPr lang="en-US" altLang="ko-KR"/>
              <a:t>Sleep mode</a:t>
            </a:r>
            <a:r>
              <a:rPr lang="ko-KR" altLang="en-US"/>
              <a:t>가 있다</a:t>
            </a:r>
            <a:r>
              <a:rPr lang="en-US" altLang="ko-KR"/>
              <a:t>. </a:t>
            </a:r>
            <a:br>
              <a:rPr lang="en-US" altLang="ko-KR"/>
            </a:br>
            <a:r>
              <a:rPr lang="ko-KR" altLang="en-US"/>
              <a:t> </a:t>
            </a:r>
            <a:r>
              <a:rPr lang="en-US" altLang="ko-KR"/>
              <a:t>- Active mode</a:t>
            </a:r>
            <a:br>
              <a:rPr lang="en-US" altLang="ko-KR"/>
            </a:br>
            <a:r>
              <a:rPr lang="en-US" altLang="ko-KR"/>
              <a:t>- Modem Sleep mode</a:t>
            </a:r>
            <a:br>
              <a:rPr lang="en-US" altLang="ko-KR"/>
            </a:br>
            <a:r>
              <a:rPr lang="en-US" altLang="ko-KR"/>
              <a:t>- Light Sleep mode</a:t>
            </a:r>
            <a:br>
              <a:rPr lang="en-US" altLang="ko-KR"/>
            </a:br>
            <a:r>
              <a:rPr lang="en-US" altLang="ko-KR"/>
              <a:t>- Deep Sleep mode</a:t>
            </a:r>
            <a:br>
              <a:rPr lang="en-US" altLang="ko-KR"/>
            </a:br>
            <a:r>
              <a:rPr lang="en-US" altLang="ko-KR"/>
              <a:t>- Hibernation mode</a:t>
            </a:r>
            <a:endParaRPr lang="ko-KR" altLang="en-US"/>
          </a:p>
        </p:txBody>
      </p:sp>
      <p:pic>
        <p:nvPicPr>
          <p:cNvPr id="4" name="그림 3">
            <a:extLst>
              <a:ext uri="{FF2B5EF4-FFF2-40B4-BE49-F238E27FC236}">
                <a16:creationId xmlns:a16="http://schemas.microsoft.com/office/drawing/2014/main" id="{180E4490-B540-419D-AC67-C987EB4FB7BE}"/>
              </a:ext>
            </a:extLst>
          </p:cNvPr>
          <p:cNvPicPr>
            <a:picLocks noChangeAspect="1"/>
          </p:cNvPicPr>
          <p:nvPr/>
        </p:nvPicPr>
        <p:blipFill>
          <a:blip r:embed="rId2"/>
          <a:stretch>
            <a:fillRect/>
          </a:stretch>
        </p:blipFill>
        <p:spPr>
          <a:xfrm>
            <a:off x="609516" y="3269105"/>
            <a:ext cx="10157521" cy="2752554"/>
          </a:xfrm>
          <a:prstGeom prst="rect">
            <a:avLst/>
          </a:prstGeom>
        </p:spPr>
      </p:pic>
    </p:spTree>
    <p:extLst>
      <p:ext uri="{BB962C8B-B14F-4D97-AF65-F5344CB8AC3E}">
        <p14:creationId xmlns:p14="http://schemas.microsoft.com/office/powerpoint/2010/main" val="1348867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소모 전류</a:t>
            </a:r>
          </a:p>
        </p:txBody>
      </p:sp>
      <p:pic>
        <p:nvPicPr>
          <p:cNvPr id="5" name="그림 4">
            <a:extLst>
              <a:ext uri="{FF2B5EF4-FFF2-40B4-BE49-F238E27FC236}">
                <a16:creationId xmlns:a16="http://schemas.microsoft.com/office/drawing/2014/main" id="{E0B88761-E175-42DC-9781-A160D3A80E6F}"/>
              </a:ext>
            </a:extLst>
          </p:cNvPr>
          <p:cNvPicPr>
            <a:picLocks noChangeAspect="1"/>
          </p:cNvPicPr>
          <p:nvPr/>
        </p:nvPicPr>
        <p:blipFill>
          <a:blip r:embed="rId2"/>
          <a:stretch>
            <a:fillRect/>
          </a:stretch>
        </p:blipFill>
        <p:spPr>
          <a:xfrm>
            <a:off x="612897" y="713343"/>
            <a:ext cx="11051310" cy="4505428"/>
          </a:xfrm>
          <a:prstGeom prst="rect">
            <a:avLst/>
          </a:prstGeom>
        </p:spPr>
      </p:pic>
    </p:spTree>
    <p:extLst>
      <p:ext uri="{BB962C8B-B14F-4D97-AF65-F5344CB8AC3E}">
        <p14:creationId xmlns:p14="http://schemas.microsoft.com/office/powerpoint/2010/main" val="18080701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RF </a:t>
            </a:r>
            <a:r>
              <a:rPr lang="ko-KR" altLang="en-US" b="1">
                <a:solidFill>
                  <a:schemeClr val="tx1"/>
                </a:solidFill>
              </a:rPr>
              <a:t>동작시 소모 전류</a:t>
            </a:r>
          </a:p>
        </p:txBody>
      </p:sp>
      <p:pic>
        <p:nvPicPr>
          <p:cNvPr id="3" name="그림 2">
            <a:extLst>
              <a:ext uri="{FF2B5EF4-FFF2-40B4-BE49-F238E27FC236}">
                <a16:creationId xmlns:a16="http://schemas.microsoft.com/office/drawing/2014/main" id="{0C06A987-B039-4B32-80B4-EBDB16576D22}"/>
              </a:ext>
            </a:extLst>
          </p:cNvPr>
          <p:cNvPicPr>
            <a:picLocks noChangeAspect="1"/>
          </p:cNvPicPr>
          <p:nvPr/>
        </p:nvPicPr>
        <p:blipFill>
          <a:blip r:embed="rId2"/>
          <a:stretch>
            <a:fillRect/>
          </a:stretch>
        </p:blipFill>
        <p:spPr>
          <a:xfrm>
            <a:off x="394078" y="669757"/>
            <a:ext cx="11534960" cy="2887481"/>
          </a:xfrm>
          <a:prstGeom prst="rect">
            <a:avLst/>
          </a:prstGeom>
        </p:spPr>
      </p:pic>
    </p:spTree>
    <p:extLst>
      <p:ext uri="{BB962C8B-B14F-4D97-AF65-F5344CB8AC3E}">
        <p14:creationId xmlns:p14="http://schemas.microsoft.com/office/powerpoint/2010/main" val="12451551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소개</a:t>
            </a:r>
          </a:p>
        </p:txBody>
      </p:sp>
      <p:sp>
        <p:nvSpPr>
          <p:cNvPr id="3" name="직사각형 2">
            <a:extLst>
              <a:ext uri="{FF2B5EF4-FFF2-40B4-BE49-F238E27FC236}">
                <a16:creationId xmlns:a16="http://schemas.microsoft.com/office/drawing/2014/main" id="{64534A53-B75C-4C2E-861A-B46BBFECAE52}"/>
              </a:ext>
            </a:extLst>
          </p:cNvPr>
          <p:cNvSpPr/>
          <p:nvPr/>
        </p:nvSpPr>
        <p:spPr>
          <a:xfrm>
            <a:off x="215589" y="653887"/>
            <a:ext cx="11582401" cy="377827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ESP32</a:t>
            </a:r>
            <a:r>
              <a:rPr lang="ko-KR" altLang="en-US">
                <a:latin typeface="+mn-ea"/>
              </a:rPr>
              <a:t>를 딥 슬립 모드로 설정하면 전력 소비가 줄어들고 배터리 수명이 길어진다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ESP32</a:t>
            </a:r>
            <a:r>
              <a:rPr lang="ko-KR" altLang="en-US">
                <a:latin typeface="+mn-ea"/>
              </a:rPr>
              <a:t>가 딥 슬립 모드에 있을 때는 작동 중에 더 많은 전력을 소비하는 활동을 중단하고</a:t>
            </a:r>
            <a:r>
              <a:rPr lang="en-US" altLang="ko-KR">
                <a:latin typeface="+mn-ea"/>
              </a:rPr>
              <a:t>, </a:t>
            </a:r>
            <a:br>
              <a:rPr lang="en-US" altLang="ko-KR">
                <a:latin typeface="+mn-ea"/>
              </a:rPr>
            </a:br>
            <a:r>
              <a:rPr lang="ko-KR" altLang="en-US">
                <a:latin typeface="+mn-ea"/>
              </a:rPr>
              <a:t>중요한 일이 발생했을 때 프로세서를 깨우기 위해 필요한 최소한의 활동만 남겨둔다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딥 슬립 모드에서는 </a:t>
            </a:r>
            <a:r>
              <a:rPr lang="en-US" altLang="ko-KR">
                <a:latin typeface="+mn-ea"/>
              </a:rPr>
              <a:t>CPU</a:t>
            </a:r>
            <a:r>
              <a:rPr lang="ko-KR" altLang="en-US">
                <a:latin typeface="+mn-ea"/>
              </a:rPr>
              <a:t>나 </a:t>
            </a:r>
            <a:r>
              <a:rPr lang="en-US" altLang="ko-KR">
                <a:latin typeface="+mn-ea"/>
              </a:rPr>
              <a:t>Wi-Fi </a:t>
            </a:r>
            <a:r>
              <a:rPr lang="ko-KR" altLang="en-US">
                <a:latin typeface="+mn-ea"/>
              </a:rPr>
              <a:t>활동이 이루어지지 않지만</a:t>
            </a:r>
            <a:r>
              <a:rPr lang="en-US" altLang="ko-KR">
                <a:latin typeface="+mn-ea"/>
              </a:rPr>
              <a:t>, </a:t>
            </a:r>
            <a:br>
              <a:rPr lang="en-US" altLang="ko-KR">
                <a:latin typeface="+mn-ea"/>
              </a:rPr>
            </a:br>
            <a:r>
              <a:rPr lang="ko-KR" altLang="en-US" b="1">
                <a:latin typeface="+mn-ea"/>
              </a:rPr>
              <a:t>초저전력</a:t>
            </a:r>
            <a:r>
              <a:rPr lang="en-US" altLang="ko-KR" b="1">
                <a:latin typeface="+mn-ea"/>
              </a:rPr>
              <a:t>(ULP) </a:t>
            </a:r>
            <a:r>
              <a:rPr lang="ko-KR" altLang="en-US" b="1">
                <a:latin typeface="+mn-ea"/>
              </a:rPr>
              <a:t>보조 프로세서</a:t>
            </a:r>
            <a:r>
              <a:rPr lang="ko-KR" altLang="en-US">
                <a:latin typeface="+mn-ea"/>
              </a:rPr>
              <a:t>는 여전히 작동할 수 있다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ESP32</a:t>
            </a:r>
            <a:r>
              <a:rPr lang="ko-KR" altLang="en-US">
                <a:latin typeface="+mn-ea"/>
              </a:rPr>
              <a:t>가 딥 슬립 모드에 있을 때</a:t>
            </a:r>
            <a:r>
              <a:rPr lang="en-US" altLang="ko-KR">
                <a:latin typeface="+mn-ea"/>
              </a:rPr>
              <a:t>, </a:t>
            </a:r>
            <a:r>
              <a:rPr lang="en-US" altLang="ko-KR" b="1">
                <a:latin typeface="+mn-ea"/>
              </a:rPr>
              <a:t>RTC </a:t>
            </a:r>
            <a:r>
              <a:rPr lang="ko-KR" altLang="en-US" b="1">
                <a:latin typeface="+mn-ea"/>
              </a:rPr>
              <a:t>메모리</a:t>
            </a:r>
            <a:r>
              <a:rPr lang="ko-KR" altLang="en-US">
                <a:latin typeface="+mn-ea"/>
              </a:rPr>
              <a:t>도 전원이 공급되므로 </a:t>
            </a:r>
            <a:r>
              <a:rPr lang="en-US" altLang="ko-KR">
                <a:latin typeface="+mn-ea"/>
              </a:rPr>
              <a:t>ULP </a:t>
            </a:r>
            <a:r>
              <a:rPr lang="ko-KR" altLang="en-US">
                <a:latin typeface="+mn-ea"/>
              </a:rPr>
              <a:t>보조 프로세서를 위한 프로그램을 작성하여 </a:t>
            </a:r>
            <a:r>
              <a:rPr lang="en-US" altLang="ko-KR">
                <a:latin typeface="+mn-ea"/>
              </a:rPr>
              <a:t>RTC </a:t>
            </a:r>
            <a:r>
              <a:rPr lang="ko-KR" altLang="en-US">
                <a:latin typeface="+mn-ea"/>
              </a:rPr>
              <a:t>메모리에 저장하고</a:t>
            </a:r>
            <a:r>
              <a:rPr lang="en-US" altLang="ko-KR">
                <a:latin typeface="+mn-ea"/>
              </a:rPr>
              <a:t>, </a:t>
            </a:r>
            <a:r>
              <a:rPr lang="ko-KR" altLang="en-US">
                <a:latin typeface="+mn-ea"/>
              </a:rPr>
              <a:t>이를 통해 주변 장치</a:t>
            </a:r>
            <a:r>
              <a:rPr lang="en-US" altLang="ko-KR">
                <a:latin typeface="+mn-ea"/>
              </a:rPr>
              <a:t>, </a:t>
            </a:r>
            <a:r>
              <a:rPr lang="ko-KR" altLang="en-US">
                <a:latin typeface="+mn-ea"/>
              </a:rPr>
              <a:t>내부 타이머</a:t>
            </a:r>
            <a:r>
              <a:rPr lang="en-US" altLang="ko-KR">
                <a:latin typeface="+mn-ea"/>
              </a:rPr>
              <a:t>, </a:t>
            </a:r>
            <a:r>
              <a:rPr lang="ko-KR" altLang="en-US">
                <a:latin typeface="+mn-ea"/>
              </a:rPr>
              <a:t>내부 센서에 접근할 수 있다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이 운영 모드는 외부 이벤트나 타이머 또는 둘 다에 의해 메인 </a:t>
            </a:r>
            <a:r>
              <a:rPr lang="en-US" altLang="ko-KR">
                <a:latin typeface="+mn-ea"/>
              </a:rPr>
              <a:t>CPU</a:t>
            </a:r>
            <a:r>
              <a:rPr lang="ko-KR" altLang="en-US">
                <a:latin typeface="+mn-ea"/>
              </a:rPr>
              <a:t>를 깨워야 하며</a:t>
            </a:r>
            <a:r>
              <a:rPr lang="en-US" altLang="ko-KR">
                <a:latin typeface="+mn-ea"/>
              </a:rPr>
              <a:t>, </a:t>
            </a:r>
            <a:br>
              <a:rPr lang="en-US" altLang="ko-KR">
                <a:latin typeface="+mn-ea"/>
              </a:rPr>
            </a:br>
            <a:r>
              <a:rPr lang="ko-KR" altLang="en-US">
                <a:latin typeface="+mn-ea"/>
              </a:rPr>
              <a:t>최소한의 전력 소비를 유지해야 하는 경우에 유용하다</a:t>
            </a:r>
            <a:r>
              <a:rPr lang="en-US" altLang="ko-KR">
                <a:latin typeface="+mn-ea"/>
              </a:rPr>
              <a:t>.</a:t>
            </a:r>
          </a:p>
        </p:txBody>
      </p:sp>
    </p:spTree>
    <p:extLst>
      <p:ext uri="{BB962C8B-B14F-4D97-AF65-F5344CB8AC3E}">
        <p14:creationId xmlns:p14="http://schemas.microsoft.com/office/powerpoint/2010/main" val="31663351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RTC_GPIO Pins</a:t>
            </a:r>
            <a:endParaRPr lang="ko-KR" altLang="en-US" b="1">
              <a:solidFill>
                <a:schemeClr val="tx1"/>
              </a:solidFill>
            </a:endParaRPr>
          </a:p>
        </p:txBody>
      </p:sp>
      <p:sp>
        <p:nvSpPr>
          <p:cNvPr id="3" name="직사각형 2">
            <a:extLst>
              <a:ext uri="{FF2B5EF4-FFF2-40B4-BE49-F238E27FC236}">
                <a16:creationId xmlns:a16="http://schemas.microsoft.com/office/drawing/2014/main" id="{2F3BBAC0-A7CD-4BF2-A64E-3F49B6BE7DFB}"/>
              </a:ext>
            </a:extLst>
          </p:cNvPr>
          <p:cNvSpPr/>
          <p:nvPr/>
        </p:nvSpPr>
        <p:spPr>
          <a:xfrm>
            <a:off x="282497" y="669062"/>
            <a:ext cx="11682761"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딥 슬립 모드 중에는 일부 </a:t>
            </a:r>
            <a:r>
              <a:rPr lang="en-US" altLang="ko-KR"/>
              <a:t>ESP32 </a:t>
            </a:r>
            <a:r>
              <a:rPr lang="ko-KR" altLang="en-US"/>
              <a:t>핀을 </a:t>
            </a:r>
            <a:r>
              <a:rPr lang="en-US" altLang="ko-KR"/>
              <a:t>ULP </a:t>
            </a:r>
            <a:r>
              <a:rPr lang="ko-KR" altLang="en-US"/>
              <a:t>보조 프로세서가 사용할 수 있다</a:t>
            </a:r>
            <a:r>
              <a:rPr lang="en-US" altLang="ko-KR"/>
              <a:t>. </a:t>
            </a:r>
            <a:br>
              <a:rPr lang="en-US" altLang="ko-KR"/>
            </a:br>
            <a:r>
              <a:rPr lang="ko-KR" altLang="en-US"/>
              <a:t>특히 </a:t>
            </a:r>
            <a:r>
              <a:rPr lang="en-US" altLang="ko-KR" b="1"/>
              <a:t>RTC_GPIO </a:t>
            </a:r>
            <a:r>
              <a:rPr lang="ko-KR" altLang="en-US" b="1"/>
              <a:t>핀</a:t>
            </a:r>
            <a:r>
              <a:rPr lang="ko-KR" altLang="en-US"/>
              <a:t>과 </a:t>
            </a:r>
            <a:r>
              <a:rPr lang="ko-KR" altLang="en-US" b="1"/>
              <a:t>터치 핀</a:t>
            </a:r>
            <a:r>
              <a:rPr lang="ko-KR" altLang="en-US"/>
              <a:t>이 해당된다</a:t>
            </a:r>
            <a:r>
              <a:rPr lang="en-US" altLang="ko-KR"/>
              <a:t>. </a:t>
            </a:r>
          </a:p>
          <a:p>
            <a:pPr marL="285750" indent="-285750">
              <a:lnSpc>
                <a:spcPct val="150000"/>
              </a:lnSpc>
              <a:buFont typeface="Arial" panose="020B0604020202020204" pitchFamily="34" charset="0"/>
              <a:buChar char="•"/>
            </a:pPr>
            <a:r>
              <a:rPr lang="en-US" altLang="ko-KR"/>
              <a:t>ESP32 </a:t>
            </a:r>
            <a:r>
              <a:rPr lang="ko-KR" altLang="en-US"/>
              <a:t>데이터시트에는 </a:t>
            </a:r>
            <a:r>
              <a:rPr lang="en-US" altLang="ko-KR"/>
              <a:t>RTC_GPIO </a:t>
            </a:r>
            <a:r>
              <a:rPr lang="ko-KR" altLang="en-US"/>
              <a:t>핀을 식별할 수 있는 표가 제공된다</a:t>
            </a:r>
            <a:r>
              <a:rPr lang="en-US" altLang="ko-KR"/>
              <a:t>.</a:t>
            </a:r>
          </a:p>
          <a:p>
            <a:pPr marL="285750" indent="-285750">
              <a:lnSpc>
                <a:spcPct val="150000"/>
              </a:lnSpc>
              <a:buFont typeface="Arial" panose="020B0604020202020204" pitchFamily="34" charset="0"/>
              <a:buChar char="•"/>
            </a:pPr>
            <a:r>
              <a:rPr lang="ko-KR" altLang="en-US"/>
              <a:t>그 표를 참고하거나</a:t>
            </a:r>
            <a:r>
              <a:rPr lang="en-US" altLang="ko-KR"/>
              <a:t>, </a:t>
            </a:r>
            <a:r>
              <a:rPr lang="ko-KR" altLang="en-US"/>
              <a:t>아래의 핀 배치를 살펴보고 다양한 </a:t>
            </a:r>
            <a:r>
              <a:rPr lang="en-US" altLang="ko-KR"/>
              <a:t>RTC_GPIO </a:t>
            </a:r>
            <a:r>
              <a:rPr lang="ko-KR" altLang="en-US"/>
              <a:t>핀을 찾을 수 있다</a:t>
            </a:r>
            <a:r>
              <a:rPr lang="en-US" altLang="ko-KR"/>
              <a:t>. </a:t>
            </a:r>
          </a:p>
        </p:txBody>
      </p:sp>
      <p:pic>
        <p:nvPicPr>
          <p:cNvPr id="5" name="그림 4">
            <a:extLst>
              <a:ext uri="{FF2B5EF4-FFF2-40B4-BE49-F238E27FC236}">
                <a16:creationId xmlns:a16="http://schemas.microsoft.com/office/drawing/2014/main" id="{007F78F5-47CF-4B1B-A22B-EADA9D661307}"/>
              </a:ext>
            </a:extLst>
          </p:cNvPr>
          <p:cNvPicPr>
            <a:picLocks noChangeAspect="1"/>
          </p:cNvPicPr>
          <p:nvPr/>
        </p:nvPicPr>
        <p:blipFill>
          <a:blip r:embed="rId2"/>
          <a:stretch>
            <a:fillRect/>
          </a:stretch>
        </p:blipFill>
        <p:spPr>
          <a:xfrm>
            <a:off x="605154" y="2481129"/>
            <a:ext cx="11360104" cy="2454573"/>
          </a:xfrm>
          <a:prstGeom prst="rect">
            <a:avLst/>
          </a:prstGeom>
        </p:spPr>
      </p:pic>
    </p:spTree>
    <p:extLst>
      <p:ext uri="{BB962C8B-B14F-4D97-AF65-F5344CB8AC3E}">
        <p14:creationId xmlns:p14="http://schemas.microsoft.com/office/powerpoint/2010/main" val="28027690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RTC_GPIO Pins</a:t>
            </a:r>
            <a:endParaRPr lang="ko-KR" altLang="en-US" b="1">
              <a:solidFill>
                <a:schemeClr val="tx1"/>
              </a:solidFill>
            </a:endParaRPr>
          </a:p>
        </p:txBody>
      </p:sp>
      <p:pic>
        <p:nvPicPr>
          <p:cNvPr id="4" name="그림 3">
            <a:extLst>
              <a:ext uri="{FF2B5EF4-FFF2-40B4-BE49-F238E27FC236}">
                <a16:creationId xmlns:a16="http://schemas.microsoft.com/office/drawing/2014/main" id="{2E114114-D20B-4E54-89D6-B760851E3F7E}"/>
              </a:ext>
            </a:extLst>
          </p:cNvPr>
          <p:cNvPicPr>
            <a:picLocks noChangeAspect="1"/>
          </p:cNvPicPr>
          <p:nvPr/>
        </p:nvPicPr>
        <p:blipFill>
          <a:blip r:embed="rId2"/>
          <a:stretch>
            <a:fillRect/>
          </a:stretch>
        </p:blipFill>
        <p:spPr>
          <a:xfrm>
            <a:off x="1099233" y="785171"/>
            <a:ext cx="9516728" cy="4986037"/>
          </a:xfrm>
          <a:prstGeom prst="rect">
            <a:avLst/>
          </a:prstGeom>
        </p:spPr>
      </p:pic>
    </p:spTree>
    <p:extLst>
      <p:ext uri="{BB962C8B-B14F-4D97-AF65-F5344CB8AC3E}">
        <p14:creationId xmlns:p14="http://schemas.microsoft.com/office/powerpoint/2010/main" val="39751687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Wake</a:t>
            </a:r>
            <a:r>
              <a:rPr lang="ko-KR" altLang="en-US" b="1">
                <a:solidFill>
                  <a:schemeClr val="tx1"/>
                </a:solidFill>
              </a:rPr>
              <a:t> </a:t>
            </a:r>
            <a:r>
              <a:rPr lang="en-US" altLang="ko-KR" b="1">
                <a:solidFill>
                  <a:schemeClr val="tx1"/>
                </a:solidFill>
              </a:rPr>
              <a:t>Up</a:t>
            </a:r>
            <a:r>
              <a:rPr lang="ko-KR" altLang="en-US" b="1">
                <a:solidFill>
                  <a:schemeClr val="tx1"/>
                </a:solidFill>
              </a:rPr>
              <a:t> </a:t>
            </a:r>
            <a:r>
              <a:rPr lang="en-US" altLang="ko-KR" b="1">
                <a:solidFill>
                  <a:schemeClr val="tx1"/>
                </a:solidFill>
              </a:rPr>
              <a:t>Sources</a:t>
            </a:r>
            <a:endParaRPr lang="ko-KR" altLang="en-US" b="1">
              <a:solidFill>
                <a:schemeClr val="tx1"/>
              </a:solidFill>
            </a:endParaRPr>
          </a:p>
        </p:txBody>
      </p:sp>
      <p:sp>
        <p:nvSpPr>
          <p:cNvPr id="3" name="직사각형 2">
            <a:extLst>
              <a:ext uri="{FF2B5EF4-FFF2-40B4-BE49-F238E27FC236}">
                <a16:creationId xmlns:a16="http://schemas.microsoft.com/office/drawing/2014/main" id="{1F9ABD21-2984-4A7E-9DDE-16E2E3123FBC}"/>
              </a:ext>
            </a:extLst>
          </p:cNvPr>
          <p:cNvSpPr/>
          <p:nvPr/>
        </p:nvSpPr>
        <p:spPr>
          <a:xfrm>
            <a:off x="527823" y="535259"/>
            <a:ext cx="10969083" cy="3362780"/>
          </a:xfrm>
          <a:prstGeom prst="rect">
            <a:avLst/>
          </a:prstGeom>
        </p:spPr>
        <p:txBody>
          <a:bodyPr wrap="square">
            <a:spAutoFit/>
          </a:bodyPr>
          <a:lstStyle/>
          <a:p>
            <a:pPr>
              <a:lnSpc>
                <a:spcPct val="150000"/>
              </a:lnSpc>
            </a:pPr>
            <a:endParaRPr lang="ko-KR" altLang="en-US"/>
          </a:p>
          <a:p>
            <a:pPr>
              <a:lnSpc>
                <a:spcPct val="150000"/>
              </a:lnSpc>
            </a:pPr>
            <a:r>
              <a:rPr lang="en-US" altLang="ko-KR"/>
              <a:t>ESP32</a:t>
            </a:r>
            <a:r>
              <a:rPr lang="ko-KR" altLang="en-US"/>
              <a:t>를 딥 슬립 모드로 설정한 후</a:t>
            </a:r>
            <a:r>
              <a:rPr lang="en-US" altLang="ko-KR"/>
              <a:t>, </a:t>
            </a:r>
            <a:r>
              <a:rPr lang="ko-KR" altLang="en-US"/>
              <a:t>이를 깨울 수 있는 여러 가지 방법이 있다</a:t>
            </a:r>
            <a:r>
              <a:rPr lang="en-US" altLang="ko-KR"/>
              <a:t>.</a:t>
            </a:r>
            <a:br>
              <a:rPr lang="en-US" altLang="ko-KR"/>
            </a:br>
            <a:endParaRPr lang="en-US" altLang="ko-KR"/>
          </a:p>
          <a:p>
            <a:pPr>
              <a:lnSpc>
                <a:spcPct val="150000"/>
              </a:lnSpc>
            </a:pPr>
            <a:r>
              <a:rPr lang="en-US" altLang="ko-KR" b="1"/>
              <a:t>1. </a:t>
            </a:r>
            <a:r>
              <a:rPr lang="ko-KR" altLang="en-US" b="1"/>
              <a:t>타이머</a:t>
            </a:r>
            <a:r>
              <a:rPr lang="ko-KR" altLang="en-US"/>
              <a:t>를 사용하여 미리 정의된 시간 동안 </a:t>
            </a:r>
            <a:r>
              <a:rPr lang="en-US" altLang="ko-KR"/>
              <a:t>ESP32</a:t>
            </a:r>
            <a:r>
              <a:rPr lang="ko-KR" altLang="en-US"/>
              <a:t>를 깨울 수 있다</a:t>
            </a:r>
            <a:r>
              <a:rPr lang="en-US" altLang="ko-KR"/>
              <a:t>.</a:t>
            </a:r>
          </a:p>
          <a:p>
            <a:pPr>
              <a:lnSpc>
                <a:spcPct val="150000"/>
              </a:lnSpc>
            </a:pPr>
            <a:r>
              <a:rPr lang="en-US" altLang="ko-KR" b="1"/>
              <a:t>2. </a:t>
            </a:r>
            <a:r>
              <a:rPr lang="ko-KR" altLang="en-US" b="1"/>
              <a:t>터치 핀</a:t>
            </a:r>
            <a:r>
              <a:rPr lang="ko-KR" altLang="en-US"/>
              <a:t>을 사용할 수 있습니다</a:t>
            </a:r>
            <a:r>
              <a:rPr lang="en-US" altLang="ko-KR"/>
              <a:t>.</a:t>
            </a:r>
          </a:p>
          <a:p>
            <a:pPr>
              <a:lnSpc>
                <a:spcPct val="150000"/>
              </a:lnSpc>
            </a:pPr>
            <a:r>
              <a:rPr lang="en-US" altLang="ko-KR" b="1"/>
              <a:t>3. </a:t>
            </a:r>
            <a:r>
              <a:rPr lang="ko-KR" altLang="en-US" b="1"/>
              <a:t>외부 웨이크업 사용</a:t>
            </a:r>
            <a:br>
              <a:rPr lang="en-US" altLang="ko-KR" b="1"/>
            </a:br>
            <a:r>
              <a:rPr lang="en-US" altLang="ko-KR"/>
              <a:t> </a:t>
            </a:r>
            <a:r>
              <a:rPr lang="ko-KR" altLang="en-US"/>
              <a:t>하나의 외부 웨이크업 소스를 사용하거나 여러 외부 웨이크업 소스를 사용할 수 있다</a:t>
            </a:r>
            <a:r>
              <a:rPr lang="en-US" altLang="ko-KR"/>
              <a:t>.</a:t>
            </a:r>
          </a:p>
          <a:p>
            <a:pPr>
              <a:lnSpc>
                <a:spcPct val="150000"/>
              </a:lnSpc>
            </a:pPr>
            <a:r>
              <a:rPr lang="en-US" altLang="ko-KR" b="1"/>
              <a:t>4. ULP </a:t>
            </a:r>
            <a:r>
              <a:rPr lang="ko-KR" altLang="en-US" b="1"/>
              <a:t>보조 프로세서</a:t>
            </a:r>
            <a:r>
              <a:rPr lang="ko-KR" altLang="en-US"/>
              <a:t>를 사용하여 깨울 수도 있다</a:t>
            </a:r>
            <a:r>
              <a:rPr lang="en-US" altLang="ko-KR"/>
              <a:t>. </a:t>
            </a:r>
          </a:p>
        </p:txBody>
      </p:sp>
    </p:spTree>
    <p:extLst>
      <p:ext uri="{BB962C8B-B14F-4D97-AF65-F5344CB8AC3E}">
        <p14:creationId xmlns:p14="http://schemas.microsoft.com/office/powerpoint/2010/main" val="2096973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Writing a Deep Sleep Sketch</a:t>
            </a:r>
            <a:endParaRPr lang="ko-KR" altLang="en-US" b="1">
              <a:solidFill>
                <a:schemeClr val="tx1"/>
              </a:solidFill>
            </a:endParaRPr>
          </a:p>
        </p:txBody>
      </p:sp>
      <p:sp>
        <p:nvSpPr>
          <p:cNvPr id="3" name="TextBox 2">
            <a:extLst>
              <a:ext uri="{FF2B5EF4-FFF2-40B4-BE49-F238E27FC236}">
                <a16:creationId xmlns:a16="http://schemas.microsoft.com/office/drawing/2014/main" id="{AE35018E-5075-4175-BF7D-D2DC3F8B4D86}"/>
              </a:ext>
            </a:extLst>
          </p:cNvPr>
          <p:cNvSpPr txBox="1"/>
          <p:nvPr/>
        </p:nvSpPr>
        <p:spPr>
          <a:xfrm>
            <a:off x="178419" y="669074"/>
            <a:ext cx="11554766" cy="3362780"/>
          </a:xfrm>
          <a:prstGeom prst="rect">
            <a:avLst/>
          </a:prstGeom>
          <a:noFill/>
        </p:spPr>
        <p:txBody>
          <a:bodyPr wrap="none" rtlCol="0">
            <a:spAutoFit/>
          </a:bodyPr>
          <a:lstStyle/>
          <a:p>
            <a:pPr>
              <a:lnSpc>
                <a:spcPct val="150000"/>
              </a:lnSpc>
            </a:pPr>
            <a:r>
              <a:rPr lang="en-US" altLang="ko-KR"/>
              <a:t>ESP32</a:t>
            </a:r>
            <a:r>
              <a:rPr lang="ko-KR" altLang="en-US"/>
              <a:t>를 딥 슬립 모드로 전환한 후 깨우는 스케치를 작성하려면 다음 사항을 염두에 두어야 한다</a:t>
            </a:r>
            <a:r>
              <a:rPr lang="en-US" altLang="ko-KR"/>
              <a:t>,</a:t>
            </a:r>
            <a:br>
              <a:rPr lang="en-US" altLang="ko-KR"/>
            </a:br>
            <a:endParaRPr lang="en-US" altLang="ko-KR"/>
          </a:p>
          <a:p>
            <a:pPr>
              <a:lnSpc>
                <a:spcPct val="150000"/>
              </a:lnSpc>
            </a:pPr>
            <a:r>
              <a:rPr lang="en-US" altLang="ko-KR" b="1"/>
              <a:t>1. </a:t>
            </a:r>
            <a:r>
              <a:rPr lang="ko-KR" altLang="en-US" b="1"/>
              <a:t>웨이크업 소스를 설정</a:t>
            </a:r>
            <a:r>
              <a:rPr lang="ko-KR" altLang="en-US"/>
              <a:t>해야 한다</a:t>
            </a:r>
            <a:r>
              <a:rPr lang="en-US" altLang="ko-KR"/>
              <a:t>. </a:t>
            </a:r>
            <a:r>
              <a:rPr lang="ko-KR" altLang="en-US"/>
              <a:t>이는 </a:t>
            </a:r>
            <a:r>
              <a:rPr lang="en-US" altLang="ko-KR"/>
              <a:t>ESP32</a:t>
            </a:r>
            <a:r>
              <a:rPr lang="ko-KR" altLang="en-US"/>
              <a:t>를 깨우는 방법을 설정하는 것이다</a:t>
            </a:r>
            <a:r>
              <a:rPr lang="en-US" altLang="ko-KR"/>
              <a:t>. </a:t>
            </a:r>
            <a:br>
              <a:rPr lang="en-US" altLang="ko-KR"/>
            </a:br>
            <a:r>
              <a:rPr lang="en-US" altLang="ko-KR"/>
              <a:t>   </a:t>
            </a:r>
            <a:r>
              <a:rPr lang="ko-KR" altLang="en-US"/>
              <a:t>하나의 웨이크업 소스를 사용할 수도 있고</a:t>
            </a:r>
            <a:r>
              <a:rPr lang="en-US" altLang="ko-KR"/>
              <a:t>, </a:t>
            </a:r>
            <a:r>
              <a:rPr lang="ko-KR" altLang="en-US"/>
              <a:t>여러 개의 웨이크업 소스를 조합할 수도 있다</a:t>
            </a:r>
            <a:r>
              <a:rPr lang="en-US" altLang="ko-KR"/>
              <a:t>.</a:t>
            </a:r>
          </a:p>
          <a:p>
            <a:pPr>
              <a:lnSpc>
                <a:spcPct val="150000"/>
              </a:lnSpc>
            </a:pPr>
            <a:r>
              <a:rPr lang="en-US" altLang="ko-KR"/>
              <a:t>2. </a:t>
            </a:r>
            <a:r>
              <a:rPr lang="ko-KR" altLang="en-US"/>
              <a:t>딥 슬립 모드 동안 어떤 주변 장치를 끌지 또는 켤지를 결정할 수 있다</a:t>
            </a:r>
            <a:r>
              <a:rPr lang="en-US" altLang="ko-KR"/>
              <a:t>. </a:t>
            </a:r>
            <a:br>
              <a:rPr lang="en-US" altLang="ko-KR"/>
            </a:br>
            <a:r>
              <a:rPr lang="en-US" altLang="ko-KR"/>
              <a:t>   </a:t>
            </a:r>
            <a:r>
              <a:rPr lang="ko-KR" altLang="en-US"/>
              <a:t>그러나 기본적으로 </a:t>
            </a:r>
            <a:r>
              <a:rPr lang="en-US" altLang="ko-KR"/>
              <a:t>ESP32</a:t>
            </a:r>
            <a:r>
              <a:rPr lang="ko-KR" altLang="en-US"/>
              <a:t>는 정의한 웨이크업 소스에 필요하지 않은 주변 장치는 자동으로 전원을 차단한다</a:t>
            </a:r>
            <a:r>
              <a:rPr lang="en-US" altLang="ko-KR"/>
              <a:t>.</a:t>
            </a:r>
            <a:br>
              <a:rPr lang="en-US" altLang="ko-KR"/>
            </a:br>
            <a:r>
              <a:rPr lang="en-US" altLang="ko-KR"/>
              <a:t>3. </a:t>
            </a:r>
            <a:r>
              <a:rPr lang="ko-KR" altLang="en-US"/>
              <a:t>마지막으로 </a:t>
            </a:r>
            <a:r>
              <a:rPr lang="en-US" altLang="ko-KR" b="1"/>
              <a:t>esp_deep_sleep_start()</a:t>
            </a:r>
            <a:r>
              <a:rPr lang="ko-KR" altLang="en-US"/>
              <a:t> 함수를 사용하여 </a:t>
            </a:r>
            <a:r>
              <a:rPr lang="en-US" altLang="ko-KR"/>
              <a:t>ESP32</a:t>
            </a:r>
            <a:r>
              <a:rPr lang="ko-KR" altLang="en-US"/>
              <a:t>를 딥 슬립 모드로 전환한다</a:t>
            </a:r>
            <a:r>
              <a:rPr lang="en-US" altLang="ko-KR"/>
              <a:t>.</a:t>
            </a:r>
          </a:p>
          <a:p>
            <a:pPr>
              <a:lnSpc>
                <a:spcPct val="150000"/>
              </a:lnSpc>
            </a:pPr>
            <a:endParaRPr lang="ko-KR" altLang="en-US"/>
          </a:p>
        </p:txBody>
      </p:sp>
    </p:spTree>
    <p:extLst>
      <p:ext uri="{BB962C8B-B14F-4D97-AF65-F5344CB8AC3E}">
        <p14:creationId xmlns:p14="http://schemas.microsoft.com/office/powerpoint/2010/main" val="4392351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Timer Wake Up</a:t>
            </a:r>
            <a:endParaRPr lang="ko-KR" altLang="en-US" b="1">
              <a:solidFill>
                <a:schemeClr val="tx1"/>
              </a:solidFill>
            </a:endParaRPr>
          </a:p>
        </p:txBody>
      </p:sp>
      <p:sp>
        <p:nvSpPr>
          <p:cNvPr id="3" name="직사각형 2">
            <a:extLst>
              <a:ext uri="{FF2B5EF4-FFF2-40B4-BE49-F238E27FC236}">
                <a16:creationId xmlns:a16="http://schemas.microsoft.com/office/drawing/2014/main" id="{D2D1E019-C74C-4546-A64E-C42EF7C0AB36}"/>
              </a:ext>
            </a:extLst>
          </p:cNvPr>
          <p:cNvSpPr/>
          <p:nvPr/>
        </p:nvSpPr>
        <p:spPr>
          <a:xfrm>
            <a:off x="416311" y="743558"/>
            <a:ext cx="11615855" cy="128528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a:t>
            </a:r>
            <a:r>
              <a:rPr lang="ko-KR" altLang="en-US"/>
              <a:t>는 딥 슬립 모드로 들어갔다가 미리 정의된 시간 간격으로 깨어날 수 있다</a:t>
            </a:r>
            <a:r>
              <a:rPr lang="en-US" altLang="ko-KR"/>
              <a:t>. </a:t>
            </a:r>
          </a:p>
          <a:p>
            <a:pPr marL="285750" indent="-285750">
              <a:lnSpc>
                <a:spcPct val="150000"/>
              </a:lnSpc>
              <a:buFont typeface="Arial" panose="020B0604020202020204" pitchFamily="34" charset="0"/>
              <a:buChar char="•"/>
            </a:pPr>
            <a:r>
              <a:rPr lang="ko-KR" altLang="en-US"/>
              <a:t>이 기능은 낮은 전력 소비를 유지하면서 시간 스탬핑이나 일일 작업이 필요한 프로젝트에 특히 유용하다</a:t>
            </a:r>
            <a:r>
              <a:rPr lang="en-US" altLang="ko-KR"/>
              <a:t>.</a:t>
            </a:r>
          </a:p>
          <a:p>
            <a:pPr marL="285750" indent="-285750">
              <a:lnSpc>
                <a:spcPct val="150000"/>
              </a:lnSpc>
              <a:buFont typeface="Arial" panose="020B0604020202020204" pitchFamily="34" charset="0"/>
              <a:buChar char="•"/>
            </a:pPr>
            <a:r>
              <a:rPr lang="en-US" altLang="ko-KR"/>
              <a:t>ESP32</a:t>
            </a:r>
            <a:r>
              <a:rPr lang="ko-KR" altLang="en-US"/>
              <a:t>의 </a:t>
            </a:r>
            <a:r>
              <a:rPr lang="en-US" altLang="ko-KR"/>
              <a:t>RTC </a:t>
            </a:r>
            <a:r>
              <a:rPr lang="ko-KR" altLang="en-US"/>
              <a:t>컨트롤러에는 미리 정의된 시간이 지난 후 </a:t>
            </a:r>
            <a:r>
              <a:rPr lang="en-US" altLang="ko-KR"/>
              <a:t>ESP32</a:t>
            </a:r>
            <a:r>
              <a:rPr lang="ko-KR" altLang="en-US"/>
              <a:t>를 깨울 수 있는 내장 타이머가 있다</a:t>
            </a:r>
            <a:r>
              <a:rPr lang="en-US" altLang="ko-KR"/>
              <a:t>.</a:t>
            </a:r>
            <a:endParaRPr lang="ko-KR" altLang="en-US"/>
          </a:p>
        </p:txBody>
      </p:sp>
      <p:sp>
        <p:nvSpPr>
          <p:cNvPr id="4" name="직사각형 3">
            <a:extLst>
              <a:ext uri="{FF2B5EF4-FFF2-40B4-BE49-F238E27FC236}">
                <a16:creationId xmlns:a16="http://schemas.microsoft.com/office/drawing/2014/main" id="{756750B1-29D7-48BA-9353-38A7B52E6D6C}"/>
              </a:ext>
            </a:extLst>
          </p:cNvPr>
          <p:cNvSpPr/>
          <p:nvPr/>
        </p:nvSpPr>
        <p:spPr>
          <a:xfrm>
            <a:off x="753613" y="2237145"/>
            <a:ext cx="7151317" cy="461665"/>
          </a:xfrm>
          <a:prstGeom prst="rect">
            <a:avLst/>
          </a:prstGeom>
          <a:solidFill>
            <a:schemeClr val="bg2"/>
          </a:solidFill>
        </p:spPr>
        <p:txBody>
          <a:bodyPr wrap="none">
            <a:spAutoFit/>
          </a:bodyPr>
          <a:lstStyle/>
          <a:p>
            <a:r>
              <a:rPr lang="en-US" altLang="ko-KR" sz="2400">
                <a:solidFill>
                  <a:srgbClr val="DD4A68"/>
                </a:solidFill>
                <a:latin typeface="Consolas" panose="020B0609020204030204" pitchFamily="49" charset="0"/>
              </a:rPr>
              <a:t>esp_sleep_enable_timer_wakeup</a:t>
            </a:r>
            <a:r>
              <a:rPr lang="en-US" altLang="ko-KR" sz="2400">
                <a:solidFill>
                  <a:srgbClr val="999999"/>
                </a:solidFill>
                <a:latin typeface="Consolas" panose="020B0609020204030204" pitchFamily="49" charset="0"/>
              </a:rPr>
              <a:t>(</a:t>
            </a:r>
            <a:r>
              <a:rPr lang="en-US" altLang="ko-KR" sz="2400">
                <a:solidFill>
                  <a:srgbClr val="000000"/>
                </a:solidFill>
                <a:latin typeface="Consolas" panose="020B0609020204030204" pitchFamily="49" charset="0"/>
              </a:rPr>
              <a:t>time_in_us</a:t>
            </a:r>
            <a:r>
              <a:rPr lang="en-US" altLang="ko-KR" sz="2400">
                <a:solidFill>
                  <a:srgbClr val="999999"/>
                </a:solidFill>
                <a:latin typeface="Consolas" panose="020B0609020204030204" pitchFamily="49" charset="0"/>
              </a:rPr>
              <a:t>)</a:t>
            </a:r>
            <a:endParaRPr lang="ko-KR" altLang="en-US" sz="2400"/>
          </a:p>
        </p:txBody>
      </p:sp>
    </p:spTree>
    <p:extLst>
      <p:ext uri="{BB962C8B-B14F-4D97-AF65-F5344CB8AC3E}">
        <p14:creationId xmlns:p14="http://schemas.microsoft.com/office/powerpoint/2010/main" val="10013175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살펴보기 </a:t>
            </a:r>
            <a:r>
              <a:rPr lang="en-US" altLang="ko-KR" b="1">
                <a:solidFill>
                  <a:schemeClr val="tx1"/>
                </a:solidFill>
              </a:rPr>
              <a:t>: </a:t>
            </a:r>
            <a:r>
              <a:rPr lang="ko-KR" altLang="en-US" b="1">
                <a:solidFill>
                  <a:schemeClr val="tx1"/>
                </a:solidFill>
              </a:rPr>
              <a:t>예제 </a:t>
            </a:r>
            <a:r>
              <a:rPr lang="en-US" altLang="ko-KR" b="1">
                <a:solidFill>
                  <a:schemeClr val="tx1"/>
                </a:solidFill>
                <a:sym typeface="Wingdings" panose="05000000000000000000" pitchFamily="2" charset="2"/>
              </a:rPr>
              <a:t> ESP32  DeepSleep  TimerWakeUp</a:t>
            </a:r>
            <a:endParaRPr lang="ko-KR" altLang="en-US" b="1">
              <a:solidFill>
                <a:schemeClr val="tx1"/>
              </a:solidFill>
            </a:endParaRPr>
          </a:p>
        </p:txBody>
      </p:sp>
      <p:pic>
        <p:nvPicPr>
          <p:cNvPr id="3" name="그림 2">
            <a:extLst>
              <a:ext uri="{FF2B5EF4-FFF2-40B4-BE49-F238E27FC236}">
                <a16:creationId xmlns:a16="http://schemas.microsoft.com/office/drawing/2014/main" id="{CF92482F-2B8A-4C0C-9037-D916AB79EE33}"/>
              </a:ext>
            </a:extLst>
          </p:cNvPr>
          <p:cNvPicPr>
            <a:picLocks noChangeAspect="1"/>
          </p:cNvPicPr>
          <p:nvPr/>
        </p:nvPicPr>
        <p:blipFill>
          <a:blip r:embed="rId2"/>
          <a:stretch>
            <a:fillRect/>
          </a:stretch>
        </p:blipFill>
        <p:spPr>
          <a:xfrm>
            <a:off x="363317" y="657920"/>
            <a:ext cx="6223150" cy="5979269"/>
          </a:xfrm>
          <a:prstGeom prst="rect">
            <a:avLst/>
          </a:prstGeom>
        </p:spPr>
      </p:pic>
    </p:spTree>
    <p:extLst>
      <p:ext uri="{BB962C8B-B14F-4D97-AF65-F5344CB8AC3E}">
        <p14:creationId xmlns:p14="http://schemas.microsoft.com/office/powerpoint/2010/main" val="34207358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3" name="직사각형 2">
            <a:extLst>
              <a:ext uri="{FF2B5EF4-FFF2-40B4-BE49-F238E27FC236}">
                <a16:creationId xmlns:a16="http://schemas.microsoft.com/office/drawing/2014/main" id="{CF67FF76-F8F7-4484-9DF7-20982C0B9446}"/>
              </a:ext>
            </a:extLst>
          </p:cNvPr>
          <p:cNvSpPr/>
          <p:nvPr/>
        </p:nvSpPr>
        <p:spPr>
          <a:xfrm>
            <a:off x="505522" y="1060930"/>
            <a:ext cx="11415131" cy="646331"/>
          </a:xfrm>
          <a:prstGeom prst="rect">
            <a:avLst/>
          </a:prstGeom>
          <a:solidFill>
            <a:schemeClr val="bg2"/>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uS_TO_S_FACTOR 1000000ULL </a:t>
            </a:r>
            <a:r>
              <a:rPr lang="en-US" altLang="ko-KR">
                <a:solidFill>
                  <a:srgbClr val="708090"/>
                </a:solidFill>
                <a:latin typeface="Consolas" panose="020B0609020204030204" pitchFamily="49" charset="0"/>
              </a:rPr>
              <a:t>/* Conversion factor for micro seconds to seconds */</a:t>
            </a:r>
            <a:r>
              <a:rPr lang="en-US" altLang="ko-KR">
                <a:solidFill>
                  <a:srgbClr val="000000"/>
                </a:solidFill>
                <a:latin typeface="Consolas" panose="020B0609020204030204" pitchFamily="49" charset="0"/>
              </a:rPr>
              <a:t> </a:t>
            </a: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TIME_TO_SLEEP 5 </a:t>
            </a:r>
            <a:r>
              <a:rPr lang="en-US" altLang="ko-KR">
                <a:solidFill>
                  <a:srgbClr val="708090"/>
                </a:solidFill>
                <a:latin typeface="Consolas" panose="020B0609020204030204" pitchFamily="49" charset="0"/>
              </a:rPr>
              <a:t>/* Time ESP32 will go to sleep (in seconds) */</a:t>
            </a:r>
            <a:endParaRPr lang="ko-KR" altLang="en-US"/>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2141933" cy="369332"/>
          </a:xfrm>
          <a:prstGeom prst="rect">
            <a:avLst/>
          </a:prstGeom>
          <a:noFill/>
        </p:spPr>
        <p:txBody>
          <a:bodyPr wrap="none" rtlCol="0">
            <a:spAutoFit/>
          </a:bodyPr>
          <a:lstStyle/>
          <a:p>
            <a:r>
              <a:rPr lang="en-US" altLang="ko-KR"/>
              <a:t>1. Sleep Time </a:t>
            </a:r>
            <a:r>
              <a:rPr lang="ko-KR" altLang="en-US"/>
              <a:t>정의</a:t>
            </a:r>
          </a:p>
        </p:txBody>
      </p:sp>
      <p:sp>
        <p:nvSpPr>
          <p:cNvPr id="5" name="직사각형 4">
            <a:extLst>
              <a:ext uri="{FF2B5EF4-FFF2-40B4-BE49-F238E27FC236}">
                <a16:creationId xmlns:a16="http://schemas.microsoft.com/office/drawing/2014/main" id="{D665F201-7234-4878-9197-CE4022F031D1}"/>
              </a:ext>
            </a:extLst>
          </p:cNvPr>
          <p:cNvSpPr/>
          <p:nvPr/>
        </p:nvSpPr>
        <p:spPr>
          <a:xfrm>
            <a:off x="382857" y="1798252"/>
            <a:ext cx="11537795" cy="783356"/>
          </a:xfrm>
          <a:prstGeom prst="rect">
            <a:avLst/>
          </a:prstGeom>
        </p:spPr>
        <p:txBody>
          <a:bodyPr wrap="square">
            <a:spAutoFit/>
          </a:bodyPr>
          <a:lstStyle/>
          <a:p>
            <a:pPr>
              <a:lnSpc>
                <a:spcPct val="150000"/>
              </a:lnSpc>
            </a:pPr>
            <a:r>
              <a:rPr lang="ko-KR" altLang="en-US" sz="1600"/>
              <a:t>이 예제에서는 마이크로초에서 초로 변환하는 변환 계수를 사용하여</a:t>
            </a:r>
            <a:r>
              <a:rPr lang="en-US" altLang="ko-KR" sz="1600"/>
              <a:t>, </a:t>
            </a:r>
            <a:r>
              <a:rPr lang="en-US" altLang="ko-KR" sz="1600" b="1"/>
              <a:t>TIME_TO_SLEEP</a:t>
            </a:r>
            <a:r>
              <a:rPr lang="ko-KR" altLang="en-US" sz="1600"/>
              <a:t> 변수에 슬립 시간을 초 단위로 설정할 수 있다</a:t>
            </a:r>
            <a:r>
              <a:rPr lang="en-US" altLang="ko-KR" sz="1600"/>
              <a:t>. </a:t>
            </a:r>
            <a:r>
              <a:rPr lang="ko-KR" altLang="en-US" sz="1600"/>
              <a:t>이 경우</a:t>
            </a:r>
            <a:r>
              <a:rPr lang="en-US" altLang="ko-KR" sz="1600"/>
              <a:t>, </a:t>
            </a:r>
            <a:r>
              <a:rPr lang="ko-KR" altLang="en-US" sz="1600"/>
              <a:t>예제는 </a:t>
            </a:r>
            <a:r>
              <a:rPr lang="en-US" altLang="ko-KR" sz="1600"/>
              <a:t>ESP32</a:t>
            </a:r>
            <a:r>
              <a:rPr lang="ko-KR" altLang="en-US" sz="1600"/>
              <a:t>를 </a:t>
            </a:r>
            <a:r>
              <a:rPr lang="en-US" altLang="ko-KR" sz="1600"/>
              <a:t>5</a:t>
            </a:r>
            <a:r>
              <a:rPr lang="ko-KR" altLang="en-US" sz="1600"/>
              <a:t>초 동안 딥 슬립 모드로 전환한다</a:t>
            </a:r>
            <a:r>
              <a:rPr lang="en-US" altLang="ko-KR" sz="1600"/>
              <a:t>.</a:t>
            </a:r>
            <a:endParaRPr lang="ko-KR" altLang="en-US" sz="1600"/>
          </a:p>
        </p:txBody>
      </p:sp>
      <p:sp>
        <p:nvSpPr>
          <p:cNvPr id="6" name="직사각형 5">
            <a:extLst>
              <a:ext uri="{FF2B5EF4-FFF2-40B4-BE49-F238E27FC236}">
                <a16:creationId xmlns:a16="http://schemas.microsoft.com/office/drawing/2014/main" id="{510B9E9E-40AC-47C2-82F5-7DD119C27A55}"/>
              </a:ext>
            </a:extLst>
          </p:cNvPr>
          <p:cNvSpPr/>
          <p:nvPr/>
        </p:nvSpPr>
        <p:spPr>
          <a:xfrm>
            <a:off x="382857" y="3115318"/>
            <a:ext cx="11292470" cy="1522020"/>
          </a:xfrm>
          <a:prstGeom prst="rect">
            <a:avLst/>
          </a:prstGeom>
        </p:spPr>
        <p:txBody>
          <a:bodyPr wrap="square">
            <a:spAutoFit/>
          </a:bodyPr>
          <a:lstStyle/>
          <a:p>
            <a:pPr marL="177800" indent="-177800">
              <a:lnSpc>
                <a:spcPct val="150000"/>
              </a:lnSpc>
              <a:buFont typeface="Arial" panose="020B0604020202020204" pitchFamily="34" charset="0"/>
              <a:buChar char="•"/>
            </a:pPr>
            <a:r>
              <a:rPr lang="en-US" altLang="ko-KR" sz="1600"/>
              <a:t>ESP32</a:t>
            </a:r>
            <a:r>
              <a:rPr lang="ko-KR" altLang="en-US" sz="1600"/>
              <a:t>는 </a:t>
            </a:r>
            <a:r>
              <a:rPr lang="en-US" altLang="ko-KR" sz="1600"/>
              <a:t>RTC </a:t>
            </a:r>
            <a:r>
              <a:rPr lang="ko-KR" altLang="en-US" sz="1600"/>
              <a:t>부분에 </a:t>
            </a:r>
            <a:r>
              <a:rPr lang="en-US" altLang="ko-KR" sz="1600"/>
              <a:t>8KB</a:t>
            </a:r>
            <a:r>
              <a:rPr lang="ko-KR" altLang="en-US" sz="1600"/>
              <a:t>의 </a:t>
            </a:r>
            <a:r>
              <a:rPr lang="en-US" altLang="ko-KR" sz="1600"/>
              <a:t>SRAM, </a:t>
            </a:r>
            <a:r>
              <a:rPr lang="ko-KR" altLang="en-US" sz="1600"/>
              <a:t>즉 </a:t>
            </a:r>
            <a:r>
              <a:rPr lang="en-US" altLang="ko-KR" sz="1600" b="1"/>
              <a:t>RTC </a:t>
            </a:r>
            <a:r>
              <a:rPr lang="ko-KR" altLang="en-US" sz="1600" b="1"/>
              <a:t>패스트 메모리</a:t>
            </a:r>
            <a:r>
              <a:rPr lang="ko-KR" altLang="en-US" sz="1600"/>
              <a:t>를 갖추고 있다</a:t>
            </a:r>
            <a:r>
              <a:rPr lang="en-US" altLang="ko-KR" sz="1600"/>
              <a:t>. </a:t>
            </a:r>
            <a:br>
              <a:rPr lang="en-US" altLang="ko-KR" sz="1600"/>
            </a:br>
            <a:r>
              <a:rPr lang="ko-KR" altLang="en-US" sz="1600"/>
              <a:t>여기 저장된 데이터는 딥 슬립 중에도 지워지지 않지만</a:t>
            </a:r>
            <a:r>
              <a:rPr lang="en-US" altLang="ko-KR" sz="1600"/>
              <a:t>, </a:t>
            </a:r>
            <a:r>
              <a:rPr lang="ko-KR" altLang="en-US" sz="1600"/>
              <a:t>리셋 버튼</a:t>
            </a:r>
            <a:r>
              <a:rPr lang="en-US" altLang="ko-KR" sz="1600"/>
              <a:t>(ESP32 </a:t>
            </a:r>
            <a:r>
              <a:rPr lang="ko-KR" altLang="en-US" sz="1600"/>
              <a:t>보드의 </a:t>
            </a:r>
            <a:r>
              <a:rPr lang="en-US" altLang="ko-KR" sz="1600"/>
              <a:t>EN </a:t>
            </a:r>
            <a:r>
              <a:rPr lang="ko-KR" altLang="en-US" sz="1600"/>
              <a:t>버튼</a:t>
            </a:r>
            <a:r>
              <a:rPr lang="en-US" altLang="ko-KR" sz="1600"/>
              <a:t>)</a:t>
            </a:r>
            <a:r>
              <a:rPr lang="ko-KR" altLang="en-US" sz="1600"/>
              <a:t>을 누르면 지워진다</a:t>
            </a:r>
            <a:r>
              <a:rPr lang="en-US" altLang="ko-KR" sz="1600"/>
              <a:t>.</a:t>
            </a:r>
          </a:p>
          <a:p>
            <a:pPr marL="177800" indent="-177800">
              <a:lnSpc>
                <a:spcPct val="150000"/>
              </a:lnSpc>
              <a:buFont typeface="Arial" panose="020B0604020202020204" pitchFamily="34" charset="0"/>
              <a:buChar char="•"/>
            </a:pPr>
            <a:r>
              <a:rPr lang="en-US" altLang="ko-KR" sz="1600"/>
              <a:t>RTC </a:t>
            </a:r>
            <a:r>
              <a:rPr lang="ko-KR" altLang="en-US" sz="1600"/>
              <a:t>메모리에 데이터를 저장하려면</a:t>
            </a:r>
            <a:r>
              <a:rPr lang="en-US" altLang="ko-KR" sz="1600"/>
              <a:t>, </a:t>
            </a:r>
            <a:r>
              <a:rPr lang="ko-KR" altLang="en-US" sz="1600"/>
              <a:t>변수 정의 앞에 </a:t>
            </a:r>
            <a:r>
              <a:rPr lang="en-US" altLang="ko-KR" sz="1600" b="1"/>
              <a:t>RTC_DATA_ATTR</a:t>
            </a:r>
            <a:r>
              <a:rPr lang="ko-KR" altLang="en-US" sz="1600"/>
              <a:t>를 추가하기만 하면 된다</a:t>
            </a:r>
            <a:r>
              <a:rPr lang="en-US" altLang="ko-KR" sz="1600"/>
              <a:t>. </a:t>
            </a:r>
          </a:p>
          <a:p>
            <a:pPr marL="177800" indent="-177800">
              <a:lnSpc>
                <a:spcPct val="150000"/>
              </a:lnSpc>
              <a:buFont typeface="Arial" panose="020B0604020202020204" pitchFamily="34" charset="0"/>
              <a:buChar char="•"/>
            </a:pPr>
            <a:r>
              <a:rPr lang="ko-KR" altLang="en-US" sz="1600"/>
              <a:t>예제에서는 </a:t>
            </a:r>
            <a:r>
              <a:rPr lang="en-US" altLang="ko-KR" sz="1600" b="1"/>
              <a:t>bootCount</a:t>
            </a:r>
            <a:r>
              <a:rPr lang="ko-KR" altLang="en-US" sz="1600"/>
              <a:t> 변수를 </a:t>
            </a:r>
            <a:r>
              <a:rPr lang="en-US" altLang="ko-KR" sz="1600"/>
              <a:t>RTC </a:t>
            </a:r>
            <a:r>
              <a:rPr lang="ko-KR" altLang="en-US" sz="1600"/>
              <a:t>메모리에 저장한다</a:t>
            </a:r>
            <a:r>
              <a:rPr lang="en-US" altLang="ko-KR" sz="1600"/>
              <a:t>. </a:t>
            </a:r>
            <a:r>
              <a:rPr lang="ko-KR" altLang="en-US" sz="1600"/>
              <a:t>이 변수는 </a:t>
            </a:r>
            <a:r>
              <a:rPr lang="en-US" altLang="ko-KR" sz="1600"/>
              <a:t>ESP32</a:t>
            </a:r>
            <a:r>
              <a:rPr lang="ko-KR" altLang="en-US" sz="1600"/>
              <a:t>가 딥 슬립에서 깨어난 횟수를 센다</a:t>
            </a:r>
            <a:r>
              <a:rPr lang="en-US" altLang="ko-KR" sz="1600"/>
              <a:t>.</a:t>
            </a:r>
          </a:p>
        </p:txBody>
      </p:sp>
      <p:sp>
        <p:nvSpPr>
          <p:cNvPr id="7" name="TextBox 6">
            <a:extLst>
              <a:ext uri="{FF2B5EF4-FFF2-40B4-BE49-F238E27FC236}">
                <a16:creationId xmlns:a16="http://schemas.microsoft.com/office/drawing/2014/main" id="{CBCBFC76-F072-40EF-BE31-540555720007}"/>
              </a:ext>
            </a:extLst>
          </p:cNvPr>
          <p:cNvSpPr txBox="1"/>
          <p:nvPr/>
        </p:nvSpPr>
        <p:spPr>
          <a:xfrm>
            <a:off x="249043" y="2711631"/>
            <a:ext cx="3437351" cy="369332"/>
          </a:xfrm>
          <a:prstGeom prst="rect">
            <a:avLst/>
          </a:prstGeom>
          <a:noFill/>
        </p:spPr>
        <p:txBody>
          <a:bodyPr wrap="none" rtlCol="0">
            <a:spAutoFit/>
          </a:bodyPr>
          <a:lstStyle/>
          <a:p>
            <a:r>
              <a:rPr lang="en-US" altLang="ko-KR"/>
              <a:t>2. Save Data on RTC Memories</a:t>
            </a:r>
            <a:endParaRPr lang="ko-KR" altLang="en-US"/>
          </a:p>
        </p:txBody>
      </p:sp>
      <p:sp>
        <p:nvSpPr>
          <p:cNvPr id="8" name="직사각형 7">
            <a:extLst>
              <a:ext uri="{FF2B5EF4-FFF2-40B4-BE49-F238E27FC236}">
                <a16:creationId xmlns:a16="http://schemas.microsoft.com/office/drawing/2014/main" id="{11E9032B-13C7-4882-8E6D-58DC86CA5926}"/>
              </a:ext>
            </a:extLst>
          </p:cNvPr>
          <p:cNvSpPr/>
          <p:nvPr/>
        </p:nvSpPr>
        <p:spPr>
          <a:xfrm>
            <a:off x="505522" y="4743711"/>
            <a:ext cx="4237057" cy="369332"/>
          </a:xfrm>
          <a:prstGeom prst="rect">
            <a:avLst/>
          </a:prstGeom>
          <a:solidFill>
            <a:schemeClr val="bg2"/>
          </a:solidFill>
        </p:spPr>
        <p:txBody>
          <a:bodyPr wrap="none">
            <a:spAutoFit/>
          </a:bodyPr>
          <a:lstStyle/>
          <a:p>
            <a:r>
              <a:rPr lang="en-US" altLang="ko-KR">
                <a:solidFill>
                  <a:srgbClr val="000000"/>
                </a:solidFill>
                <a:latin typeface="Consolas" panose="020B0609020204030204" pitchFamily="49" charset="0"/>
              </a:rPr>
              <a:t>RTC_DATA_ATTR </a:t>
            </a:r>
            <a:r>
              <a:rPr lang="en-US" altLang="ko-KR">
                <a:solidFill>
                  <a:srgbClr val="0077AA"/>
                </a:solidFill>
                <a:latin typeface="Consolas" panose="020B0609020204030204" pitchFamily="49" charset="0"/>
              </a:rPr>
              <a:t>int</a:t>
            </a:r>
            <a:r>
              <a:rPr lang="en-US" altLang="ko-KR">
                <a:solidFill>
                  <a:srgbClr val="000000"/>
                </a:solidFill>
                <a:latin typeface="Consolas" panose="020B0609020204030204" pitchFamily="49" charset="0"/>
              </a:rPr>
              <a:t> bootCount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990055"/>
                </a:solidFill>
                <a:latin typeface="Consolas" panose="020B0609020204030204" pitchFamily="49" charset="0"/>
              </a:rPr>
              <a:t>0</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21586450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5116657" cy="369332"/>
          </a:xfrm>
          <a:prstGeom prst="rect">
            <a:avLst/>
          </a:prstGeom>
          <a:noFill/>
        </p:spPr>
        <p:txBody>
          <a:bodyPr wrap="none" rtlCol="0">
            <a:spAutoFit/>
          </a:bodyPr>
          <a:lstStyle/>
          <a:p>
            <a:r>
              <a:rPr lang="en-US" altLang="ko-KR"/>
              <a:t>3. Wake Up Reason ( wake up </a:t>
            </a:r>
            <a:r>
              <a:rPr lang="ko-KR" altLang="en-US"/>
              <a:t>발생 사유 출력 </a:t>
            </a:r>
            <a:r>
              <a:rPr lang="en-US" altLang="ko-KR"/>
              <a:t>)</a:t>
            </a:r>
            <a:endParaRPr lang="ko-KR" altLang="en-US"/>
          </a:p>
        </p:txBody>
      </p:sp>
      <p:sp>
        <p:nvSpPr>
          <p:cNvPr id="9" name="직사각형 8">
            <a:extLst>
              <a:ext uri="{FF2B5EF4-FFF2-40B4-BE49-F238E27FC236}">
                <a16:creationId xmlns:a16="http://schemas.microsoft.com/office/drawing/2014/main" id="{E05E3DBD-5484-4371-879B-382B9B2DD128}"/>
              </a:ext>
            </a:extLst>
          </p:cNvPr>
          <p:cNvSpPr/>
          <p:nvPr/>
        </p:nvSpPr>
        <p:spPr>
          <a:xfrm>
            <a:off x="524107" y="1166842"/>
            <a:ext cx="11667893" cy="4524315"/>
          </a:xfrm>
          <a:prstGeom prst="rect">
            <a:avLst/>
          </a:prstGeom>
          <a:solidFill>
            <a:schemeClr val="bg1">
              <a:lumMod val="95000"/>
            </a:schemeClr>
          </a:solidFill>
        </p:spPr>
        <p:txBody>
          <a:bodyPr wrap="square">
            <a:spAutoFit/>
          </a:bodyPr>
          <a:lstStyle/>
          <a:p>
            <a:r>
              <a:rPr lang="en-US" altLang="ko-KR" sz="1600">
                <a:solidFill>
                  <a:srgbClr val="0077AA"/>
                </a:solidFill>
                <a:latin typeface="Consolas" panose="020B0609020204030204" pitchFamily="49" charset="0"/>
              </a:rPr>
              <a:t>void</a:t>
            </a: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print_wakeup_reason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esp_sleep_wakeup_cause_t</a:t>
            </a:r>
            <a:r>
              <a:rPr lang="en-US" altLang="ko-KR" sz="1600">
                <a:solidFill>
                  <a:srgbClr val="000000"/>
                </a:solidFill>
                <a:latin typeface="Consolas" panose="020B0609020204030204" pitchFamily="49" charset="0"/>
              </a:rPr>
              <a:t> 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wakeup_reason </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esp_sleep_get_wakeup_cause</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switch</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ESP_SLEEP_WAKEUP_EXT0</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external signal using RTC_IO"</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ESP_SLEEP_WAKEUP_EXT1</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external signal using RTC_CNTL"</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ESP_SLEEP_WAKEUP_TIMER</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timer"</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ESP_SLEEP_WAKEUP_TOUCHPAD</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touchpad"</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ESP_SLEEP_WAKEUP_ULP</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ULP program"</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default</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printf</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was not caused by deep sleep: %d\n"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999999"/>
                </a:solidFill>
                <a:latin typeface="Consolas" panose="020B0609020204030204" pitchFamily="49" charset="0"/>
              </a:rPr>
              <a:t>}</a:t>
            </a:r>
            <a:endParaRPr lang="ko-KR" altLang="en-US" sz="1600"/>
          </a:p>
        </p:txBody>
      </p:sp>
    </p:spTree>
    <p:extLst>
      <p:ext uri="{BB962C8B-B14F-4D97-AF65-F5344CB8AC3E}">
        <p14:creationId xmlns:p14="http://schemas.microsoft.com/office/powerpoint/2010/main" val="30865067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1268296" cy="400110"/>
          </a:xfrm>
          <a:prstGeom prst="rect">
            <a:avLst/>
          </a:prstGeom>
          <a:noFill/>
        </p:spPr>
        <p:txBody>
          <a:bodyPr wrap="none" rtlCol="0">
            <a:spAutoFit/>
          </a:bodyPr>
          <a:lstStyle/>
          <a:p>
            <a:r>
              <a:rPr lang="en-US" altLang="ko-KR" sz="2000"/>
              <a:t>4. setup()</a:t>
            </a:r>
            <a:endParaRPr lang="ko-KR" altLang="en-US" sz="2000"/>
          </a:p>
        </p:txBody>
      </p:sp>
      <p:sp>
        <p:nvSpPr>
          <p:cNvPr id="3" name="직사각형 2">
            <a:extLst>
              <a:ext uri="{FF2B5EF4-FFF2-40B4-BE49-F238E27FC236}">
                <a16:creationId xmlns:a16="http://schemas.microsoft.com/office/drawing/2014/main" id="{07756140-A436-4E8C-ACBB-436E4B195590}"/>
              </a:ext>
            </a:extLst>
          </p:cNvPr>
          <p:cNvSpPr/>
          <p:nvPr/>
        </p:nvSpPr>
        <p:spPr>
          <a:xfrm>
            <a:off x="583581" y="1174215"/>
            <a:ext cx="7902498" cy="646331"/>
          </a:xfrm>
          <a:prstGeom prst="rect">
            <a:avLst/>
          </a:prstGeom>
          <a:solidFill>
            <a:schemeClr val="bg1">
              <a:lumMod val="95000"/>
            </a:schemeClr>
          </a:solidFill>
        </p:spPr>
        <p:txBody>
          <a:bodyPr wrap="square">
            <a:spAutoFit/>
          </a:bodyPr>
          <a:lstStyle/>
          <a:p>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bootCount</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br>
              <a:rPr lang="en-US" altLang="ko-KR">
                <a:solidFill>
                  <a:srgbClr val="000000"/>
                </a:solidFill>
                <a:latin typeface="Consolas" panose="020B0609020204030204" pitchFamily="49" charset="0"/>
              </a:rPr>
            </a:br>
            <a:r>
              <a:rPr lang="en-US" altLang="ko-KR">
                <a:solidFill>
                  <a:srgbClr val="000000"/>
                </a:solidFill>
                <a:latin typeface="Consolas" panose="020B0609020204030204" pitchFamily="49" charset="0"/>
              </a:rPr>
              <a:t>Serial</a:t>
            </a:r>
            <a:r>
              <a:rPr lang="en-US" altLang="ko-KR">
                <a:solidFill>
                  <a:srgbClr val="999999"/>
                </a:solidFill>
                <a:latin typeface="Consolas" panose="020B0609020204030204" pitchFamily="49" charset="0"/>
              </a:rPr>
              <a:t>.</a:t>
            </a:r>
            <a:r>
              <a:rPr lang="en-US" altLang="ko-KR">
                <a:solidFill>
                  <a:srgbClr val="DD4A68"/>
                </a:solidFill>
                <a:latin typeface="Consolas" panose="020B0609020204030204" pitchFamily="49" charset="0"/>
              </a:rPr>
              <a:t>println</a:t>
            </a:r>
            <a:r>
              <a:rPr lang="en-US" altLang="ko-KR">
                <a:solidFill>
                  <a:srgbClr val="999999"/>
                </a:solidFill>
                <a:latin typeface="Consolas" panose="020B0609020204030204" pitchFamily="49" charset="0"/>
              </a:rPr>
              <a:t>(</a:t>
            </a:r>
            <a:r>
              <a:rPr lang="en-US" altLang="ko-KR">
                <a:solidFill>
                  <a:srgbClr val="669900"/>
                </a:solidFill>
                <a:latin typeface="Consolas" panose="020B0609020204030204" pitchFamily="49" charset="0"/>
              </a:rPr>
              <a:t>"Boot number: "</a:t>
            </a:r>
            <a:r>
              <a:rPr lang="en-US" altLang="ko-KR">
                <a:solidFill>
                  <a:srgbClr val="000000"/>
                </a:solidFill>
                <a:latin typeface="Consolas" panose="020B0609020204030204" pitchFamily="49" charset="0"/>
              </a:rPr>
              <a: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String</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bootCount</a:t>
            </a:r>
            <a:r>
              <a:rPr lang="en-US" altLang="ko-KR">
                <a:solidFill>
                  <a:srgbClr val="999999"/>
                </a:solidFill>
                <a:latin typeface="Consolas" panose="020B0609020204030204" pitchFamily="49" charset="0"/>
              </a:rPr>
              <a:t>));</a:t>
            </a:r>
            <a:endParaRPr lang="ko-KR" altLang="en-US"/>
          </a:p>
        </p:txBody>
      </p:sp>
      <p:sp>
        <p:nvSpPr>
          <p:cNvPr id="5" name="직사각형 4">
            <a:extLst>
              <a:ext uri="{FF2B5EF4-FFF2-40B4-BE49-F238E27FC236}">
                <a16:creationId xmlns:a16="http://schemas.microsoft.com/office/drawing/2014/main" id="{077D18FB-07FE-4D89-A95A-30FB47AE4840}"/>
              </a:ext>
            </a:extLst>
          </p:cNvPr>
          <p:cNvSpPr/>
          <p:nvPr/>
        </p:nvSpPr>
        <p:spPr>
          <a:xfrm>
            <a:off x="583581" y="2581728"/>
            <a:ext cx="7902498" cy="369332"/>
          </a:xfrm>
          <a:prstGeom prst="rect">
            <a:avLst/>
          </a:prstGeom>
          <a:solidFill>
            <a:schemeClr val="bg1">
              <a:lumMod val="95000"/>
            </a:schemeClr>
          </a:solidFill>
        </p:spPr>
        <p:txBody>
          <a:bodyPr wrap="square">
            <a:spAutoFit/>
          </a:bodyPr>
          <a:lstStyle/>
          <a:p>
            <a:r>
              <a:rPr lang="en-US" altLang="ko-KR">
                <a:solidFill>
                  <a:srgbClr val="DD4A68"/>
                </a:solidFill>
                <a:latin typeface="Consolas" panose="020B0609020204030204" pitchFamily="49" charset="0"/>
              </a:rPr>
              <a:t>esp_sleep_enable_timer_wakeup</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TIME_TO_SLEEP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uS_TO_S_FACTOR</a:t>
            </a:r>
            <a:r>
              <a:rPr lang="en-US" altLang="ko-KR">
                <a:solidFill>
                  <a:srgbClr val="999999"/>
                </a:solidFill>
                <a:latin typeface="Consolas" panose="020B0609020204030204" pitchFamily="49" charset="0"/>
              </a:rPr>
              <a:t>);</a:t>
            </a:r>
            <a:endParaRPr lang="ko-KR" altLang="en-US"/>
          </a:p>
        </p:txBody>
      </p:sp>
      <p:sp>
        <p:nvSpPr>
          <p:cNvPr id="6" name="직사각형 5">
            <a:extLst>
              <a:ext uri="{FF2B5EF4-FFF2-40B4-BE49-F238E27FC236}">
                <a16:creationId xmlns:a16="http://schemas.microsoft.com/office/drawing/2014/main" id="{A1523B23-8675-418F-B037-3F053B92C4A6}"/>
              </a:ext>
            </a:extLst>
          </p:cNvPr>
          <p:cNvSpPr/>
          <p:nvPr/>
        </p:nvSpPr>
        <p:spPr>
          <a:xfrm>
            <a:off x="583581" y="3712242"/>
            <a:ext cx="2970685"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esp_deep_sleep_start</a:t>
            </a:r>
            <a:r>
              <a:rPr lang="en-US" altLang="ko-KR">
                <a:solidFill>
                  <a:srgbClr val="999999"/>
                </a:solidFill>
                <a:latin typeface="Consolas" panose="020B0609020204030204" pitchFamily="49" charset="0"/>
              </a:rPr>
              <a:t>()</a:t>
            </a:r>
            <a:endParaRPr lang="ko-KR" altLang="en-US"/>
          </a:p>
        </p:txBody>
      </p:sp>
      <p:sp>
        <p:nvSpPr>
          <p:cNvPr id="7" name="TextBox 6">
            <a:extLst>
              <a:ext uri="{FF2B5EF4-FFF2-40B4-BE49-F238E27FC236}">
                <a16:creationId xmlns:a16="http://schemas.microsoft.com/office/drawing/2014/main" id="{CB8DCE71-9854-4482-A20E-FA6C093A5C87}"/>
              </a:ext>
            </a:extLst>
          </p:cNvPr>
          <p:cNvSpPr txBox="1"/>
          <p:nvPr/>
        </p:nvSpPr>
        <p:spPr>
          <a:xfrm>
            <a:off x="591445" y="1840604"/>
            <a:ext cx="1851789" cy="369332"/>
          </a:xfrm>
          <a:prstGeom prst="rect">
            <a:avLst/>
          </a:prstGeom>
          <a:noFill/>
        </p:spPr>
        <p:txBody>
          <a:bodyPr wrap="none" rtlCol="0">
            <a:spAutoFit/>
          </a:bodyPr>
          <a:lstStyle/>
          <a:p>
            <a:r>
              <a:rPr lang="en-US" altLang="ko-KR"/>
              <a:t>bootCount </a:t>
            </a:r>
            <a:r>
              <a:rPr lang="ko-KR" altLang="en-US"/>
              <a:t>출력</a:t>
            </a:r>
          </a:p>
        </p:txBody>
      </p:sp>
      <p:sp>
        <p:nvSpPr>
          <p:cNvPr id="10" name="TextBox 9">
            <a:extLst>
              <a:ext uri="{FF2B5EF4-FFF2-40B4-BE49-F238E27FC236}">
                <a16:creationId xmlns:a16="http://schemas.microsoft.com/office/drawing/2014/main" id="{3FBDA113-8F24-46A2-83EC-D934BE6DC127}"/>
              </a:ext>
            </a:extLst>
          </p:cNvPr>
          <p:cNvSpPr txBox="1"/>
          <p:nvPr/>
        </p:nvSpPr>
        <p:spPr>
          <a:xfrm>
            <a:off x="591445" y="3059668"/>
            <a:ext cx="3647024" cy="369332"/>
          </a:xfrm>
          <a:prstGeom prst="rect">
            <a:avLst/>
          </a:prstGeom>
          <a:noFill/>
        </p:spPr>
        <p:txBody>
          <a:bodyPr wrap="none" rtlCol="0">
            <a:spAutoFit/>
          </a:bodyPr>
          <a:lstStyle/>
          <a:p>
            <a:r>
              <a:rPr lang="en-US" altLang="ko-KR"/>
              <a:t>wakeup timer </a:t>
            </a:r>
            <a:r>
              <a:rPr lang="ko-KR" altLang="en-US"/>
              <a:t>설정</a:t>
            </a:r>
            <a:r>
              <a:rPr lang="en-US" altLang="ko-KR"/>
              <a:t>, </a:t>
            </a:r>
            <a:r>
              <a:rPr lang="ko-KR" altLang="en-US"/>
              <a:t>여기서는 </a:t>
            </a:r>
            <a:r>
              <a:rPr lang="en-US" altLang="ko-KR"/>
              <a:t>5</a:t>
            </a:r>
            <a:r>
              <a:rPr lang="ko-KR" altLang="en-US"/>
              <a:t>초</a:t>
            </a:r>
          </a:p>
        </p:txBody>
      </p:sp>
      <p:sp>
        <p:nvSpPr>
          <p:cNvPr id="11" name="TextBox 10">
            <a:extLst>
              <a:ext uri="{FF2B5EF4-FFF2-40B4-BE49-F238E27FC236}">
                <a16:creationId xmlns:a16="http://schemas.microsoft.com/office/drawing/2014/main" id="{5501506B-D5CA-4008-824E-D088E5122005}"/>
              </a:ext>
            </a:extLst>
          </p:cNvPr>
          <p:cNvSpPr txBox="1"/>
          <p:nvPr/>
        </p:nvSpPr>
        <p:spPr>
          <a:xfrm>
            <a:off x="619722" y="4159400"/>
            <a:ext cx="5126724" cy="869790"/>
          </a:xfrm>
          <a:prstGeom prst="rect">
            <a:avLst/>
          </a:prstGeom>
          <a:noFill/>
        </p:spPr>
        <p:txBody>
          <a:bodyPr wrap="none" rtlCol="0">
            <a:spAutoFit/>
          </a:bodyPr>
          <a:lstStyle/>
          <a:p>
            <a:pPr>
              <a:lnSpc>
                <a:spcPct val="150000"/>
              </a:lnSpc>
            </a:pPr>
            <a:r>
              <a:rPr lang="en-US" altLang="ko-KR"/>
              <a:t>sleep </a:t>
            </a:r>
            <a:r>
              <a:rPr lang="ko-KR" altLang="en-US"/>
              <a:t>모드 시작</a:t>
            </a:r>
            <a:endParaRPr lang="en-US" altLang="ko-KR"/>
          </a:p>
          <a:p>
            <a:pPr>
              <a:lnSpc>
                <a:spcPct val="150000"/>
              </a:lnSpc>
            </a:pPr>
            <a:r>
              <a:rPr lang="ko-KR" altLang="en-US"/>
              <a:t>이제 </a:t>
            </a:r>
            <a:r>
              <a:rPr lang="en-US" altLang="ko-KR"/>
              <a:t>5</a:t>
            </a:r>
            <a:r>
              <a:rPr lang="ko-KR" altLang="en-US"/>
              <a:t>초 마다 깨어나서 </a:t>
            </a:r>
            <a:r>
              <a:rPr lang="en-US" altLang="ko-KR"/>
              <a:t>bootCount</a:t>
            </a:r>
            <a:r>
              <a:rPr lang="ko-KR" altLang="en-US"/>
              <a:t>를 출력한다</a:t>
            </a:r>
            <a:r>
              <a:rPr lang="en-US" altLang="ko-KR"/>
              <a:t>.</a:t>
            </a:r>
            <a:endParaRPr lang="ko-KR" altLang="en-US"/>
          </a:p>
        </p:txBody>
      </p:sp>
    </p:spTree>
    <p:extLst>
      <p:ext uri="{BB962C8B-B14F-4D97-AF65-F5344CB8AC3E}">
        <p14:creationId xmlns:p14="http://schemas.microsoft.com/office/powerpoint/2010/main" val="14615620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실행</a:t>
            </a:r>
            <a:endParaRPr lang="ko-KR" altLang="en-US" b="1">
              <a:solidFill>
                <a:schemeClr val="tx1"/>
              </a:solidFill>
            </a:endParaRPr>
          </a:p>
        </p:txBody>
      </p:sp>
      <p:pic>
        <p:nvPicPr>
          <p:cNvPr id="8" name="그림 7">
            <a:extLst>
              <a:ext uri="{FF2B5EF4-FFF2-40B4-BE49-F238E27FC236}">
                <a16:creationId xmlns:a16="http://schemas.microsoft.com/office/drawing/2014/main" id="{9E208C4E-2434-419D-9797-53011C0E24CB}"/>
              </a:ext>
            </a:extLst>
          </p:cNvPr>
          <p:cNvPicPr>
            <a:picLocks noChangeAspect="1"/>
          </p:cNvPicPr>
          <p:nvPr/>
        </p:nvPicPr>
        <p:blipFill>
          <a:blip r:embed="rId2"/>
          <a:stretch>
            <a:fillRect/>
          </a:stretch>
        </p:blipFill>
        <p:spPr>
          <a:xfrm>
            <a:off x="461845" y="755367"/>
            <a:ext cx="7109833" cy="4970112"/>
          </a:xfrm>
          <a:prstGeom prst="rect">
            <a:avLst/>
          </a:prstGeom>
          <a:ln>
            <a:solidFill>
              <a:schemeClr val="tx1">
                <a:lumMod val="50000"/>
                <a:lumOff val="50000"/>
              </a:schemeClr>
            </a:solidFill>
          </a:ln>
        </p:spPr>
      </p:pic>
      <p:sp>
        <p:nvSpPr>
          <p:cNvPr id="9" name="사각형: 둥근 모서리 8">
            <a:extLst>
              <a:ext uri="{FF2B5EF4-FFF2-40B4-BE49-F238E27FC236}">
                <a16:creationId xmlns:a16="http://schemas.microsoft.com/office/drawing/2014/main" id="{89BD00D7-EFDA-4D01-8B80-904F8ED82817}"/>
              </a:ext>
            </a:extLst>
          </p:cNvPr>
          <p:cNvSpPr/>
          <p:nvPr/>
        </p:nvSpPr>
        <p:spPr>
          <a:xfrm>
            <a:off x="461845" y="4192859"/>
            <a:ext cx="1612282" cy="211873"/>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979537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06297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6000" b="1">
                <a:solidFill>
                  <a:schemeClr val="tx1"/>
                </a:solidFill>
              </a:rPr>
              <a:t> Touch Wake-Up</a:t>
            </a:r>
            <a:endParaRPr lang="ko-KR" altLang="en-US" sz="6000" b="1">
              <a:solidFill>
                <a:schemeClr val="tx1"/>
              </a:solidFill>
            </a:endParaRPr>
          </a:p>
        </p:txBody>
      </p:sp>
      <p:sp>
        <p:nvSpPr>
          <p:cNvPr id="3" name="직사각형 2">
            <a:extLst>
              <a:ext uri="{FF2B5EF4-FFF2-40B4-BE49-F238E27FC236}">
                <a16:creationId xmlns:a16="http://schemas.microsoft.com/office/drawing/2014/main" id="{599E757D-883A-4F92-9D81-4B25A0088566}"/>
              </a:ext>
            </a:extLst>
          </p:cNvPr>
          <p:cNvSpPr/>
          <p:nvPr/>
        </p:nvSpPr>
        <p:spPr>
          <a:xfrm>
            <a:off x="422280" y="3143973"/>
            <a:ext cx="6532558" cy="400110"/>
          </a:xfrm>
          <a:prstGeom prst="rect">
            <a:avLst/>
          </a:prstGeom>
          <a:solidFill>
            <a:schemeClr val="bg1">
              <a:lumMod val="95000"/>
            </a:schemeClr>
          </a:solidFill>
        </p:spPr>
        <p:txBody>
          <a:bodyPr wrap="none">
            <a:spAutoFit/>
          </a:bodyPr>
          <a:lstStyle/>
          <a:p>
            <a:r>
              <a:rPr lang="en-US" altLang="ko-KR" sz="2000">
                <a:solidFill>
                  <a:srgbClr val="DD4A68"/>
                </a:solidFill>
                <a:latin typeface="Consolas" panose="020B0609020204030204" pitchFamily="49" charset="0"/>
              </a:rPr>
              <a:t>touchSleepWakeUpEnable</a:t>
            </a:r>
            <a:r>
              <a:rPr lang="en-US" altLang="ko-KR" sz="2000">
                <a:solidFill>
                  <a:srgbClr val="999999"/>
                </a:solidFill>
                <a:latin typeface="Consolas" panose="020B0609020204030204" pitchFamily="49" charset="0"/>
              </a:rPr>
              <a:t>(</a:t>
            </a:r>
            <a:r>
              <a:rPr lang="en-US" altLang="ko-KR" sz="2000">
                <a:solidFill>
                  <a:srgbClr val="000000"/>
                </a:solidFill>
                <a:latin typeface="Consolas" panose="020B0609020204030204" pitchFamily="49" charset="0"/>
              </a:rPr>
              <a:t>TOUCH_PIN</a:t>
            </a:r>
            <a:r>
              <a:rPr lang="en-US" altLang="ko-KR" sz="2000">
                <a:solidFill>
                  <a:srgbClr val="999999"/>
                </a:solidFill>
                <a:latin typeface="Consolas" panose="020B0609020204030204" pitchFamily="49" charset="0"/>
              </a:rPr>
              <a:t>,</a:t>
            </a:r>
            <a:r>
              <a:rPr lang="en-US" altLang="ko-KR" sz="2000">
                <a:solidFill>
                  <a:srgbClr val="000000"/>
                </a:solidFill>
                <a:latin typeface="Consolas" panose="020B0609020204030204" pitchFamily="49" charset="0"/>
              </a:rPr>
              <a:t> THRESHOLD</a:t>
            </a:r>
            <a:r>
              <a:rPr lang="en-US" altLang="ko-KR" sz="2000">
                <a:solidFill>
                  <a:srgbClr val="999999"/>
                </a:solidFill>
                <a:latin typeface="Consolas" panose="020B0609020204030204" pitchFamily="49" charset="0"/>
              </a:rPr>
              <a:t>);</a:t>
            </a:r>
            <a:endParaRPr lang="ko-KR" altLang="en-US" sz="2000"/>
          </a:p>
        </p:txBody>
      </p:sp>
      <p:sp>
        <p:nvSpPr>
          <p:cNvPr id="4" name="직사각형 3">
            <a:extLst>
              <a:ext uri="{FF2B5EF4-FFF2-40B4-BE49-F238E27FC236}">
                <a16:creationId xmlns:a16="http://schemas.microsoft.com/office/drawing/2014/main" id="{75B8A741-412A-4110-B3E3-6E2EFAE3D38D}"/>
              </a:ext>
            </a:extLst>
          </p:cNvPr>
          <p:cNvSpPr/>
          <p:nvPr/>
        </p:nvSpPr>
        <p:spPr>
          <a:xfrm>
            <a:off x="333070" y="2651646"/>
            <a:ext cx="10539369" cy="338554"/>
          </a:xfrm>
          <a:prstGeom prst="rect">
            <a:avLst/>
          </a:prstGeom>
        </p:spPr>
        <p:txBody>
          <a:bodyPr wrap="square">
            <a:spAutoFit/>
          </a:bodyPr>
          <a:lstStyle/>
          <a:p>
            <a:r>
              <a:rPr lang="en-US" altLang="ko-KR" sz="1600"/>
              <a:t>Arduino IDE</a:t>
            </a:r>
            <a:r>
              <a:rPr lang="ko-KR" altLang="en-US" sz="1600"/>
              <a:t>에서는 다음 함수를 사용해야 하며</a:t>
            </a:r>
            <a:r>
              <a:rPr lang="en-US" altLang="ko-KR" sz="1600"/>
              <a:t>, </a:t>
            </a:r>
            <a:r>
              <a:rPr lang="ko-KR" altLang="en-US" sz="1600"/>
              <a:t>인수로 터치 핀과 터치 임계값을 전달한다</a:t>
            </a:r>
            <a:r>
              <a:rPr lang="en-US" altLang="ko-KR" sz="1600"/>
              <a:t>:</a:t>
            </a:r>
            <a:endParaRPr lang="ko-KR" altLang="en-US" sz="1600"/>
          </a:p>
        </p:txBody>
      </p:sp>
      <p:sp>
        <p:nvSpPr>
          <p:cNvPr id="5" name="직사각형 4">
            <a:extLst>
              <a:ext uri="{FF2B5EF4-FFF2-40B4-BE49-F238E27FC236}">
                <a16:creationId xmlns:a16="http://schemas.microsoft.com/office/drawing/2014/main" id="{36948929-A4A0-4C44-81CD-00C425199B75}"/>
              </a:ext>
            </a:extLst>
          </p:cNvPr>
          <p:cNvSpPr/>
          <p:nvPr/>
        </p:nvSpPr>
        <p:spPr>
          <a:xfrm>
            <a:off x="333069" y="3841109"/>
            <a:ext cx="10539369" cy="338554"/>
          </a:xfrm>
          <a:prstGeom prst="rect">
            <a:avLst/>
          </a:prstGeom>
        </p:spPr>
        <p:txBody>
          <a:bodyPr wrap="square">
            <a:spAutoFit/>
          </a:bodyPr>
          <a:lstStyle/>
          <a:p>
            <a:r>
              <a:rPr lang="en-US" altLang="ko-KR" sz="1600" b="1"/>
              <a:t>Example code :  </a:t>
            </a:r>
            <a:r>
              <a:rPr lang="ko-KR" altLang="en-US" sz="1600" b="1"/>
              <a:t>파일 </a:t>
            </a:r>
            <a:r>
              <a:rPr lang="en-US" altLang="ko-KR" sz="1600" b="1">
                <a:sym typeface="Wingdings" panose="05000000000000000000" pitchFamily="2" charset="2"/>
              </a:rPr>
              <a:t> </a:t>
            </a:r>
            <a:r>
              <a:rPr lang="ko-KR" altLang="en-US" sz="1600" b="1">
                <a:sym typeface="Wingdings" panose="05000000000000000000" pitchFamily="2" charset="2"/>
              </a:rPr>
              <a:t>예제 </a:t>
            </a:r>
            <a:r>
              <a:rPr lang="en-US" altLang="ko-KR" sz="1600" b="1">
                <a:sym typeface="Wingdings" panose="05000000000000000000" pitchFamily="2" charset="2"/>
              </a:rPr>
              <a:t> ESP32  DeepSleep  TouchWakeUp</a:t>
            </a:r>
            <a:endParaRPr lang="ko-KR" altLang="en-US" sz="1600" b="1"/>
          </a:p>
        </p:txBody>
      </p:sp>
      <p:sp>
        <p:nvSpPr>
          <p:cNvPr id="6" name="직사각형 5">
            <a:extLst>
              <a:ext uri="{FF2B5EF4-FFF2-40B4-BE49-F238E27FC236}">
                <a16:creationId xmlns:a16="http://schemas.microsoft.com/office/drawing/2014/main" id="{72E3F419-4954-4AC6-B6E2-FAE94F501585}"/>
              </a:ext>
            </a:extLst>
          </p:cNvPr>
          <p:cNvSpPr/>
          <p:nvPr/>
        </p:nvSpPr>
        <p:spPr>
          <a:xfrm>
            <a:off x="0" y="6488668"/>
            <a:ext cx="9221478" cy="369332"/>
          </a:xfrm>
          <a:prstGeom prst="rect">
            <a:avLst/>
          </a:prstGeom>
        </p:spPr>
        <p:txBody>
          <a:bodyPr wrap="square">
            <a:spAutoFit/>
          </a:bodyPr>
          <a:lstStyle/>
          <a:p>
            <a:r>
              <a:rPr lang="en-US" altLang="ko-KR">
                <a:hlinkClick r:id="rId2"/>
              </a:rPr>
              <a:t>ESP32 Deep Sleep with Arduino IDE and Wake Up Sources | Random Nerd Tutorials</a:t>
            </a:r>
            <a:endParaRPr lang="ko-KR" altLang="en-US"/>
          </a:p>
        </p:txBody>
      </p:sp>
    </p:spTree>
    <p:extLst>
      <p:ext uri="{BB962C8B-B14F-4D97-AF65-F5344CB8AC3E}">
        <p14:creationId xmlns:p14="http://schemas.microsoft.com/office/powerpoint/2010/main" val="1596176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Touch Wake-Up  Code </a:t>
            </a:r>
            <a:r>
              <a:rPr lang="ko-KR" altLang="en-US" b="1">
                <a:solidFill>
                  <a:schemeClr val="tx1"/>
                </a:solidFill>
              </a:rPr>
              <a:t>분석</a:t>
            </a:r>
          </a:p>
        </p:txBody>
      </p:sp>
      <p:sp>
        <p:nvSpPr>
          <p:cNvPr id="6" name="TextBox 5">
            <a:extLst>
              <a:ext uri="{FF2B5EF4-FFF2-40B4-BE49-F238E27FC236}">
                <a16:creationId xmlns:a16="http://schemas.microsoft.com/office/drawing/2014/main" id="{2F29EF28-E093-45BF-B437-0CE0F761ACAB}"/>
              </a:ext>
            </a:extLst>
          </p:cNvPr>
          <p:cNvSpPr txBox="1"/>
          <p:nvPr/>
        </p:nvSpPr>
        <p:spPr>
          <a:xfrm>
            <a:off x="211873" y="724829"/>
            <a:ext cx="2092689" cy="369332"/>
          </a:xfrm>
          <a:prstGeom prst="rect">
            <a:avLst/>
          </a:prstGeom>
          <a:noFill/>
        </p:spPr>
        <p:txBody>
          <a:bodyPr wrap="none" rtlCol="0">
            <a:spAutoFit/>
          </a:bodyPr>
          <a:lstStyle/>
          <a:p>
            <a:r>
              <a:rPr lang="en-US" altLang="ko-KR" b="1">
                <a:solidFill>
                  <a:srgbClr val="002060"/>
                </a:solidFill>
              </a:rPr>
              <a:t>1. Threshold </a:t>
            </a:r>
            <a:r>
              <a:rPr lang="ko-KR" altLang="en-US" b="1">
                <a:solidFill>
                  <a:srgbClr val="002060"/>
                </a:solidFill>
              </a:rPr>
              <a:t>설정</a:t>
            </a:r>
          </a:p>
        </p:txBody>
      </p:sp>
      <p:sp>
        <p:nvSpPr>
          <p:cNvPr id="7" name="직사각형 6">
            <a:extLst>
              <a:ext uri="{FF2B5EF4-FFF2-40B4-BE49-F238E27FC236}">
                <a16:creationId xmlns:a16="http://schemas.microsoft.com/office/drawing/2014/main" id="{84FC48C1-F2A8-449B-A26F-03F5C5822D91}"/>
              </a:ext>
            </a:extLst>
          </p:cNvPr>
          <p:cNvSpPr/>
          <p:nvPr/>
        </p:nvSpPr>
        <p:spPr>
          <a:xfrm>
            <a:off x="494371" y="1094161"/>
            <a:ext cx="6096000" cy="338554"/>
          </a:xfrm>
          <a:prstGeom prst="rect">
            <a:avLst/>
          </a:prstGeom>
        </p:spPr>
        <p:txBody>
          <a:bodyPr>
            <a:spAutoFit/>
          </a:bodyPr>
          <a:lstStyle/>
          <a:p>
            <a:r>
              <a:rPr lang="ko-KR" altLang="en-US" sz="1600"/>
              <a:t>먼저 해야 할 일은 터치 핀에 대한 임계값을 설정하는 것이다</a:t>
            </a:r>
            <a:r>
              <a:rPr lang="en-US" altLang="ko-KR" sz="1600"/>
              <a:t>.</a:t>
            </a:r>
            <a:endParaRPr lang="ko-KR" altLang="en-US" sz="1600"/>
          </a:p>
        </p:txBody>
      </p:sp>
      <p:sp>
        <p:nvSpPr>
          <p:cNvPr id="8" name="직사각형 7">
            <a:extLst>
              <a:ext uri="{FF2B5EF4-FFF2-40B4-BE49-F238E27FC236}">
                <a16:creationId xmlns:a16="http://schemas.microsoft.com/office/drawing/2014/main" id="{984B4A23-CA79-4D24-9F7C-16A4EAFE6E86}"/>
              </a:ext>
            </a:extLst>
          </p:cNvPr>
          <p:cNvSpPr/>
          <p:nvPr/>
        </p:nvSpPr>
        <p:spPr>
          <a:xfrm>
            <a:off x="494371" y="1617381"/>
            <a:ext cx="9285249"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40 </a:t>
            </a:r>
            <a:r>
              <a:rPr lang="en-US" altLang="ko-KR">
                <a:solidFill>
                  <a:srgbClr val="708090"/>
                </a:solidFill>
                <a:latin typeface="Consolas" panose="020B0609020204030204" pitchFamily="49" charset="0"/>
              </a:rPr>
              <a:t>// Greater the value, more the sensitivity</a:t>
            </a:r>
            <a:endParaRPr lang="ko-KR" altLang="en-US"/>
          </a:p>
        </p:txBody>
      </p:sp>
      <p:sp>
        <p:nvSpPr>
          <p:cNvPr id="9" name="직사각형 8">
            <a:extLst>
              <a:ext uri="{FF2B5EF4-FFF2-40B4-BE49-F238E27FC236}">
                <a16:creationId xmlns:a16="http://schemas.microsoft.com/office/drawing/2014/main" id="{E770464F-F583-4B22-82DA-9FC5CF9F7C09}"/>
              </a:ext>
            </a:extLst>
          </p:cNvPr>
          <p:cNvSpPr/>
          <p:nvPr/>
        </p:nvSpPr>
        <p:spPr>
          <a:xfrm>
            <a:off x="494371" y="2171379"/>
            <a:ext cx="11348224" cy="1891352"/>
          </a:xfrm>
          <a:prstGeom prst="rect">
            <a:avLst/>
          </a:prstGeom>
        </p:spPr>
        <p:txBody>
          <a:bodyPr wrap="square">
            <a:spAutoFit/>
          </a:bodyPr>
          <a:lstStyle/>
          <a:p>
            <a:pPr marL="177800" indent="-177800">
              <a:lnSpc>
                <a:spcPct val="150000"/>
              </a:lnSpc>
              <a:buFont typeface="Arial" panose="020B0604020202020204" pitchFamily="34" charset="0"/>
              <a:buChar char="•"/>
            </a:pPr>
            <a:r>
              <a:rPr lang="ko-KR" altLang="en-US" sz="1600"/>
              <a:t>임계값은 터치 핀에서 읽은 값이 </a:t>
            </a:r>
            <a:r>
              <a:rPr lang="en-US" altLang="ko-KR" sz="1600"/>
              <a:t>40 </a:t>
            </a:r>
            <a:r>
              <a:rPr lang="ko-KR" altLang="en-US" sz="1600"/>
              <a:t>미만일 때 </a:t>
            </a:r>
            <a:r>
              <a:rPr lang="en-US" altLang="ko-KR" sz="1600"/>
              <a:t>ESP32</a:t>
            </a:r>
            <a:r>
              <a:rPr lang="ko-KR" altLang="en-US" sz="1600"/>
              <a:t>를 깨운다는 것을 의미한다</a:t>
            </a:r>
            <a:r>
              <a:rPr lang="en-US" altLang="ko-KR" sz="1600"/>
              <a:t>. </a:t>
            </a:r>
            <a:br>
              <a:rPr lang="en-US" altLang="ko-KR" sz="1600"/>
            </a:br>
            <a:r>
              <a:rPr lang="ko-KR" altLang="en-US" sz="1600"/>
              <a:t>원하는 민감도에 따라 이 값을 조정할 수 있습니다</a:t>
            </a:r>
            <a:r>
              <a:rPr lang="en-US" altLang="ko-KR" sz="1600"/>
              <a:t>.</a:t>
            </a:r>
          </a:p>
          <a:p>
            <a:pPr marL="177800" indent="-177800">
              <a:lnSpc>
                <a:spcPct val="150000"/>
              </a:lnSpc>
              <a:buFont typeface="Arial" panose="020B0604020202020204" pitchFamily="34" charset="0"/>
              <a:buChar char="•"/>
            </a:pPr>
            <a:r>
              <a:rPr lang="ko-KR" altLang="en-US" sz="1600"/>
              <a:t>중요</a:t>
            </a:r>
            <a:r>
              <a:rPr lang="en-US" altLang="ko-KR" sz="1600"/>
              <a:t>: </a:t>
            </a:r>
            <a:r>
              <a:rPr lang="ko-KR" altLang="en-US" sz="1600"/>
              <a:t>그러나 </a:t>
            </a:r>
            <a:r>
              <a:rPr lang="en-US" altLang="ko-KR" sz="1600"/>
              <a:t>ESP32-S2 </a:t>
            </a:r>
            <a:r>
              <a:rPr lang="ko-KR" altLang="en-US" sz="1600"/>
              <a:t>또는 </a:t>
            </a:r>
            <a:r>
              <a:rPr lang="en-US" altLang="ko-KR" sz="1600"/>
              <a:t>ESP32-S3 </a:t>
            </a:r>
            <a:r>
              <a:rPr lang="ko-KR" altLang="en-US" sz="1600"/>
              <a:t>모델을 사용하는 경우</a:t>
            </a:r>
            <a:r>
              <a:rPr lang="en-US" altLang="ko-KR" sz="1600"/>
              <a:t>, </a:t>
            </a:r>
            <a:r>
              <a:rPr lang="ko-KR" altLang="en-US" sz="1600"/>
              <a:t>작동 방식이 조금 다르다</a:t>
            </a:r>
            <a:r>
              <a:rPr lang="en-US" altLang="ko-KR" sz="1600"/>
              <a:t>. </a:t>
            </a:r>
            <a:br>
              <a:rPr lang="en-US" altLang="ko-KR" sz="1600"/>
            </a:br>
            <a:r>
              <a:rPr lang="ko-KR" altLang="en-US" sz="1600"/>
              <a:t>그래서 해당 보드에 대해 다른 임계값을 정의하는 코드 섹션이 따로 있으며</a:t>
            </a:r>
            <a:r>
              <a:rPr lang="en-US" altLang="ko-KR" sz="1600"/>
              <a:t>, </a:t>
            </a:r>
            <a:r>
              <a:rPr lang="ko-KR" altLang="en-US" sz="1600"/>
              <a:t>값이 낮을수록 민감도가 더 높아지는 </a:t>
            </a:r>
            <a:br>
              <a:rPr lang="en-US" altLang="ko-KR" sz="1600"/>
            </a:br>
            <a:r>
              <a:rPr lang="ko-KR" altLang="en-US" sz="1600"/>
              <a:t>칩셋도 있다</a:t>
            </a:r>
            <a:r>
              <a:rPr lang="en-US" altLang="ko-KR" sz="1600"/>
              <a:t>.</a:t>
            </a:r>
          </a:p>
        </p:txBody>
      </p:sp>
      <p:sp>
        <p:nvSpPr>
          <p:cNvPr id="10" name="직사각형 9">
            <a:extLst>
              <a:ext uri="{FF2B5EF4-FFF2-40B4-BE49-F238E27FC236}">
                <a16:creationId xmlns:a16="http://schemas.microsoft.com/office/drawing/2014/main" id="{4D4BFD76-31BA-446F-9D71-2775DDAE79EE}"/>
              </a:ext>
            </a:extLst>
          </p:cNvPr>
          <p:cNvSpPr/>
          <p:nvPr/>
        </p:nvSpPr>
        <p:spPr>
          <a:xfrm>
            <a:off x="494371" y="4247397"/>
            <a:ext cx="9787053" cy="2123466"/>
          </a:xfrm>
          <a:prstGeom prst="rect">
            <a:avLst/>
          </a:prstGeom>
          <a:solidFill>
            <a:schemeClr val="bg1">
              <a:lumMod val="95000"/>
            </a:schemeClr>
          </a:solidFill>
        </p:spPr>
        <p:txBody>
          <a:bodyPr wrap="square">
            <a:spAutoFit/>
          </a:bodyPr>
          <a:lstStyle/>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if</a:t>
            </a:r>
            <a:r>
              <a:rPr lang="en-US" altLang="ko-KR">
                <a:solidFill>
                  <a:srgbClr val="990055"/>
                </a:solidFill>
                <a:latin typeface="Consolas" panose="020B0609020204030204" pitchFamily="49" charset="0"/>
              </a:rPr>
              <a:t> CONFIG_IDF_TARGET_ESP32</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40 </a:t>
            </a:r>
            <a:r>
              <a:rPr lang="en-US" altLang="ko-KR">
                <a:solidFill>
                  <a:srgbClr val="708090"/>
                </a:solidFill>
                <a:latin typeface="Consolas" panose="020B0609020204030204" pitchFamily="49" charset="0"/>
              </a:rPr>
              <a:t>// Greater the value, more the sensitivity</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else</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ESP32-S2 and ESP32-S3 + default for other chips (to be adjusted)</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5000 </a:t>
            </a:r>
            <a:r>
              <a:rPr lang="en-US" altLang="ko-KR">
                <a:solidFill>
                  <a:srgbClr val="708090"/>
                </a:solidFill>
                <a:latin typeface="Consolas" panose="020B0609020204030204" pitchFamily="49" charset="0"/>
              </a:rPr>
              <a:t>// Lower the value, more the sensitivity</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endif</a:t>
            </a:r>
            <a:endParaRPr lang="ko-KR" altLang="en-US"/>
          </a:p>
        </p:txBody>
      </p:sp>
    </p:spTree>
    <p:extLst>
      <p:ext uri="{BB962C8B-B14F-4D97-AF65-F5344CB8AC3E}">
        <p14:creationId xmlns:p14="http://schemas.microsoft.com/office/powerpoint/2010/main" val="31172130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Touch Wake-Up  Code </a:t>
            </a:r>
            <a:r>
              <a:rPr lang="ko-KR" altLang="en-US" b="1">
                <a:solidFill>
                  <a:schemeClr val="tx1"/>
                </a:solidFill>
              </a:rPr>
              <a:t>분석</a:t>
            </a:r>
          </a:p>
        </p:txBody>
      </p:sp>
      <p:sp>
        <p:nvSpPr>
          <p:cNvPr id="6" name="TextBox 5">
            <a:extLst>
              <a:ext uri="{FF2B5EF4-FFF2-40B4-BE49-F238E27FC236}">
                <a16:creationId xmlns:a16="http://schemas.microsoft.com/office/drawing/2014/main" id="{2F29EF28-E093-45BF-B437-0CE0F761ACAB}"/>
              </a:ext>
            </a:extLst>
          </p:cNvPr>
          <p:cNvSpPr txBox="1"/>
          <p:nvPr/>
        </p:nvSpPr>
        <p:spPr>
          <a:xfrm>
            <a:off x="211873" y="724829"/>
            <a:ext cx="4512326" cy="369332"/>
          </a:xfrm>
          <a:prstGeom prst="rect">
            <a:avLst/>
          </a:prstGeom>
          <a:noFill/>
        </p:spPr>
        <p:txBody>
          <a:bodyPr wrap="none" rtlCol="0">
            <a:spAutoFit/>
          </a:bodyPr>
          <a:lstStyle/>
          <a:p>
            <a:r>
              <a:rPr lang="en-US" altLang="ko-KR" b="1">
                <a:solidFill>
                  <a:srgbClr val="002060"/>
                </a:solidFill>
              </a:rPr>
              <a:t>2. Wake-up Source </a:t>
            </a:r>
            <a:r>
              <a:rPr lang="ko-KR" altLang="en-US" b="1">
                <a:solidFill>
                  <a:srgbClr val="002060"/>
                </a:solidFill>
              </a:rPr>
              <a:t>로서 </a:t>
            </a:r>
            <a:r>
              <a:rPr lang="en-US" altLang="ko-KR" b="1">
                <a:solidFill>
                  <a:srgbClr val="002060"/>
                </a:solidFill>
              </a:rPr>
              <a:t>Touch pin </a:t>
            </a:r>
            <a:r>
              <a:rPr lang="ko-KR" altLang="en-US" b="1">
                <a:solidFill>
                  <a:srgbClr val="002060"/>
                </a:solidFill>
              </a:rPr>
              <a:t>설정</a:t>
            </a:r>
          </a:p>
        </p:txBody>
      </p:sp>
      <p:sp>
        <p:nvSpPr>
          <p:cNvPr id="7" name="직사각형 6">
            <a:extLst>
              <a:ext uri="{FF2B5EF4-FFF2-40B4-BE49-F238E27FC236}">
                <a16:creationId xmlns:a16="http://schemas.microsoft.com/office/drawing/2014/main" id="{84FC48C1-F2A8-449B-A26F-03F5C5822D91}"/>
              </a:ext>
            </a:extLst>
          </p:cNvPr>
          <p:cNvSpPr/>
          <p:nvPr/>
        </p:nvSpPr>
        <p:spPr>
          <a:xfrm>
            <a:off x="494370" y="1094161"/>
            <a:ext cx="11281317" cy="11526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터치 핀을 웨이크업 소스로 설정하려면 </a:t>
            </a:r>
            <a:r>
              <a:rPr lang="en-US" altLang="ko-KR" sz="1600" b="1"/>
              <a:t>touchSleepWakeUpEnable()</a:t>
            </a:r>
            <a:r>
              <a:rPr lang="ko-KR" altLang="en-US" sz="1600"/>
              <a:t> 함수를 사용할 수 있다</a:t>
            </a:r>
            <a:r>
              <a:rPr lang="en-US" altLang="ko-KR" sz="1600"/>
              <a:t>. </a:t>
            </a:r>
          </a:p>
          <a:p>
            <a:pPr marL="285750" indent="-285750">
              <a:lnSpc>
                <a:spcPct val="150000"/>
              </a:lnSpc>
              <a:buFont typeface="Arial" panose="020B0604020202020204" pitchFamily="34" charset="0"/>
              <a:buChar char="•"/>
            </a:pPr>
            <a:r>
              <a:rPr lang="ko-KR" altLang="en-US" sz="1600"/>
              <a:t>이 함수는 터치 핀과 보드를 깨울 임계값을 인수로 받는다</a:t>
            </a:r>
            <a:r>
              <a:rPr lang="en-US" altLang="ko-KR" sz="1600"/>
              <a:t>.</a:t>
            </a:r>
          </a:p>
          <a:p>
            <a:pPr marL="285750" indent="-285750">
              <a:lnSpc>
                <a:spcPct val="150000"/>
              </a:lnSpc>
              <a:buFont typeface="Arial" panose="020B0604020202020204" pitchFamily="34" charset="0"/>
              <a:buChar char="•"/>
            </a:pPr>
            <a:r>
              <a:rPr lang="ko-KR" altLang="en-US" sz="1600"/>
              <a:t>이 예제에서는 **</a:t>
            </a:r>
            <a:r>
              <a:rPr lang="en-US" altLang="ko-KR" sz="1600"/>
              <a:t>GPIO 15 (T3)**</a:t>
            </a:r>
            <a:r>
              <a:rPr lang="ko-KR" altLang="en-US" sz="1600"/>
              <a:t>와 **</a:t>
            </a:r>
            <a:r>
              <a:rPr lang="en-US" altLang="ko-KR" sz="1600"/>
              <a:t>GPIO 27 (T7)**</a:t>
            </a:r>
            <a:r>
              <a:rPr lang="ko-KR" altLang="en-US" sz="1600"/>
              <a:t>을 동일한 임계값으로 웨이크업 소스로 설정하였다</a:t>
            </a:r>
            <a:r>
              <a:rPr lang="en-US" altLang="ko-KR" sz="1600"/>
              <a:t>.</a:t>
            </a:r>
          </a:p>
        </p:txBody>
      </p:sp>
      <p:sp>
        <p:nvSpPr>
          <p:cNvPr id="3" name="직사각형 2">
            <a:extLst>
              <a:ext uri="{FF2B5EF4-FFF2-40B4-BE49-F238E27FC236}">
                <a16:creationId xmlns:a16="http://schemas.microsoft.com/office/drawing/2014/main" id="{9093C187-790A-474D-9F1F-09D11121C7DE}"/>
              </a:ext>
            </a:extLst>
          </p:cNvPr>
          <p:cNvSpPr/>
          <p:nvPr/>
        </p:nvSpPr>
        <p:spPr>
          <a:xfrm>
            <a:off x="628186" y="2349334"/>
            <a:ext cx="6096000" cy="1707968"/>
          </a:xfrm>
          <a:prstGeom prst="rect">
            <a:avLst/>
          </a:prstGeom>
          <a:solidFill>
            <a:schemeClr val="bg1">
              <a:lumMod val="95000"/>
            </a:schemeClr>
          </a:solidFill>
        </p:spPr>
        <p:txBody>
          <a:bodyPr>
            <a:spAutoFit/>
          </a:bodyPr>
          <a:lstStyle/>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if</a:t>
            </a:r>
            <a:r>
              <a:rPr lang="en-US" altLang="ko-KR">
                <a:solidFill>
                  <a:srgbClr val="990055"/>
                </a:solidFill>
                <a:latin typeface="Consolas" panose="020B0609020204030204" pitchFamily="49" charset="0"/>
              </a:rPr>
              <a:t> CONFIG_IDF_TARGET_ESP32</a:t>
            </a:r>
            <a:r>
              <a:rPr lang="en-US" altLang="ko-KR">
                <a:solidFill>
                  <a:srgbClr val="000000"/>
                </a:solidFill>
                <a:latin typeface="Consolas" panose="020B0609020204030204" pitchFamily="49" charset="0"/>
              </a:rPr>
              <a:t> </a:t>
            </a:r>
            <a:r>
              <a:rPr lang="en-US" altLang="ko-KR">
                <a:solidFill>
                  <a:srgbClr val="708090"/>
                </a:solidFill>
                <a:latin typeface="Consolas" panose="020B0609020204030204" pitchFamily="49" charset="0"/>
              </a:rPr>
              <a:t>// Setup sleep wakeup on Touch Pad 3 + 7 (GPIO15 + GPIO 27)</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T3</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T7</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endParaRPr lang="ko-KR" altLang="en-US"/>
          </a:p>
        </p:txBody>
      </p:sp>
      <p:sp>
        <p:nvSpPr>
          <p:cNvPr id="4" name="직사각형 3">
            <a:extLst>
              <a:ext uri="{FF2B5EF4-FFF2-40B4-BE49-F238E27FC236}">
                <a16:creationId xmlns:a16="http://schemas.microsoft.com/office/drawing/2014/main" id="{5EC0156B-3D16-4949-A286-D06ACD2CAAB6}"/>
              </a:ext>
            </a:extLst>
          </p:cNvPr>
          <p:cNvSpPr/>
          <p:nvPr/>
        </p:nvSpPr>
        <p:spPr>
          <a:xfrm>
            <a:off x="494370" y="4159787"/>
            <a:ext cx="11147501" cy="783356"/>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ESP32-S2 </a:t>
            </a:r>
            <a:r>
              <a:rPr lang="ko-KR" altLang="en-US" sz="1600"/>
              <a:t>또는 </a:t>
            </a:r>
            <a:r>
              <a:rPr lang="en-US" altLang="ko-KR" sz="1600"/>
              <a:t>S3 </a:t>
            </a:r>
            <a:r>
              <a:rPr lang="ko-KR" altLang="en-US" sz="1600"/>
              <a:t>모델을 사용하는 경우</a:t>
            </a:r>
            <a:r>
              <a:rPr lang="en-US" altLang="ko-KR" sz="1600"/>
              <a:t>, </a:t>
            </a:r>
            <a:r>
              <a:rPr lang="ko-KR" altLang="en-US" sz="1600"/>
              <a:t>예제는 **</a:t>
            </a:r>
            <a:r>
              <a:rPr lang="en-US" altLang="ko-KR" sz="1600"/>
              <a:t>GPIO 3 (T3)**</a:t>
            </a:r>
            <a:r>
              <a:rPr lang="ko-KR" altLang="en-US" sz="1600"/>
              <a:t>에서만 웨이크업을 정의하였다</a:t>
            </a:r>
            <a:r>
              <a:rPr lang="en-US" altLang="ko-KR" sz="1600"/>
              <a:t>.</a:t>
            </a:r>
            <a:br>
              <a:rPr lang="en-US" altLang="ko-KR" sz="1600"/>
            </a:br>
            <a:r>
              <a:rPr lang="ko-KR" altLang="en-US" sz="1600"/>
              <a:t>사용하는 보드 모델에 따라 터치 핀 번호가 다를 수 있다는 점에 유의하여야 한다</a:t>
            </a:r>
            <a:r>
              <a:rPr lang="en-US" altLang="ko-KR" sz="1600"/>
              <a:t>.</a:t>
            </a:r>
            <a:endParaRPr lang="ko-KR" altLang="en-US" sz="1600"/>
          </a:p>
        </p:txBody>
      </p:sp>
      <p:sp>
        <p:nvSpPr>
          <p:cNvPr id="5" name="직사각형 4">
            <a:extLst>
              <a:ext uri="{FF2B5EF4-FFF2-40B4-BE49-F238E27FC236}">
                <a16:creationId xmlns:a16="http://schemas.microsoft.com/office/drawing/2014/main" id="{D27168EF-08DD-4807-A735-41380823ED07}"/>
              </a:ext>
            </a:extLst>
          </p:cNvPr>
          <p:cNvSpPr/>
          <p:nvPr/>
        </p:nvSpPr>
        <p:spPr>
          <a:xfrm>
            <a:off x="628186" y="5046910"/>
            <a:ext cx="6096000" cy="923330"/>
          </a:xfrm>
          <a:prstGeom prst="rect">
            <a:avLst/>
          </a:prstGeom>
          <a:solidFill>
            <a:schemeClr val="bg1">
              <a:lumMod val="95000"/>
            </a:schemeClr>
          </a:solidFill>
        </p:spPr>
        <p:txBody>
          <a:bodyPr>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else</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ESP32-S2 + ESP32-S3</a:t>
            </a:r>
            <a:r>
              <a:rPr lang="en-US" altLang="ko-KR">
                <a:solidFill>
                  <a:srgbClr val="000000"/>
                </a:solidFill>
                <a:latin typeface="Consolas" panose="020B0609020204030204" pitchFamily="49" charset="0"/>
              </a:rPr>
              <a:t> </a:t>
            </a:r>
            <a:r>
              <a:rPr lang="en-US" altLang="ko-KR">
                <a:solidFill>
                  <a:srgbClr val="708090"/>
                </a:solidFill>
                <a:latin typeface="Consolas" panose="020B0609020204030204" pitchFamily="49" charset="0"/>
              </a:rPr>
              <a:t>// Setup sleep wakeup on Touch Pad 3 (GPIO3)</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T3</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31922306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설정</a:t>
            </a:r>
          </a:p>
        </p:txBody>
      </p:sp>
      <p:pic>
        <p:nvPicPr>
          <p:cNvPr id="3" name="그림 2">
            <a:extLst>
              <a:ext uri="{FF2B5EF4-FFF2-40B4-BE49-F238E27FC236}">
                <a16:creationId xmlns:a16="http://schemas.microsoft.com/office/drawing/2014/main" id="{0FD4CD1B-B83D-430B-A4C8-AB5A935E750D}"/>
              </a:ext>
            </a:extLst>
          </p:cNvPr>
          <p:cNvPicPr>
            <a:picLocks noChangeAspect="1"/>
          </p:cNvPicPr>
          <p:nvPr/>
        </p:nvPicPr>
        <p:blipFill>
          <a:blip r:embed="rId2"/>
          <a:stretch>
            <a:fillRect/>
          </a:stretch>
        </p:blipFill>
        <p:spPr>
          <a:xfrm>
            <a:off x="2109231" y="1158344"/>
            <a:ext cx="7973538" cy="3305636"/>
          </a:xfrm>
          <a:prstGeom prst="rect">
            <a:avLst/>
          </a:prstGeom>
        </p:spPr>
      </p:pic>
    </p:spTree>
    <p:extLst>
      <p:ext uri="{BB962C8B-B14F-4D97-AF65-F5344CB8AC3E}">
        <p14:creationId xmlns:p14="http://schemas.microsoft.com/office/powerpoint/2010/main" val="41297487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실행</a:t>
            </a:r>
          </a:p>
        </p:txBody>
      </p:sp>
      <p:pic>
        <p:nvPicPr>
          <p:cNvPr id="4" name="그림 3">
            <a:extLst>
              <a:ext uri="{FF2B5EF4-FFF2-40B4-BE49-F238E27FC236}">
                <a16:creationId xmlns:a16="http://schemas.microsoft.com/office/drawing/2014/main" id="{EC9B85A4-1A74-49CD-86E8-EDEAEB729318}"/>
              </a:ext>
            </a:extLst>
          </p:cNvPr>
          <p:cNvPicPr>
            <a:picLocks noChangeAspect="1"/>
          </p:cNvPicPr>
          <p:nvPr/>
        </p:nvPicPr>
        <p:blipFill>
          <a:blip r:embed="rId2"/>
          <a:stretch>
            <a:fillRect/>
          </a:stretch>
        </p:blipFill>
        <p:spPr>
          <a:xfrm>
            <a:off x="685795" y="818438"/>
            <a:ext cx="9288171" cy="4677428"/>
          </a:xfrm>
          <a:prstGeom prst="rect">
            <a:avLst/>
          </a:prstGeom>
        </p:spPr>
      </p:pic>
      <p:sp>
        <p:nvSpPr>
          <p:cNvPr id="5" name="사각형: 둥근 모서리 4">
            <a:extLst>
              <a:ext uri="{FF2B5EF4-FFF2-40B4-BE49-F238E27FC236}">
                <a16:creationId xmlns:a16="http://schemas.microsoft.com/office/drawing/2014/main" id="{F9F0362E-AE39-4EE9-B05D-1346721756AF}"/>
              </a:ext>
            </a:extLst>
          </p:cNvPr>
          <p:cNvSpPr/>
          <p:nvPr/>
        </p:nvSpPr>
        <p:spPr>
          <a:xfrm>
            <a:off x="494270" y="4040659"/>
            <a:ext cx="2273644" cy="30891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C6EC98A-CB68-47D3-94B5-8E329425C3A3}"/>
              </a:ext>
            </a:extLst>
          </p:cNvPr>
          <p:cNvSpPr txBox="1"/>
          <p:nvPr/>
        </p:nvSpPr>
        <p:spPr>
          <a:xfrm>
            <a:off x="685795" y="5779045"/>
            <a:ext cx="5919957" cy="646331"/>
          </a:xfrm>
          <a:prstGeom prst="rect">
            <a:avLst/>
          </a:prstGeom>
          <a:noFill/>
        </p:spPr>
        <p:txBody>
          <a:bodyPr wrap="square" rtlCol="0">
            <a:spAutoFit/>
          </a:bodyPr>
          <a:lstStyle/>
          <a:p>
            <a:r>
              <a:rPr lang="ko-KR" altLang="en-US"/>
              <a:t>감도가 예민하면</a:t>
            </a:r>
            <a:r>
              <a:rPr lang="en-US" altLang="ko-KR"/>
              <a:t>, </a:t>
            </a:r>
            <a:r>
              <a:rPr lang="ko-KR" altLang="en-US"/>
              <a:t> </a:t>
            </a:r>
            <a:r>
              <a:rPr lang="en-US" altLang="ko-KR"/>
              <a:t>threshold </a:t>
            </a:r>
            <a:r>
              <a:rPr lang="ko-KR" altLang="en-US"/>
              <a:t>값을 낮추어야 한다</a:t>
            </a:r>
            <a:r>
              <a:rPr lang="en-US" altLang="ko-KR"/>
              <a:t>. </a:t>
            </a:r>
          </a:p>
          <a:p>
            <a:r>
              <a:rPr lang="ko-KR" altLang="en-US"/>
              <a:t>실험 결과 감도가 너무 높아 </a:t>
            </a:r>
            <a:r>
              <a:rPr lang="en-US" altLang="ko-KR"/>
              <a:t>10</a:t>
            </a:r>
            <a:r>
              <a:rPr lang="ko-KR" altLang="en-US"/>
              <a:t>으로 수정함</a:t>
            </a:r>
            <a:r>
              <a:rPr lang="en-US" altLang="ko-KR"/>
              <a:t>.</a:t>
            </a:r>
            <a:endParaRPr lang="ko-KR" altLang="en-US"/>
          </a:p>
        </p:txBody>
      </p:sp>
    </p:spTree>
    <p:extLst>
      <p:ext uri="{BB962C8B-B14F-4D97-AF65-F5344CB8AC3E}">
        <p14:creationId xmlns:p14="http://schemas.microsoft.com/office/powerpoint/2010/main" val="30415174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088292"/>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4800" b="1">
                <a:solidFill>
                  <a:schemeClr val="tx1"/>
                </a:solidFill>
              </a:rPr>
              <a:t> External Wake Up(ext0)</a:t>
            </a:r>
            <a:endParaRPr lang="ko-KR" altLang="en-US" sz="4800" b="1">
              <a:solidFill>
                <a:schemeClr val="tx1"/>
              </a:solidFill>
            </a:endParaRPr>
          </a:p>
        </p:txBody>
      </p:sp>
      <p:sp>
        <p:nvSpPr>
          <p:cNvPr id="3" name="직사각형 2">
            <a:extLst>
              <a:ext uri="{FF2B5EF4-FFF2-40B4-BE49-F238E27FC236}">
                <a16:creationId xmlns:a16="http://schemas.microsoft.com/office/drawing/2014/main" id="{632C0D06-040F-49CF-9EE0-B5D9C5ED351B}"/>
              </a:ext>
            </a:extLst>
          </p:cNvPr>
          <p:cNvSpPr/>
          <p:nvPr/>
        </p:nvSpPr>
        <p:spPr>
          <a:xfrm>
            <a:off x="1056237" y="2457644"/>
            <a:ext cx="9735494"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타이머와 터치 핀 외에도</a:t>
            </a:r>
            <a:r>
              <a:rPr lang="en-US" altLang="ko-KR"/>
              <a:t>, </a:t>
            </a:r>
            <a:br>
              <a:rPr lang="en-US" altLang="ko-KR"/>
            </a:br>
            <a:r>
              <a:rPr lang="en-US" altLang="ko-KR"/>
              <a:t>ESP32</a:t>
            </a:r>
            <a:r>
              <a:rPr lang="ko-KR" altLang="en-US"/>
              <a:t>는 핀 신호 값을 변경하여</a:t>
            </a:r>
            <a:r>
              <a:rPr lang="en-US" altLang="ko-KR"/>
              <a:t>(</a:t>
            </a:r>
            <a:r>
              <a:rPr lang="ko-KR" altLang="en-US"/>
              <a:t>예</a:t>
            </a:r>
            <a:r>
              <a:rPr lang="en-US" altLang="ko-KR"/>
              <a:t>: </a:t>
            </a:r>
            <a:r>
              <a:rPr lang="ko-KR" altLang="en-US"/>
              <a:t>버튼을 누르는 것</a:t>
            </a:r>
            <a:r>
              <a:rPr lang="en-US" altLang="ko-KR"/>
              <a:t>) </a:t>
            </a:r>
            <a:r>
              <a:rPr lang="ko-KR" altLang="en-US"/>
              <a:t>딥슬립 상태에서 깨어날 수 있다</a:t>
            </a:r>
            <a:r>
              <a:rPr lang="en-US" altLang="ko-KR"/>
              <a:t>. </a:t>
            </a:r>
          </a:p>
          <a:p>
            <a:pPr marL="285750" indent="-285750">
              <a:lnSpc>
                <a:spcPct val="150000"/>
              </a:lnSpc>
              <a:buFont typeface="Arial" panose="020B0604020202020204" pitchFamily="34" charset="0"/>
              <a:buChar char="•"/>
            </a:pPr>
            <a:r>
              <a:rPr lang="ko-KR" altLang="en-US"/>
              <a:t>이를 외부 웨이크업이라고 한다</a:t>
            </a:r>
            <a:r>
              <a:rPr lang="en-US" altLang="ko-KR"/>
              <a:t>. </a:t>
            </a:r>
          </a:p>
          <a:p>
            <a:pPr marL="285750" indent="-285750">
              <a:lnSpc>
                <a:spcPct val="150000"/>
              </a:lnSpc>
              <a:buFont typeface="Arial" panose="020B0604020202020204" pitchFamily="34" charset="0"/>
              <a:buChar char="•"/>
            </a:pPr>
            <a:r>
              <a:rPr lang="ko-KR" altLang="en-US"/>
              <a:t>외부 웨이크업에는 </a:t>
            </a:r>
            <a:r>
              <a:rPr lang="en-US" altLang="ko-KR"/>
              <a:t>ext0</a:t>
            </a:r>
            <a:r>
              <a:rPr lang="ko-KR" altLang="en-US"/>
              <a:t>과 </a:t>
            </a:r>
            <a:r>
              <a:rPr lang="en-US" altLang="ko-KR"/>
              <a:t>ext1 </a:t>
            </a:r>
            <a:r>
              <a:rPr lang="ko-KR" altLang="en-US"/>
              <a:t>두 가지 옵션이 있다</a:t>
            </a:r>
            <a:r>
              <a:rPr lang="en-US" altLang="ko-KR"/>
              <a:t>.</a:t>
            </a:r>
            <a:endParaRPr lang="ko-KR" altLang="en-US"/>
          </a:p>
        </p:txBody>
      </p:sp>
    </p:spTree>
    <p:extLst>
      <p:ext uri="{BB962C8B-B14F-4D97-AF65-F5344CB8AC3E}">
        <p14:creationId xmlns:p14="http://schemas.microsoft.com/office/powerpoint/2010/main" val="16059529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External Wake Up(ext0)</a:t>
            </a:r>
            <a:endParaRPr lang="ko-KR" altLang="en-US" b="1">
              <a:solidFill>
                <a:schemeClr val="tx1"/>
              </a:solidFill>
            </a:endParaRPr>
          </a:p>
        </p:txBody>
      </p:sp>
      <p:sp>
        <p:nvSpPr>
          <p:cNvPr id="3" name="직사각형 2">
            <a:extLst>
              <a:ext uri="{FF2B5EF4-FFF2-40B4-BE49-F238E27FC236}">
                <a16:creationId xmlns:a16="http://schemas.microsoft.com/office/drawing/2014/main" id="{3000709A-A92D-4C94-AAB2-AF98DB371D6A}"/>
              </a:ext>
            </a:extLst>
          </p:cNvPr>
          <p:cNvSpPr/>
          <p:nvPr/>
        </p:nvSpPr>
        <p:spPr>
          <a:xfrm>
            <a:off x="259532" y="777357"/>
            <a:ext cx="11528080" cy="11526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핀을 이용해 </a:t>
            </a:r>
            <a:r>
              <a:rPr lang="en-US" altLang="ko-KR" sz="1600"/>
              <a:t>ESP32</a:t>
            </a:r>
            <a:r>
              <a:rPr lang="ko-KR" altLang="en-US" sz="1600"/>
              <a:t>를 깨울 수 있으며</a:t>
            </a:r>
            <a:r>
              <a:rPr lang="en-US" altLang="ko-KR" sz="1600"/>
              <a:t>, RTC GPIOs </a:t>
            </a:r>
            <a:r>
              <a:rPr lang="ko-KR" altLang="en-US" sz="1600"/>
              <a:t>를 사용한다</a:t>
            </a:r>
            <a:r>
              <a:rPr lang="en-US" altLang="ko-KR" sz="1600"/>
              <a:t>.</a:t>
            </a:r>
          </a:p>
          <a:p>
            <a:pPr marL="285750" indent="-285750">
              <a:lnSpc>
                <a:spcPct val="150000"/>
              </a:lnSpc>
              <a:buFont typeface="Arial" panose="020B0604020202020204" pitchFamily="34" charset="0"/>
              <a:buChar char="•"/>
            </a:pPr>
            <a:r>
              <a:rPr lang="ko-KR" altLang="en-US" sz="1600"/>
              <a:t>따라서 이 웨이크업 소스를 요청하면 딥슬립 중에도 </a:t>
            </a:r>
            <a:r>
              <a:rPr lang="en-US" altLang="ko-KR" sz="1600"/>
              <a:t>RTC </a:t>
            </a:r>
            <a:r>
              <a:rPr lang="ko-KR" altLang="en-US" sz="1600"/>
              <a:t>주변 장치가 유지된다</a:t>
            </a:r>
            <a:r>
              <a:rPr lang="en-US" altLang="ko-KR" sz="1600"/>
              <a:t>.</a:t>
            </a:r>
          </a:p>
          <a:p>
            <a:pPr marL="285750" indent="-285750">
              <a:lnSpc>
                <a:spcPct val="150000"/>
              </a:lnSpc>
              <a:buFont typeface="Arial" panose="020B0604020202020204" pitchFamily="34" charset="0"/>
              <a:buChar char="•"/>
            </a:pPr>
            <a:r>
              <a:rPr lang="ko-KR" altLang="en-US" sz="1600"/>
              <a:t>이 웨이크업 소스를 사용하려면 다음 함수를 사용한다</a:t>
            </a:r>
            <a:r>
              <a:rPr lang="en-US" altLang="ko-KR" sz="1600"/>
              <a:t>.</a:t>
            </a:r>
          </a:p>
        </p:txBody>
      </p:sp>
      <p:sp>
        <p:nvSpPr>
          <p:cNvPr id="4" name="직사각형 3">
            <a:extLst>
              <a:ext uri="{FF2B5EF4-FFF2-40B4-BE49-F238E27FC236}">
                <a16:creationId xmlns:a16="http://schemas.microsoft.com/office/drawing/2014/main" id="{2137359F-E0DC-43A0-B80C-8B52A7F47B9C}"/>
              </a:ext>
            </a:extLst>
          </p:cNvPr>
          <p:cNvSpPr/>
          <p:nvPr/>
        </p:nvSpPr>
        <p:spPr>
          <a:xfrm>
            <a:off x="673791" y="1987477"/>
            <a:ext cx="6136616"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esp_sleep_enable_ext0_wakeup</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GPIO_NUM_X</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level</a:t>
            </a:r>
            <a:r>
              <a:rPr lang="en-US" altLang="ko-KR">
                <a:solidFill>
                  <a:srgbClr val="999999"/>
                </a:solidFill>
                <a:latin typeface="Consolas" panose="020B0609020204030204" pitchFamily="49" charset="0"/>
              </a:rPr>
              <a:t>)</a:t>
            </a:r>
            <a:endParaRPr lang="ko-KR" altLang="en-US"/>
          </a:p>
        </p:txBody>
      </p:sp>
      <p:sp>
        <p:nvSpPr>
          <p:cNvPr id="5" name="직사각형 4">
            <a:extLst>
              <a:ext uri="{FF2B5EF4-FFF2-40B4-BE49-F238E27FC236}">
                <a16:creationId xmlns:a16="http://schemas.microsoft.com/office/drawing/2014/main" id="{D777C629-39DF-403E-B25F-B1694B158847}"/>
              </a:ext>
            </a:extLst>
          </p:cNvPr>
          <p:cNvSpPr/>
          <p:nvPr/>
        </p:nvSpPr>
        <p:spPr>
          <a:xfrm>
            <a:off x="259532" y="2414241"/>
            <a:ext cx="11528080"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첫번째 인수에는 핀 번호를 입력하고 두 번째 인수 </a:t>
            </a:r>
            <a:r>
              <a:rPr lang="en-US" altLang="ko-KR" sz="1600"/>
              <a:t>level </a:t>
            </a:r>
            <a:r>
              <a:rPr lang="ko-KR" altLang="en-US" sz="1600"/>
              <a:t>은 </a:t>
            </a:r>
            <a:r>
              <a:rPr lang="en-US" altLang="ko-KR" sz="1600"/>
              <a:t>1 </a:t>
            </a:r>
            <a:r>
              <a:rPr lang="ko-KR" altLang="en-US" sz="1600"/>
              <a:t>또는 </a:t>
            </a:r>
            <a:r>
              <a:rPr lang="en-US" altLang="ko-KR" sz="1600"/>
              <a:t>0 </a:t>
            </a:r>
            <a:r>
              <a:rPr lang="ko-KR" altLang="en-US" sz="1600"/>
              <a:t>으로 설정할 수 있다</a:t>
            </a:r>
            <a:r>
              <a:rPr lang="en-US" altLang="ko-KR" sz="1600"/>
              <a:t>. </a:t>
            </a:r>
            <a:r>
              <a:rPr lang="ko-KR" altLang="en-US" sz="1600"/>
              <a:t>트리거 상태를 의미한다</a:t>
            </a:r>
            <a:r>
              <a:rPr lang="en-US" altLang="ko-KR" sz="1600"/>
              <a:t>.</a:t>
            </a:r>
          </a:p>
        </p:txBody>
      </p:sp>
    </p:spTree>
    <p:extLst>
      <p:ext uri="{BB962C8B-B14F-4D97-AF65-F5344CB8AC3E}">
        <p14:creationId xmlns:p14="http://schemas.microsoft.com/office/powerpoint/2010/main" val="6237414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External Wake Up(ext1)</a:t>
            </a:r>
            <a:endParaRPr lang="ko-KR" altLang="en-US" b="1">
              <a:solidFill>
                <a:schemeClr val="tx1"/>
              </a:solidFill>
            </a:endParaRPr>
          </a:p>
        </p:txBody>
      </p:sp>
      <p:sp>
        <p:nvSpPr>
          <p:cNvPr id="3" name="직사각형 2">
            <a:extLst>
              <a:ext uri="{FF2B5EF4-FFF2-40B4-BE49-F238E27FC236}">
                <a16:creationId xmlns:a16="http://schemas.microsoft.com/office/drawing/2014/main" id="{3000709A-A92D-4C94-AAB2-AF98DB371D6A}"/>
              </a:ext>
            </a:extLst>
          </p:cNvPr>
          <p:cNvSpPr/>
          <p:nvPr/>
        </p:nvSpPr>
        <p:spPr>
          <a:xfrm>
            <a:off x="259532" y="777357"/>
            <a:ext cx="11528080"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 모드에서는 </a:t>
            </a:r>
            <a:r>
              <a:rPr lang="en-US" altLang="ko-KR" sz="1600"/>
              <a:t>RTC </a:t>
            </a:r>
            <a:r>
              <a:rPr lang="ko-KR" altLang="en-US" sz="1600"/>
              <a:t>주변 장치와 </a:t>
            </a:r>
            <a:r>
              <a:rPr lang="en-US" altLang="ko-KR" sz="1600"/>
              <a:t>RTC </a:t>
            </a:r>
            <a:r>
              <a:rPr lang="ko-KR" altLang="en-US" sz="1600"/>
              <a:t>메모리 전원을 차단할 수 있다</a:t>
            </a:r>
            <a:r>
              <a:rPr lang="en-US" altLang="ko-KR" sz="1600"/>
              <a:t>. </a:t>
            </a:r>
          </a:p>
        </p:txBody>
      </p:sp>
      <p:sp>
        <p:nvSpPr>
          <p:cNvPr id="6" name="직사각형 5">
            <a:extLst>
              <a:ext uri="{FF2B5EF4-FFF2-40B4-BE49-F238E27FC236}">
                <a16:creationId xmlns:a16="http://schemas.microsoft.com/office/drawing/2014/main" id="{9CF4B117-F1F8-4352-809A-649141E472F5}"/>
              </a:ext>
            </a:extLst>
          </p:cNvPr>
          <p:cNvSpPr/>
          <p:nvPr/>
        </p:nvSpPr>
        <p:spPr>
          <a:xfrm>
            <a:off x="552849" y="1248813"/>
            <a:ext cx="6136616"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esp_sleep_enable_ext1_wakeup_io</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mode</a:t>
            </a:r>
            <a:r>
              <a:rPr lang="en-US" altLang="ko-KR">
                <a:solidFill>
                  <a:srgbClr val="999999"/>
                </a:solidFill>
                <a:latin typeface="Consolas" panose="020B0609020204030204" pitchFamily="49" charset="0"/>
              </a:rPr>
              <a:t>);</a:t>
            </a:r>
            <a:endParaRPr lang="ko-KR" altLang="en-US"/>
          </a:p>
        </p:txBody>
      </p:sp>
      <p:sp>
        <p:nvSpPr>
          <p:cNvPr id="7" name="Rectangle 1">
            <a:extLst>
              <a:ext uri="{FF2B5EF4-FFF2-40B4-BE49-F238E27FC236}">
                <a16:creationId xmlns:a16="http://schemas.microsoft.com/office/drawing/2014/main" id="{7ECDF279-0717-4695-901D-4CD8DD286237}"/>
              </a:ext>
            </a:extLst>
          </p:cNvPr>
          <p:cNvSpPr>
            <a:spLocks noChangeArrowheads="1"/>
          </p:cNvSpPr>
          <p:nvPr/>
        </p:nvSpPr>
        <p:spPr bwMode="auto">
          <a:xfrm>
            <a:off x="367749" y="1800708"/>
            <a:ext cx="8097473" cy="2262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 함수는 두 개의 인수를 받</a:t>
            </a:r>
            <a:r>
              <a:rPr kumimoji="0" lang="ko-KR" altLang="en-US" sz="1600" b="0" i="0" u="none" strike="noStrike" cap="none" normalizeH="0" baseline="0">
                <a:ln>
                  <a:noFill/>
                </a:ln>
                <a:solidFill>
                  <a:schemeClr val="tx1"/>
                </a:solidFill>
                <a:effectLst/>
                <a:latin typeface="Arial" panose="020B0604020202020204" pitchFamily="34" charset="0"/>
              </a:rPr>
              <a:t>는</a:t>
            </a:r>
            <a:r>
              <a:rPr kumimoji="0" lang="ko-KR" altLang="ko-KR" sz="1600" b="0" i="0" u="none" strike="noStrike" cap="none" normalizeH="0" baseline="0">
                <a:ln>
                  <a:noFill/>
                </a:ln>
                <a:solidFill>
                  <a:schemeClr val="tx1"/>
                </a:solidFill>
                <a:effectLst/>
                <a:latin typeface="Arial" panose="020B0604020202020204" pitchFamily="34" charset="0"/>
              </a:rPr>
              <a:t>다:</a:t>
            </a:r>
          </a:p>
          <a:p>
            <a:pPr marL="457200" marR="0" lvl="0" indent="-188913" algn="l" defTabSz="914400" rtl="0" eaLnBrk="0" fontAlgn="base" latinLnBrk="0" hangingPunct="0">
              <a:lnSpc>
                <a:spcPct val="150000"/>
              </a:lnSpc>
              <a:spcBef>
                <a:spcPct val="0"/>
              </a:spcBef>
              <a:spcAft>
                <a:spcPct val="0"/>
              </a:spcAft>
              <a:buClrTx/>
              <a:buSzTx/>
              <a:buFontTx/>
              <a:buAutoNum type="arabicPeriod"/>
              <a:tabLst/>
            </a:pPr>
            <a:r>
              <a:rPr kumimoji="0" lang="ko-KR" altLang="ko-KR" sz="1600" b="0" i="0" u="none" strike="noStrike" cap="none" normalizeH="0" baseline="0">
                <a:ln>
                  <a:noFill/>
                </a:ln>
                <a:solidFill>
                  <a:schemeClr val="tx1"/>
                </a:solidFill>
                <a:effectLst/>
                <a:latin typeface="Arial" panose="020B0604020202020204" pitchFamily="34" charset="0"/>
              </a:rPr>
              <a:t>웨이크업을 트리거할 GPIO 번호의 비트마스크</a:t>
            </a:r>
          </a:p>
          <a:p>
            <a:pPr marL="457200" marR="0" lvl="0" indent="-188913" algn="l" defTabSz="914400" rtl="0" eaLnBrk="0" fontAlgn="base" latinLnBrk="0" hangingPunct="0">
              <a:lnSpc>
                <a:spcPct val="150000"/>
              </a:lnSpc>
              <a:spcBef>
                <a:spcPct val="0"/>
              </a:spcBef>
              <a:spcAft>
                <a:spcPct val="0"/>
              </a:spcAft>
              <a:buClrTx/>
              <a:buSzTx/>
              <a:buFontTx/>
              <a:buAutoNum type="arabicPeriod" startAt="2"/>
              <a:tabLst/>
            </a:pPr>
            <a:r>
              <a:rPr kumimoji="0" lang="ko-KR" altLang="ko-KR" sz="1600" b="0" i="0" u="none" strike="noStrike" cap="none" normalizeH="0" baseline="0">
                <a:ln>
                  <a:noFill/>
                </a:ln>
                <a:solidFill>
                  <a:schemeClr val="tx1"/>
                </a:solidFill>
                <a:effectLst/>
                <a:latin typeface="Arial" panose="020B0604020202020204" pitchFamily="34" charset="0"/>
              </a:rPr>
              <a:t>모드: ESP32를 깨우는 논리로, 다음 중 하나를 선택할 수 있다:</a:t>
            </a:r>
          </a:p>
          <a:p>
            <a:pPr marL="268287" marR="0" lvl="1" algn="l" defTabSz="914400" rtl="0" eaLnBrk="0" fontAlgn="base" latinLnBrk="0" hangingPunct="0">
              <a:lnSpc>
                <a:spcPct val="150000"/>
              </a:lnSpc>
              <a:spcBef>
                <a:spcPct val="0"/>
              </a:spcBef>
              <a:spcAft>
                <a:spcPct val="0"/>
              </a:spcAft>
              <a:buClrTx/>
              <a:buSzTx/>
              <a:tabLst/>
            </a:pPr>
            <a:r>
              <a:rPr kumimoji="0" lang="en-US" altLang="ko-KR" sz="1600" b="0" i="0" u="none" strike="noStrike" cap="none" normalizeH="0" baseline="0">
                <a:ln>
                  <a:noFill/>
                </a:ln>
                <a:solidFill>
                  <a:schemeClr val="tx1"/>
                </a:solidFill>
                <a:effectLst/>
                <a:latin typeface="Arial Unicode MS"/>
              </a:rPr>
              <a:t> - </a:t>
            </a:r>
            <a:r>
              <a:rPr kumimoji="0" lang="ko-KR" altLang="ko-KR" sz="1600" b="0" i="0" u="none" strike="noStrike" cap="none" normalizeH="0" baseline="0">
                <a:ln>
                  <a:noFill/>
                </a:ln>
                <a:solidFill>
                  <a:schemeClr val="tx1"/>
                </a:solidFill>
                <a:effectLst/>
                <a:latin typeface="Arial Unicode MS"/>
              </a:rPr>
              <a:t>ESP_EXT1_WAKEUP_ALL_LOW</a:t>
            </a:r>
            <a:r>
              <a:rPr kumimoji="0" lang="ko-KR" altLang="ko-KR" sz="1600" b="0" i="0" u="none" strike="noStrike" cap="none" normalizeH="0" baseline="0">
                <a:ln>
                  <a:noFill/>
                </a:ln>
                <a:solidFill>
                  <a:schemeClr val="tx1"/>
                </a:solidFill>
                <a:effectLst/>
              </a:rPr>
              <a:t>: 모든 GPIO가 LOW로 변할 때 웨이크업</a:t>
            </a:r>
            <a:endParaRPr kumimoji="0" lang="ko-KR" altLang="ko-KR" sz="1600" b="0" i="0" u="none" strike="noStrike" cap="none" normalizeH="0" baseline="0">
              <a:ln>
                <a:noFill/>
              </a:ln>
              <a:solidFill>
                <a:schemeClr val="tx1"/>
              </a:solidFill>
              <a:effectLst/>
              <a:latin typeface="Arial" panose="020B0604020202020204" pitchFamily="34" charset="0"/>
            </a:endParaRPr>
          </a:p>
          <a:p>
            <a:pPr marL="268287" marR="0" lvl="1" algn="l" defTabSz="914400" rtl="0" eaLnBrk="0" fontAlgn="base" latinLnBrk="0" hangingPunct="0">
              <a:lnSpc>
                <a:spcPct val="150000"/>
              </a:lnSpc>
              <a:spcBef>
                <a:spcPct val="0"/>
              </a:spcBef>
              <a:spcAft>
                <a:spcPct val="0"/>
              </a:spcAft>
              <a:buClrTx/>
              <a:buSzTx/>
              <a:tabLst/>
            </a:pPr>
            <a:r>
              <a:rPr kumimoji="0" lang="en-US" altLang="ko-KR" sz="1600" b="0" i="0" u="none" strike="noStrike" cap="none" normalizeH="0" baseline="0">
                <a:ln>
                  <a:noFill/>
                </a:ln>
                <a:solidFill>
                  <a:schemeClr val="tx1"/>
                </a:solidFill>
                <a:effectLst/>
                <a:latin typeface="Arial Unicode MS"/>
              </a:rPr>
              <a:t> - </a:t>
            </a:r>
            <a:r>
              <a:rPr kumimoji="0" lang="ko-KR" altLang="ko-KR" sz="1600" b="0" i="0" u="none" strike="noStrike" cap="none" normalizeH="0" baseline="0">
                <a:ln>
                  <a:noFill/>
                </a:ln>
                <a:solidFill>
                  <a:schemeClr val="tx1"/>
                </a:solidFill>
                <a:effectLst/>
                <a:latin typeface="Arial Unicode MS"/>
              </a:rPr>
              <a:t>ESP_EXT1_WAKEUP_ANY_HIGH</a:t>
            </a:r>
            <a:r>
              <a:rPr kumimoji="0" lang="ko-KR" altLang="ko-KR" sz="1600" b="0" i="0" u="none" strike="noStrike" cap="none" normalizeH="0" baseline="0">
                <a:ln>
                  <a:noFill/>
                </a:ln>
                <a:solidFill>
                  <a:schemeClr val="tx1"/>
                </a:solidFill>
                <a:effectLst/>
              </a:rPr>
              <a:t>: GPIO 중 하나라도 HIGH로 변할 때 웨이크업</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200940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a:t>
            </a:r>
          </a:p>
        </p:txBody>
      </p:sp>
      <p:sp>
        <p:nvSpPr>
          <p:cNvPr id="3" name="TextBox 2">
            <a:extLst>
              <a:ext uri="{FF2B5EF4-FFF2-40B4-BE49-F238E27FC236}">
                <a16:creationId xmlns:a16="http://schemas.microsoft.com/office/drawing/2014/main" id="{8971D0F2-ADE0-431B-A308-7493EC587B37}"/>
              </a:ext>
            </a:extLst>
          </p:cNvPr>
          <p:cNvSpPr txBox="1"/>
          <p:nvPr/>
        </p:nvSpPr>
        <p:spPr>
          <a:xfrm>
            <a:off x="2579591" y="98352"/>
            <a:ext cx="5738750" cy="338554"/>
          </a:xfrm>
          <a:prstGeom prst="rect">
            <a:avLst/>
          </a:prstGeom>
          <a:noFill/>
        </p:spPr>
        <p:txBody>
          <a:bodyPr wrap="none" rtlCol="0">
            <a:spAutoFit/>
          </a:bodyPr>
          <a:lstStyle/>
          <a:p>
            <a:pPr marL="285750" indent="-285750">
              <a:buFont typeface="Arial" panose="020B0604020202020204" pitchFamily="34" charset="0"/>
              <a:buChar char="•"/>
            </a:pPr>
            <a:r>
              <a:rPr lang="ko-KR" altLang="en-US" sz="1600"/>
              <a:t>파일 </a:t>
            </a:r>
            <a:r>
              <a:rPr lang="en-US" altLang="ko-KR" sz="1600">
                <a:sym typeface="Wingdings" panose="05000000000000000000" pitchFamily="2" charset="2"/>
              </a:rPr>
              <a:t> </a:t>
            </a:r>
            <a:r>
              <a:rPr lang="ko-KR" altLang="en-US" sz="1600">
                <a:sym typeface="Wingdings" panose="05000000000000000000" pitchFamily="2" charset="2"/>
              </a:rPr>
              <a:t>예제 </a:t>
            </a:r>
            <a:r>
              <a:rPr lang="en-US" altLang="ko-KR" sz="1600">
                <a:sym typeface="Wingdings" panose="05000000000000000000" pitchFamily="2" charset="2"/>
              </a:rPr>
              <a:t> ESP32  DeepSleep  ExternalWakeUp</a:t>
            </a:r>
            <a:endParaRPr lang="ko-KR" altLang="en-US" sz="1600"/>
          </a:p>
        </p:txBody>
      </p:sp>
      <p:sp>
        <p:nvSpPr>
          <p:cNvPr id="4" name="Rectangle 1">
            <a:extLst>
              <a:ext uri="{FF2B5EF4-FFF2-40B4-BE49-F238E27FC236}">
                <a16:creationId xmlns:a16="http://schemas.microsoft.com/office/drawing/2014/main" id="{6B416E04-E208-46F6-B96A-BA8AAAA73D58}"/>
              </a:ext>
            </a:extLst>
          </p:cNvPr>
          <p:cNvSpPr>
            <a:spLocks noChangeArrowheads="1"/>
          </p:cNvSpPr>
          <p:nvPr/>
        </p:nvSpPr>
        <p:spPr bwMode="auto">
          <a:xfrm>
            <a:off x="0" y="633611"/>
            <a:ext cx="12192000" cy="517064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driver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rtc_io.h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BUTTON_PIN_BITMASK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1ULL </a:t>
            </a:r>
            <a:r>
              <a:rPr kumimoji="0" lang="ko-KR" altLang="ko-KR" sz="1600" b="0" i="0" u="none" strike="noStrike" cap="none" normalizeH="0" baseline="0" dirty="0">
                <a:ln>
                  <a:noFill/>
                </a:ln>
                <a:solidFill>
                  <a:srgbClr val="9A6E3A"/>
                </a:solidFill>
                <a:effectLst/>
                <a:latin typeface="Consolas" panose="020B0609020204030204" pitchFamily="49" charset="0"/>
              </a:rPr>
              <a:t>&lt;&lt;</a:t>
            </a:r>
            <a:r>
              <a:rPr kumimoji="0" lang="ko-KR" altLang="ko-KR" sz="1600" b="0" i="0" u="none" strike="noStrike" cap="none" normalizeH="0" baseline="0" dirty="0">
                <a:ln>
                  <a:noFill/>
                </a:ln>
                <a:solidFill>
                  <a:srgbClr val="990055"/>
                </a:solidFill>
                <a:effectLst/>
                <a:latin typeface="Consolas" panose="020B0609020204030204" pitchFamily="49" charset="0"/>
              </a:rPr>
              <a:t> 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2 ^ GPIO_NUMBER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hex</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USE_EXT0_WAKEUP 1 </a:t>
            </a:r>
            <a:r>
              <a:rPr kumimoji="0" lang="en-US"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1 = EXT0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0 = EXT1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WAKEUP_GPIO GPIO_NUM_33 </a:t>
            </a:r>
            <a:r>
              <a:rPr kumimoji="0" lang="en-US"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Only</a:t>
            </a:r>
            <a:r>
              <a:rPr kumimoji="0" lang="ko-KR" altLang="ko-KR" sz="1600" b="0" i="0" u="none" strike="noStrike" cap="none" normalizeH="0" baseline="0" dirty="0">
                <a:ln>
                  <a:noFill/>
                </a:ln>
                <a:solidFill>
                  <a:srgbClr val="708090"/>
                </a:solidFill>
                <a:effectLst/>
                <a:latin typeface="Consolas" panose="020B0609020204030204" pitchFamily="49" charset="0"/>
              </a:rPr>
              <a:t> RTC IO </a:t>
            </a:r>
            <a:r>
              <a:rPr kumimoji="0" lang="ko-KR" altLang="ko-KR" sz="1600" b="0" i="0" u="none" strike="noStrike" cap="none" normalizeH="0" baseline="0" dirty="0" err="1">
                <a:ln>
                  <a:noFill/>
                </a:ln>
                <a:solidFill>
                  <a:srgbClr val="708090"/>
                </a:solidFill>
                <a:effectLst/>
                <a:latin typeface="Consolas" panose="020B0609020204030204" pitchFamily="49" charset="0"/>
              </a:rPr>
              <a:t>are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allowed</a:t>
            </a:r>
            <a:r>
              <a:rPr kumimoji="0" lang="ko-KR" altLang="ko-KR" sz="1600" b="0" i="0" u="none" strike="noStrike" cap="none" normalizeH="0" baseline="0" dirty="0">
                <a:ln>
                  <a:noFill/>
                </a:ln>
                <a:solidFill>
                  <a:srgbClr val="708090"/>
                </a:solidFill>
                <a:effectLst/>
                <a:latin typeface="Consolas" panose="020B0609020204030204" pitchFamily="49" charset="0"/>
              </a:rPr>
              <a:t> - ESP32 </a:t>
            </a:r>
            <a:r>
              <a:rPr kumimoji="0" lang="ko-KR" altLang="ko-KR" sz="1600" b="0" i="0" u="none" strike="noStrike" cap="none" normalizeH="0" baseline="0" dirty="0" err="1">
                <a:ln>
                  <a:noFill/>
                </a:ln>
                <a:solidFill>
                  <a:srgbClr val="708090"/>
                </a:solidFill>
                <a:effectLst/>
                <a:latin typeface="Consolas" panose="020B0609020204030204" pitchFamily="49" charset="0"/>
              </a:rPr>
              <a:t>Pin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example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RTC_DATA_ATTR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Method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reason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which</a:t>
            </a:r>
            <a:r>
              <a:rPr kumimoji="0" lang="ko-KR" altLang="ko-KR" sz="1600" b="0" i="0" u="none" strike="noStrike" cap="none" normalizeH="0" baseline="0" dirty="0">
                <a:ln>
                  <a:noFill/>
                </a:ln>
                <a:solidFill>
                  <a:srgbClr val="708090"/>
                </a:solidFill>
                <a:effectLst/>
                <a:latin typeface="Consolas" panose="020B0609020204030204" pitchFamily="49" charset="0"/>
              </a:rPr>
              <a:t> ESP32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awaken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from</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sleep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esp_sleep_wakeup_cause_t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esp_sleep_get_wakeup_cause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77AA"/>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ESP_SLEEP_WAKEUP_EXT0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external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signal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using</a:t>
            </a:r>
            <a:r>
              <a:rPr kumimoji="0" lang="ko-KR" altLang="ko-KR" sz="1600" b="0" i="0" u="none" strike="noStrike" cap="none" normalizeH="0" baseline="0" dirty="0">
                <a:ln>
                  <a:noFill/>
                </a:ln>
                <a:solidFill>
                  <a:srgbClr val="669900"/>
                </a:solidFill>
                <a:effectLst/>
                <a:latin typeface="Consolas" panose="020B0609020204030204" pitchFamily="49" charset="0"/>
              </a:rPr>
              <a:t> RTC_IO"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ESP_SLEEP_WAKEUP_EXT1</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external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signal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using</a:t>
            </a:r>
            <a:r>
              <a:rPr kumimoji="0" lang="ko-KR" altLang="ko-KR" sz="1600" b="0" i="0" u="none" strike="noStrike" cap="none" normalizeH="0" baseline="0" dirty="0">
                <a:ln>
                  <a:noFill/>
                </a:ln>
                <a:solidFill>
                  <a:srgbClr val="669900"/>
                </a:solidFill>
                <a:effectLst/>
                <a:latin typeface="Consolas" panose="020B0609020204030204" pitchFamily="49" charset="0"/>
              </a:rPr>
              <a:t> RTC_CNTL"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ESP_SLEEP_WAKEUP_TIMER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timer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ESP_SLEEP_WAKEUP_TOUCHPAD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touchpad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ESP_SLEEP_WAKEUP_ULP</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ULP </a:t>
            </a:r>
            <a:r>
              <a:rPr kumimoji="0" lang="ko-KR" altLang="ko-KR" sz="1600" b="0" i="0" u="none" strike="noStrike" cap="none" normalizeH="0" baseline="0" dirty="0" err="1">
                <a:ln>
                  <a:noFill/>
                </a:ln>
                <a:solidFill>
                  <a:srgbClr val="669900"/>
                </a:solidFill>
                <a:effectLst/>
                <a:latin typeface="Consolas" panose="020B0609020204030204" pitchFamily="49" charset="0"/>
              </a:rPr>
              <a:t>program</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default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8F2179C3-B504-4E81-A001-9F94E6349F9F}"/>
              </a:ext>
            </a:extLst>
          </p:cNvPr>
          <p:cNvSpPr>
            <a:spLocks noChangeArrowheads="1"/>
          </p:cNvSpPr>
          <p:nvPr/>
        </p:nvSpPr>
        <p:spPr bwMode="auto">
          <a:xfrm>
            <a:off x="0" y="5902609"/>
            <a:ext cx="595227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Arial Unicode MS"/>
              </a:rPr>
              <a:t>C에서 1은 부호있는 32비트 상수이기  때문에, 64비트를 사용할 때에는 1뒤에 </a:t>
            </a:r>
            <a:r>
              <a:rPr kumimoji="0" lang="en-US" altLang="ko-KR" sz="1000" b="0" i="0" u="none" strike="noStrike" cap="none" normalizeH="0" baseline="0">
                <a:ln>
                  <a:noFill/>
                </a:ln>
                <a:solidFill>
                  <a:schemeClr val="tx1"/>
                </a:solidFill>
                <a:effectLst/>
                <a:latin typeface="Arial Unicode MS"/>
              </a:rPr>
              <a:t>ULL</a:t>
            </a:r>
            <a:r>
              <a:rPr kumimoji="0" lang="ko-KR" altLang="ko-KR" sz="1000" b="0" i="0" u="none" strike="noStrike" cap="none" normalizeH="0" baseline="0">
                <a:ln>
                  <a:noFill/>
                </a:ln>
                <a:solidFill>
                  <a:schemeClr val="tx1"/>
                </a:solidFill>
                <a:effectLst/>
                <a:latin typeface="Arial Unicode MS"/>
              </a:rPr>
              <a:t>을 붙여줘야 한다.</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14042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a:t>
            </a:r>
          </a:p>
        </p:txBody>
      </p:sp>
      <p:sp>
        <p:nvSpPr>
          <p:cNvPr id="3" name="TextBox 2">
            <a:extLst>
              <a:ext uri="{FF2B5EF4-FFF2-40B4-BE49-F238E27FC236}">
                <a16:creationId xmlns:a16="http://schemas.microsoft.com/office/drawing/2014/main" id="{8971D0F2-ADE0-431B-A308-7493EC587B37}"/>
              </a:ext>
            </a:extLst>
          </p:cNvPr>
          <p:cNvSpPr txBox="1"/>
          <p:nvPr/>
        </p:nvSpPr>
        <p:spPr>
          <a:xfrm>
            <a:off x="2579591" y="98352"/>
            <a:ext cx="5738750" cy="338554"/>
          </a:xfrm>
          <a:prstGeom prst="rect">
            <a:avLst/>
          </a:prstGeom>
          <a:noFill/>
        </p:spPr>
        <p:txBody>
          <a:bodyPr wrap="none" rtlCol="0">
            <a:spAutoFit/>
          </a:bodyPr>
          <a:lstStyle/>
          <a:p>
            <a:pPr marL="285750" indent="-285750">
              <a:buFont typeface="Arial" panose="020B0604020202020204" pitchFamily="34" charset="0"/>
              <a:buChar char="•"/>
            </a:pPr>
            <a:r>
              <a:rPr lang="ko-KR" altLang="en-US" sz="1600"/>
              <a:t>파일 </a:t>
            </a:r>
            <a:r>
              <a:rPr lang="en-US" altLang="ko-KR" sz="1600">
                <a:sym typeface="Wingdings" panose="05000000000000000000" pitchFamily="2" charset="2"/>
              </a:rPr>
              <a:t> </a:t>
            </a:r>
            <a:r>
              <a:rPr lang="ko-KR" altLang="en-US" sz="1600">
                <a:sym typeface="Wingdings" panose="05000000000000000000" pitchFamily="2" charset="2"/>
              </a:rPr>
              <a:t>예제 </a:t>
            </a:r>
            <a:r>
              <a:rPr lang="en-US" altLang="ko-KR" sz="1600">
                <a:sym typeface="Wingdings" panose="05000000000000000000" pitchFamily="2" charset="2"/>
              </a:rPr>
              <a:t> ESP32  DeepSleep  ExternalWakeUp</a:t>
            </a:r>
            <a:endParaRPr lang="ko-KR" altLang="en-US" sz="1600"/>
          </a:p>
        </p:txBody>
      </p:sp>
      <p:sp>
        <p:nvSpPr>
          <p:cNvPr id="6" name="Rectangle 1">
            <a:extLst>
              <a:ext uri="{FF2B5EF4-FFF2-40B4-BE49-F238E27FC236}">
                <a16:creationId xmlns:a16="http://schemas.microsoft.com/office/drawing/2014/main" id="{1CC87EAE-F00E-4EA3-8F8B-581D6203F0E9}"/>
              </a:ext>
            </a:extLst>
          </p:cNvPr>
          <p:cNvSpPr>
            <a:spLocks noChangeArrowheads="1"/>
          </p:cNvSpPr>
          <p:nvPr/>
        </p:nvSpPr>
        <p:spPr bwMode="auto">
          <a:xfrm>
            <a:off x="139959" y="605719"/>
            <a:ext cx="10839506" cy="615553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some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time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open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Monitor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Increment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boot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every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reboot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Boot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number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reason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ESP32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0055"/>
                </a:solidFill>
                <a:effectLst/>
                <a:latin typeface="Consolas" panose="020B0609020204030204" pitchFamily="49" charset="0"/>
              </a:rPr>
              <a:t> USE_EXT0_WAKEUP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esp_sleep_enable_ext0_wakeup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//1 = </a:t>
            </a:r>
            <a:r>
              <a:rPr kumimoji="0" lang="ko-KR" altLang="ko-KR" sz="1600" b="0" i="0" u="none" strike="noStrike" cap="none" normalizeH="0" baseline="0" dirty="0" err="1">
                <a:ln>
                  <a:noFill/>
                </a:ln>
                <a:solidFill>
                  <a:srgbClr val="708090"/>
                </a:solidFill>
                <a:effectLst/>
                <a:latin typeface="Consolas" panose="020B0609020204030204" pitchFamily="49" charset="0"/>
              </a:rPr>
              <a:t>High</a:t>
            </a:r>
            <a:r>
              <a:rPr kumimoji="0" lang="ko-KR" altLang="ko-KR" sz="1600" b="0" i="0" u="none" strike="noStrike" cap="none" normalizeH="0" baseline="0" dirty="0">
                <a:ln>
                  <a:noFill/>
                </a:ln>
                <a:solidFill>
                  <a:srgbClr val="708090"/>
                </a:solidFill>
                <a:effectLst/>
                <a:latin typeface="Consolas" panose="020B0609020204030204" pitchFamily="49" charset="0"/>
              </a:rPr>
              <a:t>, 0 = </a:t>
            </a:r>
            <a:r>
              <a:rPr kumimoji="0" lang="ko-KR" altLang="ko-KR" sz="1600" b="0" i="0" u="none" strike="noStrike" cap="none" normalizeH="0" baseline="0" dirty="0" err="1">
                <a:ln>
                  <a:noFill/>
                </a:ln>
                <a:solidFill>
                  <a:srgbClr val="708090"/>
                </a:solidFill>
                <a:effectLst/>
                <a:latin typeface="Consolas" panose="020B0609020204030204" pitchFamily="49" charset="0"/>
              </a:rPr>
              <a:t>Low</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EXT1 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esp_sleep_enable_ext1_wakeup_io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DD4A68"/>
                </a:solidFill>
                <a:effectLst/>
                <a:latin typeface="Consolas" panose="020B0609020204030204" pitchFamily="49" charset="0"/>
              </a:rPr>
              <a:t>BUTTON_PIN_BITMASK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ESP_EXT1_WAKEUP_ANY_HIGH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DD4A68"/>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GPIO33 </a:t>
            </a:r>
            <a:r>
              <a:rPr kumimoji="0" lang="ko-KR" altLang="ko-KR" sz="1600" b="0" i="0" u="none" strike="noStrike" cap="none" normalizeH="0" baseline="0" dirty="0" err="1">
                <a:ln>
                  <a:noFill/>
                </a:ln>
                <a:solidFill>
                  <a:srgbClr val="708090"/>
                </a:solidFill>
                <a:effectLst/>
                <a:latin typeface="Consolas" panose="020B0609020204030204" pitchFamily="49" charset="0"/>
              </a:rPr>
              <a:t>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tie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GND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order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HIGH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PULL_UP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order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allow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HIGH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endif</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Go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sleep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now</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Going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now</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This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will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never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printed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55507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 </a:t>
            </a:r>
            <a:r>
              <a:rPr lang="en-US" altLang="ko-KR" b="1">
                <a:solidFill>
                  <a:schemeClr val="tx1"/>
                </a:solidFill>
              </a:rPr>
              <a:t>. Save Data on RTC Memories</a:t>
            </a:r>
            <a:endParaRPr lang="ko-KR" altLang="en-US" b="1">
              <a:solidFill>
                <a:schemeClr val="tx1"/>
              </a:solidFill>
            </a:endParaRPr>
          </a:p>
        </p:txBody>
      </p:sp>
      <p:sp>
        <p:nvSpPr>
          <p:cNvPr id="4" name="Rectangle 1">
            <a:extLst>
              <a:ext uri="{FF2B5EF4-FFF2-40B4-BE49-F238E27FC236}">
                <a16:creationId xmlns:a16="http://schemas.microsoft.com/office/drawing/2014/main" id="{709AC4EE-0A4A-4EC2-B342-B28D96E54532}"/>
              </a:ext>
            </a:extLst>
          </p:cNvPr>
          <p:cNvSpPr>
            <a:spLocks noChangeArrowheads="1"/>
          </p:cNvSpPr>
          <p:nvPr/>
        </p:nvSpPr>
        <p:spPr bwMode="auto">
          <a:xfrm>
            <a:off x="117231" y="647918"/>
            <a:ext cx="9688934" cy="2631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ESP32에서는 RTC 메모리에 데이터를 저장할 수 있다.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ESP32에는 RTC 부분에 8kB의 SRAM이 있으며, 이를 RTC 빠른 메모리(RTC fast memory)라고 </a:t>
            </a:r>
            <a:r>
              <a:rPr lang="ko-KR" altLang="en-US" sz="1600">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이곳에 저장된 데이터는 딥슬립 중에도 삭제되지 않</a:t>
            </a:r>
            <a:r>
              <a:rPr kumimoji="0" lang="ko-KR" altLang="en-US" sz="1600" b="0" i="0" u="none" strike="noStrike" cap="none" normalizeH="0" baseline="0">
                <a:ln>
                  <a:noFill/>
                </a:ln>
                <a:solidFill>
                  <a:schemeClr val="tx1"/>
                </a:solidFill>
                <a:effectLst/>
                <a:latin typeface="Arial" panose="020B0604020202020204" pitchFamily="34" charset="0"/>
              </a:rPr>
              <a:t>는</a:t>
            </a:r>
            <a:r>
              <a:rPr kumimoji="0" lang="ko-KR" altLang="ko-KR" sz="1600" b="0" i="0" u="none" strike="noStrike" cap="none" normalizeH="0" baseline="0">
                <a:ln>
                  <a:noFill/>
                </a:ln>
                <a:solidFill>
                  <a:schemeClr val="tx1"/>
                </a:solidFill>
                <a:effectLst/>
                <a:latin typeface="Arial" panose="020B0604020202020204" pitchFamily="34" charset="0"/>
              </a:rPr>
              <a:t>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그러나 ESP32 보드에서 리셋 버튼(EN으로 표시된 버튼)을 누르면 데이터가 삭제</a:t>
            </a:r>
            <a:r>
              <a:rPr kumimoji="0" lang="ko-KR" altLang="en-US" sz="1600" b="0" i="0" u="none" strike="noStrike" cap="none" normalizeH="0" baseline="0">
                <a:ln>
                  <a:noFill/>
                </a:ln>
                <a:solidFill>
                  <a:schemeClr val="tx1"/>
                </a:solidFill>
                <a:effectLst/>
                <a:latin typeface="Arial" panose="020B0604020202020204" pitchFamily="34" charset="0"/>
              </a:rPr>
              <a:t>된</a:t>
            </a:r>
            <a:r>
              <a:rPr kumimoji="0" lang="ko-KR" altLang="ko-KR" sz="1600" b="0" i="0" u="none" strike="noStrike" cap="none" normalizeH="0" baseline="0">
                <a:ln>
                  <a:noFill/>
                </a:ln>
                <a:solidFill>
                  <a:schemeClr val="tx1"/>
                </a:solidFill>
                <a:effectLst/>
                <a:latin typeface="Arial" panose="020B0604020202020204" pitchFamily="34" charset="0"/>
              </a:rPr>
              <a:t>다.</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RTC 메모리에 데이터를 저장하려면 변수 정의 앞에 </a:t>
            </a:r>
            <a:r>
              <a:rPr kumimoji="0" lang="ko-KR" altLang="ko-KR" sz="1600" b="0" i="0" u="none" strike="noStrike" cap="none" normalizeH="0" baseline="0">
                <a:ln>
                  <a:noFill/>
                </a:ln>
                <a:solidFill>
                  <a:schemeClr val="tx1"/>
                </a:solidFill>
                <a:effectLst/>
                <a:latin typeface="Arial Unicode MS"/>
              </a:rPr>
              <a:t>RTC_DATA_ATTR</a:t>
            </a:r>
            <a:r>
              <a:rPr kumimoji="0" lang="ko-KR" altLang="ko-KR" sz="1600" b="0" i="0" u="none" strike="noStrike" cap="none" normalizeH="0" baseline="0">
                <a:ln>
                  <a:noFill/>
                </a:ln>
                <a:solidFill>
                  <a:schemeClr val="tx1"/>
                </a:solidFill>
                <a:effectLst/>
              </a:rPr>
              <a:t>을 추가하기만 하면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예제에서는 </a:t>
            </a:r>
            <a:r>
              <a:rPr kumimoji="0" lang="ko-KR" altLang="ko-KR" sz="1600" b="0" i="0" u="none" strike="noStrike" cap="none" normalizeH="0" baseline="0">
                <a:ln>
                  <a:noFill/>
                </a:ln>
                <a:solidFill>
                  <a:schemeClr val="tx1"/>
                </a:solidFill>
                <a:effectLst/>
                <a:latin typeface="Arial Unicode MS"/>
              </a:rPr>
              <a:t>bootCount</a:t>
            </a:r>
            <a:r>
              <a:rPr kumimoji="0" lang="ko-KR" altLang="ko-KR" sz="1600" b="0" i="0" u="none" strike="noStrike" cap="none" normalizeH="0" baseline="0">
                <a:ln>
                  <a:noFill/>
                </a:ln>
                <a:solidFill>
                  <a:schemeClr val="tx1"/>
                </a:solidFill>
                <a:effectLst/>
              </a:rPr>
              <a:t> 변수를 RTC 메모리에 저장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이 변수는 ESP32가 딥슬립에서 몇 번 깨어났는지 카운트</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D1893DB1-5B50-42BC-91E9-D811FCA4938C}"/>
              </a:ext>
            </a:extLst>
          </p:cNvPr>
          <p:cNvSpPr/>
          <p:nvPr/>
        </p:nvSpPr>
        <p:spPr>
          <a:xfrm>
            <a:off x="562212" y="3429000"/>
            <a:ext cx="6494085" cy="523220"/>
          </a:xfrm>
          <a:prstGeom prst="rect">
            <a:avLst/>
          </a:prstGeom>
          <a:solidFill>
            <a:schemeClr val="bg2"/>
          </a:solidFill>
        </p:spPr>
        <p:txBody>
          <a:bodyPr wrap="none">
            <a:spAutoFit/>
          </a:bodyPr>
          <a:lstStyle/>
          <a:p>
            <a:r>
              <a:rPr lang="en-US" altLang="ko-KR" sz="2800">
                <a:solidFill>
                  <a:srgbClr val="000000"/>
                </a:solidFill>
                <a:latin typeface="Consolas" panose="020B0609020204030204" pitchFamily="49" charset="0"/>
              </a:rPr>
              <a:t>RTC_DATA_ATTR </a:t>
            </a:r>
            <a:r>
              <a:rPr lang="en-US" altLang="ko-KR" sz="2800">
                <a:solidFill>
                  <a:srgbClr val="0077AA"/>
                </a:solidFill>
                <a:latin typeface="Consolas" panose="020B0609020204030204" pitchFamily="49" charset="0"/>
              </a:rPr>
              <a:t>int</a:t>
            </a:r>
            <a:r>
              <a:rPr lang="en-US" altLang="ko-KR" sz="2800">
                <a:solidFill>
                  <a:srgbClr val="000000"/>
                </a:solidFill>
                <a:latin typeface="Consolas" panose="020B0609020204030204" pitchFamily="49" charset="0"/>
              </a:rPr>
              <a:t> bootCount </a:t>
            </a:r>
            <a:r>
              <a:rPr lang="en-US" altLang="ko-KR" sz="2800">
                <a:solidFill>
                  <a:srgbClr val="9A6E3A"/>
                </a:solidFill>
                <a:latin typeface="Consolas" panose="020B0609020204030204" pitchFamily="49" charset="0"/>
              </a:rPr>
              <a:t>=</a:t>
            </a:r>
            <a:r>
              <a:rPr lang="en-US" altLang="ko-KR" sz="2800">
                <a:solidFill>
                  <a:srgbClr val="000000"/>
                </a:solidFill>
                <a:latin typeface="Consolas" panose="020B0609020204030204" pitchFamily="49" charset="0"/>
              </a:rPr>
              <a:t> </a:t>
            </a:r>
            <a:r>
              <a:rPr lang="en-US" altLang="ko-KR" sz="2800">
                <a:solidFill>
                  <a:srgbClr val="990055"/>
                </a:solidFill>
                <a:latin typeface="Consolas" panose="020B0609020204030204" pitchFamily="49" charset="0"/>
              </a:rPr>
              <a:t>0</a:t>
            </a:r>
            <a:r>
              <a:rPr lang="en-US" altLang="ko-KR" sz="2800">
                <a:solidFill>
                  <a:srgbClr val="999999"/>
                </a:solidFill>
                <a:latin typeface="Consolas" panose="020B0609020204030204" pitchFamily="49" charset="0"/>
              </a:rPr>
              <a:t>;</a:t>
            </a:r>
            <a:endParaRPr lang="ko-KR" altLang="en-US" sz="2800"/>
          </a:p>
        </p:txBody>
      </p:sp>
    </p:spTree>
    <p:extLst>
      <p:ext uri="{BB962C8B-B14F-4D97-AF65-F5344CB8AC3E}">
        <p14:creationId xmlns:p14="http://schemas.microsoft.com/office/powerpoint/2010/main" val="39059636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 </a:t>
            </a:r>
            <a:r>
              <a:rPr lang="en-US" altLang="ko-KR" b="1">
                <a:solidFill>
                  <a:schemeClr val="tx1"/>
                </a:solidFill>
              </a:rPr>
              <a:t>. Internal Pull-Up and Pull-Down Resistors</a:t>
            </a:r>
            <a:endParaRPr lang="ko-KR" altLang="en-US" b="1">
              <a:solidFill>
                <a:schemeClr val="tx1"/>
              </a:solidFill>
            </a:endParaRPr>
          </a:p>
        </p:txBody>
      </p:sp>
      <p:sp>
        <p:nvSpPr>
          <p:cNvPr id="4" name="직사각형 3">
            <a:extLst>
              <a:ext uri="{FF2B5EF4-FFF2-40B4-BE49-F238E27FC236}">
                <a16:creationId xmlns:a16="http://schemas.microsoft.com/office/drawing/2014/main" id="{393E7D45-6553-4B72-8157-69D19E5FFA8F}"/>
              </a:ext>
            </a:extLst>
          </p:cNvPr>
          <p:cNvSpPr/>
          <p:nvPr/>
        </p:nvSpPr>
        <p:spPr>
          <a:xfrm>
            <a:off x="410308" y="726050"/>
            <a:ext cx="6096000" cy="964110"/>
          </a:xfrm>
          <a:prstGeom prst="rect">
            <a:avLst/>
          </a:prstGeom>
          <a:solidFill>
            <a:schemeClr val="bg1">
              <a:lumMod val="95000"/>
            </a:schemeClr>
          </a:solidFill>
        </p:spPr>
        <p:txBody>
          <a:bodyPr>
            <a:spAutoFit/>
          </a:bodyPr>
          <a:lstStyle/>
          <a:p>
            <a:pPr>
              <a:lnSpc>
                <a:spcPct val="150000"/>
              </a:lnSpc>
            </a:pPr>
            <a:r>
              <a:rPr lang="en-US" altLang="ko-KR" sz="2000" b="1">
                <a:solidFill>
                  <a:srgbClr val="DD4A68"/>
                </a:solidFill>
                <a:latin typeface="Consolas" panose="020B0609020204030204" pitchFamily="49" charset="0"/>
              </a:rPr>
              <a:t>rtc_gpio_pullup_dis</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WAKEUP_GPIO</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 </a:t>
            </a:r>
            <a:r>
              <a:rPr lang="en-US" altLang="ko-KR" sz="2000" b="1">
                <a:solidFill>
                  <a:srgbClr val="DD4A68"/>
                </a:solidFill>
                <a:latin typeface="Consolas" panose="020B0609020204030204" pitchFamily="49" charset="0"/>
              </a:rPr>
              <a:t>rtc_gpio_pulldown_en</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WAKEUP_GPIO</a:t>
            </a:r>
            <a:r>
              <a:rPr lang="en-US" altLang="ko-KR" sz="2000" b="1">
                <a:solidFill>
                  <a:srgbClr val="999999"/>
                </a:solidFill>
                <a:latin typeface="Consolas" panose="020B0609020204030204" pitchFamily="49" charset="0"/>
              </a:rPr>
              <a:t>);</a:t>
            </a:r>
            <a:endParaRPr lang="ko-KR" altLang="en-US" sz="2000" b="1"/>
          </a:p>
        </p:txBody>
      </p:sp>
      <p:sp>
        <p:nvSpPr>
          <p:cNvPr id="5" name="Rectangle 1">
            <a:extLst>
              <a:ext uri="{FF2B5EF4-FFF2-40B4-BE49-F238E27FC236}">
                <a16:creationId xmlns:a16="http://schemas.microsoft.com/office/drawing/2014/main" id="{9E40FF0E-EE6B-4FF4-A189-E4FFE8CE7D6A}"/>
              </a:ext>
            </a:extLst>
          </p:cNvPr>
          <p:cNvSpPr>
            <a:spLocks noChangeArrowheads="1"/>
          </p:cNvSpPr>
          <p:nvPr/>
        </p:nvSpPr>
        <p:spPr bwMode="auto">
          <a:xfrm>
            <a:off x="199293" y="1880951"/>
            <a:ext cx="11126764" cy="300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Unicode MS"/>
              </a:rPr>
              <a:t>rtc_gpio_pullup_dis()</a:t>
            </a:r>
            <a:r>
              <a:rPr kumimoji="0" lang="ko-KR" altLang="ko-KR" sz="1600" b="0" i="0" u="none" strike="noStrike" cap="none" normalizeH="0" baseline="0">
                <a:ln>
                  <a:noFill/>
                </a:ln>
                <a:solidFill>
                  <a:schemeClr val="tx1"/>
                </a:solidFill>
                <a:effectLst/>
              </a:rPr>
              <a:t> 함수는 웨이크업 GPIO의 내부 풀업 저항을 비활성화</a:t>
            </a:r>
            <a:r>
              <a:rPr lang="ko-KR" altLang="en-US" sz="1600"/>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이는 핀이 의도치 않게 HIGH 상태로 유지되지 않도록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풀업 저항이 활성화되어 있으면 핀이 HIGH 상태를 유지하여 원치 않는 웨이크업이 발생할 수 있기 때문에 중요</a:t>
            </a:r>
            <a:r>
              <a:rPr kumimoji="0" lang="ko-KR" altLang="en-US" sz="1600" b="0" i="0" u="none" strike="noStrike" cap="none" normalizeH="0" baseline="0">
                <a:ln>
                  <a:noFill/>
                </a:ln>
                <a:solidFill>
                  <a:schemeClr val="tx1"/>
                </a:solidFill>
                <a:effectLst/>
              </a:rPr>
              <a:t>하</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Unicode MS"/>
              </a:rPr>
              <a:t>rtc_gpio_pulldown_en()</a:t>
            </a:r>
            <a:r>
              <a:rPr kumimoji="0" lang="ko-KR" altLang="ko-KR" sz="1600" b="0" i="0" u="none" strike="noStrike" cap="none" normalizeH="0" baseline="0">
                <a:ln>
                  <a:noFill/>
                </a:ln>
                <a:solidFill>
                  <a:schemeClr val="tx1"/>
                </a:solidFill>
                <a:effectLst/>
              </a:rPr>
              <a:t> 함수는 웨이크업 GPIO의 내부 풀다운 저항을 활성화</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이를 통해 핀이 유효한 웨이크업 신호(HIGH)를 받을 때까지 LOW 상태로 유지되도록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핀에 풀다운 저항을 설정함으로써 딥슬립 동안 안정적인 LOW 상태를 유지하게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이러한 안정성은 지정된 GPIO 핀이 외부의 HIGH 신호를 받아 웨이크업 조건</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a:t>
            </a:r>
            <a:r>
              <a:rPr kumimoji="0" lang="ko-KR" altLang="ko-KR" sz="1600" b="0" i="0" u="none" strike="noStrike" cap="none" normalizeH="0" baseline="0">
                <a:ln>
                  <a:noFill/>
                </a:ln>
                <a:solidFill>
                  <a:schemeClr val="tx1"/>
                </a:solidFill>
                <a:effectLst/>
                <a:latin typeface="Arial Unicode MS"/>
              </a:rPr>
              <a:t>esp_sleep_enable_ext0_wakeup(WAKEUP_GPIO, 1)</a:t>
            </a:r>
            <a:r>
              <a:rPr kumimoji="0" lang="ko-KR" altLang="ko-KR" sz="1600" b="0" i="0" u="none" strike="noStrike" cap="none" normalizeH="0" baseline="0">
                <a:ln>
                  <a:noFill/>
                </a:ln>
                <a:solidFill>
                  <a:schemeClr val="tx1"/>
                </a:solidFill>
                <a:effectLst/>
              </a:rPr>
              <a:t>)과 일치할 때만 ESP32가 깨어나도록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37577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9F694655-4DEE-4F65-9563-99F69DAFA7F6}"/>
              </a:ext>
            </a:extLst>
          </p:cNvPr>
          <p:cNvPicPr>
            <a:picLocks noChangeAspect="1"/>
          </p:cNvPicPr>
          <p:nvPr/>
        </p:nvPicPr>
        <p:blipFill>
          <a:blip r:embed="rId2"/>
          <a:stretch>
            <a:fillRect/>
          </a:stretch>
        </p:blipFill>
        <p:spPr>
          <a:xfrm>
            <a:off x="2192856" y="928360"/>
            <a:ext cx="6563641" cy="4696480"/>
          </a:xfrm>
          <a:prstGeom prst="rect">
            <a:avLst/>
          </a:prstGeom>
        </p:spPr>
      </p:pic>
      <p:sp>
        <p:nvSpPr>
          <p:cNvPr id="4" name="TextBox 3">
            <a:extLst>
              <a:ext uri="{FF2B5EF4-FFF2-40B4-BE49-F238E27FC236}">
                <a16:creationId xmlns:a16="http://schemas.microsoft.com/office/drawing/2014/main" id="{67E7D794-9952-4518-B974-D08E9BA21815}"/>
              </a:ext>
            </a:extLst>
          </p:cNvPr>
          <p:cNvSpPr txBox="1"/>
          <p:nvPr/>
        </p:nvSpPr>
        <p:spPr>
          <a:xfrm>
            <a:off x="0" y="6488668"/>
            <a:ext cx="8984062" cy="369332"/>
          </a:xfrm>
          <a:prstGeom prst="rect">
            <a:avLst/>
          </a:prstGeom>
          <a:noFill/>
        </p:spPr>
        <p:txBody>
          <a:bodyPr wrap="none" rtlCol="0">
            <a:spAutoFit/>
          </a:bodyPr>
          <a:lstStyle/>
          <a:p>
            <a:r>
              <a:rPr lang="en-US" altLang="ko-KR">
                <a:hlinkClick r:id="rId3"/>
              </a:rPr>
              <a:t>ESP32 Deep Sleep with Arduino IDE and Wake Up Sources | Random Nerd Tutorials</a:t>
            </a:r>
            <a:endParaRPr lang="ko-KR" altLang="en-US"/>
          </a:p>
        </p:txBody>
      </p:sp>
    </p:spTree>
    <p:extLst>
      <p:ext uri="{BB962C8B-B14F-4D97-AF65-F5344CB8AC3E}">
        <p14:creationId xmlns:p14="http://schemas.microsoft.com/office/powerpoint/2010/main" val="21605711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실행 화면</a:t>
            </a:r>
          </a:p>
        </p:txBody>
      </p:sp>
      <p:pic>
        <p:nvPicPr>
          <p:cNvPr id="3" name="그림 2">
            <a:extLst>
              <a:ext uri="{FF2B5EF4-FFF2-40B4-BE49-F238E27FC236}">
                <a16:creationId xmlns:a16="http://schemas.microsoft.com/office/drawing/2014/main" id="{8CE540DD-45D9-4063-A13A-2E713C08BBFA}"/>
              </a:ext>
            </a:extLst>
          </p:cNvPr>
          <p:cNvPicPr>
            <a:picLocks noChangeAspect="1"/>
          </p:cNvPicPr>
          <p:nvPr/>
        </p:nvPicPr>
        <p:blipFill>
          <a:blip r:embed="rId2"/>
          <a:stretch>
            <a:fillRect/>
          </a:stretch>
        </p:blipFill>
        <p:spPr>
          <a:xfrm>
            <a:off x="579834" y="806365"/>
            <a:ext cx="7464902" cy="5359973"/>
          </a:xfrm>
          <a:prstGeom prst="rect">
            <a:avLst/>
          </a:prstGeom>
          <a:ln>
            <a:solidFill>
              <a:schemeClr val="tx1">
                <a:lumMod val="50000"/>
                <a:lumOff val="50000"/>
              </a:schemeClr>
            </a:solidFill>
          </a:ln>
        </p:spPr>
      </p:pic>
      <p:sp>
        <p:nvSpPr>
          <p:cNvPr id="4" name="사각형: 둥근 모서리 3">
            <a:extLst>
              <a:ext uri="{FF2B5EF4-FFF2-40B4-BE49-F238E27FC236}">
                <a16:creationId xmlns:a16="http://schemas.microsoft.com/office/drawing/2014/main" id="{71AE84FB-D851-40F8-A128-336CF6398A4E}"/>
              </a:ext>
            </a:extLst>
          </p:cNvPr>
          <p:cNvSpPr/>
          <p:nvPr/>
        </p:nvSpPr>
        <p:spPr>
          <a:xfrm>
            <a:off x="504092" y="4525108"/>
            <a:ext cx="5697416" cy="65649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5195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ext1</a:t>
            </a:r>
            <a:endParaRPr lang="ko-KR" altLang="en-US" b="1">
              <a:solidFill>
                <a:schemeClr val="tx1"/>
              </a:solidFill>
            </a:endParaRPr>
          </a:p>
        </p:txBody>
      </p:sp>
      <p:sp>
        <p:nvSpPr>
          <p:cNvPr id="5" name="직사각형 4">
            <a:extLst>
              <a:ext uri="{FF2B5EF4-FFF2-40B4-BE49-F238E27FC236}">
                <a16:creationId xmlns:a16="http://schemas.microsoft.com/office/drawing/2014/main" id="{40B41937-4D45-400F-A80F-AE6DFF3E30EC}"/>
              </a:ext>
            </a:extLst>
          </p:cNvPr>
          <p:cNvSpPr/>
          <p:nvPr/>
        </p:nvSpPr>
        <p:spPr>
          <a:xfrm>
            <a:off x="214858" y="693057"/>
            <a:ext cx="11762283" cy="276851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앞의 방법은 푸시버튼을 사용해 </a:t>
            </a:r>
            <a:r>
              <a:rPr lang="en-US" altLang="ko-KR"/>
              <a:t>ESP32</a:t>
            </a:r>
            <a:r>
              <a:rPr lang="ko-KR" altLang="en-US"/>
              <a:t>를 깨우고 특정 작업을 실행하려는 경우 유용하다</a:t>
            </a:r>
            <a:r>
              <a:rPr lang="en-US" altLang="ko-KR"/>
              <a:t>. </a:t>
            </a:r>
            <a:br>
              <a:rPr lang="en-US" altLang="ko-KR"/>
            </a:br>
            <a:r>
              <a:rPr lang="ko-KR" altLang="en-US"/>
              <a:t>하지만 이 방법으로는 단 하나의 </a:t>
            </a:r>
            <a:r>
              <a:rPr lang="en-US" altLang="ko-KR"/>
              <a:t>GPIO</a:t>
            </a:r>
            <a:r>
              <a:rPr lang="ko-KR" altLang="en-US"/>
              <a:t>만 웨이크업 소스로 사용할 수 있다</a:t>
            </a:r>
            <a:r>
              <a:rPr lang="en-US" altLang="ko-KR"/>
              <a:t>.</a:t>
            </a:r>
          </a:p>
          <a:p>
            <a:pPr marL="285750" indent="-285750">
              <a:lnSpc>
                <a:spcPct val="150000"/>
              </a:lnSpc>
              <a:buFont typeface="Arial" panose="020B0604020202020204" pitchFamily="34" charset="0"/>
              <a:buChar char="•"/>
            </a:pPr>
            <a:r>
              <a:rPr lang="ko-KR" altLang="en-US"/>
              <a:t>그렇다면 여러 버튼을 사용하여 각각 </a:t>
            </a:r>
            <a:r>
              <a:rPr lang="en-US" altLang="ko-KR"/>
              <a:t>ESP</a:t>
            </a:r>
            <a:r>
              <a:rPr lang="ko-KR" altLang="en-US"/>
              <a:t>를 깨우고 서로 다른 작업을 수행하도록 하려면 어떻게 해야 할까</a:t>
            </a:r>
            <a:r>
              <a:rPr lang="en-US" altLang="ko-KR"/>
              <a:t>?</a:t>
            </a:r>
          </a:p>
          <a:p>
            <a:pPr marL="285750" indent="-285750">
              <a:lnSpc>
                <a:spcPct val="150000"/>
              </a:lnSpc>
              <a:buFont typeface="Arial" panose="020B0604020202020204" pitchFamily="34" charset="0"/>
              <a:buChar char="•"/>
            </a:pPr>
            <a:r>
              <a:rPr lang="ko-KR" altLang="ko-KR" sz="1600">
                <a:latin typeface="+mn-ea"/>
              </a:rPr>
              <a:t>ext1 웨이크업 소스를 사용하면 여러 GPIO를 이용해 ESP32를 깨울 수 있으며, </a:t>
            </a:r>
            <a:br>
              <a:rPr lang="en-US" altLang="ko-KR" sz="1600">
                <a:latin typeface="+mn-ea"/>
              </a:rPr>
            </a:br>
            <a:r>
              <a:rPr lang="ko-KR" altLang="ko-KR" sz="1600">
                <a:latin typeface="+mn-ea"/>
              </a:rPr>
              <a:t>웨이크업을 트리거한 GPIO에 따라 서로 다른 작업을 수행할 수 있다.</a:t>
            </a:r>
            <a:endParaRPr lang="en-US" altLang="ko-KR" sz="1600">
              <a:latin typeface="+mn-ea"/>
            </a:endParaRPr>
          </a:p>
          <a:p>
            <a:pPr marL="285750" indent="-285750">
              <a:lnSpc>
                <a:spcPct val="150000"/>
              </a:lnSpc>
              <a:buFont typeface="Arial" panose="020B0604020202020204" pitchFamily="34" charset="0"/>
              <a:buChar char="•"/>
            </a:pPr>
            <a:r>
              <a:rPr lang="ko-KR" altLang="ko-KR" sz="1600">
                <a:latin typeface="+mn-ea"/>
              </a:rPr>
              <a:t>esp_sleep_enable_ext0_wakeup() 함수 대신, esp_sleep_enable_ext1_wakeup_io() 함수를 사용</a:t>
            </a:r>
            <a:r>
              <a:rPr lang="ko-KR" altLang="en-US" sz="1600">
                <a:latin typeface="+mn-ea"/>
              </a:rPr>
              <a:t>한</a:t>
            </a:r>
            <a:r>
              <a:rPr lang="ko-KR" altLang="ko-KR" sz="1600">
                <a:latin typeface="+mn-ea"/>
              </a:rPr>
              <a:t>다.</a:t>
            </a:r>
          </a:p>
          <a:p>
            <a:pPr marL="285750" indent="-285750">
              <a:lnSpc>
                <a:spcPct val="150000"/>
              </a:lnSpc>
              <a:buFont typeface="Arial" panose="020B0604020202020204" pitchFamily="34" charset="0"/>
              <a:buChar char="•"/>
            </a:pPr>
            <a:endParaRPr lang="en-US" altLang="ko-KR" sz="1600">
              <a:latin typeface="+mn-ea"/>
            </a:endParaRPr>
          </a:p>
        </p:txBody>
      </p:sp>
      <p:sp>
        <p:nvSpPr>
          <p:cNvPr id="8" name="직사각형 7">
            <a:extLst>
              <a:ext uri="{FF2B5EF4-FFF2-40B4-BE49-F238E27FC236}">
                <a16:creationId xmlns:a16="http://schemas.microsoft.com/office/drawing/2014/main" id="{3CEEB6F9-B0F0-4BB1-9FC0-FD1B0B82A419}"/>
              </a:ext>
            </a:extLst>
          </p:cNvPr>
          <p:cNvSpPr/>
          <p:nvPr/>
        </p:nvSpPr>
        <p:spPr>
          <a:xfrm>
            <a:off x="359764" y="3244334"/>
            <a:ext cx="11617377" cy="369332"/>
          </a:xfrm>
          <a:prstGeom prst="rect">
            <a:avLst/>
          </a:prstGeom>
          <a:solidFill>
            <a:schemeClr val="bg2"/>
          </a:solidFill>
        </p:spPr>
        <p:txBody>
          <a:bodyPr wrap="square">
            <a:spAutoFit/>
          </a:bodyPr>
          <a:lstStyle/>
          <a:p>
            <a:r>
              <a:rPr lang="en-US" altLang="ko-KR" b="1">
                <a:solidFill>
                  <a:srgbClr val="DD4A68"/>
                </a:solidFill>
                <a:latin typeface="Consolas" panose="020B0609020204030204" pitchFamily="49" charset="0"/>
              </a:rPr>
              <a:t>esp_sleep_enable_ext1_wakeup_io</a:t>
            </a:r>
            <a:r>
              <a:rPr lang="en-US" altLang="ko-KR" b="1">
                <a:solidFill>
                  <a:srgbClr val="999999"/>
                </a:solidFill>
                <a:latin typeface="Consolas" panose="020B0609020204030204" pitchFamily="49" charset="0"/>
              </a:rPr>
              <a:t>(</a:t>
            </a:r>
            <a:r>
              <a:rPr lang="en-US" altLang="ko-KR" b="1">
                <a:solidFill>
                  <a:srgbClr val="DD4A68"/>
                </a:solidFill>
                <a:latin typeface="Consolas" panose="020B0609020204030204" pitchFamily="49" charset="0"/>
              </a:rPr>
              <a:t>BUTTON_PIN_BITMASK</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WAKEUP_GPIO</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 ESP_EXT1_WAKEUP_ANY_HIGH</a:t>
            </a:r>
            <a:r>
              <a:rPr lang="en-US" altLang="ko-KR" b="1">
                <a:solidFill>
                  <a:srgbClr val="999999"/>
                </a:solidFill>
                <a:latin typeface="Consolas" panose="020B0609020204030204" pitchFamily="49" charset="0"/>
              </a:rPr>
              <a:t>);</a:t>
            </a:r>
            <a:endParaRPr lang="ko-KR" altLang="en-US" b="1"/>
          </a:p>
        </p:txBody>
      </p:sp>
      <p:sp>
        <p:nvSpPr>
          <p:cNvPr id="9" name="Rectangle 3">
            <a:extLst>
              <a:ext uri="{FF2B5EF4-FFF2-40B4-BE49-F238E27FC236}">
                <a16:creationId xmlns:a16="http://schemas.microsoft.com/office/drawing/2014/main" id="{E74951C3-51F9-47CE-842B-ABA5E8C756D1}"/>
              </a:ext>
            </a:extLst>
          </p:cNvPr>
          <p:cNvSpPr>
            <a:spLocks noChangeArrowheads="1"/>
          </p:cNvSpPr>
          <p:nvPr/>
        </p:nvSpPr>
        <p:spPr bwMode="auto">
          <a:xfrm>
            <a:off x="214858" y="3833096"/>
            <a:ext cx="87194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ko-KR" sz="1600" b="0" i="0" u="none" strike="noStrike" cap="none" normalizeH="0" baseline="0">
                <a:ln>
                  <a:noFill/>
                </a:ln>
                <a:solidFill>
                  <a:schemeClr val="tx1"/>
                </a:solidFill>
                <a:effectLst/>
                <a:latin typeface="Arial" panose="020B0604020202020204" pitchFamily="34" charset="0"/>
              </a:rPr>
              <a:t>ext1</a:t>
            </a:r>
            <a:r>
              <a:rPr kumimoji="0" lang="ko-KR" altLang="ko-KR" sz="1600" b="0" i="0" u="none" strike="noStrike" cap="none" normalizeH="0" baseline="0">
                <a:ln>
                  <a:noFill/>
                </a:ln>
                <a:solidFill>
                  <a:schemeClr val="tx1"/>
                </a:solidFill>
                <a:effectLst/>
                <a:latin typeface="Arial" panose="020B0604020202020204" pitchFamily="34" charset="0"/>
              </a:rPr>
              <a:t> 실행하려면 코드의 시작 부분에서 </a:t>
            </a:r>
            <a:r>
              <a:rPr kumimoji="0" lang="ko-KR" altLang="ko-KR" sz="1600" b="0" i="0" u="none" strike="noStrike" cap="none" normalizeH="0" baseline="0">
                <a:ln>
                  <a:noFill/>
                </a:ln>
                <a:solidFill>
                  <a:schemeClr val="tx1"/>
                </a:solidFill>
                <a:effectLst/>
                <a:latin typeface="Arial Unicode MS"/>
              </a:rPr>
              <a:t>USE_EXT0_WAKEUP</a:t>
            </a:r>
            <a:r>
              <a:rPr kumimoji="0" lang="ko-KR" altLang="ko-KR" sz="1600" b="0" i="0" u="none" strike="noStrike" cap="none" normalizeH="0" baseline="0">
                <a:ln>
                  <a:noFill/>
                </a:ln>
                <a:solidFill>
                  <a:schemeClr val="tx1"/>
                </a:solidFill>
                <a:effectLst/>
              </a:rPr>
              <a:t> 변수를 0으로 설정해야 </a:t>
            </a:r>
            <a:r>
              <a:rPr lang="ko-KR" altLang="en-US" sz="1600"/>
              <a:t>한다</a:t>
            </a:r>
            <a:r>
              <a:rPr lang="en-US" altLang="ko-KR" sz="1600"/>
              <a:t>.</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10" name="직사각형 9">
            <a:extLst>
              <a:ext uri="{FF2B5EF4-FFF2-40B4-BE49-F238E27FC236}">
                <a16:creationId xmlns:a16="http://schemas.microsoft.com/office/drawing/2014/main" id="{FC8D0FF7-1312-4B87-9D88-1AA6680CF5F4}"/>
              </a:ext>
            </a:extLst>
          </p:cNvPr>
          <p:cNvSpPr/>
          <p:nvPr/>
        </p:nvSpPr>
        <p:spPr>
          <a:xfrm>
            <a:off x="359764" y="4391080"/>
            <a:ext cx="8094688"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USE_EXT0_WAKEUP 0 </a:t>
            </a:r>
            <a:r>
              <a:rPr lang="en-US" altLang="ko-KR">
                <a:solidFill>
                  <a:srgbClr val="708090"/>
                </a:solidFill>
                <a:latin typeface="Consolas" panose="020B0609020204030204" pitchFamily="49" charset="0"/>
              </a:rPr>
              <a:t>// 1 = EXT0 wakeup, 0 = EXT1 wakeup</a:t>
            </a:r>
            <a:endParaRPr lang="ko-KR" altLang="en-US"/>
          </a:p>
        </p:txBody>
      </p:sp>
    </p:spTree>
    <p:extLst>
      <p:ext uri="{BB962C8B-B14F-4D97-AF65-F5344CB8AC3E}">
        <p14:creationId xmlns:p14="http://schemas.microsoft.com/office/powerpoint/2010/main" val="30377093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esp_sleep_enable_ext1_wakeup_io() function</a:t>
            </a:r>
          </a:p>
        </p:txBody>
      </p:sp>
      <p:sp>
        <p:nvSpPr>
          <p:cNvPr id="11" name="직사각형 10">
            <a:extLst>
              <a:ext uri="{FF2B5EF4-FFF2-40B4-BE49-F238E27FC236}">
                <a16:creationId xmlns:a16="http://schemas.microsoft.com/office/drawing/2014/main" id="{6360DF83-CB07-4D60-9C64-298E791B51BE}"/>
              </a:ext>
            </a:extLst>
          </p:cNvPr>
          <p:cNvSpPr/>
          <p:nvPr/>
        </p:nvSpPr>
        <p:spPr>
          <a:xfrm>
            <a:off x="287311" y="755967"/>
            <a:ext cx="11617377" cy="369332"/>
          </a:xfrm>
          <a:prstGeom prst="rect">
            <a:avLst/>
          </a:prstGeom>
          <a:solidFill>
            <a:schemeClr val="bg2"/>
          </a:solidFill>
        </p:spPr>
        <p:txBody>
          <a:bodyPr wrap="square">
            <a:spAutoFit/>
          </a:bodyPr>
          <a:lstStyle/>
          <a:p>
            <a:r>
              <a:rPr lang="en-US" altLang="ko-KR" b="1">
                <a:solidFill>
                  <a:srgbClr val="DD4A68"/>
                </a:solidFill>
                <a:latin typeface="Consolas" panose="020B0609020204030204" pitchFamily="49" charset="0"/>
              </a:rPr>
              <a:t>esp_sleep_enable_ext1_wakeup_io</a:t>
            </a:r>
            <a:r>
              <a:rPr lang="en-US" altLang="ko-KR" b="1">
                <a:solidFill>
                  <a:srgbClr val="999999"/>
                </a:solidFill>
                <a:latin typeface="Consolas" panose="020B0609020204030204" pitchFamily="49" charset="0"/>
              </a:rPr>
              <a:t>(</a:t>
            </a:r>
            <a:r>
              <a:rPr lang="en-US" altLang="ko-KR" b="1">
                <a:solidFill>
                  <a:srgbClr val="DD4A68"/>
                </a:solidFill>
                <a:latin typeface="Consolas" panose="020B0609020204030204" pitchFamily="49" charset="0"/>
              </a:rPr>
              <a:t>BUTTON_PIN_BITMASK</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WAKEUP_GPIO</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 ESP_EXT1_WAKEUP_ANY_HIGH</a:t>
            </a:r>
            <a:r>
              <a:rPr lang="en-US" altLang="ko-KR" b="1">
                <a:solidFill>
                  <a:srgbClr val="999999"/>
                </a:solidFill>
                <a:latin typeface="Consolas" panose="020B0609020204030204" pitchFamily="49" charset="0"/>
              </a:rPr>
              <a:t>);</a:t>
            </a:r>
            <a:endParaRPr lang="ko-KR" altLang="en-US" b="1"/>
          </a:p>
        </p:txBody>
      </p:sp>
      <p:sp>
        <p:nvSpPr>
          <p:cNvPr id="4" name="직사각형 3">
            <a:extLst>
              <a:ext uri="{FF2B5EF4-FFF2-40B4-BE49-F238E27FC236}">
                <a16:creationId xmlns:a16="http://schemas.microsoft.com/office/drawing/2014/main" id="{28CA46FC-8100-4A1B-AEA6-99E8C2A94035}"/>
              </a:ext>
            </a:extLst>
          </p:cNvPr>
          <p:cNvSpPr/>
          <p:nvPr/>
        </p:nvSpPr>
        <p:spPr>
          <a:xfrm>
            <a:off x="213608" y="1346007"/>
            <a:ext cx="11764782" cy="1568186"/>
          </a:xfrm>
          <a:prstGeom prst="rect">
            <a:avLst/>
          </a:prstGeom>
        </p:spPr>
        <p:txBody>
          <a:bodyPr wrap="square" anchor="t">
            <a:spAutoFit/>
          </a:bodyPr>
          <a:lstStyle/>
          <a:p>
            <a:pPr marL="285750" indent="-285750">
              <a:lnSpc>
                <a:spcPct val="150000"/>
              </a:lnSpc>
              <a:buFont typeface="Arial" panose="020B0604020202020204" pitchFamily="34" charset="0"/>
              <a:buChar char="•"/>
            </a:pPr>
            <a:r>
              <a:rPr lang="ko-KR" altLang="en-US" sz="1600"/>
              <a:t>첫 번째 인수는 웨이크업 소스로 사용할 </a:t>
            </a:r>
            <a:r>
              <a:rPr lang="en-US" altLang="ko-KR" sz="1600"/>
              <a:t>GPIO</a:t>
            </a:r>
            <a:r>
              <a:rPr lang="ko-KR" altLang="en-US" sz="1600"/>
              <a:t>의 비트마스크이며</a:t>
            </a:r>
            <a:r>
              <a:rPr lang="en-US" altLang="ko-KR" sz="1600"/>
              <a:t>, </a:t>
            </a:r>
            <a:r>
              <a:rPr lang="ko-KR" altLang="en-US" sz="1600"/>
              <a:t>두 번째 인수는 </a:t>
            </a:r>
            <a:r>
              <a:rPr lang="en-US" altLang="ko-KR" sz="1600"/>
              <a:t>ESP32</a:t>
            </a:r>
            <a:r>
              <a:rPr lang="ko-KR" altLang="en-US" sz="1600"/>
              <a:t>를 깨우는 논리</a:t>
            </a:r>
            <a:r>
              <a:rPr lang="en-US" altLang="ko-KR" sz="1600"/>
              <a:t>(high, low)</a:t>
            </a:r>
            <a:r>
              <a:rPr lang="ko-KR" altLang="en-US" sz="1600"/>
              <a:t>이다</a:t>
            </a:r>
            <a:r>
              <a:rPr lang="en-US" altLang="ko-KR" sz="1600"/>
              <a:t>.</a:t>
            </a:r>
          </a:p>
          <a:p>
            <a:pPr marL="285750" indent="-285750">
              <a:lnSpc>
                <a:spcPct val="150000"/>
              </a:lnSpc>
              <a:buFont typeface="Arial" panose="020B0604020202020204" pitchFamily="34" charset="0"/>
              <a:buChar char="•"/>
            </a:pPr>
            <a:r>
              <a:rPr lang="en-US" altLang="ko-KR" sz="1600"/>
              <a:t>GPIOs Bitmask</a:t>
            </a:r>
            <a:br>
              <a:rPr lang="en-US" altLang="ko-KR" sz="1600"/>
            </a:br>
            <a:r>
              <a:rPr lang="en-US" altLang="ko-KR" sz="1600">
                <a:latin typeface="+mn-ea"/>
              </a:rPr>
              <a:t>-  </a:t>
            </a:r>
            <a:r>
              <a:rPr lang="ko-KR" altLang="ko-KR" sz="1600">
                <a:latin typeface="+mn-ea"/>
              </a:rPr>
              <a:t>GPIO 비트마스크를 정의하려면 코드 시작 부분에 정의된 BUTTON_PIN_BITMASK() 매크로를 사용할 수 있다. </a:t>
            </a:r>
          </a:p>
          <a:p>
            <a:pPr marL="285750" indent="-285750">
              <a:lnSpc>
                <a:spcPct val="150000"/>
              </a:lnSpc>
              <a:buFont typeface="Arial" panose="020B0604020202020204" pitchFamily="34" charset="0"/>
              <a:buChar char="•"/>
            </a:pPr>
            <a:endParaRPr lang="ko-KR" altLang="en-US" sz="1600"/>
          </a:p>
        </p:txBody>
      </p:sp>
      <p:sp>
        <p:nvSpPr>
          <p:cNvPr id="7" name="직사각형 6">
            <a:extLst>
              <a:ext uri="{FF2B5EF4-FFF2-40B4-BE49-F238E27FC236}">
                <a16:creationId xmlns:a16="http://schemas.microsoft.com/office/drawing/2014/main" id="{89330754-625B-42C5-9BBE-89AEA1171818}"/>
              </a:ext>
            </a:extLst>
          </p:cNvPr>
          <p:cNvSpPr/>
          <p:nvPr/>
        </p:nvSpPr>
        <p:spPr>
          <a:xfrm>
            <a:off x="814466" y="2591027"/>
            <a:ext cx="9588708"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GPIO</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 </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1ULL </a:t>
            </a:r>
            <a:r>
              <a:rPr lang="en-US" altLang="ko-KR">
                <a:solidFill>
                  <a:srgbClr val="9A6E3A"/>
                </a:solidFill>
                <a:latin typeface="Consolas" panose="020B0609020204030204" pitchFamily="49" charset="0"/>
              </a:rPr>
              <a:t>&lt;&lt;</a:t>
            </a:r>
            <a:r>
              <a:rPr lang="en-US" altLang="ko-KR">
                <a:solidFill>
                  <a:srgbClr val="990055"/>
                </a:solidFill>
                <a:latin typeface="Consolas" panose="020B0609020204030204" pitchFamily="49" charset="0"/>
              </a:rPr>
              <a:t> GPIO</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2 ^ GPIO_NUMBER in hex</a:t>
            </a:r>
            <a:endParaRPr lang="ko-KR" altLang="en-US"/>
          </a:p>
        </p:txBody>
      </p:sp>
      <p:sp>
        <p:nvSpPr>
          <p:cNvPr id="13" name="직사각형 12">
            <a:extLst>
              <a:ext uri="{FF2B5EF4-FFF2-40B4-BE49-F238E27FC236}">
                <a16:creationId xmlns:a16="http://schemas.microsoft.com/office/drawing/2014/main" id="{532B05C6-5AB5-40A5-9363-D5A41BF6EBC9}"/>
              </a:ext>
            </a:extLst>
          </p:cNvPr>
          <p:cNvSpPr/>
          <p:nvPr/>
        </p:nvSpPr>
        <p:spPr>
          <a:xfrm>
            <a:off x="514662" y="3134901"/>
            <a:ext cx="11390026" cy="1154290"/>
          </a:xfrm>
          <a:prstGeom prst="rect">
            <a:avLst/>
          </a:prstGeom>
        </p:spPr>
        <p:txBody>
          <a:bodyPr wrap="square">
            <a:spAutoFit/>
          </a:bodyPr>
          <a:lstStyle/>
          <a:p>
            <a:pPr lvl="0" eaLnBrk="0" fontAlgn="base" latinLnBrk="0" hangingPunct="0">
              <a:lnSpc>
                <a:spcPct val="150000"/>
              </a:lnSpc>
              <a:spcBef>
                <a:spcPct val="0"/>
              </a:spcBef>
              <a:spcAft>
                <a:spcPct val="0"/>
              </a:spcAft>
            </a:pPr>
            <a:r>
              <a:rPr lang="en-US" altLang="ko-KR" sz="1600">
                <a:latin typeface="Arial Unicode MS"/>
              </a:rPr>
              <a:t>-  </a:t>
            </a:r>
            <a:r>
              <a:rPr lang="ko-KR" altLang="ko-KR" sz="1600">
                <a:latin typeface="Arial Unicode MS"/>
              </a:rPr>
              <a:t>BUTTON_PIN_BITMASK(GPIO)</a:t>
            </a:r>
            <a:r>
              <a:rPr lang="ko-KR" altLang="ko-KR" sz="1600"/>
              <a:t>는 특정 GPIO에 대한 비트마스크를 생성하는 매크로</a:t>
            </a:r>
            <a:r>
              <a:rPr lang="ko-KR" altLang="en-US" sz="1600"/>
              <a:t>이</a:t>
            </a:r>
            <a:r>
              <a:rPr lang="ko-KR" altLang="ko-KR" sz="1600"/>
              <a:t>다. </a:t>
            </a:r>
            <a:r>
              <a:rPr lang="en-US" altLang="ko-KR" sz="1600"/>
              <a:t> </a:t>
            </a:r>
            <a:br>
              <a:rPr lang="en-US" altLang="ko-KR" sz="1600"/>
            </a:br>
            <a:r>
              <a:rPr lang="en-US" altLang="ko-KR" sz="1600"/>
              <a:t>  </a:t>
            </a:r>
            <a:r>
              <a:rPr lang="ko-KR" altLang="ko-KR" sz="1600"/>
              <a:t>함수는 아니지만, 인수를 받아 값을 반환한다는 점에서 함수와 비슷하게 동작</a:t>
            </a:r>
            <a:r>
              <a:rPr lang="ko-KR" altLang="en-US" sz="1600"/>
              <a:t>한</a:t>
            </a:r>
            <a:r>
              <a:rPr lang="ko-KR" altLang="ko-KR" sz="1600"/>
              <a:t>다.</a:t>
            </a:r>
            <a:endParaRPr lang="ko-KR" altLang="ko-KR" sz="1600">
              <a:latin typeface="Arial" panose="020B0604020202020204" pitchFamily="34" charset="0"/>
            </a:endParaRPr>
          </a:p>
          <a:p>
            <a:pPr lvl="0" eaLnBrk="0" fontAlgn="base" latinLnBrk="0" hangingPunct="0">
              <a:lnSpc>
                <a:spcPct val="150000"/>
              </a:lnSpc>
              <a:spcBef>
                <a:spcPct val="0"/>
              </a:spcBef>
              <a:spcAft>
                <a:spcPct val="0"/>
              </a:spcAft>
            </a:pPr>
            <a:r>
              <a:rPr lang="en-US" altLang="ko-KR" sz="1600">
                <a:latin typeface="Arial" panose="020B0604020202020204" pitchFamily="34" charset="0"/>
              </a:rPr>
              <a:t>   </a:t>
            </a:r>
            <a:r>
              <a:rPr lang="ko-KR" altLang="ko-KR" sz="1600">
                <a:latin typeface="Arial" panose="020B0604020202020204" pitchFamily="34" charset="0"/>
              </a:rPr>
              <a:t>따라서 특정 GPIO에 대한 비트마스크를 반환하려면 다음과 같이 호출하면 </a:t>
            </a:r>
            <a:r>
              <a:rPr lang="ko-KR" altLang="en-US" sz="1600">
                <a:latin typeface="Arial" panose="020B0604020202020204" pitchFamily="34" charset="0"/>
              </a:rPr>
              <a:t>된</a:t>
            </a:r>
            <a:r>
              <a:rPr lang="ko-KR" altLang="ko-KR" sz="1600">
                <a:latin typeface="Arial" panose="020B0604020202020204" pitchFamily="34" charset="0"/>
              </a:rPr>
              <a:t>다:</a:t>
            </a:r>
          </a:p>
        </p:txBody>
      </p:sp>
      <p:sp>
        <p:nvSpPr>
          <p:cNvPr id="14" name="직사각형 13">
            <a:extLst>
              <a:ext uri="{FF2B5EF4-FFF2-40B4-BE49-F238E27FC236}">
                <a16:creationId xmlns:a16="http://schemas.microsoft.com/office/drawing/2014/main" id="{7B51FA00-848C-4CF2-9F02-6C405A8D0917}"/>
              </a:ext>
            </a:extLst>
          </p:cNvPr>
          <p:cNvSpPr/>
          <p:nvPr/>
        </p:nvSpPr>
        <p:spPr>
          <a:xfrm>
            <a:off x="814466" y="4463733"/>
            <a:ext cx="4110421" cy="369332"/>
          </a:xfrm>
          <a:prstGeom prst="rect">
            <a:avLst/>
          </a:prstGeom>
          <a:solidFill>
            <a:schemeClr val="bg2"/>
          </a:solidFill>
        </p:spPr>
        <p:txBody>
          <a:bodyPr wrap="none">
            <a:spAutoFit/>
          </a:bodyPr>
          <a:lstStyle/>
          <a:p>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WAKEUP_GPIO</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15645200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Bitmask for Multiple GPIOs</a:t>
            </a:r>
          </a:p>
        </p:txBody>
      </p:sp>
      <p:sp>
        <p:nvSpPr>
          <p:cNvPr id="3" name="Rectangle 1">
            <a:extLst>
              <a:ext uri="{FF2B5EF4-FFF2-40B4-BE49-F238E27FC236}">
                <a16:creationId xmlns:a16="http://schemas.microsoft.com/office/drawing/2014/main" id="{1E850939-B7F2-4724-B66A-40CE43A0BD80}"/>
              </a:ext>
            </a:extLst>
          </p:cNvPr>
          <p:cNvSpPr>
            <a:spLocks noChangeArrowheads="1"/>
          </p:cNvSpPr>
          <p:nvPr/>
        </p:nvSpPr>
        <p:spPr bwMode="auto">
          <a:xfrm>
            <a:off x="114300" y="688176"/>
            <a:ext cx="9072805" cy="189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 코드에서 각 </a:t>
            </a:r>
            <a:r>
              <a:rPr kumimoji="0" lang="ko-KR" altLang="ko-KR" sz="1600" b="0" i="0" u="none" strike="noStrike" cap="none" normalizeH="0" baseline="0">
                <a:ln>
                  <a:noFill/>
                </a:ln>
                <a:solidFill>
                  <a:schemeClr val="tx1"/>
                </a:solidFill>
                <a:effectLst/>
                <a:latin typeface="Arial Unicode MS"/>
              </a:rPr>
              <a:t>BUTTON_PIN_BITMASK(GPIO)</a:t>
            </a:r>
            <a:r>
              <a:rPr kumimoji="0" lang="ko-KR" altLang="ko-KR" sz="1600" b="0" i="0" u="none" strike="noStrike" cap="none" normalizeH="0" baseline="0">
                <a:ln>
                  <a:noFill/>
                </a:ln>
                <a:solidFill>
                  <a:schemeClr val="tx1"/>
                </a:solidFill>
                <a:effectLst/>
              </a:rPr>
              <a:t>는 특정 GPIO 핀에 해당하는 비트를 생성하며,</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 </a:t>
            </a:r>
            <a:r>
              <a:rPr kumimoji="0" lang="en-US" altLang="ko-KR" sz="1600" b="0" i="0" u="none" strike="noStrike" cap="none" normalizeH="0" baseline="0">
                <a:ln>
                  <a:noFill/>
                </a:ln>
                <a:solidFill>
                  <a:schemeClr val="tx1"/>
                </a:solidFill>
                <a:effectLst/>
              </a:rPr>
              <a:t>‘</a:t>
            </a:r>
            <a:r>
              <a:rPr kumimoji="0" lang="ko-KR" altLang="ko-KR" sz="1600" b="0" i="0" u="none" strike="noStrike" cap="none" normalizeH="0" baseline="0">
                <a:ln>
                  <a:noFill/>
                </a:ln>
                <a:solidFill>
                  <a:schemeClr val="tx1"/>
                </a:solidFill>
                <a:effectLst/>
                <a:latin typeface="Arial Unicode MS"/>
              </a:rPr>
              <a:t>|</a:t>
            </a:r>
            <a:r>
              <a:rPr kumimoji="0" lang="en-US" altLang="ko-KR" sz="1600" b="0" i="0" u="none" strike="noStrike" cap="none" normalizeH="0" baseline="0">
                <a:ln>
                  <a:noFill/>
                </a:ln>
                <a:solidFill>
                  <a:schemeClr val="tx1"/>
                </a:solidFill>
                <a:effectLst/>
                <a:latin typeface="Arial Unicode MS"/>
              </a:rPr>
              <a:t>’ </a:t>
            </a:r>
            <a:r>
              <a:rPr kumimoji="0" lang="ko-KR" altLang="ko-KR" sz="1600" b="0" i="0" u="none" strike="noStrike" cap="none" normalizeH="0" baseline="0">
                <a:ln>
                  <a:noFill/>
                </a:ln>
                <a:solidFill>
                  <a:schemeClr val="tx1"/>
                </a:solidFill>
                <a:effectLst/>
              </a:rPr>
              <a:t> 연산자를 사용하여 여러 핀의 비트를 결합</a:t>
            </a:r>
            <a:r>
              <a:rPr lang="ko-KR" altLang="en-US" sz="1600"/>
              <a:t>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결과적으로, </a:t>
            </a:r>
            <a:r>
              <a:rPr kumimoji="0" lang="ko-KR" altLang="ko-KR" sz="1600" b="0" i="0" u="none" strike="noStrike" cap="none" normalizeH="0" baseline="0">
                <a:ln>
                  <a:noFill/>
                </a:ln>
                <a:solidFill>
                  <a:schemeClr val="tx1"/>
                </a:solidFill>
                <a:effectLst/>
                <a:latin typeface="Arial Unicode MS"/>
              </a:rPr>
              <a:t>bitmask</a:t>
            </a:r>
            <a:r>
              <a:rPr kumimoji="0" lang="ko-KR" altLang="ko-KR" sz="1600" b="0" i="0" u="none" strike="noStrike" cap="none" normalizeH="0" baseline="0">
                <a:ln>
                  <a:noFill/>
                </a:ln>
                <a:solidFill>
                  <a:schemeClr val="tx1"/>
                </a:solidFill>
                <a:effectLst/>
              </a:rPr>
              <a:t>는 여러 GPIO 핀을 나타내는 비트마스크를 포함하게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lvl="0" indent="-285750" eaLnBrk="0" fontAlgn="base" latinLnBrk="0" hangingPunct="0">
              <a:lnSpc>
                <a:spcPct val="150000"/>
              </a:lnSpc>
              <a:spcBef>
                <a:spcPct val="0"/>
              </a:spcBef>
              <a:spcAft>
                <a:spcPct val="0"/>
              </a:spcAft>
              <a:buFont typeface="Arial" panose="020B0604020202020204" pitchFamily="34" charset="0"/>
              <a:buChar char="•"/>
            </a:pPr>
            <a:r>
              <a:rPr lang="en-US" altLang="ko-KR" sz="1600"/>
              <a:t>GPIO </a:t>
            </a:r>
            <a:r>
              <a:rPr lang="ko-KR" altLang="en-US" sz="1600"/>
              <a:t>핀 </a:t>
            </a:r>
            <a:r>
              <a:rPr lang="en-US" altLang="ko-KR" sz="1600"/>
              <a:t>2</a:t>
            </a:r>
            <a:r>
              <a:rPr lang="ko-KR" altLang="en-US" sz="1600"/>
              <a:t>와 </a:t>
            </a:r>
            <a:r>
              <a:rPr lang="en-US" altLang="ko-KR" sz="1600"/>
              <a:t>15</a:t>
            </a:r>
            <a:r>
              <a:rPr lang="ko-KR" altLang="en-US" sz="1600"/>
              <a:t>에 대한 비트마스크를 생성하려고 한다고 가정해보자</a:t>
            </a:r>
            <a:r>
              <a:rPr lang="en-US" altLang="ko-KR" sz="1600"/>
              <a:t>. </a:t>
            </a:r>
            <a:br>
              <a:rPr lang="en-US" altLang="ko-KR" sz="1600"/>
            </a:br>
            <a:r>
              <a:rPr lang="ko-KR" altLang="en-US" sz="1600"/>
              <a:t>이를 위해 각 핀에 대한 개별 비트마스크를 다음과 같이 결합할 수 있다</a:t>
            </a:r>
            <a:r>
              <a:rPr lang="en-US" altLang="ko-KR" sz="1600"/>
              <a:t>:</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DBC35D89-80D8-4B4E-BC66-80B8893C502E}"/>
              </a:ext>
            </a:extLst>
          </p:cNvPr>
          <p:cNvSpPr/>
          <p:nvPr/>
        </p:nvSpPr>
        <p:spPr>
          <a:xfrm>
            <a:off x="387927" y="2655608"/>
            <a:ext cx="11218718" cy="369332"/>
          </a:xfrm>
          <a:prstGeom prst="rect">
            <a:avLst/>
          </a:prstGeom>
          <a:solidFill>
            <a:schemeClr val="bg1">
              <a:lumMod val="95000"/>
            </a:schemeClr>
          </a:solidFill>
        </p:spPr>
        <p:txBody>
          <a:bodyPr wrap="square">
            <a:spAutoFit/>
          </a:bodyPr>
          <a:lstStyle/>
          <a:p>
            <a:r>
              <a:rPr lang="en-US" altLang="ko-KR">
                <a:solidFill>
                  <a:srgbClr val="DD4A68"/>
                </a:solidFill>
                <a:latin typeface="Consolas" panose="020B0609020204030204" pitchFamily="49" charset="0"/>
              </a:rPr>
              <a:t>uint64_t</a:t>
            </a:r>
            <a:r>
              <a:rPr lang="en-US" altLang="ko-KR">
                <a:solidFill>
                  <a:srgbClr val="000000"/>
                </a:solidFill>
                <a:latin typeface="Consolas" panose="020B0609020204030204" pitchFamily="49" charset="0"/>
              </a:rPr>
              <a:t> bitmask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GPIO_NUM_2</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GPIO_NUM_15</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4339567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Wake-Up</a:t>
            </a:r>
            <a:r>
              <a:rPr lang="ko-KR" altLang="en-US" b="1">
                <a:solidFill>
                  <a:srgbClr val="3A3A3A"/>
                </a:solidFill>
                <a:latin typeface="Helvetica" panose="020B0604020202020204" pitchFamily="34" charset="0"/>
              </a:rPr>
              <a:t> </a:t>
            </a:r>
            <a:r>
              <a:rPr lang="en-US" altLang="ko-KR" b="1">
                <a:solidFill>
                  <a:srgbClr val="3A3A3A"/>
                </a:solidFill>
                <a:latin typeface="Helvetica" panose="020B0604020202020204" pitchFamily="34" charset="0"/>
              </a:rPr>
              <a:t>Mode</a:t>
            </a:r>
          </a:p>
        </p:txBody>
      </p:sp>
      <p:sp>
        <p:nvSpPr>
          <p:cNvPr id="3" name="Rectangle 1">
            <a:extLst>
              <a:ext uri="{FF2B5EF4-FFF2-40B4-BE49-F238E27FC236}">
                <a16:creationId xmlns:a16="http://schemas.microsoft.com/office/drawing/2014/main" id="{9ABEA50C-5518-4F7A-A8E8-1FFE0C811D1F}"/>
              </a:ext>
            </a:extLst>
          </p:cNvPr>
          <p:cNvSpPr>
            <a:spLocks noChangeArrowheads="1"/>
          </p:cNvSpPr>
          <p:nvPr/>
        </p:nvSpPr>
        <p:spPr bwMode="auto">
          <a:xfrm>
            <a:off x="141668" y="724351"/>
            <a:ext cx="10286790" cy="521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Unicode MS"/>
              </a:rPr>
              <a:t>esp_sleep_enable_ext1_wakeup_io()</a:t>
            </a:r>
            <a:r>
              <a:rPr kumimoji="0" lang="ko-KR" altLang="ko-KR" sz="1600" b="0" i="0" u="none" strike="noStrike" cap="none" normalizeH="0" baseline="0">
                <a:ln>
                  <a:noFill/>
                </a:ln>
                <a:solidFill>
                  <a:schemeClr val="tx1"/>
                </a:solidFill>
                <a:effectLst/>
              </a:rPr>
              <a:t> 함수의 두 번째 인수는 웨이크업 모드를 지정</a:t>
            </a:r>
            <a:r>
              <a:rPr lang="ko-KR" altLang="en-US" sz="1600"/>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이전에 살펴본 것처럼, 선택 가능한 옵션은 다음과 같다: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269875" marR="0" lvl="0" indent="3603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ESP_EXT1_WAKEUP_ALL_LOW</a:t>
            </a:r>
            <a:r>
              <a:rPr kumimoji="0" lang="ko-KR" altLang="ko-KR" sz="1600" b="0" i="0" u="none" strike="noStrike" cap="none" normalizeH="0" baseline="0">
                <a:ln>
                  <a:noFill/>
                </a:ln>
                <a:solidFill>
                  <a:schemeClr val="tx1"/>
                </a:solidFill>
                <a:effectLst/>
                <a:latin typeface="Arial" panose="020B0604020202020204" pitchFamily="34" charset="0"/>
              </a:rPr>
              <a:t>: 모든 GPIO가 Low 상태가 될 때 웨이크업</a:t>
            </a:r>
          </a:p>
          <a:p>
            <a:pPr marL="269875" marR="0" lvl="0" indent="3603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High 상태가 될 때 웨이크업</a:t>
            </a:r>
            <a:br>
              <a:rPr kumimoji="0" lang="en-US" altLang="ko-KR" sz="1600" b="0" i="0" u="none" strike="noStrike" cap="none" normalizeH="0" baseline="0">
                <a:ln>
                  <a:noFill/>
                </a:ln>
                <a:solidFill>
                  <a:schemeClr val="tx1"/>
                </a:solidFill>
                <a:effectLst/>
                <a:latin typeface="Arial" panose="020B0604020202020204" pitchFamily="34" charset="0"/>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만약 ESP32-S2, ESP32-S3, ESP32-C6 또는 ESP32-H2를 사용 중이라면, 사용 가능한 모드는 다음과 같습니다:</a:t>
            </a:r>
          </a:p>
          <a:p>
            <a:pPr marL="269875" marR="0" lvl="0" indent="2714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ESP_EXT1_WAKEUP_ANY_LOW</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Low 상태가 될 때 웨이크업</a:t>
            </a:r>
          </a:p>
          <a:p>
            <a:pPr marL="269875" marR="0" lvl="0" indent="2714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High 상태가 될 때 웨이크업</a:t>
            </a:r>
          </a:p>
          <a:p>
            <a:pPr marL="0" marR="0" lvl="0" indent="0" algn="l" defTabSz="914400" rtl="0" eaLnBrk="0" fontAlgn="base" latinLnBrk="0" hangingPunct="0">
              <a:lnSpc>
                <a:spcPct val="150000"/>
              </a:lnSpc>
              <a:spcBef>
                <a:spcPct val="0"/>
              </a:spcBef>
              <a:spcAft>
                <a:spcPct val="0"/>
              </a:spcAft>
              <a:buClrTx/>
              <a:buSzTx/>
              <a:buFontTx/>
              <a:buNone/>
              <a:tabLst/>
            </a:pP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특정 예제에서는 </a:t>
            </a: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를 사용하고 있다.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따라서 비트마스크에 포함된 GPIO 중 하나라도 High 상태가 되면 ESP32가 웨이크업</a:t>
            </a:r>
            <a:r>
              <a:rPr kumimoji="0" lang="ko-KR" altLang="en-US" sz="1600" b="0" i="0" u="none" strike="noStrike" cap="none" normalizeH="0" baseline="0">
                <a:ln>
                  <a:noFill/>
                </a:ln>
                <a:solidFill>
                  <a:schemeClr val="tx1"/>
                </a:solidFill>
                <a:effectLst/>
                <a:latin typeface="Arial" panose="020B0604020202020204" pitchFamily="34" charset="0"/>
              </a:rPr>
              <a:t>된</a:t>
            </a:r>
            <a:r>
              <a:rPr kumimoji="0" lang="ko-KR" altLang="ko-KR" sz="1600" b="0" i="0" u="none" strike="noStrike" cap="none" normalizeH="0" baseline="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Unicode MS"/>
              </a:rPr>
              <a:t>ext0</a:t>
            </a:r>
            <a:r>
              <a:rPr kumimoji="0" lang="ko-KR" altLang="ko-KR" sz="1600" b="0" i="0" u="none" strike="noStrike" cap="none" normalizeH="0" baseline="0">
                <a:ln>
                  <a:noFill/>
                </a:ln>
                <a:solidFill>
                  <a:schemeClr val="tx1"/>
                </a:solidFill>
                <a:effectLst/>
              </a:rPr>
              <a:t>와 마찬가지로,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웨이크업 GPIO의 안정적인 읽기를 보장하기 위해 내부 풀업 저항(pull-up resistors)을 비활성화하고</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 풀다운 저항(pull-down resistors)을 활성화</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50314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External Wake Up – Multiple GPIOs</a:t>
            </a:r>
          </a:p>
        </p:txBody>
      </p:sp>
      <p:sp>
        <p:nvSpPr>
          <p:cNvPr id="3" name="직사각형 2">
            <a:extLst>
              <a:ext uri="{FF2B5EF4-FFF2-40B4-BE49-F238E27FC236}">
                <a16:creationId xmlns:a16="http://schemas.microsoft.com/office/drawing/2014/main" id="{9F8BAB9C-0793-423B-9A75-D75CE44C04BA}"/>
              </a:ext>
            </a:extLst>
          </p:cNvPr>
          <p:cNvSpPr/>
          <p:nvPr/>
        </p:nvSpPr>
        <p:spPr>
          <a:xfrm>
            <a:off x="233966" y="639136"/>
            <a:ext cx="11724067" cy="783356"/>
          </a:xfrm>
          <a:prstGeom prst="rect">
            <a:avLst/>
          </a:prstGeom>
        </p:spPr>
        <p:txBody>
          <a:bodyPr wrap="square" anchor="t">
            <a:spAutoFit/>
          </a:bodyPr>
          <a:lstStyle/>
          <a:p>
            <a:pPr>
              <a:lnSpc>
                <a:spcPct val="150000"/>
              </a:lnSpc>
            </a:pPr>
            <a:r>
              <a:rPr lang="ko-KR" altLang="en-US" sz="1600"/>
              <a:t>이제 </a:t>
            </a:r>
            <a:r>
              <a:rPr lang="en-US" altLang="ko-KR" sz="1600"/>
              <a:t>ESP32</a:t>
            </a:r>
            <a:r>
              <a:rPr lang="ko-KR" altLang="en-US" sz="1600"/>
              <a:t>를 서로 다른 버튼을 사용해 웨이크업할 수 있으며</a:t>
            </a:r>
            <a:r>
              <a:rPr lang="en-US" altLang="ko-KR" sz="1600"/>
              <a:t>, </a:t>
            </a:r>
            <a:r>
              <a:rPr lang="ko-KR" altLang="en-US" sz="1600"/>
              <a:t>어떤 버튼이 웨이크업을 유발했는지 식별할 수 있어야 한다</a:t>
            </a:r>
            <a:r>
              <a:rPr lang="en-US" altLang="ko-KR" sz="1600"/>
              <a:t>.</a:t>
            </a:r>
            <a:br>
              <a:rPr lang="en-US" altLang="ko-KR" sz="1600"/>
            </a:br>
            <a:r>
              <a:rPr lang="ko-KR" altLang="en-US" sz="1600"/>
              <a:t>이 예제에서는 </a:t>
            </a:r>
            <a:r>
              <a:rPr lang="en-US" altLang="ko-KR" sz="1600"/>
              <a:t>GPIO 2</a:t>
            </a:r>
            <a:r>
              <a:rPr lang="ko-KR" altLang="en-US" sz="1600"/>
              <a:t>와 </a:t>
            </a:r>
            <a:r>
              <a:rPr lang="en-US" altLang="ko-KR" sz="1600"/>
              <a:t>GPIO 15</a:t>
            </a:r>
            <a:r>
              <a:rPr lang="ko-KR" altLang="en-US" sz="1600"/>
              <a:t>를 웨이크업 소스로 사용한다</a:t>
            </a:r>
            <a:r>
              <a:rPr lang="en-US" altLang="ko-KR" sz="1600"/>
              <a:t>.</a:t>
            </a:r>
            <a:endParaRPr lang="ko-KR" altLang="en-US" sz="1600"/>
          </a:p>
        </p:txBody>
      </p:sp>
      <p:pic>
        <p:nvPicPr>
          <p:cNvPr id="4" name="그림 3">
            <a:extLst>
              <a:ext uri="{FF2B5EF4-FFF2-40B4-BE49-F238E27FC236}">
                <a16:creationId xmlns:a16="http://schemas.microsoft.com/office/drawing/2014/main" id="{7F499148-EA67-4D9F-B264-32CA6D06C746}"/>
              </a:ext>
            </a:extLst>
          </p:cNvPr>
          <p:cNvPicPr>
            <a:picLocks noChangeAspect="1"/>
          </p:cNvPicPr>
          <p:nvPr/>
        </p:nvPicPr>
        <p:blipFill>
          <a:blip r:embed="rId2"/>
          <a:stretch>
            <a:fillRect/>
          </a:stretch>
        </p:blipFill>
        <p:spPr>
          <a:xfrm>
            <a:off x="2614125" y="1526369"/>
            <a:ext cx="6963747" cy="5210902"/>
          </a:xfrm>
          <a:prstGeom prst="rect">
            <a:avLst/>
          </a:prstGeom>
        </p:spPr>
      </p:pic>
    </p:spTree>
    <p:extLst>
      <p:ext uri="{BB962C8B-B14F-4D97-AF65-F5344CB8AC3E}">
        <p14:creationId xmlns:p14="http://schemas.microsoft.com/office/powerpoint/2010/main" val="27054769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Multiple GPIOs – External Wake-Up</a:t>
            </a:r>
          </a:p>
        </p:txBody>
      </p:sp>
      <p:sp>
        <p:nvSpPr>
          <p:cNvPr id="3" name="Rectangle 1">
            <a:extLst>
              <a:ext uri="{FF2B5EF4-FFF2-40B4-BE49-F238E27FC236}">
                <a16:creationId xmlns:a16="http://schemas.microsoft.com/office/drawing/2014/main" id="{7BBE7B26-944F-4134-9F73-1AA4F0BE01F1}"/>
              </a:ext>
            </a:extLst>
          </p:cNvPr>
          <p:cNvSpPr>
            <a:spLocks noChangeArrowheads="1"/>
          </p:cNvSpPr>
          <p:nvPr/>
        </p:nvSpPr>
        <p:spPr bwMode="auto">
          <a:xfrm>
            <a:off x="218941" y="781651"/>
            <a:ext cx="9111790"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GPIO 15와 GPIO 2를 사용하기 위한 비트마스크를 생성하고, ext1을 웨이크업 소스로 활성화하며,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웨이크업을 유발한 GPIO를 식별하는 함수를 작성하는 방법은 다음과 같다:</a:t>
            </a:r>
            <a:endParaRPr kumimoji="0" lang="en-US"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GPIO 15와 GPIO 2를 사용하기 위한 비트마스크 생성:</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en-US"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panose="020B0604020202020204" pitchFamily="34" charset="0"/>
              </a:rPr>
              <a:t>이전과 같이 비트 OR 연산을 사용하여 비트마스크를 생성</a:t>
            </a:r>
            <a:r>
              <a:rPr lang="ko-KR" altLang="en-US" sz="1600">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ext1을 웨이크업 소스로 활성화:</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esp_sleep_enable_ext1_wakeup()</a:t>
            </a:r>
            <a:r>
              <a:rPr kumimoji="0" lang="ko-KR" altLang="ko-KR" sz="1600" b="0" i="0" u="none" strike="noStrike" cap="none" normalizeH="0" baseline="0">
                <a:ln>
                  <a:noFill/>
                </a:ln>
                <a:solidFill>
                  <a:schemeClr val="tx1"/>
                </a:solidFill>
                <a:effectLst/>
              </a:rPr>
              <a:t> 함수를 사용</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웨이크업을 유발한 GPIO 식별 함수 생성:</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esp_sleep_get_ext1_wakeup_status()</a:t>
            </a:r>
            <a:r>
              <a:rPr kumimoji="0" lang="ko-KR" altLang="ko-KR" sz="1600" b="0" i="0" u="none" strike="noStrike" cap="none" normalizeH="0" baseline="0">
                <a:ln>
                  <a:noFill/>
                </a:ln>
                <a:solidFill>
                  <a:schemeClr val="tx1"/>
                </a:solidFill>
                <a:effectLst/>
              </a:rPr>
              <a:t> 함수를 사용하여 웨이크업 상태를 확인</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6756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(1/3)</a:t>
            </a:r>
          </a:p>
        </p:txBody>
      </p:sp>
      <p:sp>
        <p:nvSpPr>
          <p:cNvPr id="3" name="Rectangle 1">
            <a:extLst>
              <a:ext uri="{FF2B5EF4-FFF2-40B4-BE49-F238E27FC236}">
                <a16:creationId xmlns:a16="http://schemas.microsoft.com/office/drawing/2014/main" id="{18E27748-7FE1-45AD-889A-5A515E3F7D07}"/>
              </a:ext>
            </a:extLst>
          </p:cNvPr>
          <p:cNvSpPr>
            <a:spLocks noChangeArrowheads="1"/>
          </p:cNvSpPr>
          <p:nvPr/>
        </p:nvSpPr>
        <p:spPr bwMode="auto">
          <a:xfrm>
            <a:off x="0" y="586775"/>
            <a:ext cx="12192000" cy="61861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driver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rtc_io.h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GPIO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1ULL </a:t>
            </a:r>
            <a:r>
              <a:rPr kumimoji="0" lang="ko-KR" altLang="ko-KR" b="0" i="0" u="none" strike="noStrike" cap="none" normalizeH="0" baseline="0" dirty="0">
                <a:ln>
                  <a:noFill/>
                </a:ln>
                <a:solidFill>
                  <a:srgbClr val="9A6E3A"/>
                </a:solidFill>
                <a:effectLst/>
                <a:latin typeface="Consolas" panose="020B0609020204030204" pitchFamily="49" charset="0"/>
              </a:rPr>
              <a:t>&lt;&lt;</a:t>
            </a:r>
            <a:r>
              <a:rPr kumimoji="0" lang="ko-KR" altLang="ko-KR" b="0" i="0" u="none" strike="noStrike" cap="none" normalizeH="0" baseline="0" dirty="0">
                <a:ln>
                  <a:noFill/>
                </a:ln>
                <a:solidFill>
                  <a:srgbClr val="990055"/>
                </a:solidFill>
                <a:effectLst/>
                <a:latin typeface="Consolas" panose="020B0609020204030204" pitchFamily="49" charset="0"/>
              </a:rPr>
              <a:t> GPIO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2 ^ GPIO_NUMBER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hex</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WAKEUP_GPIO_2 GPIO_NUM_2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Only</a:t>
            </a:r>
            <a:r>
              <a:rPr kumimoji="0" lang="ko-KR" altLang="ko-KR" b="0" i="0" u="none" strike="noStrike" cap="none" normalizeH="0" baseline="0" dirty="0">
                <a:ln>
                  <a:noFill/>
                </a:ln>
                <a:solidFill>
                  <a:srgbClr val="708090"/>
                </a:solidFill>
                <a:effectLst/>
                <a:latin typeface="Consolas" panose="020B0609020204030204" pitchFamily="49" charset="0"/>
              </a:rPr>
              <a:t> RTC IO </a:t>
            </a:r>
            <a:r>
              <a:rPr kumimoji="0" lang="ko-KR" altLang="ko-KR" b="0" i="0" u="none" strike="noStrike" cap="none" normalizeH="0" baseline="0" dirty="0" err="1">
                <a:ln>
                  <a:noFill/>
                </a:ln>
                <a:solidFill>
                  <a:srgbClr val="708090"/>
                </a:solidFill>
                <a:effectLst/>
                <a:latin typeface="Consolas" panose="020B0609020204030204" pitchFamily="49" charset="0"/>
              </a:rPr>
              <a:t>are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allowed</a:t>
            </a:r>
            <a:r>
              <a:rPr kumimoji="0" lang="ko-KR" altLang="ko-KR" b="0" i="0" u="none" strike="noStrike" cap="none" normalizeH="0" baseline="0" dirty="0">
                <a:ln>
                  <a:noFill/>
                </a:ln>
                <a:solidFill>
                  <a:srgbClr val="708090"/>
                </a:solidFill>
                <a:effectLst/>
                <a:latin typeface="Consolas" panose="020B0609020204030204" pitchFamily="49" charset="0"/>
              </a:rPr>
              <a:t> - ESP32 </a:t>
            </a:r>
            <a:r>
              <a:rPr kumimoji="0" lang="ko-KR" altLang="ko-KR" b="0" i="0" u="none" strike="noStrike" cap="none" normalizeH="0" baseline="0" dirty="0" err="1">
                <a:ln>
                  <a:noFill/>
                </a:ln>
                <a:solidFill>
                  <a:srgbClr val="708090"/>
                </a:solidFill>
                <a:effectLst/>
                <a:latin typeface="Consolas" panose="020B0609020204030204" pitchFamily="49" charset="0"/>
              </a:rPr>
              <a:t>Pin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example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WAKEUP_GPIO_15 GPIO_NUM_15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Only</a:t>
            </a:r>
            <a:r>
              <a:rPr kumimoji="0" lang="ko-KR" altLang="ko-KR" b="0" i="0" u="none" strike="noStrike" cap="none" normalizeH="0" baseline="0" dirty="0">
                <a:ln>
                  <a:noFill/>
                </a:ln>
                <a:solidFill>
                  <a:srgbClr val="708090"/>
                </a:solidFill>
                <a:effectLst/>
                <a:latin typeface="Consolas" panose="020B0609020204030204" pitchFamily="49" charset="0"/>
              </a:rPr>
              <a:t> RTC IO </a:t>
            </a:r>
            <a:r>
              <a:rPr kumimoji="0" lang="ko-KR" altLang="ko-KR" b="0" i="0" u="none" strike="noStrike" cap="none" normalizeH="0" baseline="0" dirty="0" err="1">
                <a:ln>
                  <a:noFill/>
                </a:ln>
                <a:solidFill>
                  <a:srgbClr val="708090"/>
                </a:solidFill>
                <a:effectLst/>
                <a:latin typeface="Consolas" panose="020B0609020204030204" pitchFamily="49" charset="0"/>
              </a:rPr>
              <a:t>are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allowed</a:t>
            </a:r>
            <a:r>
              <a:rPr kumimoji="0" lang="ko-KR" altLang="ko-KR" b="0" i="0" u="none" strike="noStrike" cap="none" normalizeH="0" baseline="0" dirty="0">
                <a:ln>
                  <a:noFill/>
                </a:ln>
                <a:solidFill>
                  <a:srgbClr val="708090"/>
                </a:solidFill>
                <a:effectLst/>
                <a:latin typeface="Consolas" panose="020B0609020204030204" pitchFamily="49" charset="0"/>
              </a:rPr>
              <a:t> - ESP32 </a:t>
            </a:r>
            <a:r>
              <a:rPr kumimoji="0" lang="ko-KR" altLang="ko-KR" b="0" i="0" u="none" strike="noStrike" cap="none" normalizeH="0" baseline="0" dirty="0" err="1">
                <a:ln>
                  <a:noFill/>
                </a:ln>
                <a:solidFill>
                  <a:srgbClr val="708090"/>
                </a:solidFill>
                <a:effectLst/>
                <a:latin typeface="Consolas" panose="020B0609020204030204" pitchFamily="49" charset="0"/>
              </a:rPr>
              <a:t>Pin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example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ko-KR" dirty="0">
              <a:solidFill>
                <a:srgbClr val="000000"/>
              </a:solidFill>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Define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bitmask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multiple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GPIOs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DD4A68"/>
                </a:solidFill>
                <a:effectLst/>
                <a:latin typeface="Consolas" panose="020B0609020204030204" pitchFamily="49" charset="0"/>
              </a:rPr>
              <a:t>uint64_t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bitmask</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000000"/>
                </a:solidFill>
                <a:effectLst/>
                <a:latin typeface="Consolas" panose="020B0609020204030204" pitchFamily="49" charset="0"/>
              </a:rPr>
              <a:t>RTC_DATA_ATTR </a:t>
            </a:r>
            <a:r>
              <a:rPr kumimoji="0" lang="ko-KR" altLang="ko-KR" b="0" i="0" u="none" strike="noStrike" cap="none" normalizeH="0" baseline="0" dirty="0" err="1">
                <a:ln>
                  <a:noFill/>
                </a:ln>
                <a:solidFill>
                  <a:srgbClr val="0077AA"/>
                </a:solidFill>
                <a:effectLst/>
                <a:latin typeface="Consolas" panose="020B0609020204030204" pitchFamily="49" charset="0"/>
              </a:rPr>
              <a:t>int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Method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GPIO </a:t>
            </a:r>
            <a:r>
              <a:rPr kumimoji="0" lang="ko-KR" altLang="ko-KR" b="0" i="0" u="none" strike="noStrike" cap="none" normalizeH="0" baseline="0" dirty="0" err="1">
                <a:ln>
                  <a:noFill/>
                </a:ln>
                <a:solidFill>
                  <a:srgbClr val="708090"/>
                </a:solidFill>
                <a:effectLst/>
                <a:latin typeface="Consolas" panose="020B0609020204030204" pitchFamily="49" charset="0"/>
              </a:rPr>
              <a:t>that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triggered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print_GPIO_wake_up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GPIO_reason</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esp_sleep_get_ext1_wakeup_status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 Return wake-up’s GPIO bitmask</a:t>
            </a: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"GPIO </a:t>
            </a:r>
            <a:r>
              <a:rPr kumimoji="0" lang="ko-KR" altLang="ko-KR" b="0" i="0" u="none" strike="noStrike" cap="none" normalizeH="0" baseline="0" dirty="0" err="1">
                <a:ln>
                  <a:noFill/>
                </a:ln>
                <a:solidFill>
                  <a:srgbClr val="669900"/>
                </a:solidFill>
                <a:effectLst/>
                <a:latin typeface="Consolas" panose="020B0609020204030204" pitchFamily="49" charset="0"/>
              </a:rPr>
              <a:t>that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triggered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the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wake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up</a:t>
            </a:r>
            <a:r>
              <a:rPr kumimoji="0" lang="ko-KR" altLang="ko-KR" b="0" i="0" u="none" strike="noStrike" cap="none" normalizeH="0" baseline="0" dirty="0">
                <a:ln>
                  <a:noFill/>
                </a:ln>
                <a:solidFill>
                  <a:srgbClr val="669900"/>
                </a:solidFill>
                <a:effectLst/>
                <a:latin typeface="Consolas" panose="020B0609020204030204" pitchFamily="49" charset="0"/>
              </a:rPr>
              <a:t>: GPIO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GPIO_reason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 print GPIO number</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r>
              <a:rPr kumimoji="0" lang="en-US"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6597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(2/3)</a:t>
            </a:r>
          </a:p>
        </p:txBody>
      </p:sp>
      <p:sp>
        <p:nvSpPr>
          <p:cNvPr id="34" name="Rectangle 192">
            <a:extLst>
              <a:ext uri="{FF2B5EF4-FFF2-40B4-BE49-F238E27FC236}">
                <a16:creationId xmlns:a16="http://schemas.microsoft.com/office/drawing/2014/main" id="{485544F2-0CC3-4C79-A88C-BEFD208AAE88}"/>
              </a:ext>
            </a:extLst>
          </p:cNvPr>
          <p:cNvSpPr>
            <a:spLocks noChangeArrowheads="1"/>
          </p:cNvSpPr>
          <p:nvPr/>
        </p:nvSpPr>
        <p:spPr bwMode="auto">
          <a:xfrm>
            <a:off x="0" y="561016"/>
            <a:ext cx="12192000" cy="639123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Method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reason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which</a:t>
            </a:r>
            <a:r>
              <a:rPr kumimoji="0" lang="ko-KR" altLang="ko-KR" b="0" i="0" u="none" strike="noStrike" cap="none" normalizeH="0" baseline="0" dirty="0">
                <a:ln>
                  <a:noFill/>
                </a:ln>
                <a:solidFill>
                  <a:srgbClr val="708090"/>
                </a:solidFill>
                <a:effectLst/>
                <a:latin typeface="Consolas" panose="020B0609020204030204" pitchFamily="49" charset="0"/>
              </a:rPr>
              <a:t> ESP32 </a:t>
            </a:r>
            <a:r>
              <a:rPr kumimoji="0" lang="ko-KR" altLang="ko-KR" b="0" i="0" u="none" strike="noStrike" cap="none" normalizeH="0" baseline="0" dirty="0" err="1">
                <a:ln>
                  <a:noFill/>
                </a:ln>
                <a:solidFill>
                  <a:srgbClr val="708090"/>
                </a:solidFill>
                <a:effectLst/>
                <a:latin typeface="Consolas" panose="020B0609020204030204" pitchFamily="49" charset="0"/>
              </a:rPr>
              <a:t>has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been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awaken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sleep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esp_sleep_wakeup_cause_t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esp_sleep_get_wakeup_cause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switch</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ESP_SLEEP_WAKEUP_EXT0</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external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signal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using</a:t>
            </a:r>
            <a:r>
              <a:rPr kumimoji="0" lang="ko-KR" altLang="ko-KR" b="0" i="0" u="none" strike="noStrike" cap="none" normalizeH="0" baseline="0" dirty="0">
                <a:ln>
                  <a:noFill/>
                </a:ln>
                <a:solidFill>
                  <a:srgbClr val="669900"/>
                </a:solidFill>
                <a:effectLst/>
                <a:latin typeface="Consolas" panose="020B0609020204030204" pitchFamily="49" charset="0"/>
              </a:rPr>
              <a:t> RTC_IO"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ESP_SLEEP_WAKEUP_EXT1</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external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signal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using</a:t>
            </a:r>
            <a:r>
              <a:rPr kumimoji="0" lang="ko-KR" altLang="ko-KR" b="0" i="0" u="none" strike="noStrike" cap="none" normalizeH="0" baseline="0" dirty="0">
                <a:ln>
                  <a:noFill/>
                </a:ln>
                <a:solidFill>
                  <a:srgbClr val="669900"/>
                </a:solidFill>
                <a:effectLst/>
                <a:latin typeface="Consolas" panose="020B0609020204030204" pitchFamily="49" charset="0"/>
              </a:rPr>
              <a:t> RTC_CNTL"</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print_GPIO_wake_up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ESP_SLEEP_WAKEUP_TIMER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timer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ESP_SLEEP_WAKEUP_TOUCHPAD</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touchpad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ESP_SLEEP_WAKEUP_ULP</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ULP </a:t>
            </a:r>
            <a:r>
              <a:rPr kumimoji="0" lang="ko-KR" altLang="ko-KR" b="0" i="0" u="none" strike="noStrike" cap="none" normalizeH="0" baseline="0" dirty="0" err="1">
                <a:ln>
                  <a:noFill/>
                </a:ln>
                <a:solidFill>
                  <a:srgbClr val="669900"/>
                </a:solidFill>
                <a:effectLst/>
                <a:latin typeface="Consolas" panose="020B0609020204030204" pitchFamily="49" charset="0"/>
              </a:rPr>
              <a:t>program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default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printf</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was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deep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sleep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n</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b="0" i="0" u="none" strike="noStrike" cap="none" normalizeH="0" baseline="0" dirty="0">
                <a:ln>
                  <a:noFill/>
                </a:ln>
                <a:solidFill>
                  <a:srgbClr val="999999"/>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latin typeface="Consolas" panose="020B0609020204030204" pitchFamily="49" charset="0"/>
              </a:rPr>
              <a:t> </a:t>
            </a:r>
          </a:p>
        </p:txBody>
      </p:sp>
    </p:spTree>
    <p:extLst>
      <p:ext uri="{BB962C8B-B14F-4D97-AF65-F5344CB8AC3E}">
        <p14:creationId xmlns:p14="http://schemas.microsoft.com/office/powerpoint/2010/main" val="28913883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(3/3)</a:t>
            </a:r>
          </a:p>
        </p:txBody>
      </p:sp>
      <p:sp>
        <p:nvSpPr>
          <p:cNvPr id="3" name="Rectangle 1">
            <a:extLst>
              <a:ext uri="{FF2B5EF4-FFF2-40B4-BE49-F238E27FC236}">
                <a16:creationId xmlns:a16="http://schemas.microsoft.com/office/drawing/2014/main" id="{F8F884B4-F3A2-49F6-9226-DAF7DC29711E}"/>
              </a:ext>
            </a:extLst>
          </p:cNvPr>
          <p:cNvSpPr>
            <a:spLocks noChangeArrowheads="1"/>
          </p:cNvSpPr>
          <p:nvPr/>
        </p:nvSpPr>
        <p:spPr bwMode="auto">
          <a:xfrm>
            <a:off x="0" y="708286"/>
            <a:ext cx="8991244" cy="60687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setup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115200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1000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Take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some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time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open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Monitor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Increment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boot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number</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every</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reboot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Boot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number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String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reason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ESP32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Use</a:t>
            </a:r>
            <a:r>
              <a:rPr kumimoji="0" lang="ko-KR" altLang="ko-KR" b="0" i="0" u="none" strike="noStrike" cap="none" normalizeH="0" baseline="0" dirty="0">
                <a:ln>
                  <a:noFill/>
                </a:ln>
                <a:solidFill>
                  <a:srgbClr val="708090"/>
                </a:solidFill>
                <a:effectLst/>
                <a:latin typeface="Consolas" panose="020B0609020204030204" pitchFamily="49" charset="0"/>
              </a:rPr>
              <a:t> ext1 </a:t>
            </a:r>
            <a:r>
              <a:rPr kumimoji="0" lang="ko-KR" altLang="ko-KR" b="0" i="0" u="none" strike="noStrike" cap="none" normalizeH="0" baseline="0" dirty="0" err="1">
                <a:ln>
                  <a:noFill/>
                </a:ln>
                <a:solidFill>
                  <a:srgbClr val="708090"/>
                </a:solidFill>
                <a:effectLst/>
                <a:latin typeface="Consolas" panose="020B0609020204030204" pitchFamily="49" charset="0"/>
              </a:rPr>
              <a:t>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source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esp_sleep_enable_ext1_wakeup_io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ESP_EXT1_WAKEUP_ANY_HIGH</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enable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pull-down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resistors</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disable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pull-up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resistors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Going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sleep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now</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This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will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never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printed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7106EA32-CAE1-4EAE-B350-C58C8C4C9BBB}"/>
              </a:ext>
            </a:extLst>
          </p:cNvPr>
          <p:cNvSpPr>
            <a:spLocks noChangeArrowheads="1"/>
          </p:cNvSpPr>
          <p:nvPr/>
        </p:nvSpPr>
        <p:spPr bwMode="auto">
          <a:xfrm>
            <a:off x="5911073" y="6581001"/>
            <a:ext cx="6160341" cy="2769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loop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This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going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called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29043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ko-KR" altLang="en-US" b="1">
                <a:solidFill>
                  <a:srgbClr val="3A3A3A"/>
                </a:solidFill>
                <a:latin typeface="Helvetica" panose="020B0604020202020204" pitchFamily="34" charset="0"/>
              </a:rPr>
              <a:t>실행 결과</a:t>
            </a:r>
            <a:endParaRPr lang="en-US" altLang="ko-KR" b="1">
              <a:solidFill>
                <a:srgbClr val="3A3A3A"/>
              </a:solidFill>
              <a:latin typeface="Helvetica" panose="020B0604020202020204" pitchFamily="34" charset="0"/>
            </a:endParaRPr>
          </a:p>
        </p:txBody>
      </p:sp>
      <p:pic>
        <p:nvPicPr>
          <p:cNvPr id="3" name="그림 2">
            <a:extLst>
              <a:ext uri="{FF2B5EF4-FFF2-40B4-BE49-F238E27FC236}">
                <a16:creationId xmlns:a16="http://schemas.microsoft.com/office/drawing/2014/main" id="{8CB1C4EB-F962-4DAB-8ECC-CF50098CF778}"/>
              </a:ext>
            </a:extLst>
          </p:cNvPr>
          <p:cNvPicPr>
            <a:picLocks noChangeAspect="1"/>
          </p:cNvPicPr>
          <p:nvPr/>
        </p:nvPicPr>
        <p:blipFill>
          <a:blip r:embed="rId2"/>
          <a:stretch>
            <a:fillRect/>
          </a:stretch>
        </p:blipFill>
        <p:spPr>
          <a:xfrm>
            <a:off x="2965160" y="0"/>
            <a:ext cx="7163199" cy="6858000"/>
          </a:xfrm>
          <a:prstGeom prst="rect">
            <a:avLst/>
          </a:prstGeom>
          <a:ln>
            <a:solidFill>
              <a:schemeClr val="tx1">
                <a:lumMod val="75000"/>
                <a:lumOff val="25000"/>
              </a:schemeClr>
            </a:solidFill>
          </a:ln>
        </p:spPr>
      </p:pic>
      <p:sp>
        <p:nvSpPr>
          <p:cNvPr id="4" name="사각형: 둥근 모서리 3">
            <a:extLst>
              <a:ext uri="{FF2B5EF4-FFF2-40B4-BE49-F238E27FC236}">
                <a16:creationId xmlns:a16="http://schemas.microsoft.com/office/drawing/2014/main" id="{6845C5DC-AC8A-49A7-BC2F-30CB2AC35577}"/>
              </a:ext>
            </a:extLst>
          </p:cNvPr>
          <p:cNvSpPr/>
          <p:nvPr/>
        </p:nvSpPr>
        <p:spPr>
          <a:xfrm>
            <a:off x="2768958" y="2820473"/>
            <a:ext cx="5087155" cy="90152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617376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858000"/>
          </a:xfrm>
          <a:prstGeom prst="rect">
            <a:avLst/>
          </a:prstGeom>
          <a:solidFill>
            <a:schemeClr val="accent4">
              <a:lumMod val="20000"/>
              <a:lumOff val="80000"/>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11500" b="1">
                <a:solidFill>
                  <a:schemeClr val="tx1"/>
                </a:solidFill>
              </a:rPr>
              <a:t>Web Server</a:t>
            </a:r>
            <a:endParaRPr lang="ko-KR" altLang="en-US" sz="11500" b="1">
              <a:solidFill>
                <a:schemeClr val="tx1"/>
              </a:solidFill>
            </a:endParaRPr>
          </a:p>
        </p:txBody>
      </p:sp>
      <p:sp>
        <p:nvSpPr>
          <p:cNvPr id="7" name="TextBox 6">
            <a:extLst>
              <a:ext uri="{FF2B5EF4-FFF2-40B4-BE49-F238E27FC236}">
                <a16:creationId xmlns:a16="http://schemas.microsoft.com/office/drawing/2014/main" id="{D66A7BC7-C963-81E4-677E-C8D116CA5EE4}"/>
              </a:ext>
            </a:extLst>
          </p:cNvPr>
          <p:cNvSpPr txBox="1"/>
          <p:nvPr/>
        </p:nvSpPr>
        <p:spPr>
          <a:xfrm>
            <a:off x="144236" y="6488668"/>
            <a:ext cx="6953250" cy="369332"/>
          </a:xfrm>
          <a:prstGeom prst="rect">
            <a:avLst/>
          </a:prstGeom>
          <a:noFill/>
        </p:spPr>
        <p:txBody>
          <a:bodyPr wrap="square">
            <a:spAutoFit/>
          </a:bodyPr>
          <a:lstStyle/>
          <a:p>
            <a:r>
              <a:rPr lang="en-US" altLang="ko-KR">
                <a:hlinkClick r:id="rId2"/>
              </a:rPr>
              <a:t>ESP32 Web Server - Arduino IDE | Random Nerd Tutorials</a:t>
            </a:r>
            <a:endParaRPr lang="ko-KR" altLang="en-US"/>
          </a:p>
        </p:txBody>
      </p:sp>
    </p:spTree>
    <p:extLst>
      <p:ext uri="{BB962C8B-B14F-4D97-AF65-F5344CB8AC3E}">
        <p14:creationId xmlns:p14="http://schemas.microsoft.com/office/powerpoint/2010/main" val="22399687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C5A40-09C2-D11E-90C4-FAA53A56016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9D1E558-4E1A-690E-C807-E41CD9D9E9BA}"/>
              </a:ext>
            </a:extLst>
          </p:cNvPr>
          <p:cNvSpPr/>
          <p:nvPr/>
        </p:nvSpPr>
        <p:spPr>
          <a:xfrm>
            <a:off x="0" y="0"/>
            <a:ext cx="12192000" cy="2646218"/>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ESP32 Web Server – Arduino IDE</a:t>
            </a:r>
            <a:endParaRPr lang="ko-KR" altLang="en-US" sz="5400" b="1">
              <a:solidFill>
                <a:schemeClr val="tx1"/>
              </a:solidFill>
            </a:endParaRPr>
          </a:p>
        </p:txBody>
      </p:sp>
      <p:sp>
        <p:nvSpPr>
          <p:cNvPr id="3" name="직사각형 2">
            <a:extLst>
              <a:ext uri="{FF2B5EF4-FFF2-40B4-BE49-F238E27FC236}">
                <a16:creationId xmlns:a16="http://schemas.microsoft.com/office/drawing/2014/main" id="{AFB753B0-350F-0268-5C11-85501C32B3C7}"/>
              </a:ext>
            </a:extLst>
          </p:cNvPr>
          <p:cNvSpPr/>
          <p:nvPr/>
        </p:nvSpPr>
        <p:spPr>
          <a:xfrm>
            <a:off x="0" y="6488668"/>
            <a:ext cx="6954644" cy="369332"/>
          </a:xfrm>
          <a:prstGeom prst="rect">
            <a:avLst/>
          </a:prstGeom>
        </p:spPr>
        <p:txBody>
          <a:bodyPr wrap="square">
            <a:spAutoFit/>
          </a:bodyPr>
          <a:lstStyle/>
          <a:p>
            <a:r>
              <a:rPr lang="en-US" altLang="ko-KR">
                <a:hlinkClick r:id="rId2"/>
              </a:rPr>
              <a:t>ESP32 Web Server - Arduino IDE | Random Nerd Tutorials</a:t>
            </a:r>
            <a:endParaRPr lang="ko-KR" altLang="en-US"/>
          </a:p>
        </p:txBody>
      </p:sp>
      <p:sp>
        <p:nvSpPr>
          <p:cNvPr id="4" name="직사각형 3">
            <a:extLst>
              <a:ext uri="{FF2B5EF4-FFF2-40B4-BE49-F238E27FC236}">
                <a16:creationId xmlns:a16="http://schemas.microsoft.com/office/drawing/2014/main" id="{48E2ABE0-4E4D-B913-0F9A-174C3930DFEE}"/>
              </a:ext>
            </a:extLst>
          </p:cNvPr>
          <p:cNvSpPr/>
          <p:nvPr/>
        </p:nvSpPr>
        <p:spPr>
          <a:xfrm>
            <a:off x="429321" y="2813117"/>
            <a:ext cx="11379819"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 프로젝트에서는 </a:t>
            </a:r>
            <a:r>
              <a:rPr lang="en-US" altLang="ko-KR"/>
              <a:t>Arduino IDE </a:t>
            </a:r>
            <a:r>
              <a:rPr lang="ko-KR" altLang="en-US"/>
              <a:t>프로그래밍 환경을 사용하여 출력</a:t>
            </a:r>
            <a:r>
              <a:rPr lang="en-US" altLang="ko-KR"/>
              <a:t>(</a:t>
            </a:r>
            <a:r>
              <a:rPr lang="ko-KR" altLang="en-US"/>
              <a:t>두 개의 </a:t>
            </a:r>
            <a:r>
              <a:rPr lang="en-US" altLang="ko-KR"/>
              <a:t>LED)</a:t>
            </a:r>
            <a:r>
              <a:rPr lang="ko-KR" altLang="en-US"/>
              <a:t>을 제어하는 </a:t>
            </a:r>
            <a:br>
              <a:rPr lang="en-US" altLang="ko-KR"/>
            </a:br>
            <a:r>
              <a:rPr lang="ko-KR" altLang="en-US"/>
              <a:t>독립형 웹 서버를 </a:t>
            </a:r>
            <a:r>
              <a:rPr lang="en-US" altLang="ko-KR"/>
              <a:t>ESP32</a:t>
            </a:r>
            <a:r>
              <a:rPr lang="ko-KR" altLang="en-US"/>
              <a:t>로 생성한다</a:t>
            </a:r>
            <a:r>
              <a:rPr lang="en-US" altLang="ko-KR"/>
              <a:t>. </a:t>
            </a:r>
          </a:p>
          <a:p>
            <a:pPr marL="285750" indent="-285750">
              <a:lnSpc>
                <a:spcPct val="150000"/>
              </a:lnSpc>
              <a:buFont typeface="Arial" panose="020B0604020202020204" pitchFamily="34" charset="0"/>
              <a:buChar char="•"/>
            </a:pPr>
            <a:r>
              <a:rPr lang="ko-KR" altLang="en-US"/>
              <a:t>이 웹 서버는 모바일 친화적이며</a:t>
            </a:r>
            <a:r>
              <a:rPr lang="en-US" altLang="ko-KR"/>
              <a:t>, </a:t>
            </a:r>
            <a:br>
              <a:rPr lang="en-US" altLang="ko-KR"/>
            </a:br>
            <a:r>
              <a:rPr lang="ko-KR" altLang="en-US"/>
              <a:t>로컬 네트워크에 연결된 브라우저가 있는 모든 장치에서 액세스할 수 있다</a:t>
            </a:r>
            <a:r>
              <a:rPr lang="en-US" altLang="ko-KR"/>
              <a:t>. </a:t>
            </a:r>
          </a:p>
          <a:p>
            <a:pPr marL="285750" indent="-285750">
              <a:lnSpc>
                <a:spcPct val="150000"/>
              </a:lnSpc>
              <a:buFont typeface="Arial" panose="020B0604020202020204" pitchFamily="34" charset="0"/>
              <a:buChar char="•"/>
            </a:pPr>
            <a:r>
              <a:rPr lang="ko-KR" altLang="en-US"/>
              <a:t>웹 서버를 생성하는 방법과 코드 작동 과정을 단계별로 실습해보자</a:t>
            </a:r>
            <a:r>
              <a:rPr lang="en-US" altLang="ko-KR"/>
              <a:t>.</a:t>
            </a:r>
            <a:endParaRPr lang="ko-KR" altLang="en-US"/>
          </a:p>
        </p:txBody>
      </p:sp>
      <p:pic>
        <p:nvPicPr>
          <p:cNvPr id="5" name="그림 4">
            <a:extLst>
              <a:ext uri="{FF2B5EF4-FFF2-40B4-BE49-F238E27FC236}">
                <a16:creationId xmlns:a16="http://schemas.microsoft.com/office/drawing/2014/main" id="{1A899E6B-7CBA-D750-41C9-2EE89DFBD545}"/>
              </a:ext>
            </a:extLst>
          </p:cNvPr>
          <p:cNvPicPr>
            <a:picLocks noChangeAspect="1"/>
          </p:cNvPicPr>
          <p:nvPr/>
        </p:nvPicPr>
        <p:blipFill>
          <a:blip r:embed="rId3"/>
          <a:stretch>
            <a:fillRect/>
          </a:stretch>
        </p:blipFill>
        <p:spPr>
          <a:xfrm>
            <a:off x="7883236" y="4516138"/>
            <a:ext cx="4308764" cy="2402725"/>
          </a:xfrm>
          <a:prstGeom prst="rect">
            <a:avLst/>
          </a:prstGeom>
        </p:spPr>
      </p:pic>
    </p:spTree>
    <p:extLst>
      <p:ext uri="{BB962C8B-B14F-4D97-AF65-F5344CB8AC3E}">
        <p14:creationId xmlns:p14="http://schemas.microsoft.com/office/powerpoint/2010/main" val="20864239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90390-E8D8-A6F6-18CD-5974A69CF21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1B970DE-E54F-8CCC-F29A-203B7B2FD06E}"/>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프로젝트 개요</a:t>
            </a:r>
          </a:p>
        </p:txBody>
      </p:sp>
      <p:sp>
        <p:nvSpPr>
          <p:cNvPr id="3" name="직사각형 2">
            <a:extLst>
              <a:ext uri="{FF2B5EF4-FFF2-40B4-BE49-F238E27FC236}">
                <a16:creationId xmlns:a16="http://schemas.microsoft.com/office/drawing/2014/main" id="{00E868FA-C9F7-39A8-BC99-2C3543B5FE21}"/>
              </a:ext>
            </a:extLst>
          </p:cNvPr>
          <p:cNvSpPr/>
          <p:nvPr/>
        </p:nvSpPr>
        <p:spPr>
          <a:xfrm>
            <a:off x="443344" y="889522"/>
            <a:ext cx="10848109"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 웹 서버는 </a:t>
            </a:r>
            <a:r>
              <a:rPr lang="en-US" altLang="ko-KR"/>
              <a:t>ESP32</a:t>
            </a:r>
            <a:r>
              <a:rPr lang="ko-KR" altLang="en-US"/>
              <a:t>의 </a:t>
            </a:r>
            <a:r>
              <a:rPr lang="en-US" altLang="ko-KR"/>
              <a:t>GPIO 26</a:t>
            </a:r>
            <a:r>
              <a:rPr lang="ko-KR" altLang="en-US"/>
              <a:t>과 </a:t>
            </a:r>
            <a:r>
              <a:rPr lang="en-US" altLang="ko-KR"/>
              <a:t>GPIO 27</a:t>
            </a:r>
            <a:r>
              <a:rPr lang="ko-KR" altLang="en-US"/>
              <a:t>에 연결된 두 개의 </a:t>
            </a:r>
            <a:r>
              <a:rPr lang="en-US" altLang="ko-KR"/>
              <a:t>LED</a:t>
            </a:r>
            <a:r>
              <a:rPr lang="ko-KR" altLang="en-US"/>
              <a:t>를 제어한다</a:t>
            </a:r>
            <a:r>
              <a:rPr lang="en-US" altLang="ko-KR"/>
              <a:t>.</a:t>
            </a:r>
          </a:p>
          <a:p>
            <a:pPr marL="285750" indent="-285750">
              <a:lnSpc>
                <a:spcPct val="150000"/>
              </a:lnSpc>
              <a:buFont typeface="Arial" panose="020B0604020202020204" pitchFamily="34" charset="0"/>
              <a:buChar char="•"/>
            </a:pPr>
            <a:r>
              <a:rPr lang="ko-KR" altLang="en-US"/>
              <a:t>로컬 네트워크에서 브라우저에 </a:t>
            </a:r>
            <a:r>
              <a:rPr lang="en-US" altLang="ko-KR"/>
              <a:t>ESP32</a:t>
            </a:r>
            <a:r>
              <a:rPr lang="ko-KR" altLang="en-US"/>
              <a:t>의 </a:t>
            </a:r>
            <a:r>
              <a:rPr lang="en-US" altLang="ko-KR"/>
              <a:t>IP </a:t>
            </a:r>
            <a:r>
              <a:rPr lang="ko-KR" altLang="en-US"/>
              <a:t>주소를 입력하여 </a:t>
            </a:r>
            <a:r>
              <a:rPr lang="en-US" altLang="ko-KR"/>
              <a:t>ESP32 </a:t>
            </a:r>
            <a:r>
              <a:rPr lang="ko-KR" altLang="en-US"/>
              <a:t>웹 서버에 액세스할 수 있다</a:t>
            </a:r>
            <a:r>
              <a:rPr lang="en-US" altLang="ko-KR"/>
              <a:t>.</a:t>
            </a:r>
          </a:p>
          <a:p>
            <a:pPr marL="285750" indent="-285750">
              <a:lnSpc>
                <a:spcPct val="150000"/>
              </a:lnSpc>
              <a:buFont typeface="Arial" panose="020B0604020202020204" pitchFamily="34" charset="0"/>
              <a:buChar char="•"/>
            </a:pPr>
            <a:r>
              <a:rPr lang="ko-KR" altLang="en-US"/>
              <a:t>웹 서버의 버튼을 클릭하면 각 </a:t>
            </a:r>
            <a:r>
              <a:rPr lang="en-US" altLang="ko-KR"/>
              <a:t>LED</a:t>
            </a:r>
            <a:r>
              <a:rPr lang="ko-KR" altLang="en-US"/>
              <a:t>의 상태를 즉시 변경할 수 있다</a:t>
            </a:r>
            <a:r>
              <a:rPr lang="en-US" altLang="ko-KR"/>
              <a:t>.</a:t>
            </a:r>
          </a:p>
          <a:p>
            <a:pPr marL="285750" indent="-285750">
              <a:lnSpc>
                <a:spcPct val="150000"/>
              </a:lnSpc>
              <a:buFont typeface="Arial" panose="020B0604020202020204" pitchFamily="34" charset="0"/>
              <a:buChar char="•"/>
            </a:pPr>
            <a:r>
              <a:rPr lang="ko-KR" altLang="en-US"/>
              <a:t>이 예제는 출력 장치를 제어하는 웹 서버를 만드는 방법을 보여주는 간단한 예제일 뿐이다</a:t>
            </a:r>
            <a:r>
              <a:rPr lang="en-US" altLang="ko-KR"/>
              <a:t>. </a:t>
            </a:r>
          </a:p>
          <a:p>
            <a:pPr marL="285750" indent="-285750">
              <a:lnSpc>
                <a:spcPct val="150000"/>
              </a:lnSpc>
              <a:buFont typeface="Arial" panose="020B0604020202020204" pitchFamily="34" charset="0"/>
              <a:buChar char="•"/>
            </a:pPr>
            <a:r>
              <a:rPr lang="en-US" altLang="ko-KR"/>
              <a:t>LED </a:t>
            </a:r>
            <a:r>
              <a:rPr lang="ko-KR" altLang="en-US"/>
              <a:t>대신 릴레이나 원하는 다른 전자 부품으로 교체하여 사용할 수도 있다</a:t>
            </a:r>
            <a:r>
              <a:rPr lang="en-US" altLang="ko-KR"/>
              <a:t>.</a:t>
            </a:r>
          </a:p>
        </p:txBody>
      </p:sp>
    </p:spTree>
    <p:extLst>
      <p:ext uri="{BB962C8B-B14F-4D97-AF65-F5344CB8AC3E}">
        <p14:creationId xmlns:p14="http://schemas.microsoft.com/office/powerpoint/2010/main" val="38738977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403DA0E3-2B81-4199-91E7-B064C2463C02}"/>
              </a:ext>
            </a:extLst>
          </p:cNvPr>
          <p:cNvPicPr>
            <a:picLocks noChangeAspect="1"/>
          </p:cNvPicPr>
          <p:nvPr/>
        </p:nvPicPr>
        <p:blipFill>
          <a:blip r:embed="rId2"/>
          <a:stretch>
            <a:fillRect/>
          </a:stretch>
        </p:blipFill>
        <p:spPr>
          <a:xfrm>
            <a:off x="1825722" y="715879"/>
            <a:ext cx="7636932" cy="5426241"/>
          </a:xfrm>
          <a:prstGeom prst="rect">
            <a:avLst/>
          </a:prstGeom>
        </p:spPr>
      </p:pic>
      <p:sp>
        <p:nvSpPr>
          <p:cNvPr id="4" name="직사각형 3">
            <a:extLst>
              <a:ext uri="{FF2B5EF4-FFF2-40B4-BE49-F238E27FC236}">
                <a16:creationId xmlns:a16="http://schemas.microsoft.com/office/drawing/2014/main" id="{35F57EED-08B2-46DA-99E5-90AAC6E8410C}"/>
              </a:ext>
            </a:extLst>
          </p:cNvPr>
          <p:cNvSpPr/>
          <p:nvPr/>
        </p:nvSpPr>
        <p:spPr>
          <a:xfrm>
            <a:off x="0" y="6488668"/>
            <a:ext cx="7786255" cy="369332"/>
          </a:xfrm>
          <a:prstGeom prst="rect">
            <a:avLst/>
          </a:prstGeom>
        </p:spPr>
        <p:txBody>
          <a:bodyPr wrap="square">
            <a:spAutoFit/>
          </a:bodyPr>
          <a:lstStyle/>
          <a:p>
            <a:r>
              <a:rPr lang="en-US" altLang="ko-KR">
                <a:hlinkClick r:id="rId3"/>
              </a:rPr>
              <a:t>ESP32 Web Server - Arduino IDE | Random Nerd Tutorials</a:t>
            </a:r>
            <a:endParaRPr lang="ko-KR" altLang="en-US"/>
          </a:p>
        </p:txBody>
      </p:sp>
    </p:spTree>
    <p:extLst>
      <p:ext uri="{BB962C8B-B14F-4D97-AF65-F5344CB8AC3E}">
        <p14:creationId xmlns:p14="http://schemas.microsoft.com/office/powerpoint/2010/main" val="2962128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- 1/6</a:t>
            </a:r>
            <a:endParaRPr lang="ko-KR" altLang="en-US" b="1">
              <a:solidFill>
                <a:schemeClr val="tx1"/>
              </a:solidFill>
            </a:endParaRPr>
          </a:p>
        </p:txBody>
      </p:sp>
      <p:sp>
        <p:nvSpPr>
          <p:cNvPr id="3" name="Rectangle 1">
            <a:extLst>
              <a:ext uri="{FF2B5EF4-FFF2-40B4-BE49-F238E27FC236}">
                <a16:creationId xmlns:a16="http://schemas.microsoft.com/office/drawing/2014/main" id="{FD946002-8E62-4713-8717-765B6E8E42DB}"/>
              </a:ext>
            </a:extLst>
          </p:cNvPr>
          <p:cNvSpPr>
            <a:spLocks noChangeArrowheads="1"/>
          </p:cNvSpPr>
          <p:nvPr/>
        </p:nvSpPr>
        <p:spPr bwMode="auto">
          <a:xfrm>
            <a:off x="221672" y="721897"/>
            <a:ext cx="8032968" cy="61361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Load Wi-Fi library</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990055"/>
                </a:solidFill>
                <a:effectLst/>
                <a:latin typeface="Consolas" panose="020B0609020204030204" pitchFamily="49" charset="0"/>
              </a:rPr>
              <a:t>#</a:t>
            </a:r>
            <a:r>
              <a:rPr kumimoji="0" lang="ko-KR" altLang="ko-KR" b="0" i="0" u="none" strike="noStrike" cap="none" normalizeH="0" baseline="0">
                <a:ln>
                  <a:noFill/>
                </a:ln>
                <a:solidFill>
                  <a:srgbClr val="0077AA"/>
                </a:solidFill>
                <a:effectLst/>
                <a:latin typeface="Consolas" panose="020B0609020204030204" pitchFamily="49" charset="0"/>
              </a:rPr>
              <a:t>include</a:t>
            </a:r>
            <a:r>
              <a:rPr kumimoji="0" lang="ko-KR" altLang="ko-KR" b="0" i="0" u="none" strike="noStrike" cap="none" normalizeH="0" baseline="0">
                <a:ln>
                  <a:noFill/>
                </a:ln>
                <a:solidFill>
                  <a:srgbClr val="990055"/>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&lt;WiFi.h&gt;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endParaRPr lang="en-US" altLang="ko-KR">
              <a:solidFill>
                <a:srgbClr val="000000"/>
              </a:solidFill>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ssid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"REPLACE_WITH_YOUR_SSID"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password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"REPLACE_WITH_YOUR_PASSWORD"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Set web server port number to 80</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WiFiServer </a:t>
            </a:r>
            <a:r>
              <a:rPr kumimoji="0" lang="ko-KR" altLang="ko-KR" b="0" i="0" u="none" strike="noStrike" cap="none" normalizeH="0" baseline="0">
                <a:ln>
                  <a:noFill/>
                </a:ln>
                <a:solidFill>
                  <a:srgbClr val="DD4A68"/>
                </a:solidFill>
                <a:effectLst/>
                <a:latin typeface="Consolas" panose="020B0609020204030204" pitchFamily="49" charset="0"/>
              </a:rPr>
              <a:t>server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990055"/>
                </a:solidFill>
                <a:effectLst/>
                <a:latin typeface="Consolas" panose="020B0609020204030204" pitchFamily="49" charset="0"/>
              </a:rPr>
              <a:t>80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Variable to store the HTTP request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en-US" altLang="ko-KR" b="0" i="0" u="none" strike="noStrike" cap="none" normalizeH="0" baseline="0">
                <a:ln>
                  <a:noFill/>
                </a:ln>
                <a:solidFill>
                  <a:srgbClr val="000000"/>
                </a:solidFill>
                <a:effectLst/>
                <a:latin typeface="Consolas" panose="020B0609020204030204" pitchFamily="49" charset="0"/>
              </a:rPr>
              <a:t>, </a:t>
            </a:r>
            <a:r>
              <a:rPr kumimoji="0" lang="en-US" altLang="ko-KR" sz="1600" b="0" i="0" u="none" strike="noStrike" cap="none" normalizeH="0" baseline="0">
                <a:ln>
                  <a:noFill/>
                </a:ln>
                <a:solidFill>
                  <a:srgbClr val="3A0DFB"/>
                </a:solidFill>
                <a:effectLst/>
                <a:latin typeface="Consolas" panose="020B0609020204030204" pitchFamily="49" charset="0"/>
              </a:rPr>
              <a:t>HTTP </a:t>
            </a:r>
            <a:r>
              <a:rPr kumimoji="0" lang="ko-KR" altLang="en-US" sz="1600" b="0" i="0" u="none" strike="noStrike" cap="none" normalizeH="0" baseline="0">
                <a:ln>
                  <a:noFill/>
                </a:ln>
                <a:solidFill>
                  <a:srgbClr val="3A0DFB"/>
                </a:solidFill>
                <a:effectLst/>
                <a:latin typeface="Consolas" panose="020B0609020204030204" pitchFamily="49" charset="0"/>
              </a:rPr>
              <a:t>요청 헤더 저장</a:t>
            </a:r>
            <a:endParaRPr kumimoji="0" lang="en-US" altLang="ko-KR" b="0" i="0" u="none" strike="noStrike" cap="none" normalizeH="0" baseline="0">
              <a:ln>
                <a:noFill/>
              </a:ln>
              <a:solidFill>
                <a:srgbClr val="3A0DFB"/>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Auxiliar variables to store the current output state</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Assign output variables to GPIO pins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int</a:t>
            </a:r>
            <a:r>
              <a:rPr kumimoji="0" lang="ko-KR" altLang="ko-KR" b="0" i="0" u="none" strike="noStrike" cap="none" normalizeH="0" baseline="0">
                <a:ln>
                  <a:noFill/>
                </a:ln>
                <a:solidFill>
                  <a:srgbClr val="000000"/>
                </a:solidFill>
                <a:effectLst/>
                <a:latin typeface="Consolas" panose="020B0609020204030204" pitchFamily="49" charset="0"/>
              </a:rPr>
              <a:t> output26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int</a:t>
            </a:r>
            <a:r>
              <a:rPr kumimoji="0" lang="ko-KR" altLang="ko-KR" b="0" i="0" u="none" strike="noStrike" cap="none" normalizeH="0" baseline="0">
                <a:ln>
                  <a:noFill/>
                </a:ln>
                <a:solidFill>
                  <a:srgbClr val="000000"/>
                </a:solidFill>
                <a:effectLst/>
                <a:latin typeface="Consolas" panose="020B0609020204030204" pitchFamily="49" charset="0"/>
              </a:rPr>
              <a:t> output27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indent="179388" eaLnBrk="0" fontAlgn="base" latinLnBrk="0" hangingPunct="0">
              <a:lnSpc>
                <a:spcPts val="2400"/>
              </a:lnSpc>
              <a:spcBef>
                <a:spcPct val="0"/>
              </a:spcBef>
              <a:spcAft>
                <a:spcPct val="0"/>
              </a:spcAft>
            </a:pPr>
            <a:r>
              <a:rPr kumimoji="0" lang="ko-KR" altLang="ko-KR" b="0" i="0" u="none" strike="noStrike" cap="none" normalizeH="0" baseline="0">
                <a:ln>
                  <a:noFill/>
                </a:ln>
                <a:solidFill>
                  <a:srgbClr val="0077AA"/>
                </a:solidFill>
                <a:effectLst/>
                <a:latin typeface="Consolas" panose="020B0609020204030204" pitchFamily="49" charset="0"/>
              </a:rPr>
              <a:t>unsigned</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currentTime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millis</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lang="ko-KR" altLang="ko-KR">
                <a:solidFill>
                  <a:srgbClr val="708090"/>
                </a:solidFill>
                <a:latin typeface="Consolas" panose="020B0609020204030204" pitchFamily="49" charset="0"/>
              </a:rPr>
              <a:t>// Current time</a:t>
            </a:r>
            <a:r>
              <a:rPr lang="ko-KR" altLang="ko-KR">
                <a:solidFill>
                  <a:srgbClr val="000000"/>
                </a:solidFill>
                <a:latin typeface="Consolas" panose="020B0609020204030204" pitchFamily="49" charset="0"/>
              </a:rPr>
              <a:t> </a:t>
            </a:r>
            <a:endParaRPr lang="en-US" altLang="ko-KR">
              <a:solidFill>
                <a:srgbClr val="000000"/>
              </a:solidFill>
              <a:latin typeface="Consolas" panose="020B0609020204030204" pitchFamily="49" charset="0"/>
            </a:endParaRPr>
          </a:p>
          <a:p>
            <a:pPr indent="179388" eaLnBrk="0" fontAlgn="base" latinLnBrk="0" hangingPunct="0">
              <a:lnSpc>
                <a:spcPts val="2400"/>
              </a:lnSpc>
              <a:spcBef>
                <a:spcPct val="0"/>
              </a:spcBef>
              <a:spcAft>
                <a:spcPct val="0"/>
              </a:spcAft>
            </a:pPr>
            <a:r>
              <a:rPr kumimoji="0" lang="ko-KR" altLang="ko-KR" b="0" i="0" u="none" strike="noStrike" cap="none" normalizeH="0" baseline="0">
                <a:ln>
                  <a:noFill/>
                </a:ln>
                <a:solidFill>
                  <a:srgbClr val="0077AA"/>
                </a:solidFill>
                <a:effectLst/>
                <a:latin typeface="Consolas" panose="020B0609020204030204" pitchFamily="49" charset="0"/>
              </a:rPr>
              <a:t>unsigned</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previousTime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en-US" altLang="ko-KR" b="0" i="0" u="none" strike="noStrike" cap="none" normalizeH="0" baseline="0">
                <a:ln>
                  <a:noFill/>
                </a:ln>
                <a:solidFill>
                  <a:srgbClr val="000000"/>
                </a:solidFill>
                <a:effectLst/>
                <a:latin typeface="Consolas" panose="020B0609020204030204" pitchFamily="49" charset="0"/>
              </a:rPr>
              <a:t>      </a:t>
            </a:r>
            <a:r>
              <a:rPr lang="ko-KR" altLang="ko-KR">
                <a:solidFill>
                  <a:srgbClr val="708090"/>
                </a:solidFill>
                <a:latin typeface="Consolas" panose="020B0609020204030204" pitchFamily="49" charset="0"/>
              </a:rPr>
              <a:t>// Previous time</a:t>
            </a:r>
            <a:r>
              <a:rPr lang="ko-KR" altLang="ko-KR">
                <a:solidFill>
                  <a:srgbClr val="000000"/>
                </a:solidFill>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Define timeout time in milliseconds (example: 2000ms = 2s)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timeoutTime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2000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06773205-927C-4604-AAA6-CE4441D5CD4F}"/>
              </a:ext>
            </a:extLst>
          </p:cNvPr>
          <p:cNvSpPr txBox="1"/>
          <p:nvPr/>
        </p:nvSpPr>
        <p:spPr>
          <a:xfrm>
            <a:off x="8506691" y="983673"/>
            <a:ext cx="2789546" cy="369332"/>
          </a:xfrm>
          <a:prstGeom prst="rect">
            <a:avLst/>
          </a:prstGeom>
          <a:noFill/>
        </p:spPr>
        <p:txBody>
          <a:bodyPr wrap="none" rtlCol="0">
            <a:spAutoFit/>
          </a:bodyPr>
          <a:lstStyle/>
          <a:p>
            <a:r>
              <a:rPr lang="ko-KR" altLang="en-US"/>
              <a:t>코드는 아래 사이트 참조</a:t>
            </a:r>
            <a:r>
              <a:rPr lang="en-US" altLang="ko-KR"/>
              <a:t>.</a:t>
            </a:r>
            <a:endParaRPr lang="ko-KR" altLang="en-US"/>
          </a:p>
        </p:txBody>
      </p:sp>
      <p:sp>
        <p:nvSpPr>
          <p:cNvPr id="5" name="직사각형 4">
            <a:extLst>
              <a:ext uri="{FF2B5EF4-FFF2-40B4-BE49-F238E27FC236}">
                <a16:creationId xmlns:a16="http://schemas.microsoft.com/office/drawing/2014/main" id="{411520BF-B85C-477B-9971-D65C68AC7D15}"/>
              </a:ext>
            </a:extLst>
          </p:cNvPr>
          <p:cNvSpPr/>
          <p:nvPr/>
        </p:nvSpPr>
        <p:spPr>
          <a:xfrm>
            <a:off x="8506691" y="1353005"/>
            <a:ext cx="2789547" cy="923330"/>
          </a:xfrm>
          <a:prstGeom prst="rect">
            <a:avLst/>
          </a:prstGeom>
        </p:spPr>
        <p:txBody>
          <a:bodyPr wrap="square">
            <a:spAutoFit/>
          </a:bodyPr>
          <a:lstStyle/>
          <a:p>
            <a:r>
              <a:rPr lang="en-US" altLang="ko-KR">
                <a:hlinkClick r:id="rId2"/>
              </a:rPr>
              <a:t>ESP32 Web Server - Arduino IDE | Random Nerd Tutorials</a:t>
            </a:r>
            <a:endParaRPr lang="ko-KR" altLang="en-US"/>
          </a:p>
        </p:txBody>
      </p:sp>
    </p:spTree>
    <p:extLst>
      <p:ext uri="{BB962C8B-B14F-4D97-AF65-F5344CB8AC3E}">
        <p14:creationId xmlns:p14="http://schemas.microsoft.com/office/powerpoint/2010/main" val="42231203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- 2/6</a:t>
            </a:r>
            <a:endParaRPr lang="ko-KR" altLang="en-US" b="1">
              <a:solidFill>
                <a:schemeClr val="tx1"/>
              </a:solidFill>
            </a:endParaRPr>
          </a:p>
        </p:txBody>
      </p:sp>
      <p:sp>
        <p:nvSpPr>
          <p:cNvPr id="4" name="Rectangle 1">
            <a:extLst>
              <a:ext uri="{FF2B5EF4-FFF2-40B4-BE49-F238E27FC236}">
                <a16:creationId xmlns:a16="http://schemas.microsoft.com/office/drawing/2014/main" id="{D7B80A9C-24E4-435A-B321-2F7BB804BC59}"/>
              </a:ext>
            </a:extLst>
          </p:cNvPr>
          <p:cNvSpPr>
            <a:spLocks noChangeArrowheads="1"/>
          </p:cNvSpPr>
          <p:nvPr/>
        </p:nvSpPr>
        <p:spPr bwMode="auto">
          <a:xfrm>
            <a:off x="124690" y="721897"/>
            <a:ext cx="8991244" cy="61361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setup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115200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Initialize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output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variables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outputs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pinMode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output26</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OUTPUT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pinMode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output27</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OUTPUT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digitalWrite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output26</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LOW</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digitalWrite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output27</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LOW</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Connect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Wi-Fi</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network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with</a:t>
            </a:r>
            <a:r>
              <a:rPr kumimoji="0" lang="ko-KR" altLang="ko-KR" b="0" i="0" u="none" strike="noStrike" cap="none" normalizeH="0" baseline="0" dirty="0">
                <a:ln>
                  <a:noFill/>
                </a:ln>
                <a:solidFill>
                  <a:srgbClr val="708090"/>
                </a:solidFill>
                <a:effectLst/>
                <a:latin typeface="Consolas" panose="020B0609020204030204" pitchFamily="49" charset="0"/>
              </a:rPr>
              <a:t> SSID and </a:t>
            </a:r>
            <a:r>
              <a:rPr kumimoji="0" lang="ko-KR" altLang="ko-KR" b="0" i="0" u="none" strike="noStrike" cap="none" normalizeH="0" baseline="0" dirty="0" err="1">
                <a:ln>
                  <a:noFill/>
                </a:ln>
                <a:solidFill>
                  <a:srgbClr val="70809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WL_CONNECTED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500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local</a:t>
            </a:r>
            <a:r>
              <a:rPr kumimoji="0" lang="ko-KR" altLang="ko-KR" b="0" i="0" u="none" strike="noStrike" cap="none" normalizeH="0" baseline="0" dirty="0">
                <a:ln>
                  <a:noFill/>
                </a:ln>
                <a:solidFill>
                  <a:srgbClr val="708090"/>
                </a:solidFill>
                <a:effectLst/>
                <a:latin typeface="Consolas" panose="020B0609020204030204" pitchFamily="49" charset="0"/>
              </a:rPr>
              <a:t> IP </a:t>
            </a:r>
            <a:r>
              <a:rPr kumimoji="0" lang="ko-KR" altLang="ko-KR" b="0" i="0" u="none" strike="noStrike" cap="none" normalizeH="0" baseline="0" dirty="0" err="1">
                <a:ln>
                  <a:noFill/>
                </a:ln>
                <a:solidFill>
                  <a:srgbClr val="708090"/>
                </a:solidFill>
                <a:effectLst/>
                <a:latin typeface="Consolas" panose="020B0609020204030204" pitchFamily="49" charset="0"/>
              </a:rPr>
              <a:t>address</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start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web</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server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WiFi</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connected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"IP </a:t>
            </a:r>
            <a:r>
              <a:rPr kumimoji="0" lang="ko-KR" altLang="ko-KR" b="0" i="0" u="none" strike="noStrike" cap="none" normalizeH="0" baseline="0" dirty="0" err="1">
                <a:ln>
                  <a:noFill/>
                </a:ln>
                <a:solidFill>
                  <a:srgbClr val="669900"/>
                </a:solidFill>
                <a:effectLst/>
                <a:latin typeface="Consolas" panose="020B0609020204030204" pitchFamily="49" charset="0"/>
              </a:rPr>
              <a:t>address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localIP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server</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94991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- 3/6</a:t>
            </a:r>
            <a:endParaRPr lang="ko-KR" altLang="en-US" b="1">
              <a:solidFill>
                <a:schemeClr val="tx1"/>
              </a:solidFill>
            </a:endParaRPr>
          </a:p>
        </p:txBody>
      </p:sp>
      <p:sp>
        <p:nvSpPr>
          <p:cNvPr id="3" name="Rectangle 1">
            <a:extLst>
              <a:ext uri="{FF2B5EF4-FFF2-40B4-BE49-F238E27FC236}">
                <a16:creationId xmlns:a16="http://schemas.microsoft.com/office/drawing/2014/main" id="{B530A6EE-34EF-4C23-A725-2FD044BF1EBE}"/>
              </a:ext>
            </a:extLst>
          </p:cNvPr>
          <p:cNvSpPr>
            <a:spLocks noChangeArrowheads="1"/>
          </p:cNvSpPr>
          <p:nvPr/>
        </p:nvSpPr>
        <p:spPr bwMode="auto">
          <a:xfrm>
            <a:off x="0" y="706582"/>
            <a:ext cx="11650625" cy="60939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loop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WiFiClient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server</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available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Listen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connects</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millis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previousTime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"New </a:t>
            </a:r>
            <a:r>
              <a:rPr kumimoji="0" lang="ko-KR" altLang="ko-KR" b="0" i="0" u="none" strike="noStrike" cap="none" normalizeH="0" baseline="0" dirty="0" err="1">
                <a:ln>
                  <a:noFill/>
                </a:ln>
                <a:solidFill>
                  <a:srgbClr val="669900"/>
                </a:solidFill>
                <a:effectLst/>
                <a:latin typeface="Consolas" panose="020B0609020204030204" pitchFamily="49" charset="0"/>
              </a:rPr>
              <a:t>Client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message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port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String</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currentLine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make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String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hold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data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lvl="0" eaLnBrk="0" fontAlgn="base" latinLnBrk="0" hangingPunct="0">
              <a:spcBef>
                <a:spcPct val="0"/>
              </a:spcBef>
              <a:spcAft>
                <a:spcPct val="0"/>
              </a:spcAft>
            </a:pPr>
            <a:r>
              <a:rPr lang="en-US" altLang="ko-KR" dirty="0">
                <a:solidFill>
                  <a:srgbClr val="708090"/>
                </a:solidFill>
                <a:latin typeface="Consolas" panose="020B0609020204030204" pitchFamily="49" charset="0"/>
              </a:rPr>
              <a:t>       </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loop</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while</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the</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client's</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connected</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&amp;&amp;</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previousTime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&lt;=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timeoutTime</a:t>
            </a:r>
            <a:r>
              <a:rPr kumimoji="0" lang="ko-KR" altLang="ko-KR" b="0" i="0" u="none" strike="noStrike" cap="none" normalizeH="0" baseline="0" dirty="0">
                <a:ln>
                  <a:noFill/>
                </a:ln>
                <a:solidFill>
                  <a:srgbClr val="999999"/>
                </a:solidFill>
                <a:effectLst/>
                <a:latin typeface="Consolas" panose="020B0609020204030204" pitchFamily="49" charset="0"/>
              </a:rPr>
              <a:t>){</a:t>
            </a:r>
            <a:endParaRPr kumimoji="0" lang="en-US" altLang="ko-KR"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999999"/>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millis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available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there's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000000"/>
                </a:solidFill>
                <a:effectLst/>
                <a:latin typeface="Consolas" panose="020B0609020204030204" pitchFamily="49" charset="0"/>
              </a:rPr>
              <a:t> c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read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then</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c</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monitor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header</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c</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c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n</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character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current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blank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you</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two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characters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row</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that's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end</a:t>
            </a:r>
            <a:r>
              <a:rPr kumimoji="0" lang="ko-KR" altLang="ko-KR" b="0" i="0" u="none" strike="noStrike" cap="none" normalizeH="0" baseline="0" dirty="0">
                <a:ln>
                  <a:noFill/>
                </a:ln>
                <a:solidFill>
                  <a:srgbClr val="708090"/>
                </a:solidFill>
                <a:effectLst/>
                <a:latin typeface="Consolas" panose="020B0609020204030204" pitchFamily="49" charset="0"/>
              </a:rPr>
              <a:t> of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HTTP </a:t>
            </a:r>
            <a:r>
              <a:rPr kumimoji="0" lang="ko-KR" altLang="ko-KR" b="0" i="0" u="none" strike="noStrike" cap="none" normalizeH="0" baseline="0" dirty="0" err="1">
                <a:ln>
                  <a:noFill/>
                </a:ln>
                <a:solidFill>
                  <a:srgbClr val="708090"/>
                </a:solidFill>
                <a:effectLst/>
                <a:latin typeface="Consolas" panose="020B0609020204030204" pitchFamily="49" charset="0"/>
              </a:rPr>
              <a:t>request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send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response</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currentLine</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length</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HTTP </a:t>
            </a:r>
            <a:r>
              <a:rPr kumimoji="0" lang="ko-KR" altLang="ko-KR" b="0" i="0" u="none" strike="noStrike" cap="none" normalizeH="0" baseline="0" dirty="0" err="1">
                <a:ln>
                  <a:noFill/>
                </a:ln>
                <a:solidFill>
                  <a:srgbClr val="708090"/>
                </a:solidFill>
                <a:effectLst/>
                <a:latin typeface="Consolas" panose="020B0609020204030204" pitchFamily="49" charset="0"/>
              </a:rPr>
              <a:t>headers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always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start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with</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response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code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e.g</a:t>
            </a:r>
            <a:r>
              <a:rPr kumimoji="0" lang="ko-KR" altLang="ko-KR" b="0" i="0" u="none" strike="noStrike" cap="none" normalizeH="0" baseline="0" dirty="0">
                <a:ln>
                  <a:noFill/>
                </a:ln>
                <a:solidFill>
                  <a:srgbClr val="708090"/>
                </a:solidFill>
                <a:effectLst/>
                <a:latin typeface="Consolas" panose="020B0609020204030204" pitchFamily="49" charset="0"/>
              </a:rPr>
              <a:t>. HTTP/1.1 200 OK)</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content-type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knows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what's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blank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line</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"HTTP/1.1 200 OK"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Content-type:text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html</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Connection</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close</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29056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- 4/6</a:t>
            </a:r>
            <a:endParaRPr lang="ko-KR" altLang="en-US" b="1">
              <a:solidFill>
                <a:schemeClr val="tx1"/>
              </a:solidFill>
            </a:endParaRPr>
          </a:p>
        </p:txBody>
      </p:sp>
      <p:sp>
        <p:nvSpPr>
          <p:cNvPr id="3" name="Rectangle 1">
            <a:extLst>
              <a:ext uri="{FF2B5EF4-FFF2-40B4-BE49-F238E27FC236}">
                <a16:creationId xmlns:a16="http://schemas.microsoft.com/office/drawing/2014/main" id="{78693901-6BA5-41A3-AD84-20CADE45E32E}"/>
              </a:ext>
            </a:extLst>
          </p:cNvPr>
          <p:cNvSpPr>
            <a:spLocks noChangeArrowheads="1"/>
          </p:cNvSpPr>
          <p:nvPr/>
        </p:nvSpPr>
        <p:spPr bwMode="auto">
          <a:xfrm>
            <a:off x="166254" y="734292"/>
            <a:ext cx="6569427" cy="59758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turns the GPIOs on and off</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/26/on"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26 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HIGH</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/26/off"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26 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LOW</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/27/on"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27 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HIGH</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/27/off"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27 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LOW</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62067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- 5/6</a:t>
            </a:r>
            <a:endParaRPr lang="ko-KR" altLang="en-US" b="1">
              <a:solidFill>
                <a:schemeClr val="tx1"/>
              </a:solidFill>
            </a:endParaRPr>
          </a:p>
        </p:txBody>
      </p:sp>
      <p:sp>
        <p:nvSpPr>
          <p:cNvPr id="4" name="Rectangle 1">
            <a:extLst>
              <a:ext uri="{FF2B5EF4-FFF2-40B4-BE49-F238E27FC236}">
                <a16:creationId xmlns:a16="http://schemas.microsoft.com/office/drawing/2014/main" id="{EA0D8663-C101-42DD-9102-B9FE95DB3E5F}"/>
              </a:ext>
            </a:extLst>
          </p:cNvPr>
          <p:cNvSpPr>
            <a:spLocks noChangeArrowheads="1"/>
          </p:cNvSpPr>
          <p:nvPr/>
        </p:nvSpPr>
        <p:spPr bwMode="auto">
          <a:xfrm>
            <a:off x="41565" y="741261"/>
            <a:ext cx="12008416" cy="581588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708090"/>
                </a:solidFill>
                <a:effectLst/>
                <a:latin typeface="Consolas" panose="020B0609020204030204" pitchFamily="49" charset="0"/>
              </a:rPr>
              <a:t>// Display the HTML web page</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"&lt;!DOCTYPE html&gt;&lt;html&gt;"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"&lt;head&gt;&lt;meta name=\"viewport\" content=\"width=device-width, initial-scale=1\"&gt;"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"&lt;link rel=\"icon\" href=\"data:,\"&gt;"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700">
                <a:solidFill>
                  <a:srgbClr val="000000"/>
                </a:solidFill>
                <a:latin typeface="Consolas" panose="020B0609020204030204" pitchFamily="49" charset="0"/>
              </a:rPr>
              <a:t>  </a:t>
            </a:r>
            <a:r>
              <a:rPr kumimoji="0" lang="ko-KR" altLang="ko-KR" sz="1700" b="0" i="0" u="none" strike="noStrike" cap="none" normalizeH="0" baseline="0">
                <a:ln>
                  <a:noFill/>
                </a:ln>
                <a:solidFill>
                  <a:srgbClr val="708090"/>
                </a:solidFill>
                <a:effectLst/>
                <a:latin typeface="Consolas" panose="020B0609020204030204" pitchFamily="49" charset="0"/>
              </a:rPr>
              <a:t>// CSS to style the on/off buttons </a:t>
            </a:r>
            <a:endParaRPr kumimoji="0" lang="en-US" altLang="ko-KR" sz="17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700">
                <a:solidFill>
                  <a:srgbClr val="708090"/>
                </a:solidFill>
                <a:latin typeface="Consolas" panose="020B0609020204030204" pitchFamily="49" charset="0"/>
              </a:rPr>
              <a:t>  </a:t>
            </a:r>
            <a:r>
              <a:rPr kumimoji="0" lang="ko-KR" altLang="ko-KR" sz="1700" b="0" i="0" u="none" strike="noStrike" cap="none" normalizeH="0" baseline="0">
                <a:ln>
                  <a:noFill/>
                </a:ln>
                <a:solidFill>
                  <a:srgbClr val="708090"/>
                </a:solidFill>
                <a:effectLst/>
                <a:latin typeface="Consolas" panose="020B0609020204030204" pitchFamily="49" charset="0"/>
              </a:rPr>
              <a:t>// Feel free to change the background-color and font-size attributes to fit your preferences</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"&lt;style&gt;html { font-family: Helvetica; display: inline-block; margin: 0px auto; text-align: center;}"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".button { background-color: #4CAF50; border: none; color: white; padding: 16px 40px;"</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"text-decoration: none; font-size: 30px; margin: 2px; cursor: pointer;}"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".button2 {background-color: #555555;}&lt;/style&gt;&lt;/head&gt;"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Web Page Heading</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"&lt;body&gt;&lt;h1&gt;ESP32 Web Server&lt;/h1&gt;"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Display current state, and ON/OFF buttons for GPIO 26 </a:t>
            </a:r>
            <a:endParaRPr kumimoji="0" lang="en-US" altLang="ko-KR" sz="14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"&lt;p&gt;GPIO 26 - State "</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output26State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If the output26State is off, it displays the ON button </a:t>
            </a:r>
            <a:endParaRPr kumimoji="0" lang="en-US" altLang="ko-KR" sz="14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output26State</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"off"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"&lt;p&gt;&lt;a href=\"/26/on\"&gt;&lt;button class=\"button\"&gt;ON&lt;/button&gt;&lt;/a&gt;&lt;/p&gt;"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"&lt;p&gt;&lt;a href=\"/26/off\"&gt;&lt;button class=\"button button2\"&gt;OFF&lt;/button&gt;&lt;/a&gt;&lt;/p&gt;"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3071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- 6/6</a:t>
            </a:r>
            <a:endParaRPr lang="ko-KR" altLang="en-US" b="1">
              <a:solidFill>
                <a:schemeClr val="tx1"/>
              </a:solidFill>
            </a:endParaRPr>
          </a:p>
        </p:txBody>
      </p:sp>
      <p:sp>
        <p:nvSpPr>
          <p:cNvPr id="4" name="Rectangle 1">
            <a:extLst>
              <a:ext uri="{FF2B5EF4-FFF2-40B4-BE49-F238E27FC236}">
                <a16:creationId xmlns:a16="http://schemas.microsoft.com/office/drawing/2014/main" id="{F88E0DA5-A68C-485E-B2ED-AEC4203B2192}"/>
              </a:ext>
            </a:extLst>
          </p:cNvPr>
          <p:cNvSpPr>
            <a:spLocks noChangeArrowheads="1"/>
          </p:cNvSpPr>
          <p:nvPr/>
        </p:nvSpPr>
        <p:spPr bwMode="auto">
          <a:xfrm>
            <a:off x="110836" y="680219"/>
            <a:ext cx="11473013" cy="61777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Display current state, and ON/OFF buttons for GPIO 27 </a:t>
            </a:r>
            <a:endParaRPr kumimoji="0" lang="en-US" altLang="ko-KR" sz="1600" b="0" i="0" u="none" strike="noStrike" cap="none" normalizeH="0" baseline="0">
              <a:ln>
                <a:noFill/>
              </a:ln>
              <a:solidFill>
                <a:srgbClr val="70809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"&lt;p&gt;GPIO 27 - State "</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output27State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If the output27State is off, it displays the ON button </a:t>
            </a:r>
            <a:endParaRPr kumimoji="0" lang="en-US" altLang="ko-KR" sz="1600" b="0" i="0" u="none" strike="noStrike" cap="none" normalizeH="0" baseline="0">
              <a:ln>
                <a:noFill/>
              </a:ln>
              <a:solidFill>
                <a:srgbClr val="70809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output27State</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"off"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"&lt;p&gt;&lt;a href=\"/27/on\"&gt;&lt;button class=\"button\"&gt;ON&lt;/button&gt;&lt;/a&gt;&lt;/p&gt;"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"&lt;p&gt;&lt;a href=\"/27/off\"&gt;&lt;button class=\"button button2\"&gt;OFF&lt;/button&gt;&lt;/a&gt;&lt;/p&gt;"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"&lt;/body&gt;&lt;/html&gt;"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The HTTP response ends with another blank line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Break out of the while loop</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break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if you got a newline, then clear currentLine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currentLine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c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if you got anything else but a carriage return character,</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currentLine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add it to the end of the currentLine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Clear the header variable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header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Close the connection</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stop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"Client disconnected."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85978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Setting your Network Credentials</a:t>
            </a:r>
            <a:endParaRPr lang="ko-KR" altLang="en-US" b="1">
              <a:solidFill>
                <a:schemeClr val="tx1"/>
              </a:solidFill>
            </a:endParaRPr>
          </a:p>
        </p:txBody>
      </p:sp>
      <p:sp>
        <p:nvSpPr>
          <p:cNvPr id="3" name="직사각형 2">
            <a:extLst>
              <a:ext uri="{FF2B5EF4-FFF2-40B4-BE49-F238E27FC236}">
                <a16:creationId xmlns:a16="http://schemas.microsoft.com/office/drawing/2014/main" id="{54678A8F-49FF-4BA8-8F8E-2C87A9CAF99A}"/>
              </a:ext>
            </a:extLst>
          </p:cNvPr>
          <p:cNvSpPr/>
          <p:nvPr/>
        </p:nvSpPr>
        <p:spPr>
          <a:xfrm>
            <a:off x="193963" y="847590"/>
            <a:ext cx="11402291"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다음 줄을 수정하여 네트워크 인증 정보</a:t>
            </a:r>
            <a:r>
              <a:rPr lang="en-US" altLang="ko-KR"/>
              <a:t>(SSID </a:t>
            </a:r>
            <a:r>
              <a:rPr lang="ko-KR" altLang="en-US"/>
              <a:t>및 비밀번호</a:t>
            </a:r>
            <a:r>
              <a:rPr lang="en-US" altLang="ko-KR"/>
              <a:t>)</a:t>
            </a:r>
            <a:r>
              <a:rPr lang="ko-KR" altLang="en-US"/>
              <a:t>를 입력해야 한다</a:t>
            </a:r>
            <a:r>
              <a:rPr lang="en-US" altLang="ko-KR"/>
              <a:t>. </a:t>
            </a:r>
          </a:p>
          <a:p>
            <a:pPr marL="285750" indent="-285750">
              <a:lnSpc>
                <a:spcPct val="150000"/>
              </a:lnSpc>
              <a:buFont typeface="Arial" panose="020B0604020202020204" pitchFamily="34" charset="0"/>
              <a:buChar char="•"/>
            </a:pPr>
            <a:r>
              <a:rPr lang="ko-KR" altLang="en-US"/>
              <a:t>코드에 수정해야 할 위치가  주석으로 표시되어 있다</a:t>
            </a:r>
            <a:r>
              <a:rPr lang="en-US" altLang="ko-KR"/>
              <a:t>.</a:t>
            </a:r>
            <a:endParaRPr lang="ko-KR" altLang="en-US"/>
          </a:p>
        </p:txBody>
      </p:sp>
      <p:sp>
        <p:nvSpPr>
          <p:cNvPr id="4" name="Rectangle 1">
            <a:extLst>
              <a:ext uri="{FF2B5EF4-FFF2-40B4-BE49-F238E27FC236}">
                <a16:creationId xmlns:a16="http://schemas.microsoft.com/office/drawing/2014/main" id="{9D14E4C8-ED04-488C-94FC-E65CC3E3207B}"/>
              </a:ext>
            </a:extLst>
          </p:cNvPr>
          <p:cNvSpPr>
            <a:spLocks noChangeArrowheads="1"/>
          </p:cNvSpPr>
          <p:nvPr/>
        </p:nvSpPr>
        <p:spPr bwMode="auto">
          <a:xfrm>
            <a:off x="554182" y="1899953"/>
            <a:ext cx="6666890" cy="120013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ssid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"REPLACE_WITH_YOUR_SSID"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password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"REPLACE_WITH_YOUR_PASSWORD"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86555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Upload &amp; </a:t>
            </a:r>
            <a:r>
              <a:rPr lang="ko-KR" altLang="en-US" b="1">
                <a:solidFill>
                  <a:schemeClr val="tx1"/>
                </a:solidFill>
              </a:rPr>
              <a:t>실행</a:t>
            </a:r>
          </a:p>
        </p:txBody>
      </p:sp>
      <p:pic>
        <p:nvPicPr>
          <p:cNvPr id="5" name="그림 4">
            <a:extLst>
              <a:ext uri="{FF2B5EF4-FFF2-40B4-BE49-F238E27FC236}">
                <a16:creationId xmlns:a16="http://schemas.microsoft.com/office/drawing/2014/main" id="{7D3D3317-0D62-488D-A0C9-992F9C8416FD}"/>
              </a:ext>
            </a:extLst>
          </p:cNvPr>
          <p:cNvPicPr>
            <a:picLocks noChangeAspect="1"/>
          </p:cNvPicPr>
          <p:nvPr/>
        </p:nvPicPr>
        <p:blipFill>
          <a:blip r:embed="rId2"/>
          <a:stretch>
            <a:fillRect/>
          </a:stretch>
        </p:blipFill>
        <p:spPr>
          <a:xfrm>
            <a:off x="315312" y="1260899"/>
            <a:ext cx="6223067" cy="1048235"/>
          </a:xfrm>
          <a:prstGeom prst="rect">
            <a:avLst/>
          </a:prstGeom>
          <a:ln>
            <a:solidFill>
              <a:schemeClr val="accent1">
                <a:shade val="50000"/>
              </a:schemeClr>
            </a:solidFill>
          </a:ln>
        </p:spPr>
      </p:pic>
      <p:pic>
        <p:nvPicPr>
          <p:cNvPr id="6" name="그림 5">
            <a:extLst>
              <a:ext uri="{FF2B5EF4-FFF2-40B4-BE49-F238E27FC236}">
                <a16:creationId xmlns:a16="http://schemas.microsoft.com/office/drawing/2014/main" id="{322F4CA7-6E8E-46EA-A6F3-E25347CAFBC9}"/>
              </a:ext>
            </a:extLst>
          </p:cNvPr>
          <p:cNvPicPr>
            <a:picLocks noChangeAspect="1"/>
          </p:cNvPicPr>
          <p:nvPr/>
        </p:nvPicPr>
        <p:blipFill>
          <a:blip r:embed="rId3"/>
          <a:stretch>
            <a:fillRect/>
          </a:stretch>
        </p:blipFill>
        <p:spPr>
          <a:xfrm>
            <a:off x="348780" y="3002132"/>
            <a:ext cx="3814802" cy="2198163"/>
          </a:xfrm>
          <a:prstGeom prst="rect">
            <a:avLst/>
          </a:prstGeom>
          <a:ln>
            <a:solidFill>
              <a:schemeClr val="accent1">
                <a:shade val="50000"/>
              </a:schemeClr>
            </a:solidFill>
          </a:ln>
        </p:spPr>
      </p:pic>
      <p:sp>
        <p:nvSpPr>
          <p:cNvPr id="7" name="TextBox 6">
            <a:extLst>
              <a:ext uri="{FF2B5EF4-FFF2-40B4-BE49-F238E27FC236}">
                <a16:creationId xmlns:a16="http://schemas.microsoft.com/office/drawing/2014/main" id="{325CE8AD-AF97-44B7-8E80-DF9E91485DF5}"/>
              </a:ext>
            </a:extLst>
          </p:cNvPr>
          <p:cNvSpPr txBox="1"/>
          <p:nvPr/>
        </p:nvSpPr>
        <p:spPr>
          <a:xfrm>
            <a:off x="152400" y="778292"/>
            <a:ext cx="2103781" cy="369332"/>
          </a:xfrm>
          <a:prstGeom prst="rect">
            <a:avLst/>
          </a:prstGeom>
          <a:noFill/>
        </p:spPr>
        <p:txBody>
          <a:bodyPr wrap="none" rtlCol="0">
            <a:spAutoFit/>
          </a:bodyPr>
          <a:lstStyle/>
          <a:p>
            <a:r>
              <a:rPr lang="en-US" altLang="ko-KR"/>
              <a:t>1. SSID, PWD </a:t>
            </a:r>
            <a:r>
              <a:rPr lang="ko-KR" altLang="en-US"/>
              <a:t>수정</a:t>
            </a:r>
          </a:p>
        </p:txBody>
      </p:sp>
      <p:sp>
        <p:nvSpPr>
          <p:cNvPr id="8" name="TextBox 7">
            <a:extLst>
              <a:ext uri="{FF2B5EF4-FFF2-40B4-BE49-F238E27FC236}">
                <a16:creationId xmlns:a16="http://schemas.microsoft.com/office/drawing/2014/main" id="{9027B89F-55FF-42C9-9277-96B61CC0F0A1}"/>
              </a:ext>
            </a:extLst>
          </p:cNvPr>
          <p:cNvSpPr txBox="1"/>
          <p:nvPr/>
        </p:nvSpPr>
        <p:spPr>
          <a:xfrm>
            <a:off x="164145" y="2470967"/>
            <a:ext cx="2037674" cy="369332"/>
          </a:xfrm>
          <a:prstGeom prst="rect">
            <a:avLst/>
          </a:prstGeom>
          <a:noFill/>
        </p:spPr>
        <p:txBody>
          <a:bodyPr wrap="none" rtlCol="0">
            <a:spAutoFit/>
          </a:bodyPr>
          <a:lstStyle/>
          <a:p>
            <a:r>
              <a:rPr lang="en-US" altLang="ko-KR"/>
              <a:t>2. Build</a:t>
            </a:r>
            <a:r>
              <a:rPr lang="ko-KR" altLang="en-US"/>
              <a:t> </a:t>
            </a:r>
            <a:r>
              <a:rPr lang="en-US" altLang="ko-KR"/>
              <a:t>&amp;</a:t>
            </a:r>
            <a:r>
              <a:rPr lang="ko-KR" altLang="en-US"/>
              <a:t> </a:t>
            </a:r>
            <a:r>
              <a:rPr lang="en-US" altLang="ko-KR"/>
              <a:t>upload</a:t>
            </a:r>
            <a:endParaRPr lang="ko-KR" altLang="en-US"/>
          </a:p>
        </p:txBody>
      </p:sp>
      <p:pic>
        <p:nvPicPr>
          <p:cNvPr id="9" name="그림 8">
            <a:extLst>
              <a:ext uri="{FF2B5EF4-FFF2-40B4-BE49-F238E27FC236}">
                <a16:creationId xmlns:a16="http://schemas.microsoft.com/office/drawing/2014/main" id="{B2135A57-EFE7-410D-B0F1-57F9B86B155C}"/>
              </a:ext>
            </a:extLst>
          </p:cNvPr>
          <p:cNvPicPr>
            <a:picLocks noChangeAspect="1"/>
          </p:cNvPicPr>
          <p:nvPr/>
        </p:nvPicPr>
        <p:blipFill>
          <a:blip r:embed="rId4"/>
          <a:stretch>
            <a:fillRect/>
          </a:stretch>
        </p:blipFill>
        <p:spPr>
          <a:xfrm>
            <a:off x="6538379" y="3002132"/>
            <a:ext cx="4458322" cy="3686689"/>
          </a:xfrm>
          <a:prstGeom prst="rect">
            <a:avLst/>
          </a:prstGeom>
          <a:ln>
            <a:solidFill>
              <a:schemeClr val="accent1">
                <a:shade val="50000"/>
              </a:schemeClr>
            </a:solidFill>
          </a:ln>
        </p:spPr>
      </p:pic>
      <p:sp>
        <p:nvSpPr>
          <p:cNvPr id="10" name="TextBox 9">
            <a:extLst>
              <a:ext uri="{FF2B5EF4-FFF2-40B4-BE49-F238E27FC236}">
                <a16:creationId xmlns:a16="http://schemas.microsoft.com/office/drawing/2014/main" id="{B48616CC-3427-424A-B4E9-78238D7C6D94}"/>
              </a:ext>
            </a:extLst>
          </p:cNvPr>
          <p:cNvSpPr txBox="1"/>
          <p:nvPr/>
        </p:nvSpPr>
        <p:spPr>
          <a:xfrm>
            <a:off x="6287854" y="2470967"/>
            <a:ext cx="3212867" cy="369332"/>
          </a:xfrm>
          <a:prstGeom prst="rect">
            <a:avLst/>
          </a:prstGeom>
          <a:noFill/>
        </p:spPr>
        <p:txBody>
          <a:bodyPr wrap="none" rtlCol="0">
            <a:spAutoFit/>
          </a:bodyPr>
          <a:lstStyle/>
          <a:p>
            <a:r>
              <a:rPr lang="en-US" altLang="ko-KR"/>
              <a:t>3. Browser connect to Server</a:t>
            </a:r>
            <a:endParaRPr lang="ko-KR" altLang="en-US"/>
          </a:p>
        </p:txBody>
      </p:sp>
    </p:spTree>
    <p:extLst>
      <p:ext uri="{BB962C8B-B14F-4D97-AF65-F5344CB8AC3E}">
        <p14:creationId xmlns:p14="http://schemas.microsoft.com/office/powerpoint/2010/main" val="391856565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0"/>
            <a:ext cx="12192000" cy="269019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000" b="1">
                <a:solidFill>
                  <a:schemeClr val="tx1">
                    <a:lumMod val="65000"/>
                    <a:lumOff val="35000"/>
                  </a:schemeClr>
                </a:solidFill>
              </a:rPr>
              <a:t>ESP32 Async Web Server</a:t>
            </a:r>
          </a:p>
          <a:p>
            <a:pPr marL="179387" algn="ctr"/>
            <a:r>
              <a:rPr lang="en-US" altLang="ko-KR" sz="3200" b="1">
                <a:solidFill>
                  <a:schemeClr val="tx1"/>
                </a:solidFill>
              </a:rPr>
              <a:t>Control Outputs with Arduino IDE</a:t>
            </a:r>
          </a:p>
          <a:p>
            <a:pPr marL="179387" algn="ctr"/>
            <a:r>
              <a:rPr lang="en-US" altLang="ko-KR" sz="2800" b="1">
                <a:solidFill>
                  <a:schemeClr val="tx1"/>
                </a:solidFill>
              </a:rPr>
              <a:t>(ESPAsysnWebServer Library)</a:t>
            </a:r>
            <a:endParaRPr lang="ko-KR" altLang="en-US" sz="2800" b="1" dirty="0">
              <a:solidFill>
                <a:schemeClr val="tx1"/>
              </a:solidFill>
            </a:endParaRPr>
          </a:p>
        </p:txBody>
      </p:sp>
      <p:sp>
        <p:nvSpPr>
          <p:cNvPr id="5" name="TextBox 4">
            <a:extLst>
              <a:ext uri="{FF2B5EF4-FFF2-40B4-BE49-F238E27FC236}">
                <a16:creationId xmlns:a16="http://schemas.microsoft.com/office/drawing/2014/main" id="{1931735D-3861-5FD4-E1E3-4E5D6778C086}"/>
              </a:ext>
            </a:extLst>
          </p:cNvPr>
          <p:cNvSpPr txBox="1"/>
          <p:nvPr/>
        </p:nvSpPr>
        <p:spPr>
          <a:xfrm>
            <a:off x="110099" y="2901148"/>
            <a:ext cx="4489175" cy="25333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dirty="0"/>
              <a:t>이번 수업에서는 </a:t>
            </a:r>
            <a:r>
              <a:rPr lang="en-US" altLang="ko-KR" dirty="0"/>
              <a:t>ESP32 </a:t>
            </a:r>
            <a:r>
              <a:rPr lang="ko-KR" altLang="en-US" dirty="0"/>
              <a:t>보드를 사용하여 비동기 웹 서버를 구축하고 출력 제어를 배우게 된다</a:t>
            </a:r>
            <a:r>
              <a:rPr lang="en-US" altLang="ko-KR" dirty="0"/>
              <a:t>. </a:t>
            </a:r>
          </a:p>
          <a:p>
            <a:pPr marL="285750" indent="-285750">
              <a:lnSpc>
                <a:spcPct val="150000"/>
              </a:lnSpc>
              <a:buFont typeface="Arial" panose="020B0604020202020204" pitchFamily="34" charset="0"/>
              <a:buChar char="•"/>
            </a:pPr>
            <a:r>
              <a:rPr lang="ko-KR" altLang="en-US" dirty="0"/>
              <a:t>보드는 </a:t>
            </a:r>
            <a:r>
              <a:rPr lang="en-US" altLang="ko-KR" dirty="0"/>
              <a:t>Arduino IDE</a:t>
            </a:r>
            <a:r>
              <a:rPr lang="ko-KR" altLang="en-US" dirty="0"/>
              <a:t>를 사용하여 </a:t>
            </a:r>
            <a:r>
              <a:rPr lang="ko-KR" altLang="en-US" dirty="0" err="1"/>
              <a:t>프로그래밍되며</a:t>
            </a:r>
            <a:r>
              <a:rPr lang="en-US" altLang="ko-KR" dirty="0"/>
              <a:t>, </a:t>
            </a:r>
            <a:r>
              <a:rPr lang="en-US" altLang="ko-KR" b="1" dirty="0"/>
              <a:t>ESPAsyncWebServer</a:t>
            </a:r>
            <a:r>
              <a:rPr lang="ko-KR" altLang="en-US" dirty="0"/>
              <a:t> 라이브러리를 사용할 것이다</a:t>
            </a:r>
            <a:r>
              <a:rPr lang="en-US" altLang="ko-KR" dirty="0"/>
              <a:t>. </a:t>
            </a:r>
            <a:r>
              <a:rPr lang="ko-KR" altLang="en-US" dirty="0"/>
              <a:t>🚀</a:t>
            </a:r>
          </a:p>
        </p:txBody>
      </p:sp>
      <p:pic>
        <p:nvPicPr>
          <p:cNvPr id="9" name="그림 8">
            <a:extLst>
              <a:ext uri="{FF2B5EF4-FFF2-40B4-BE49-F238E27FC236}">
                <a16:creationId xmlns:a16="http://schemas.microsoft.com/office/drawing/2014/main" id="{4DE577C1-1015-6A89-CBCA-D8F294960467}"/>
              </a:ext>
            </a:extLst>
          </p:cNvPr>
          <p:cNvPicPr>
            <a:picLocks noChangeAspect="1"/>
          </p:cNvPicPr>
          <p:nvPr/>
        </p:nvPicPr>
        <p:blipFill>
          <a:blip r:embed="rId2"/>
          <a:stretch>
            <a:fillRect/>
          </a:stretch>
        </p:blipFill>
        <p:spPr>
          <a:xfrm>
            <a:off x="4709373" y="2690192"/>
            <a:ext cx="7482627" cy="4187226"/>
          </a:xfrm>
          <a:prstGeom prst="rect">
            <a:avLst/>
          </a:prstGeom>
        </p:spPr>
      </p:pic>
      <p:sp>
        <p:nvSpPr>
          <p:cNvPr id="11" name="TextBox 10">
            <a:extLst>
              <a:ext uri="{FF2B5EF4-FFF2-40B4-BE49-F238E27FC236}">
                <a16:creationId xmlns:a16="http://schemas.microsoft.com/office/drawing/2014/main" id="{ECD0B1E8-CA7A-A70C-3775-19DAD53C221F}"/>
              </a:ext>
            </a:extLst>
          </p:cNvPr>
          <p:cNvSpPr txBox="1"/>
          <p:nvPr/>
        </p:nvSpPr>
        <p:spPr>
          <a:xfrm>
            <a:off x="0" y="6488668"/>
            <a:ext cx="7696200" cy="369332"/>
          </a:xfrm>
          <a:prstGeom prst="rect">
            <a:avLst/>
          </a:prstGeom>
          <a:noFill/>
        </p:spPr>
        <p:txBody>
          <a:bodyPr wrap="square">
            <a:spAutoFit/>
          </a:bodyPr>
          <a:lstStyle/>
          <a:p>
            <a:r>
              <a:rPr lang="en-US" altLang="ko-KR">
                <a:hlinkClick r:id="rId3"/>
              </a:rPr>
              <a:t>ESP32 Async Web Server – Control Outputs | Random Nerd Tutorials</a:t>
            </a:r>
            <a:endParaRPr lang="ko-KR" altLang="en-US"/>
          </a:p>
        </p:txBody>
      </p:sp>
    </p:spTree>
    <p:extLst>
      <p:ext uri="{BB962C8B-B14F-4D97-AF65-F5344CB8AC3E}">
        <p14:creationId xmlns:p14="http://schemas.microsoft.com/office/powerpoint/2010/main" val="41090899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1A138-EA5A-31AD-AEBB-660F4C23169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DFA6B9C-3F84-6E68-3423-03E2D46C7C6C}"/>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Asynchronous Web Server</a:t>
            </a:r>
            <a:endParaRPr lang="ko-KR" altLang="en-US" b="1">
              <a:solidFill>
                <a:schemeClr val="tx1"/>
              </a:solidFill>
            </a:endParaRPr>
          </a:p>
        </p:txBody>
      </p:sp>
      <p:sp>
        <p:nvSpPr>
          <p:cNvPr id="6" name="TextBox 5">
            <a:extLst>
              <a:ext uri="{FF2B5EF4-FFF2-40B4-BE49-F238E27FC236}">
                <a16:creationId xmlns:a16="http://schemas.microsoft.com/office/drawing/2014/main" id="{BA9CA8F5-792F-AC80-B88E-6F7D037E286A}"/>
              </a:ext>
            </a:extLst>
          </p:cNvPr>
          <p:cNvSpPr txBox="1"/>
          <p:nvPr/>
        </p:nvSpPr>
        <p:spPr>
          <a:xfrm>
            <a:off x="321366" y="917858"/>
            <a:ext cx="11406808" cy="128528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dirty="0"/>
              <a:t>웹 서버를 구축하기 위해 </a:t>
            </a:r>
            <a:r>
              <a:rPr lang="en-US" altLang="ko-KR" b="1" dirty="0"/>
              <a:t>ESPAsyncWebServer</a:t>
            </a:r>
            <a:r>
              <a:rPr lang="ko-KR" altLang="en-US" dirty="0"/>
              <a:t> 라이브러리를 사용할 것이다</a:t>
            </a:r>
            <a:r>
              <a:rPr lang="en-US" altLang="ko-KR" dirty="0"/>
              <a:t>. </a:t>
            </a:r>
          </a:p>
          <a:p>
            <a:pPr marL="285750" indent="-285750">
              <a:lnSpc>
                <a:spcPct val="150000"/>
              </a:lnSpc>
              <a:buFont typeface="Arial" panose="020B0604020202020204" pitchFamily="34" charset="0"/>
              <a:buChar char="•"/>
            </a:pPr>
            <a:r>
              <a:rPr lang="ko-KR" altLang="en-US" dirty="0"/>
              <a:t>이 라이브러리는 비동기 웹 서버를 간단하게 구축할 수 있는 방법을 제공한다</a:t>
            </a:r>
            <a:r>
              <a:rPr lang="en-US" altLang="ko-KR" dirty="0"/>
              <a:t>. </a:t>
            </a:r>
          </a:p>
          <a:p>
            <a:pPr marL="285750" indent="-285750">
              <a:lnSpc>
                <a:spcPct val="150000"/>
              </a:lnSpc>
              <a:buFont typeface="Arial" panose="020B0604020202020204" pitchFamily="34" charset="0"/>
              <a:buChar char="•"/>
            </a:pPr>
            <a:r>
              <a:rPr lang="ko-KR" altLang="en-US" dirty="0"/>
              <a:t>비동기 웹 서버를 구축하면 이 라이브러리의 </a:t>
            </a:r>
            <a:r>
              <a:rPr lang="en-US" altLang="ko-KR" dirty="0"/>
              <a:t>GitHub </a:t>
            </a:r>
            <a:r>
              <a:rPr lang="ko-KR" altLang="en-US" dirty="0"/>
              <a:t>페이지에서 언급된 것처럼 여러 가지 장점이 있다</a:t>
            </a:r>
            <a:r>
              <a:rPr lang="en-US" altLang="ko-KR" dirty="0"/>
              <a:t>:</a:t>
            </a:r>
            <a:endParaRPr lang="ko-KR" altLang="en-US" dirty="0"/>
          </a:p>
        </p:txBody>
      </p:sp>
      <p:sp>
        <p:nvSpPr>
          <p:cNvPr id="8" name="TextBox 7">
            <a:extLst>
              <a:ext uri="{FF2B5EF4-FFF2-40B4-BE49-F238E27FC236}">
                <a16:creationId xmlns:a16="http://schemas.microsoft.com/office/drawing/2014/main" id="{B1E14C93-A0DE-9B7C-AAA6-8979E8E8B727}"/>
              </a:ext>
            </a:extLst>
          </p:cNvPr>
          <p:cNvSpPr txBox="1"/>
          <p:nvPr/>
        </p:nvSpPr>
        <p:spPr>
          <a:xfrm>
            <a:off x="679173" y="2271321"/>
            <a:ext cx="9644270" cy="369332"/>
          </a:xfrm>
          <a:prstGeom prst="rect">
            <a:avLst/>
          </a:prstGeom>
          <a:noFill/>
        </p:spPr>
        <p:txBody>
          <a:bodyPr wrap="square">
            <a:spAutoFit/>
          </a:bodyPr>
          <a:lstStyle/>
          <a:p>
            <a:r>
              <a:rPr lang="en-US" altLang="ko-KR" dirty="0">
                <a:hlinkClick r:id="rId2"/>
              </a:rPr>
              <a:t>GitHub - me-no-dev/ESPAsyncWebServer: Async Web Server for ESP8266 and ESP32</a:t>
            </a:r>
            <a:endParaRPr lang="ko-KR" altLang="en-US" dirty="0"/>
          </a:p>
        </p:txBody>
      </p:sp>
      <p:sp>
        <p:nvSpPr>
          <p:cNvPr id="10" name="Rectangle 1">
            <a:extLst>
              <a:ext uri="{FF2B5EF4-FFF2-40B4-BE49-F238E27FC236}">
                <a16:creationId xmlns:a16="http://schemas.microsoft.com/office/drawing/2014/main" id="{29CEC364-C611-796F-EFCF-8D4532988D22}"/>
              </a:ext>
            </a:extLst>
          </p:cNvPr>
          <p:cNvSpPr>
            <a:spLocks noChangeArrowheads="1"/>
          </p:cNvSpPr>
          <p:nvPr/>
        </p:nvSpPr>
        <p:spPr bwMode="auto">
          <a:xfrm>
            <a:off x="516450" y="2952273"/>
            <a:ext cx="11211724" cy="1702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"동시에 여러 연결을 처리할 수 있다."</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"응답을 전송할 때, 서버가 백그라운드에서 응답을 처리하는 동안 다른 연결을 즉시 처리할 준비가 </a:t>
            </a:r>
            <a:r>
              <a:rPr kumimoji="0" lang="ko-KR" altLang="en-US" sz="1800" b="0" i="0" u="none" strike="noStrike" cap="none" normalizeH="0" baseline="0">
                <a:ln>
                  <a:noFill/>
                </a:ln>
                <a:solidFill>
                  <a:schemeClr val="tx1"/>
                </a:solidFill>
                <a:effectLst/>
                <a:latin typeface="Arial" panose="020B0604020202020204" pitchFamily="34" charset="0"/>
              </a:rPr>
              <a:t>된</a:t>
            </a:r>
            <a:r>
              <a:rPr kumimoji="0" lang="ko-KR" altLang="ko-KR" sz="1800" b="0" i="0" u="none" strike="noStrike" cap="none" normalizeH="0" baseline="0">
                <a:ln>
                  <a:noFill/>
                </a:ln>
                <a:solidFill>
                  <a:schemeClr val="tx1"/>
                </a:solidFill>
                <a:effectLst/>
                <a:latin typeface="Arial" panose="020B0604020202020204" pitchFamily="34" charset="0"/>
              </a:rPr>
              <a:t>다.＂</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＂템플릿을 처리하기 위한 간단한 템플릿 처리 엔진 제공＂</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그 외에도 많은 장점이 있다. </a:t>
            </a:r>
            <a:r>
              <a:rPr kumimoji="0" lang="en-US" altLang="ko-KR" sz="1800" b="0" i="0" u="none" strike="noStrike" cap="none" normalizeH="0" baseline="0">
                <a:ln>
                  <a:noFill/>
                </a:ln>
                <a:solidFill>
                  <a:schemeClr val="tx1"/>
                </a:solidFill>
                <a:effectLst/>
                <a:latin typeface="Arial" panose="020B0604020202020204" pitchFamily="34" charset="0"/>
              </a:rPr>
              <a:t> </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12447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F1EF0-992D-4B49-8EDF-4A3358D4A62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28AF51A-88E3-3993-E5FE-238E09325442}"/>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Schematic</a:t>
            </a:r>
            <a:endParaRPr lang="ko-KR" altLang="en-US" b="1">
              <a:solidFill>
                <a:schemeClr val="tx1"/>
              </a:solidFill>
            </a:endParaRPr>
          </a:p>
        </p:txBody>
      </p:sp>
      <p:pic>
        <p:nvPicPr>
          <p:cNvPr id="4" name="그림 3">
            <a:extLst>
              <a:ext uri="{FF2B5EF4-FFF2-40B4-BE49-F238E27FC236}">
                <a16:creationId xmlns:a16="http://schemas.microsoft.com/office/drawing/2014/main" id="{2B2CB0F8-F163-0B4E-E16B-8125375B0CA5}"/>
              </a:ext>
            </a:extLst>
          </p:cNvPr>
          <p:cNvPicPr>
            <a:picLocks noChangeAspect="1"/>
          </p:cNvPicPr>
          <p:nvPr/>
        </p:nvPicPr>
        <p:blipFill>
          <a:blip r:embed="rId2"/>
          <a:stretch>
            <a:fillRect/>
          </a:stretch>
        </p:blipFill>
        <p:spPr>
          <a:xfrm>
            <a:off x="933174" y="993138"/>
            <a:ext cx="6906589" cy="5163271"/>
          </a:xfrm>
          <a:prstGeom prst="rect">
            <a:avLst/>
          </a:prstGeom>
        </p:spPr>
      </p:pic>
      <p:sp>
        <p:nvSpPr>
          <p:cNvPr id="7" name="TextBox 6">
            <a:extLst>
              <a:ext uri="{FF2B5EF4-FFF2-40B4-BE49-F238E27FC236}">
                <a16:creationId xmlns:a16="http://schemas.microsoft.com/office/drawing/2014/main" id="{E97A168D-2CDB-FA8B-E6E3-01E1B7C247C2}"/>
              </a:ext>
            </a:extLst>
          </p:cNvPr>
          <p:cNvSpPr txBox="1"/>
          <p:nvPr/>
        </p:nvSpPr>
        <p:spPr>
          <a:xfrm>
            <a:off x="8008728" y="1456244"/>
            <a:ext cx="3626680" cy="2118529"/>
          </a:xfrm>
          <a:prstGeom prst="rect">
            <a:avLst/>
          </a:prstGeom>
          <a:noFill/>
        </p:spPr>
        <p:txBody>
          <a:bodyPr wrap="square">
            <a:spAutoFit/>
          </a:bodyPr>
          <a:lstStyle/>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ESP32</a:t>
            </a:r>
            <a:r>
              <a:rPr lang="en-US" altLang="ko-KR" b="0" i="0">
                <a:effectLst/>
                <a:latin typeface="Helvetica" panose="020B0604020202020204" pitchFamily="34" charset="0"/>
              </a:rPr>
              <a:t> </a:t>
            </a:r>
            <a:r>
              <a:rPr lang="en-US" altLang="ko-KR" b="0" i="0" strike="noStrike">
                <a:solidFill>
                  <a:srgbClr val="0563C1"/>
                </a:solidFill>
                <a:effectLst/>
                <a:latin typeface="Helvetica" panose="020B0604020202020204" pitchFamily="34" charset="0"/>
              </a:rPr>
              <a:t> Development </a:t>
            </a:r>
            <a:r>
              <a:rPr lang="en-US" altLang="ko-KR" b="0" i="0" strike="noStrike">
                <a:effectLst/>
                <a:latin typeface="Helvetica" panose="020B0604020202020204" pitchFamily="34" charset="0"/>
              </a:rPr>
              <a:t>Board</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a:effectLst/>
                <a:latin typeface="Helvetica" panose="020B0604020202020204" pitchFamily="34" charset="0"/>
              </a:rPr>
              <a:t>3x </a:t>
            </a:r>
            <a:r>
              <a:rPr lang="en-US" altLang="ko-KR" b="0" i="0" strike="noStrike">
                <a:effectLst/>
                <a:latin typeface="Helvetica" panose="020B0604020202020204" pitchFamily="34" charset="0"/>
              </a:rPr>
              <a:t>LEDs</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a:effectLst/>
                <a:latin typeface="Helvetica" panose="020B0604020202020204" pitchFamily="34" charset="0"/>
              </a:rPr>
              <a:t>3x </a:t>
            </a:r>
            <a:r>
              <a:rPr lang="en-US" altLang="ko-KR" b="0" i="0" strike="noStrike">
                <a:effectLst/>
                <a:latin typeface="Helvetica" panose="020B0604020202020204" pitchFamily="34" charset="0"/>
              </a:rPr>
              <a:t>220 Ohm Resistor</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Breadboard</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Jumper wires</a:t>
            </a:r>
            <a:endParaRPr lang="en-US" altLang="ko-KR" b="0" i="0">
              <a:effectLst/>
              <a:latin typeface="Helvetica" panose="020B0604020202020204" pitchFamily="34" charset="0"/>
            </a:endParaRPr>
          </a:p>
        </p:txBody>
      </p:sp>
    </p:spTree>
    <p:extLst>
      <p:ext uri="{BB962C8B-B14F-4D97-AF65-F5344CB8AC3E}">
        <p14:creationId xmlns:p14="http://schemas.microsoft.com/office/powerpoint/2010/main" val="29151652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104C-9F1E-EB10-BDAF-8254B152006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ACED476-6490-3675-B41D-7C1652F648A6}"/>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Installing Libraries – ESP Async Web Server</a:t>
            </a:r>
            <a:endParaRPr lang="ko-KR" altLang="en-US" b="1">
              <a:solidFill>
                <a:schemeClr val="tx1"/>
              </a:solidFill>
            </a:endParaRPr>
          </a:p>
        </p:txBody>
      </p:sp>
      <p:sp>
        <p:nvSpPr>
          <p:cNvPr id="5" name="TextBox 4">
            <a:extLst>
              <a:ext uri="{FF2B5EF4-FFF2-40B4-BE49-F238E27FC236}">
                <a16:creationId xmlns:a16="http://schemas.microsoft.com/office/drawing/2014/main" id="{A8414447-1E09-0C9A-EF95-E98B981325DC}"/>
              </a:ext>
            </a:extLst>
          </p:cNvPr>
          <p:cNvSpPr txBox="1"/>
          <p:nvPr/>
        </p:nvSpPr>
        <p:spPr>
          <a:xfrm>
            <a:off x="432352" y="861465"/>
            <a:ext cx="11327295" cy="41937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dirty="0"/>
              <a:t>웹 서버를 구축하려면 다음 라이브러리를 설치해야 한다</a:t>
            </a:r>
            <a:r>
              <a:rPr lang="en-US" altLang="ko-KR" dirty="0"/>
              <a:t>. </a:t>
            </a:r>
          </a:p>
          <a:p>
            <a:pPr marL="285750" indent="-285750">
              <a:lnSpc>
                <a:spcPct val="150000"/>
              </a:lnSpc>
              <a:buFont typeface="Arial" panose="020B0604020202020204" pitchFamily="34" charset="0"/>
              <a:buChar char="•"/>
            </a:pPr>
            <a:r>
              <a:rPr lang="ko-KR" altLang="en-US" dirty="0"/>
              <a:t>아래 링크를 클릭하여 라이브러리를 다운로드하자</a:t>
            </a:r>
            <a:r>
              <a:rPr lang="en-US" altLang="ko-KR" dirty="0"/>
              <a:t>.</a:t>
            </a:r>
          </a:p>
          <a:p>
            <a:pPr marL="542925" indent="-357188">
              <a:lnSpc>
                <a:spcPct val="150000"/>
              </a:lnSpc>
              <a:buFont typeface="Wingdings" panose="05000000000000000000" pitchFamily="2" charset="2"/>
              <a:buChar char="Ø"/>
            </a:pPr>
            <a:r>
              <a:rPr lang="en-US" altLang="ko-KR" b="1" dirty="0"/>
              <a:t>ESPAsyncWebServer</a:t>
            </a:r>
            <a:br>
              <a:rPr lang="en-US" altLang="ko-KR" b="1" dirty="0"/>
            </a:br>
            <a:endParaRPr lang="ko-KR" altLang="en-US" dirty="0"/>
          </a:p>
          <a:p>
            <a:pPr marL="542925" indent="-357188">
              <a:lnSpc>
                <a:spcPct val="150000"/>
              </a:lnSpc>
              <a:buFont typeface="Wingdings" panose="05000000000000000000" pitchFamily="2" charset="2"/>
              <a:buChar char="Ø"/>
            </a:pPr>
            <a:r>
              <a:rPr lang="en-US" altLang="ko-KR" b="1" dirty="0"/>
              <a:t>AsyncTCP</a:t>
            </a:r>
            <a:br>
              <a:rPr lang="en-US" altLang="ko-KR" b="1" dirty="0"/>
            </a:br>
            <a:endParaRPr lang="ko-KR" altLang="en-US" dirty="0"/>
          </a:p>
          <a:p>
            <a:pPr marL="285750" indent="-285750">
              <a:lnSpc>
                <a:spcPct val="150000"/>
              </a:lnSpc>
              <a:buFont typeface="Arial" panose="020B0604020202020204" pitchFamily="34" charset="0"/>
              <a:buChar char="•"/>
            </a:pPr>
            <a:r>
              <a:rPr lang="ko-KR" altLang="en-US" dirty="0"/>
              <a:t>이 라이브러리들은 </a:t>
            </a:r>
            <a:r>
              <a:rPr lang="en-US" altLang="ko-KR" dirty="0"/>
              <a:t>Arduino </a:t>
            </a:r>
            <a:r>
              <a:rPr lang="ko-KR" altLang="en-US" dirty="0"/>
              <a:t>라이브러리 매니저를 통해 설치할 수 없으므로</a:t>
            </a:r>
            <a:r>
              <a:rPr lang="en-US" altLang="ko-KR" dirty="0"/>
              <a:t>, </a:t>
            </a:r>
            <a:br>
              <a:rPr lang="en-US" altLang="ko-KR" dirty="0"/>
            </a:br>
            <a:r>
              <a:rPr lang="ko-KR" altLang="en-US" dirty="0"/>
              <a:t>라이브러리 파일을 </a:t>
            </a:r>
            <a:r>
              <a:rPr lang="en-US" altLang="ko-KR" dirty="0"/>
              <a:t>Arduino </a:t>
            </a:r>
            <a:r>
              <a:rPr lang="ko-KR" altLang="en-US" dirty="0"/>
              <a:t>설치 폴더의 라이브러리 디렉토리에 복사해야 한다</a:t>
            </a:r>
            <a:r>
              <a:rPr lang="en-US" altLang="ko-KR" dirty="0"/>
              <a:t>.</a:t>
            </a:r>
          </a:p>
          <a:p>
            <a:pPr marL="285750" indent="-285750">
              <a:lnSpc>
                <a:spcPct val="150000"/>
              </a:lnSpc>
              <a:buFont typeface="Arial" panose="020B0604020202020204" pitchFamily="34" charset="0"/>
              <a:buChar char="•"/>
            </a:pPr>
            <a:r>
              <a:rPr lang="en-US" altLang="ko-KR" dirty="0"/>
              <a:t>Arduino IDE</a:t>
            </a:r>
            <a:r>
              <a:rPr lang="ko-KR" altLang="en-US" dirty="0"/>
              <a:t>에서 </a:t>
            </a:r>
            <a:r>
              <a:rPr lang="en-US" altLang="ko-KR" b="1" dirty="0"/>
              <a:t>Sketch &gt; Include Library &gt; Add .zip Library</a:t>
            </a:r>
            <a:r>
              <a:rPr lang="ko-KR" altLang="en-US" dirty="0"/>
              <a:t>로 이동하여 방금 다운로드한 라이브러리를 선택하여 추가할 수도 있다</a:t>
            </a:r>
            <a:r>
              <a:rPr lang="en-US" altLang="ko-KR" dirty="0"/>
              <a:t>.</a:t>
            </a:r>
          </a:p>
        </p:txBody>
      </p:sp>
      <p:sp>
        <p:nvSpPr>
          <p:cNvPr id="13" name="TextBox 12">
            <a:extLst>
              <a:ext uri="{FF2B5EF4-FFF2-40B4-BE49-F238E27FC236}">
                <a16:creationId xmlns:a16="http://schemas.microsoft.com/office/drawing/2014/main" id="{2FD94BB6-E6BA-339A-8C1F-16DFC92288E4}"/>
              </a:ext>
            </a:extLst>
          </p:cNvPr>
          <p:cNvSpPr txBox="1"/>
          <p:nvPr/>
        </p:nvSpPr>
        <p:spPr>
          <a:xfrm>
            <a:off x="1023729" y="2101983"/>
            <a:ext cx="7709453" cy="369332"/>
          </a:xfrm>
          <a:prstGeom prst="rect">
            <a:avLst/>
          </a:prstGeom>
          <a:noFill/>
        </p:spPr>
        <p:txBody>
          <a:bodyPr wrap="square">
            <a:spAutoFit/>
          </a:bodyPr>
          <a:lstStyle/>
          <a:p>
            <a:r>
              <a:rPr lang="ko-KR" altLang="en-US">
                <a:hlinkClick r:id="rId2"/>
              </a:rPr>
              <a:t>https://github.com/me-no-dev/ESPAsyncWebServer/archive/master.zip</a:t>
            </a:r>
            <a:endParaRPr lang="ko-KR" altLang="en-US"/>
          </a:p>
        </p:txBody>
      </p:sp>
      <p:sp>
        <p:nvSpPr>
          <p:cNvPr id="15" name="TextBox 14">
            <a:extLst>
              <a:ext uri="{FF2B5EF4-FFF2-40B4-BE49-F238E27FC236}">
                <a16:creationId xmlns:a16="http://schemas.microsoft.com/office/drawing/2014/main" id="{DE3FC34E-A2FA-CD89-E1AC-5295BC1A4942}"/>
              </a:ext>
            </a:extLst>
          </p:cNvPr>
          <p:cNvSpPr txBox="1"/>
          <p:nvPr/>
        </p:nvSpPr>
        <p:spPr>
          <a:xfrm>
            <a:off x="1023729" y="2958353"/>
            <a:ext cx="7108135" cy="369332"/>
          </a:xfrm>
          <a:prstGeom prst="rect">
            <a:avLst/>
          </a:prstGeom>
          <a:noFill/>
        </p:spPr>
        <p:txBody>
          <a:bodyPr wrap="square">
            <a:spAutoFit/>
          </a:bodyPr>
          <a:lstStyle/>
          <a:p>
            <a:r>
              <a:rPr lang="ko-KR" altLang="en-US">
                <a:hlinkClick r:id="rId3"/>
              </a:rPr>
              <a:t>https://github.com/me-no-dev/AsyncTCP/archive/master.zip</a:t>
            </a:r>
            <a:endParaRPr lang="ko-KR" altLang="en-US"/>
          </a:p>
        </p:txBody>
      </p:sp>
    </p:spTree>
    <p:extLst>
      <p:ext uri="{BB962C8B-B14F-4D97-AF65-F5344CB8AC3E}">
        <p14:creationId xmlns:p14="http://schemas.microsoft.com/office/powerpoint/2010/main" val="316920962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808B-9AB9-C8BD-49DF-D7DB2C1D303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7844491-A5C7-481D-A2A3-2C2BE90748EA}"/>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Project</a:t>
            </a:r>
            <a:r>
              <a:rPr lang="ko-KR" altLang="en-US" b="1">
                <a:solidFill>
                  <a:schemeClr val="tx1"/>
                </a:solidFill>
              </a:rPr>
              <a:t> </a:t>
            </a:r>
            <a:r>
              <a:rPr lang="en-US" altLang="ko-KR" b="1">
                <a:solidFill>
                  <a:schemeClr val="tx1"/>
                </a:solidFill>
              </a:rPr>
              <a:t>Overview</a:t>
            </a:r>
            <a:endParaRPr lang="ko-KR" altLang="en-US" b="1">
              <a:solidFill>
                <a:schemeClr val="tx1"/>
              </a:solidFill>
            </a:endParaRPr>
          </a:p>
        </p:txBody>
      </p:sp>
      <p:pic>
        <p:nvPicPr>
          <p:cNvPr id="4" name="그림 3">
            <a:extLst>
              <a:ext uri="{FF2B5EF4-FFF2-40B4-BE49-F238E27FC236}">
                <a16:creationId xmlns:a16="http://schemas.microsoft.com/office/drawing/2014/main" id="{29FE5972-B73B-E0C9-4726-9FEF1F2F0FE2}"/>
              </a:ext>
            </a:extLst>
          </p:cNvPr>
          <p:cNvPicPr>
            <a:picLocks noChangeAspect="1"/>
          </p:cNvPicPr>
          <p:nvPr/>
        </p:nvPicPr>
        <p:blipFill>
          <a:blip r:embed="rId2"/>
          <a:stretch>
            <a:fillRect/>
          </a:stretch>
        </p:blipFill>
        <p:spPr>
          <a:xfrm>
            <a:off x="276663" y="913625"/>
            <a:ext cx="2850849" cy="5659928"/>
          </a:xfrm>
          <a:prstGeom prst="rect">
            <a:avLst/>
          </a:prstGeom>
        </p:spPr>
      </p:pic>
      <p:pic>
        <p:nvPicPr>
          <p:cNvPr id="7" name="그림 6">
            <a:extLst>
              <a:ext uri="{FF2B5EF4-FFF2-40B4-BE49-F238E27FC236}">
                <a16:creationId xmlns:a16="http://schemas.microsoft.com/office/drawing/2014/main" id="{74A4F7BD-124D-69FB-69E5-121844BAFE9D}"/>
              </a:ext>
            </a:extLst>
          </p:cNvPr>
          <p:cNvPicPr>
            <a:picLocks noChangeAspect="1"/>
          </p:cNvPicPr>
          <p:nvPr/>
        </p:nvPicPr>
        <p:blipFill>
          <a:blip r:embed="rId3"/>
          <a:stretch>
            <a:fillRect/>
          </a:stretch>
        </p:blipFill>
        <p:spPr>
          <a:xfrm>
            <a:off x="3816963" y="1914533"/>
            <a:ext cx="7049484" cy="3658111"/>
          </a:xfrm>
          <a:prstGeom prst="rect">
            <a:avLst/>
          </a:prstGeom>
        </p:spPr>
      </p:pic>
      <p:sp>
        <p:nvSpPr>
          <p:cNvPr id="9" name="TextBox 8">
            <a:extLst>
              <a:ext uri="{FF2B5EF4-FFF2-40B4-BE49-F238E27FC236}">
                <a16:creationId xmlns:a16="http://schemas.microsoft.com/office/drawing/2014/main" id="{2039C046-98EC-999B-0E2D-AD7DF676B0C7}"/>
              </a:ext>
            </a:extLst>
          </p:cNvPr>
          <p:cNvSpPr txBox="1"/>
          <p:nvPr/>
        </p:nvSpPr>
        <p:spPr>
          <a:xfrm>
            <a:off x="4495800" y="6466080"/>
            <a:ext cx="7696200" cy="369332"/>
          </a:xfrm>
          <a:prstGeom prst="rect">
            <a:avLst/>
          </a:prstGeom>
          <a:noFill/>
        </p:spPr>
        <p:txBody>
          <a:bodyPr wrap="square">
            <a:spAutoFit/>
          </a:bodyPr>
          <a:lstStyle/>
          <a:p>
            <a:r>
              <a:rPr lang="en-US" altLang="ko-KR">
                <a:hlinkClick r:id="rId4"/>
              </a:rPr>
              <a:t>ESP32 Async Web Server – Control Outputs | Random Nerd Tutorials</a:t>
            </a:r>
            <a:endParaRPr lang="ko-KR" altLang="en-US"/>
          </a:p>
        </p:txBody>
      </p:sp>
    </p:spTree>
    <p:extLst>
      <p:ext uri="{BB962C8B-B14F-4D97-AF65-F5344CB8AC3E}">
        <p14:creationId xmlns:p14="http://schemas.microsoft.com/office/powerpoint/2010/main" val="35765404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C464B-4532-BD31-0B5D-CBD0060ECE5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A7F8573-4677-2131-5964-9B4B336BA4A0}"/>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a:solidFill>
                  <a:schemeClr val="tx1"/>
                </a:solidFill>
              </a:rPr>
              <a:t>Project</a:t>
            </a:r>
            <a:r>
              <a:rPr lang="ko-KR" altLang="en-US" sz="2000" b="1">
                <a:solidFill>
                  <a:schemeClr val="tx1"/>
                </a:solidFill>
              </a:rPr>
              <a:t> </a:t>
            </a:r>
            <a:r>
              <a:rPr lang="en-US" altLang="ko-KR" sz="2000" b="1">
                <a:solidFill>
                  <a:schemeClr val="tx1"/>
                </a:solidFill>
              </a:rPr>
              <a:t>Overview</a:t>
            </a:r>
            <a:endParaRPr lang="ko-KR" altLang="en-US" sz="2000" b="1">
              <a:solidFill>
                <a:schemeClr val="tx1"/>
              </a:solidFill>
            </a:endParaRPr>
          </a:p>
        </p:txBody>
      </p:sp>
      <p:sp>
        <p:nvSpPr>
          <p:cNvPr id="6" name="Rectangle 1">
            <a:extLst>
              <a:ext uri="{FF2B5EF4-FFF2-40B4-BE49-F238E27FC236}">
                <a16:creationId xmlns:a16="http://schemas.microsoft.com/office/drawing/2014/main" id="{DD5E3FD3-0525-3893-90CA-46A7DA8D37C1}"/>
              </a:ext>
            </a:extLst>
          </p:cNvPr>
          <p:cNvSpPr>
            <a:spLocks noChangeArrowheads="1"/>
          </p:cNvSpPr>
          <p:nvPr/>
        </p:nvSpPr>
        <p:spPr bwMode="auto">
          <a:xfrm>
            <a:off x="342900" y="839740"/>
            <a:ext cx="8724248" cy="4088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ts val="2900"/>
              </a:lnSpc>
              <a:spcBef>
                <a:spcPct val="0"/>
              </a:spcBef>
              <a:spcAft>
                <a:spcPct val="0"/>
              </a:spcAft>
              <a:buClrTx/>
              <a:buSzTx/>
              <a:buFontTx/>
              <a:buNone/>
              <a:tabLst/>
            </a:pP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sz="1800" b="0" i="0" u="none" strike="noStrike" cap="none" normalizeH="0" baseline="0" dirty="0">
                <a:ln>
                  <a:noFill/>
                </a:ln>
                <a:solidFill>
                  <a:schemeClr val="tx1"/>
                </a:solidFill>
                <a:effectLst/>
                <a:latin typeface="Arial" panose="020B0604020202020204" pitchFamily="34" charset="0"/>
              </a:rPr>
              <a:t>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토글할</a:t>
            </a:r>
            <a:r>
              <a:rPr kumimoji="0" lang="ko-KR" altLang="ko-KR" sz="1800" b="0" i="0" u="none" strike="noStrike" cap="none" normalizeH="0" baseline="0" dirty="0">
                <a:ln>
                  <a:noFill/>
                </a:ln>
                <a:solidFill>
                  <a:schemeClr val="tx1"/>
                </a:solidFill>
                <a:effectLst/>
                <a:latin typeface="Arial" panose="020B0604020202020204" pitchFamily="34" charset="0"/>
              </a:rPr>
              <a:t> 때 어떤 일이 발생하는지 확인해</a:t>
            </a:r>
            <a:r>
              <a:rPr kumimoji="0" lang="ko-KR" altLang="en-US" sz="1800" b="0" i="0" u="none" strike="noStrike" cap="none" normalizeH="0" baseline="0" dirty="0">
                <a:ln>
                  <a:noFill/>
                </a:ln>
                <a:solidFill>
                  <a:schemeClr val="tx1"/>
                </a:solidFill>
                <a:effectLst/>
                <a:latin typeface="Arial" panose="020B0604020202020204" pitchFamily="34" charset="0"/>
              </a:rPr>
              <a:t>보자</a:t>
            </a:r>
            <a:r>
              <a:rPr kumimoji="0" lang="ko-KR" altLang="ko-KR" sz="1800" b="0" i="0" u="none" strike="noStrike" cap="none" normalizeH="0" baseline="0" dirty="0">
                <a:ln>
                  <a:noFill/>
                </a:ln>
                <a:solidFill>
                  <a:schemeClr val="tx1"/>
                </a:solidFill>
                <a:effectLst/>
                <a:latin typeface="Arial" panose="020B0604020202020204" pitchFamily="34" charset="0"/>
              </a:rPr>
              <a:t>. </a:t>
            </a:r>
            <a:endParaRPr kumimoji="0" lang="en-US" altLang="ko-K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None/>
              <a:tabLst/>
            </a:pP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sz="1800" b="0" i="0" u="none" strike="noStrike" cap="none" normalizeH="0" baseline="0" dirty="0">
                <a:ln>
                  <a:noFill/>
                </a:ln>
                <a:solidFill>
                  <a:schemeClr val="tx1"/>
                </a:solidFill>
                <a:effectLst/>
                <a:latin typeface="Arial" panose="020B0604020202020204" pitchFamily="34" charset="0"/>
              </a:rPr>
              <a:t>GPIO 2를 예로 들어 설명하며, 다른 버튼도 비슷하게 동작</a:t>
            </a:r>
            <a:r>
              <a:rPr kumimoji="0" lang="ko-KR" altLang="en-US" sz="1800" b="0" i="0" u="none" strike="noStrike" cap="none" normalizeH="0" baseline="0" dirty="0">
                <a:ln>
                  <a:noFill/>
                </a:ln>
                <a:solidFill>
                  <a:schemeClr val="tx1"/>
                </a:solidFill>
                <a:effectLst/>
                <a:latin typeface="Arial" panose="020B0604020202020204" pitchFamily="34" charset="0"/>
              </a:rPr>
              <a:t>한</a:t>
            </a:r>
            <a:r>
              <a:rPr kumimoji="0" lang="ko-KR" altLang="ko-KR" sz="1800" b="0" i="0" u="none" strike="noStrike" cap="none" normalizeH="0" baseline="0" dirty="0">
                <a:ln>
                  <a:noFill/>
                </a:ln>
                <a:solidFill>
                  <a:schemeClr val="tx1"/>
                </a:solidFill>
                <a:effectLst/>
                <a:latin typeface="Arial" panose="020B0604020202020204" pitchFamily="34" charset="0"/>
              </a:rPr>
              <a:t>다.</a:t>
            </a:r>
            <a:br>
              <a:rPr kumimoji="0" lang="en-US" altLang="ko-KR" sz="1800" b="0" i="0" u="none" strike="noStrike" cap="none" normalizeH="0" baseline="0" dirty="0">
                <a:ln>
                  <a:noFill/>
                </a:ln>
                <a:solidFill>
                  <a:schemeClr val="tx1"/>
                </a:solidFill>
                <a:effectLst/>
                <a:latin typeface="Arial" panose="020B0604020202020204" pitchFamily="34" charset="0"/>
              </a:rPr>
            </a:br>
            <a:endParaRPr kumimoji="0" lang="ko-KR" altLang="ko-K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AutoNum type="arabicPeriod"/>
              <a:tabLst/>
            </a:pPr>
            <a:r>
              <a:rPr kumimoji="0" lang="en-US" altLang="ko-KR" sz="1800" b="1" i="0" u="none" strike="noStrike" cap="none" normalizeH="0" baseline="0" dirty="0">
                <a:ln>
                  <a:noFill/>
                </a:ln>
                <a:solidFill>
                  <a:schemeClr val="tx1"/>
                </a:solidFill>
                <a:effectLst/>
                <a:latin typeface="Arial" panose="020B0604020202020204" pitchFamily="34" charset="0"/>
              </a:rPr>
              <a:t> </a:t>
            </a:r>
            <a:r>
              <a:rPr kumimoji="0" lang="ko-KR" altLang="ko-KR" sz="1800" b="1" i="0" u="none" strike="noStrike" cap="none" normalizeH="0" baseline="0" dirty="0">
                <a:ln>
                  <a:noFill/>
                </a:ln>
                <a:solidFill>
                  <a:schemeClr val="tx1"/>
                </a:solidFill>
                <a:effectLst/>
                <a:latin typeface="Arial" panose="020B0604020202020204" pitchFamily="34" charset="0"/>
              </a:rPr>
              <a:t>첫 번째 시나리오</a:t>
            </a:r>
            <a:r>
              <a:rPr kumimoji="0" lang="ko-KR" altLang="ko-KR" sz="1800" b="0" i="0" u="none" strike="noStrike" cap="none" normalizeH="0" baseline="0" dirty="0">
                <a:ln>
                  <a:noFill/>
                </a:ln>
                <a:solidFill>
                  <a:schemeClr val="tx1"/>
                </a:solidFill>
                <a:effectLst/>
                <a:latin typeface="Arial" panose="020B0604020202020204" pitchFamily="34" charset="0"/>
              </a:rPr>
              <a:t>: 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토글하여</a:t>
            </a:r>
            <a:r>
              <a:rPr kumimoji="0" lang="ko-KR" altLang="ko-KR" sz="1800" b="0" i="0" u="none" strike="noStrike" cap="none" normalizeH="0" baseline="0" dirty="0">
                <a:ln>
                  <a:noFill/>
                </a:ln>
                <a:solidFill>
                  <a:schemeClr val="tx1"/>
                </a:solidFill>
                <a:effectLst/>
                <a:latin typeface="Arial" panose="020B0604020202020204" pitchFamily="34" charset="0"/>
              </a:rPr>
              <a:t> GPIO 2</a:t>
            </a:r>
            <a:r>
              <a:rPr lang="en-US" altLang="ko-KR" dirty="0">
                <a:latin typeface="Arial" panose="020B0604020202020204" pitchFamily="34" charset="0"/>
              </a:rPr>
              <a:t> turn on</a:t>
            </a:r>
            <a:r>
              <a:rPr kumimoji="0" lang="ko-KR" altLang="ko-KR" sz="1800" b="0" i="0" u="none" strike="noStrike" cap="none" normalizeH="0" baseline="0" dirty="0">
                <a:ln>
                  <a:noFill/>
                </a:ln>
                <a:solidFill>
                  <a:schemeClr val="tx1"/>
                </a:solidFill>
                <a:effectLst/>
                <a:latin typeface="Arial" panose="020B0604020202020204" pitchFamily="34" charset="0"/>
              </a:rPr>
              <a:t>. </a:t>
            </a:r>
            <a:br>
              <a:rPr kumimoji="0" lang="en-US" altLang="ko-KR" sz="1800" b="0" i="0" u="none" strike="noStrike" cap="none" normalizeH="0" baseline="0" dirty="0">
                <a:ln>
                  <a:noFill/>
                </a:ln>
                <a:solidFill>
                  <a:schemeClr val="tx1"/>
                </a:solidFill>
                <a:effectLst/>
                <a:latin typeface="Arial" panose="020B0604020202020204" pitchFamily="34" charset="0"/>
              </a:rPr>
            </a:b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a:ln>
                  <a:noFill/>
                </a:ln>
                <a:solidFill>
                  <a:schemeClr val="tx1"/>
                </a:solidFill>
                <a:effectLst/>
                <a:latin typeface="Arial" panose="020B0604020202020204" pitchFamily="34" charset="0"/>
              </a:rPr>
              <a:t>이 경우 브라우저는 </a:t>
            </a:r>
            <a:r>
              <a:rPr kumimoji="0" lang="ko-KR" altLang="ko-KR" b="0" i="0" u="none" strike="noStrike" cap="none" normalizeH="0" baseline="0" dirty="0">
                <a:ln>
                  <a:noFill/>
                </a:ln>
                <a:solidFill>
                  <a:schemeClr val="tx1"/>
                </a:solidFill>
                <a:effectLst/>
                <a:latin typeface="Arial Unicode MS"/>
              </a:rPr>
              <a:t>/</a:t>
            </a:r>
            <a:r>
              <a:rPr kumimoji="0" lang="ko-KR" altLang="ko-KR" b="0" i="0" u="none" strike="noStrike" cap="none" normalizeH="0" baseline="0" dirty="0" err="1">
                <a:ln>
                  <a:noFill/>
                </a:ln>
                <a:solidFill>
                  <a:schemeClr val="tx1"/>
                </a:solidFill>
                <a:effectLst/>
                <a:latin typeface="Arial Unicode MS"/>
              </a:rPr>
              <a:t>update?output</a:t>
            </a:r>
            <a:r>
              <a:rPr kumimoji="0" lang="ko-KR" altLang="ko-KR" b="0" i="0" u="none" strike="noStrike" cap="none" normalizeH="0" baseline="0" dirty="0">
                <a:ln>
                  <a:noFill/>
                </a:ln>
                <a:solidFill>
                  <a:schemeClr val="tx1"/>
                </a:solidFill>
                <a:effectLst/>
                <a:latin typeface="Arial Unicode MS"/>
              </a:rPr>
              <a:t>=2&amp;state=1</a:t>
            </a:r>
            <a:r>
              <a:rPr kumimoji="0" lang="ko-KR" altLang="ko-KR" b="0" i="0" u="none" strike="noStrike" cap="none" normalizeH="0" baseline="0" dirty="0">
                <a:ln>
                  <a:noFill/>
                </a:ln>
                <a:solidFill>
                  <a:schemeClr val="tx1"/>
                </a:solidFill>
                <a:effectLst/>
              </a:rPr>
              <a:t> </a:t>
            </a:r>
            <a:r>
              <a:rPr kumimoji="0" lang="ko-KR" altLang="ko-KR" b="0" i="0" u="none" strike="noStrike" cap="none" normalizeH="0" baseline="0" dirty="0" err="1">
                <a:ln>
                  <a:noFill/>
                </a:ln>
                <a:solidFill>
                  <a:schemeClr val="tx1"/>
                </a:solidFill>
                <a:effectLst/>
              </a:rPr>
              <a:t>URL로</a:t>
            </a:r>
            <a:r>
              <a:rPr kumimoji="0" lang="ko-KR" altLang="ko-KR" b="0" i="0" u="none" strike="noStrike" cap="none" normalizeH="0" baseline="0" dirty="0">
                <a:ln>
                  <a:noFill/>
                </a:ln>
                <a:solidFill>
                  <a:schemeClr val="tx1"/>
                </a:solidFill>
                <a:effectLst/>
              </a:rPr>
              <a:t> HTTP GET 요청을 보</a:t>
            </a:r>
            <a:r>
              <a:rPr lang="ko-KR" altLang="en-US" dirty="0"/>
              <a:t>낸다</a:t>
            </a:r>
            <a:r>
              <a:rPr kumimoji="0" lang="ko-KR" altLang="ko-KR" b="0" i="0" u="none" strike="noStrike" cap="none" normalizeH="0" baseline="0" dirty="0">
                <a:ln>
                  <a:noFill/>
                </a:ln>
                <a:solidFill>
                  <a:schemeClr val="tx1"/>
                </a:solidFill>
                <a:effectLst/>
              </a:rPr>
              <a:t>. </a:t>
            </a:r>
            <a:br>
              <a:rPr kumimoji="0" lang="en-US" altLang="ko-KR" b="0" i="0" u="none" strike="noStrike" cap="none" normalizeH="0" baseline="0" dirty="0">
                <a:ln>
                  <a:noFill/>
                </a:ln>
                <a:solidFill>
                  <a:schemeClr val="tx1"/>
                </a:solidFill>
                <a:effectLst/>
              </a:rPr>
            </a:br>
            <a:r>
              <a:rPr kumimoji="0" lang="en-US" altLang="ko-KR" b="0" i="0" u="none" strike="noStrike" cap="none" normalizeH="0" baseline="0" dirty="0">
                <a:ln>
                  <a:noFill/>
                </a:ln>
                <a:solidFill>
                  <a:schemeClr val="tx1"/>
                </a:solidFill>
                <a:effectLst/>
              </a:rPr>
              <a:t>   </a:t>
            </a:r>
            <a:r>
              <a:rPr kumimoji="0" lang="ko-KR" altLang="ko-KR" b="0" i="0" u="none" strike="noStrike" cap="none" normalizeH="0" baseline="0" dirty="0">
                <a:ln>
                  <a:noFill/>
                </a:ln>
                <a:solidFill>
                  <a:schemeClr val="tx1"/>
                </a:solidFill>
                <a:effectLst/>
              </a:rPr>
              <a:t>해당 </a:t>
            </a:r>
            <a:r>
              <a:rPr kumimoji="0" lang="ko-KR" altLang="ko-KR" b="0" i="0" u="none" strike="noStrike" cap="none" normalizeH="0" baseline="0" dirty="0" err="1">
                <a:ln>
                  <a:noFill/>
                </a:ln>
                <a:solidFill>
                  <a:schemeClr val="tx1"/>
                </a:solidFill>
                <a:effectLst/>
              </a:rPr>
              <a:t>URL을</a:t>
            </a:r>
            <a:r>
              <a:rPr kumimoji="0" lang="ko-KR" altLang="ko-KR" b="0" i="0" u="none" strike="noStrike" cap="none" normalizeH="0" baseline="0" dirty="0">
                <a:ln>
                  <a:noFill/>
                </a:ln>
                <a:solidFill>
                  <a:schemeClr val="tx1"/>
                </a:solidFill>
                <a:effectLst/>
              </a:rPr>
              <a:t> 기반으로 </a:t>
            </a:r>
            <a:r>
              <a:rPr kumimoji="0" lang="ko-KR" altLang="ko-KR" b="0" i="0" u="none" strike="noStrike" cap="none" normalizeH="0" baseline="0" dirty="0" err="1">
                <a:ln>
                  <a:noFill/>
                </a:ln>
                <a:solidFill>
                  <a:schemeClr val="tx1"/>
                </a:solidFill>
                <a:effectLst/>
              </a:rPr>
              <a:t>ESP는</a:t>
            </a:r>
            <a:r>
              <a:rPr kumimoji="0" lang="ko-KR" altLang="ko-KR" b="0" i="0" u="none" strike="noStrike" cap="none" normalizeH="0" baseline="0" dirty="0">
                <a:ln>
                  <a:noFill/>
                </a:ln>
                <a:solidFill>
                  <a:schemeClr val="tx1"/>
                </a:solidFill>
                <a:effectLst/>
              </a:rPr>
              <a:t> GPIO 2의 상태를 1(HIGH)로 변경하고 </a:t>
            </a:r>
            <a:r>
              <a:rPr kumimoji="0" lang="ko-KR" altLang="ko-KR" b="0" i="0" u="none" strike="noStrike" cap="none" normalizeH="0" baseline="0" dirty="0" err="1">
                <a:ln>
                  <a:noFill/>
                </a:ln>
                <a:solidFill>
                  <a:schemeClr val="tx1"/>
                </a:solidFill>
                <a:effectLst/>
              </a:rPr>
              <a:t>LED를</a:t>
            </a:r>
            <a:r>
              <a:rPr kumimoji="0" lang="ko-KR" altLang="ko-KR" b="0" i="0" u="none" strike="noStrike" cap="none" normalizeH="0" baseline="0" dirty="0">
                <a:ln>
                  <a:noFill/>
                </a:ln>
                <a:solidFill>
                  <a:schemeClr val="tx1"/>
                </a:solidFill>
                <a:effectLst/>
              </a:rPr>
              <a:t> </a:t>
            </a:r>
            <a:r>
              <a:rPr kumimoji="0" lang="ko-KR" altLang="en-US" b="0" i="0" u="none" strike="noStrike" cap="none" normalizeH="0" baseline="0" dirty="0">
                <a:ln>
                  <a:noFill/>
                </a:ln>
                <a:solidFill>
                  <a:schemeClr val="tx1"/>
                </a:solidFill>
                <a:effectLst/>
              </a:rPr>
              <a:t>켠</a:t>
            </a:r>
            <a:r>
              <a:rPr kumimoji="0" lang="ko-KR" altLang="ko-KR" b="0" i="0" u="none" strike="noStrike" cap="none" normalizeH="0" baseline="0" dirty="0">
                <a:ln>
                  <a:noFill/>
                </a:ln>
                <a:solidFill>
                  <a:schemeClr val="tx1"/>
                </a:solidFill>
                <a:effectLst/>
              </a:rPr>
              <a:t>다.</a:t>
            </a:r>
            <a:br>
              <a:rPr kumimoji="0" lang="en-US" altLang="ko-KR" b="0" i="0" u="none" strike="noStrike" cap="none" normalizeH="0" baseline="0" dirty="0">
                <a:ln>
                  <a:noFill/>
                </a:ln>
                <a:solidFill>
                  <a:schemeClr val="tx1"/>
                </a:solidFill>
                <a:effectLst/>
              </a:rPr>
            </a:b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AutoNum type="arabicPeriod" startAt="2"/>
              <a:tabLst/>
            </a:pPr>
            <a:r>
              <a:rPr kumimoji="0" lang="ko-KR" altLang="ko-KR" sz="1800" b="1" i="0" u="none" strike="noStrike" cap="none" normalizeH="0" baseline="0" dirty="0">
                <a:ln>
                  <a:noFill/>
                </a:ln>
                <a:solidFill>
                  <a:schemeClr val="tx1"/>
                </a:solidFill>
                <a:effectLst/>
                <a:latin typeface="Arial" panose="020B0604020202020204" pitchFamily="34" charset="0"/>
              </a:rPr>
              <a:t>두 번째 시나리오</a:t>
            </a:r>
            <a:r>
              <a:rPr kumimoji="0" lang="ko-KR" altLang="ko-KR" sz="1800" b="0" i="0" u="none" strike="noStrike" cap="none" normalizeH="0" baseline="0" dirty="0">
                <a:ln>
                  <a:noFill/>
                </a:ln>
                <a:solidFill>
                  <a:schemeClr val="tx1"/>
                </a:solidFill>
                <a:effectLst/>
                <a:latin typeface="Arial" panose="020B0604020202020204" pitchFamily="34" charset="0"/>
              </a:rPr>
              <a:t>: 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토글하여</a:t>
            </a:r>
            <a:r>
              <a:rPr kumimoji="0" lang="ko-KR" altLang="ko-KR" sz="1800" b="0" i="0" u="none" strike="noStrike" cap="none" normalizeH="0" baseline="0" dirty="0">
                <a:ln>
                  <a:noFill/>
                </a:ln>
                <a:solidFill>
                  <a:schemeClr val="tx1"/>
                </a:solidFill>
                <a:effectLst/>
                <a:latin typeface="Arial" panose="020B0604020202020204" pitchFamily="34" charset="0"/>
              </a:rPr>
              <a:t> GPIO 2</a:t>
            </a:r>
            <a:r>
              <a:rPr kumimoji="0" lang="en-US" altLang="ko-KR" sz="1800" b="0" i="0" u="none" strike="noStrike" cap="none" normalizeH="0" baseline="0" dirty="0">
                <a:ln>
                  <a:noFill/>
                </a:ln>
                <a:solidFill>
                  <a:schemeClr val="tx1"/>
                </a:solidFill>
                <a:effectLst/>
                <a:latin typeface="Arial" panose="020B0604020202020204" pitchFamily="34" charset="0"/>
              </a:rPr>
              <a:t> turn off</a:t>
            </a:r>
            <a:r>
              <a:rPr kumimoji="0" lang="ko-KR" altLang="ko-KR" sz="1800" b="0" i="0" u="none" strike="noStrike" cap="none" normalizeH="0" baseline="0" dirty="0">
                <a:ln>
                  <a:noFill/>
                </a:ln>
                <a:solidFill>
                  <a:schemeClr val="tx1"/>
                </a:solidFill>
                <a:effectLst/>
                <a:latin typeface="Arial" panose="020B0604020202020204" pitchFamily="34" charset="0"/>
              </a:rPr>
              <a:t>. </a:t>
            </a:r>
            <a:br>
              <a:rPr kumimoji="0" lang="en-US" altLang="ko-KR" sz="1800" b="0" i="0" u="none" strike="noStrike" cap="none" normalizeH="0" baseline="0" dirty="0">
                <a:ln>
                  <a:noFill/>
                </a:ln>
                <a:solidFill>
                  <a:schemeClr val="tx1"/>
                </a:solidFill>
                <a:effectLst/>
                <a:latin typeface="Arial" panose="020B0604020202020204" pitchFamily="34" charset="0"/>
              </a:rPr>
            </a:b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a:ln>
                  <a:noFill/>
                </a:ln>
                <a:solidFill>
                  <a:schemeClr val="tx1"/>
                </a:solidFill>
                <a:effectLst/>
                <a:latin typeface="Arial" panose="020B0604020202020204" pitchFamily="34" charset="0"/>
              </a:rPr>
              <a:t>이 경우 브라우저는 </a:t>
            </a:r>
            <a:r>
              <a:rPr kumimoji="0" lang="ko-KR" altLang="ko-KR" b="0" i="0" u="none" strike="noStrike" cap="none" normalizeH="0" baseline="0" dirty="0">
                <a:ln>
                  <a:noFill/>
                </a:ln>
                <a:solidFill>
                  <a:schemeClr val="tx1"/>
                </a:solidFill>
                <a:effectLst/>
                <a:latin typeface="Arial Unicode MS"/>
              </a:rPr>
              <a:t>/</a:t>
            </a:r>
            <a:r>
              <a:rPr kumimoji="0" lang="ko-KR" altLang="ko-KR" b="0" i="0" u="none" strike="noStrike" cap="none" normalizeH="0" baseline="0" dirty="0" err="1">
                <a:ln>
                  <a:noFill/>
                </a:ln>
                <a:solidFill>
                  <a:schemeClr val="tx1"/>
                </a:solidFill>
                <a:effectLst/>
                <a:latin typeface="Arial Unicode MS"/>
              </a:rPr>
              <a:t>update?output</a:t>
            </a:r>
            <a:r>
              <a:rPr kumimoji="0" lang="ko-KR" altLang="ko-KR" b="0" i="0" u="none" strike="noStrike" cap="none" normalizeH="0" baseline="0" dirty="0">
                <a:ln>
                  <a:noFill/>
                </a:ln>
                <a:solidFill>
                  <a:schemeClr val="tx1"/>
                </a:solidFill>
                <a:effectLst/>
                <a:latin typeface="Arial Unicode MS"/>
              </a:rPr>
              <a:t>=2&amp;state=0</a:t>
            </a:r>
            <a:r>
              <a:rPr kumimoji="0" lang="ko-KR" altLang="ko-KR" b="0" i="0" u="none" strike="noStrike" cap="none" normalizeH="0" baseline="0" dirty="0">
                <a:ln>
                  <a:noFill/>
                </a:ln>
                <a:solidFill>
                  <a:schemeClr val="tx1"/>
                </a:solidFill>
                <a:effectLst/>
              </a:rPr>
              <a:t> </a:t>
            </a:r>
            <a:r>
              <a:rPr kumimoji="0" lang="ko-KR" altLang="ko-KR" b="0" i="0" u="none" strike="noStrike" cap="none" normalizeH="0" baseline="0" dirty="0" err="1">
                <a:ln>
                  <a:noFill/>
                </a:ln>
                <a:solidFill>
                  <a:schemeClr val="tx1"/>
                </a:solidFill>
                <a:effectLst/>
              </a:rPr>
              <a:t>URL로</a:t>
            </a:r>
            <a:r>
              <a:rPr kumimoji="0" lang="ko-KR" altLang="ko-KR" b="0" i="0" u="none" strike="noStrike" cap="none" normalizeH="0" baseline="0" dirty="0">
                <a:ln>
                  <a:noFill/>
                </a:ln>
                <a:solidFill>
                  <a:schemeClr val="tx1"/>
                </a:solidFill>
                <a:effectLst/>
              </a:rPr>
              <a:t> HTTP GET 요청을 보</a:t>
            </a:r>
            <a:r>
              <a:rPr lang="ko-KR" altLang="en-US" dirty="0"/>
              <a:t>낸</a:t>
            </a:r>
            <a:r>
              <a:rPr kumimoji="0" lang="ko-KR" altLang="ko-KR" b="0" i="0" u="none" strike="noStrike" cap="none" normalizeH="0" baseline="0" dirty="0">
                <a:ln>
                  <a:noFill/>
                </a:ln>
                <a:solidFill>
                  <a:schemeClr val="tx1"/>
                </a:solidFill>
                <a:effectLst/>
              </a:rPr>
              <a:t>다. </a:t>
            </a:r>
            <a:br>
              <a:rPr kumimoji="0" lang="en-US" altLang="ko-KR" b="0" i="0" u="none" strike="noStrike" cap="none" normalizeH="0" baseline="0" dirty="0">
                <a:ln>
                  <a:noFill/>
                </a:ln>
                <a:solidFill>
                  <a:schemeClr val="tx1"/>
                </a:solidFill>
                <a:effectLst/>
              </a:rPr>
            </a:br>
            <a:r>
              <a:rPr kumimoji="0" lang="en-US" altLang="ko-KR" b="0" i="0" u="none" strike="noStrike" cap="none" normalizeH="0" baseline="0" dirty="0">
                <a:ln>
                  <a:noFill/>
                </a:ln>
                <a:solidFill>
                  <a:schemeClr val="tx1"/>
                </a:solidFill>
                <a:effectLst/>
              </a:rPr>
              <a:t>  </a:t>
            </a:r>
            <a:r>
              <a:rPr kumimoji="0" lang="ko-KR" altLang="ko-KR" b="0" i="0" u="none" strike="noStrike" cap="none" normalizeH="0" baseline="0" dirty="0">
                <a:ln>
                  <a:noFill/>
                </a:ln>
                <a:solidFill>
                  <a:schemeClr val="tx1"/>
                </a:solidFill>
                <a:effectLst/>
              </a:rPr>
              <a:t>해당 </a:t>
            </a:r>
            <a:r>
              <a:rPr kumimoji="0" lang="ko-KR" altLang="ko-KR" b="0" i="0" u="none" strike="noStrike" cap="none" normalizeH="0" baseline="0" dirty="0" err="1">
                <a:ln>
                  <a:noFill/>
                </a:ln>
                <a:solidFill>
                  <a:schemeClr val="tx1"/>
                </a:solidFill>
                <a:effectLst/>
              </a:rPr>
              <a:t>URL을</a:t>
            </a:r>
            <a:r>
              <a:rPr kumimoji="0" lang="ko-KR" altLang="ko-KR" b="0" i="0" u="none" strike="noStrike" cap="none" normalizeH="0" baseline="0" dirty="0">
                <a:ln>
                  <a:noFill/>
                </a:ln>
                <a:solidFill>
                  <a:schemeClr val="tx1"/>
                </a:solidFill>
                <a:effectLst/>
              </a:rPr>
              <a:t> 기반으로 GPIO 2의 상태를 0(LOW)로 변경하고 </a:t>
            </a:r>
            <a:r>
              <a:rPr kumimoji="0" lang="ko-KR" altLang="ko-KR" b="0" i="0" u="none" strike="noStrike" cap="none" normalizeH="0" baseline="0" dirty="0" err="1">
                <a:ln>
                  <a:noFill/>
                </a:ln>
                <a:solidFill>
                  <a:schemeClr val="tx1"/>
                </a:solidFill>
                <a:effectLst/>
              </a:rPr>
              <a:t>LED를</a:t>
            </a:r>
            <a:r>
              <a:rPr kumimoji="0" lang="ko-KR" altLang="ko-KR" b="0" i="0" u="none" strike="noStrike" cap="none" normalizeH="0" baseline="0" dirty="0">
                <a:ln>
                  <a:noFill/>
                </a:ln>
                <a:solidFill>
                  <a:schemeClr val="tx1"/>
                </a:solidFill>
                <a:effectLst/>
              </a:rPr>
              <a:t> </a:t>
            </a:r>
            <a:r>
              <a:rPr kumimoji="0" lang="ko-KR" altLang="en-US" b="0" i="0" u="none" strike="noStrike" cap="none" normalizeH="0" baseline="0" dirty="0">
                <a:ln>
                  <a:noFill/>
                </a:ln>
                <a:solidFill>
                  <a:schemeClr val="tx1"/>
                </a:solidFill>
                <a:effectLst/>
              </a:rPr>
              <a:t>끈</a:t>
            </a:r>
            <a:r>
              <a:rPr kumimoji="0" lang="ko-KR" altLang="ko-KR" b="0" i="0" u="none" strike="noStrike" cap="none" normalizeH="0" baseline="0" dirty="0">
                <a:ln>
                  <a:noFill/>
                </a:ln>
                <a:solidFill>
                  <a:schemeClr val="tx1"/>
                </a:solidFill>
                <a:effectLst/>
              </a:rPr>
              <a:t>다.</a:t>
            </a: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05830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3CA72-8824-E5D5-4C3E-49529EA8845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414BE81-2D59-77C2-C1D1-6EF4102CC699}"/>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1/5</a:t>
            </a:r>
            <a:endParaRPr lang="ko-KR" altLang="en-US" sz="2000" b="1" dirty="0">
              <a:solidFill>
                <a:schemeClr val="tx1"/>
              </a:solidFill>
            </a:endParaRPr>
          </a:p>
        </p:txBody>
      </p:sp>
      <p:sp>
        <p:nvSpPr>
          <p:cNvPr id="4" name="TextBox 3">
            <a:extLst>
              <a:ext uri="{FF2B5EF4-FFF2-40B4-BE49-F238E27FC236}">
                <a16:creationId xmlns:a16="http://schemas.microsoft.com/office/drawing/2014/main" id="{3C00A68F-7231-1471-5561-555A4B0202A1}"/>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5" name="Rectangle 1">
            <a:extLst>
              <a:ext uri="{FF2B5EF4-FFF2-40B4-BE49-F238E27FC236}">
                <a16:creationId xmlns:a16="http://schemas.microsoft.com/office/drawing/2014/main" id="{4321A89B-455C-1232-BD87-DBD2A08455AB}"/>
              </a:ext>
            </a:extLst>
          </p:cNvPr>
          <p:cNvSpPr>
            <a:spLocks noChangeArrowheads="1"/>
          </p:cNvSpPr>
          <p:nvPr/>
        </p:nvSpPr>
        <p:spPr bwMode="auto">
          <a:xfrm>
            <a:off x="203200" y="839824"/>
            <a:ext cx="6126677" cy="38181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AsyncTCP.h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PARAM_INPUT_1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PARAM_INPUT_2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AsyncWebServer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80</a:t>
            </a:r>
            <a:endParaRPr kumimoji="0" lang="en-US" altLang="ko-KR" sz="1600" b="0" i="0" u="none" strike="noStrike" cap="none" normalizeH="0" baseline="0" dirty="0">
              <a:ln>
                <a:noFill/>
              </a:ln>
              <a:solidFill>
                <a:srgbClr val="70809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744683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EAE9F-5534-4F79-0111-116CC894788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41F8D11-B699-43DF-8405-447697D08017}"/>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2/5</a:t>
            </a:r>
            <a:endParaRPr lang="ko-KR" altLang="en-US" sz="2000" b="1" dirty="0">
              <a:solidFill>
                <a:schemeClr val="tx1"/>
              </a:solidFill>
            </a:endParaRPr>
          </a:p>
        </p:txBody>
      </p:sp>
      <p:sp>
        <p:nvSpPr>
          <p:cNvPr id="4" name="TextBox 3">
            <a:extLst>
              <a:ext uri="{FF2B5EF4-FFF2-40B4-BE49-F238E27FC236}">
                <a16:creationId xmlns:a16="http://schemas.microsoft.com/office/drawing/2014/main" id="{310D7E36-5CFF-C130-840B-9E52BC48B0C7}"/>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5F0A2220-2CEB-1C38-3047-E5FF2EDC3317}"/>
              </a:ext>
            </a:extLst>
          </p:cNvPr>
          <p:cNvSpPr>
            <a:spLocks noChangeArrowheads="1"/>
          </p:cNvSpPr>
          <p:nvPr/>
        </p:nvSpPr>
        <p:spPr bwMode="auto">
          <a:xfrm>
            <a:off x="0" y="674724"/>
            <a:ext cx="12192000" cy="5821915"/>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PROGMEM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a:t>
            </a:r>
            <a:r>
              <a:rPr kumimoji="0" lang="ko-KR" altLang="ko-KR" sz="1600" b="0" i="0" u="none" strike="noStrike" cap="none" normalizeH="0" baseline="0" dirty="0" err="1">
                <a:ln>
                  <a:noFill/>
                </a:ln>
                <a:solidFill>
                  <a:srgbClr val="DD4A68"/>
                </a:solidFill>
                <a:effectLst/>
                <a:latin typeface="Consolas" panose="020B0609020204030204" pitchFamily="49" charset="0"/>
              </a:rPr>
              <a:t>rawliteral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DOCTYPE HTML</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title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 </a:t>
            </a:r>
            <a:r>
              <a:rPr kumimoji="0" lang="ko-KR" altLang="ko-KR" sz="1600" b="0" i="0" u="none" strike="noStrike" cap="none" normalizeH="0" baseline="0" dirty="0" err="1">
                <a:ln>
                  <a:noFill/>
                </a:ln>
                <a:solidFill>
                  <a:srgbClr val="000000"/>
                </a:solidFill>
                <a:effectLst/>
                <a:latin typeface="Consolas" panose="020B0609020204030204" pitchFamily="49" charset="0"/>
              </a:rPr>
              <a:t>Web</a:t>
            </a:r>
            <a:r>
              <a:rPr kumimoji="0" lang="ko-KR" altLang="ko-KR" sz="1600" b="0" i="0" u="none" strike="noStrike" cap="none" normalizeH="0" baseline="0" dirty="0">
                <a:ln>
                  <a:noFill/>
                </a:ln>
                <a:solidFill>
                  <a:srgbClr val="000000"/>
                </a:solidFill>
                <a:effectLst/>
                <a:latin typeface="Consolas" panose="020B0609020204030204" pitchFamily="49" charset="0"/>
              </a:rPr>
              <a:t> Server</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title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viewport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content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width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device-width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initial-scale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link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rel</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icon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href</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data</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family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Arial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h2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max</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600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err="1">
                <a:ln>
                  <a:noFill/>
                </a:ln>
                <a:solidFill>
                  <a:srgbClr val="0077AA"/>
                </a:solidFill>
                <a:effectLst/>
                <a:latin typeface="Consolas" panose="020B0609020204030204" pitchFamily="49" charset="0"/>
              </a:rPr>
              <a:t>auto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25</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position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relative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height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68</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slider</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position</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absolute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top</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left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right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bottom</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background</a:t>
            </a:r>
            <a:r>
              <a:rPr kumimoji="0" lang="ko-KR" altLang="ko-KR" sz="1400" b="0" i="0" u="none" strike="noStrike" cap="none" normalizeH="0" baseline="0" dirty="0" err="1">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color</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#ccc</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border</a:t>
            </a:r>
            <a:r>
              <a:rPr kumimoji="0" lang="ko-KR" altLang="ko-KR" sz="1400" b="0" i="0" u="none" strike="noStrike" cap="none" normalizeH="0" baseline="0" dirty="0" err="1">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radius</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6</a:t>
            </a:r>
            <a:r>
              <a:rPr kumimoji="0" lang="ko-KR" altLang="ko-KR" sz="1400" b="0" i="0" u="none" strike="noStrike" cap="none" normalizeH="0" baseline="0" dirty="0">
                <a:ln>
                  <a:noFill/>
                </a:ln>
                <a:solidFill>
                  <a:srgbClr val="000000"/>
                </a:solidFill>
                <a:effectLst/>
                <a:latin typeface="Consolas" panose="020B0609020204030204" pitchFamily="49" charset="0"/>
              </a:rPr>
              <a:t>px</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800" dirty="0">
                <a:solidFill>
                  <a:srgbClr val="000000"/>
                </a:solidFill>
                <a:latin typeface="Consolas" panose="020B0609020204030204" pitchFamily="49" charset="0"/>
              </a:rPr>
              <a:t>            </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slider</a:t>
            </a:r>
            <a:r>
              <a:rPr kumimoji="0" lang="ko-KR" altLang="ko-KR" sz="1000" b="0" i="0" u="none" strike="noStrike" cap="none" normalizeH="0" baseline="0" dirty="0" err="1">
                <a:ln>
                  <a:noFill/>
                </a:ln>
                <a:solidFill>
                  <a:srgbClr val="9A6E3A"/>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before</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position</a:t>
            </a:r>
            <a:r>
              <a:rPr kumimoji="0" lang="ko-KR" altLang="ko-KR" sz="1000" b="0" i="0" u="none" strike="noStrike" cap="none" normalizeH="0" baseline="0" dirty="0">
                <a:ln>
                  <a:noFill/>
                </a:ln>
                <a:solidFill>
                  <a:srgbClr val="9A6E3A"/>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err="1">
                <a:ln>
                  <a:noFill/>
                </a:ln>
                <a:solidFill>
                  <a:srgbClr val="000000"/>
                </a:solidFill>
                <a:effectLst/>
                <a:latin typeface="Consolas" panose="020B0609020204030204" pitchFamily="49" charset="0"/>
              </a:rPr>
              <a:t>absolute</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err="1">
                <a:ln>
                  <a:noFill/>
                </a:ln>
                <a:solidFill>
                  <a:srgbClr val="000000"/>
                </a:solidFill>
                <a:effectLst/>
                <a:latin typeface="Consolas" panose="020B0609020204030204" pitchFamily="49" charset="0"/>
              </a:rPr>
              <a:t>content</a:t>
            </a:r>
            <a:r>
              <a:rPr kumimoji="0" lang="ko-KR" altLang="ko-KR" sz="1000" b="0" i="0" u="none" strike="noStrike" cap="none" normalizeH="0" baseline="0" dirty="0">
                <a:ln>
                  <a:noFill/>
                </a:ln>
                <a:solidFill>
                  <a:srgbClr val="9A6E3A"/>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669900"/>
                </a:solidFill>
                <a:effectLst/>
                <a:latin typeface="Consolas" panose="020B0609020204030204" pitchFamily="49" charset="0"/>
              </a:rPr>
              <a:t>""</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height</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52</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width</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52</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left</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8</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bottom</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8</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background</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color</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#fff</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webkit</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transition</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.4</a:t>
            </a:r>
            <a:r>
              <a:rPr kumimoji="0" lang="ko-KR" altLang="ko-KR" sz="800" b="0" i="0" u="none" strike="noStrike" cap="none" normalizeH="0" baseline="0" dirty="0">
                <a:ln>
                  <a:noFill/>
                </a:ln>
                <a:solidFill>
                  <a:srgbClr val="000000"/>
                </a:solidFill>
                <a:effectLst/>
                <a:latin typeface="Consolas" panose="020B0609020204030204" pitchFamily="49" charset="0"/>
              </a:rPr>
              <a:t>s</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transition</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.4</a:t>
            </a:r>
            <a:r>
              <a:rPr kumimoji="0" lang="ko-KR" altLang="ko-KR" sz="800" b="0" i="0" u="none" strike="noStrike" cap="none" normalizeH="0" baseline="0" dirty="0">
                <a:ln>
                  <a:noFill/>
                </a:ln>
                <a:solidFill>
                  <a:srgbClr val="000000"/>
                </a:solidFill>
                <a:effectLst/>
                <a:latin typeface="Consolas" panose="020B0609020204030204" pitchFamily="49" charset="0"/>
              </a:rPr>
              <a:t>s</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border</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radius</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3</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endParaRPr kumimoji="0" lang="en-US" altLang="ko-KR" sz="8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checked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slider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#b30000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checked</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slider</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before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webkit</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ms</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02044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F96B-0EEE-DE54-B50E-F639FE57F6B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6BB04A2-F07B-3346-46BF-897E1FA4C210}"/>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3/5</a:t>
            </a:r>
            <a:endParaRPr lang="ko-KR" altLang="en-US" sz="2000" b="1" dirty="0">
              <a:solidFill>
                <a:schemeClr val="tx1"/>
              </a:solidFill>
            </a:endParaRPr>
          </a:p>
        </p:txBody>
      </p:sp>
      <p:sp>
        <p:nvSpPr>
          <p:cNvPr id="4" name="TextBox 3">
            <a:extLst>
              <a:ext uri="{FF2B5EF4-FFF2-40B4-BE49-F238E27FC236}">
                <a16:creationId xmlns:a16="http://schemas.microsoft.com/office/drawing/2014/main" id="{DD2172FF-DDA4-1A1F-BDD6-3F3AA6957E3A}"/>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30EAC7BE-763D-3C7E-0DD0-77B90491D780}"/>
              </a:ext>
            </a:extLst>
          </p:cNvPr>
          <p:cNvSpPr>
            <a:spLocks noChangeArrowheads="1"/>
          </p:cNvSpPr>
          <p:nvPr/>
        </p:nvSpPr>
        <p:spPr bwMode="auto">
          <a:xfrm>
            <a:off x="25400" y="712824"/>
            <a:ext cx="10278455" cy="411952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 </a:t>
            </a:r>
            <a:r>
              <a:rPr kumimoji="0" lang="ko-KR" altLang="ko-KR" sz="1600" b="0" i="0" u="none" strike="noStrike" cap="none" normalizeH="0" baseline="0" dirty="0" err="1">
                <a:ln>
                  <a:noFill/>
                </a:ln>
                <a:solidFill>
                  <a:srgbClr val="000000"/>
                </a:solidFill>
                <a:effectLst/>
                <a:latin typeface="Consolas" panose="020B0609020204030204" pitchFamily="49" charset="0"/>
              </a:rPr>
              <a:t>Web</a:t>
            </a:r>
            <a:r>
              <a:rPr kumimoji="0" lang="ko-KR" altLang="ko-KR" sz="1600" b="0" i="0" u="none" strike="noStrike" cap="none" normalizeH="0" baseline="0" dirty="0">
                <a:ln>
                  <a:noFill/>
                </a:ln>
                <a:solidFill>
                  <a:srgbClr val="000000"/>
                </a:solidFill>
                <a:effectLst/>
                <a:latin typeface="Consolas" panose="020B0609020204030204" pitchFamily="49" charset="0"/>
              </a:rPr>
              <a:t> Server</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BUTTONPLACEHOLDER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toggleCheckbox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new</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XMLHttpRequest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checked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update?output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"&amp;</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update?output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"&amp;</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rawliteral</a:t>
            </a:r>
            <a:r>
              <a:rPr kumimoji="0" lang="ko-KR" altLang="ko-KR" sz="1600" b="0" i="0" u="none" strike="noStrike" cap="none" normalizeH="0" baseline="0" dirty="0">
                <a:ln>
                  <a:noFill/>
                </a:ln>
                <a:solidFill>
                  <a:srgbClr val="0000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40721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995DE-638E-5802-BA65-1656165A49B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A800526-6045-8BD6-A169-4FF9ED590AD6}"/>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4/5</a:t>
            </a:r>
            <a:endParaRPr lang="ko-KR" altLang="en-US" sz="2000" b="1" dirty="0">
              <a:solidFill>
                <a:schemeClr val="tx1"/>
              </a:solidFill>
            </a:endParaRPr>
          </a:p>
        </p:txBody>
      </p:sp>
      <p:sp>
        <p:nvSpPr>
          <p:cNvPr id="4" name="TextBox 3">
            <a:extLst>
              <a:ext uri="{FF2B5EF4-FFF2-40B4-BE49-F238E27FC236}">
                <a16:creationId xmlns:a16="http://schemas.microsoft.com/office/drawing/2014/main" id="{7DF673E6-C982-67C8-31DF-0C589A3D64CE}"/>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D4E3CEB2-5529-CB4A-0427-F9730599B8ED}"/>
              </a:ext>
            </a:extLst>
          </p:cNvPr>
          <p:cNvSpPr>
            <a:spLocks noChangeArrowheads="1"/>
          </p:cNvSpPr>
          <p:nvPr/>
        </p:nvSpPr>
        <p:spPr bwMode="auto">
          <a:xfrm>
            <a:off x="82026" y="729113"/>
            <a:ext cx="11985974" cy="60559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Replaces</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placeholder</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with</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button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section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in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your</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web</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page</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const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9A6E3A"/>
                </a:solidFill>
                <a:effectLst/>
                <a:latin typeface="Consolas" panose="020B0609020204030204" pitchFamily="49" charset="0"/>
              </a:rPr>
              <a:t>&amp;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var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err="1">
                <a:ln>
                  <a:noFill/>
                </a:ln>
                <a:solidFill>
                  <a:srgbClr val="708090"/>
                </a:solidFill>
                <a:effectLst/>
                <a:latin typeface="Consolas" panose="020B0609020204030204" pitchFamily="49" charset="0"/>
              </a:rPr>
              <a:t>Serial.println</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err="1">
                <a:ln>
                  <a:noFill/>
                </a:ln>
                <a:solidFill>
                  <a:srgbClr val="708090"/>
                </a:solidFill>
                <a:effectLst/>
                <a:latin typeface="Consolas" panose="020B0609020204030204" pitchFamily="49" charset="0"/>
              </a:rPr>
              <a:t>var</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var</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"BUTTONPLACEHOLDER"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2&lt;/h4&gt;&lt;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=\"2\"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2</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4&lt;/h4&gt;&lt;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=\"4\"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4</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33&lt;/h4&gt;&lt;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=\"33\"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33</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int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digitalRead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checked</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else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972510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EF05-BDB4-B91D-37F1-EE2660B88E8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C4B426F-2686-A811-828B-A271D19518A3}"/>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5/5</a:t>
            </a:r>
            <a:endParaRPr lang="ko-KR" altLang="en-US" sz="2000" b="1" dirty="0">
              <a:solidFill>
                <a:schemeClr val="tx1"/>
              </a:solidFill>
            </a:endParaRPr>
          </a:p>
        </p:txBody>
      </p:sp>
      <p:sp>
        <p:nvSpPr>
          <p:cNvPr id="4" name="TextBox 3">
            <a:extLst>
              <a:ext uri="{FF2B5EF4-FFF2-40B4-BE49-F238E27FC236}">
                <a16:creationId xmlns:a16="http://schemas.microsoft.com/office/drawing/2014/main" id="{5852DDF4-93EF-0BC2-CFC0-1B30892DF0ED}"/>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794C885F-241C-C27B-65F4-95ECE341672C}"/>
              </a:ext>
            </a:extLst>
          </p:cNvPr>
          <p:cNvSpPr>
            <a:spLocks noChangeArrowheads="1"/>
          </p:cNvSpPr>
          <p:nvPr/>
        </p:nvSpPr>
        <p:spPr bwMode="auto">
          <a:xfrm>
            <a:off x="104438" y="735955"/>
            <a:ext cx="10294806" cy="60939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182563" marR="0" lvl="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0077AA"/>
                </a:solidFill>
                <a:effectLst/>
                <a:latin typeface="Consolas" panose="020B0609020204030204" pitchFamily="49" charset="0"/>
              </a:rPr>
              <a:t>void</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setup</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999999"/>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115200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4</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4</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33</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33</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endParaRPr lang="en-US" altLang="ko-KR" sz="1200" dirty="0">
              <a:solidFill>
                <a:srgbClr val="000000"/>
              </a:solidFill>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ssid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password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while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status</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WL_CONNECTED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delay</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1000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Connecting</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to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WiFi</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localIP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on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HTTP_GET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send_P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text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html</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index_html</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processor</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999999"/>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Send</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a</a:t>
            </a:r>
            <a:r>
              <a:rPr kumimoji="0" lang="ko-KR" altLang="ko-KR" sz="1200" b="0" i="0" u="none" strike="noStrike" cap="none" normalizeH="0" baseline="0" dirty="0">
                <a:ln>
                  <a:noFill/>
                </a:ln>
                <a:solidFill>
                  <a:srgbClr val="708090"/>
                </a:solidFill>
                <a:effectLst/>
                <a:latin typeface="Consolas" panose="020B0609020204030204" pitchFamily="49" charset="0"/>
              </a:rPr>
              <a:t> GET </a:t>
            </a:r>
            <a:r>
              <a:rPr kumimoji="0" lang="ko-KR" altLang="ko-KR" sz="1200" b="0" i="0" u="none" strike="noStrike" cap="none" normalizeH="0" baseline="0" dirty="0" err="1">
                <a:ln>
                  <a:noFill/>
                </a:ln>
                <a:solidFill>
                  <a:srgbClr val="708090"/>
                </a:solidFill>
                <a:effectLst/>
                <a:latin typeface="Consolas" panose="020B0609020204030204" pitchFamily="49" charset="0"/>
              </a:rPr>
              <a:t>request</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to</a:t>
            </a:r>
            <a:r>
              <a:rPr kumimoji="0" lang="ko-KR" altLang="ko-KR" sz="1200" b="0" i="0" u="none" strike="noStrike" cap="none" normalizeH="0" baseline="0" dirty="0">
                <a:ln>
                  <a:noFill/>
                </a:ln>
                <a:solidFill>
                  <a:srgbClr val="708090"/>
                </a:solidFill>
                <a:effectLst/>
                <a:latin typeface="Consolas" panose="020B0609020204030204" pitchFamily="49" charset="0"/>
              </a:rPr>
              <a:t> &lt;ESP_IP&gt;/</a:t>
            </a:r>
            <a:r>
              <a:rPr kumimoji="0" lang="ko-KR" altLang="ko-KR" sz="1200" b="0" i="0" u="none" strike="noStrike" cap="none" normalizeH="0" baseline="0" dirty="0" err="1">
                <a:ln>
                  <a:noFill/>
                </a:ln>
                <a:solidFill>
                  <a:srgbClr val="708090"/>
                </a:solidFill>
                <a:effectLst/>
                <a:latin typeface="Consolas" panose="020B0609020204030204" pitchFamily="49" charset="0"/>
              </a:rPr>
              <a:t>update?output</a:t>
            </a:r>
            <a:r>
              <a:rPr kumimoji="0" lang="ko-KR" altLang="ko-KR" sz="1200" b="0" i="0" u="none" strike="noStrike" cap="none" normalizeH="0" baseline="0" dirty="0">
                <a:ln>
                  <a:noFill/>
                </a:ln>
                <a:solidFill>
                  <a:srgbClr val="708090"/>
                </a:solidFill>
                <a:effectLst/>
                <a:latin typeface="Consolas" panose="020B0609020204030204" pitchFamily="49" charset="0"/>
              </a:rPr>
              <a:t>=&lt;inputMessage1&gt;&amp;</a:t>
            </a:r>
            <a:r>
              <a:rPr kumimoji="0" lang="ko-KR" altLang="ko-KR" sz="1200" b="0" i="0" u="none" strike="noStrike" cap="none" normalizeH="0" baseline="0" dirty="0" err="1">
                <a:ln>
                  <a:noFill/>
                </a:ln>
                <a:solidFill>
                  <a:srgbClr val="708090"/>
                </a:solidFill>
                <a:effectLst/>
                <a:latin typeface="Consolas" panose="020B0609020204030204" pitchFamily="49" charset="0"/>
              </a:rPr>
              <a:t>state</a:t>
            </a:r>
            <a:r>
              <a:rPr kumimoji="0" lang="ko-KR" altLang="ko-KR" sz="1200" b="0" i="0" u="none" strike="noStrike" cap="none" normalizeH="0" baseline="0" dirty="0">
                <a:ln>
                  <a:noFill/>
                </a:ln>
                <a:solidFill>
                  <a:srgbClr val="708090"/>
                </a:solidFill>
                <a:effectLst/>
                <a:latin typeface="Consolas" panose="020B0609020204030204" pitchFamily="49" charset="0"/>
              </a:rPr>
              <a:t>=&lt;inputMessage2&gt;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on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update</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HTTP_GET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String</a:t>
            </a:r>
            <a:r>
              <a:rPr kumimoji="0" lang="ko-KR" altLang="ko-KR" sz="1200" b="0" i="0" u="none" strike="noStrike" cap="none" normalizeH="0" baseline="0" dirty="0">
                <a:ln>
                  <a:noFill/>
                </a:ln>
                <a:solidFill>
                  <a:srgbClr val="000000"/>
                </a:solidFill>
                <a:effectLst/>
                <a:latin typeface="Consolas" panose="020B0609020204030204" pitchFamily="49" charset="0"/>
              </a:rPr>
              <a:t> 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String</a:t>
            </a:r>
            <a:r>
              <a:rPr kumimoji="0" lang="ko-KR" altLang="ko-KR" sz="1200" b="0" i="0" u="none" strike="noStrike" cap="none" normalizeH="0" baseline="0" dirty="0">
                <a:ln>
                  <a:noFill/>
                </a:ln>
                <a:solidFill>
                  <a:srgbClr val="000000"/>
                </a:solidFill>
                <a:effectLst/>
                <a:latin typeface="Consolas" panose="020B0609020204030204" pitchFamily="49" charset="0"/>
              </a:rPr>
              <a:t> 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GET input1 </a:t>
            </a:r>
            <a:r>
              <a:rPr kumimoji="0" lang="ko-KR" altLang="ko-KR" sz="1200" b="0" i="0" u="none" strike="noStrike" cap="none" normalizeH="0" baseline="0" dirty="0" err="1">
                <a:ln>
                  <a:noFill/>
                </a:ln>
                <a:solidFill>
                  <a:srgbClr val="708090"/>
                </a:solidFill>
                <a:effectLst/>
                <a:latin typeface="Consolas" panose="020B0609020204030204" pitchFamily="49" charset="0"/>
              </a:rPr>
              <a:t>value</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on</a:t>
            </a:r>
            <a:r>
              <a:rPr kumimoji="0" lang="ko-KR" altLang="ko-KR" sz="1200" b="0" i="0" u="none" strike="noStrike" cap="none" normalizeH="0" baseline="0" dirty="0">
                <a:ln>
                  <a:noFill/>
                </a:ln>
                <a:solidFill>
                  <a:srgbClr val="708090"/>
                </a:solidFill>
                <a:effectLst/>
                <a:latin typeface="Consolas" panose="020B0609020204030204" pitchFamily="49" charset="0"/>
              </a:rPr>
              <a:t> &lt;ESP_IP&gt;/</a:t>
            </a:r>
            <a:r>
              <a:rPr kumimoji="0" lang="ko-KR" altLang="ko-KR" sz="1200" b="0" i="0" u="none" strike="noStrike" cap="none" normalizeH="0" baseline="0" dirty="0" err="1">
                <a:ln>
                  <a:noFill/>
                </a:ln>
                <a:solidFill>
                  <a:srgbClr val="708090"/>
                </a:solidFill>
                <a:effectLst/>
                <a:latin typeface="Consolas" panose="020B0609020204030204" pitchFamily="49" charset="0"/>
              </a:rPr>
              <a:t>update?output</a:t>
            </a:r>
            <a:r>
              <a:rPr kumimoji="0" lang="ko-KR" altLang="ko-KR" sz="1200" b="0" i="0" u="none" strike="noStrike" cap="none" normalizeH="0" baseline="0" dirty="0">
                <a:ln>
                  <a:noFill/>
                </a:ln>
                <a:solidFill>
                  <a:srgbClr val="708090"/>
                </a:solidFill>
                <a:effectLst/>
                <a:latin typeface="Consolas" panose="020B0609020204030204" pitchFamily="49" charset="0"/>
              </a:rPr>
              <a:t>=&lt;inputMessage1&gt;&amp;</a:t>
            </a:r>
            <a:r>
              <a:rPr kumimoji="0" lang="ko-KR" altLang="ko-KR" sz="1200" b="0" i="0" u="none" strike="noStrike" cap="none" normalizeH="0" baseline="0" dirty="0" err="1">
                <a:ln>
                  <a:noFill/>
                </a:ln>
                <a:solidFill>
                  <a:srgbClr val="708090"/>
                </a:solidFill>
                <a:effectLst/>
                <a:latin typeface="Consolas" panose="020B0609020204030204" pitchFamily="49" charset="0"/>
              </a:rPr>
              <a:t>state</a:t>
            </a:r>
            <a:r>
              <a:rPr kumimoji="0" lang="ko-KR" altLang="ko-KR" sz="1200" b="0" i="0" u="none" strike="noStrike" cap="none" normalizeH="0" baseline="0" dirty="0">
                <a:ln>
                  <a:noFill/>
                </a:ln>
                <a:solidFill>
                  <a:srgbClr val="708090"/>
                </a:solidFill>
                <a:effectLst/>
                <a:latin typeface="Consolas" panose="020B0609020204030204" pitchFamily="49" charset="0"/>
              </a:rPr>
              <a:t>=&lt;inputMessage2&gt;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hasParam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&amp;&amp;</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hasParam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getParam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value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getParam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value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DD4A68"/>
                </a:solidFill>
                <a:effectLst/>
                <a:latin typeface="Consolas" panose="020B0609020204030204" pitchFamily="49" charset="0"/>
              </a:rPr>
              <a:t>toInt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DD4A68"/>
                </a:solidFill>
                <a:effectLst/>
                <a:latin typeface="Consolas" panose="020B0609020204030204" pitchFamily="49" charset="0"/>
              </a:rPr>
              <a:t>toInt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else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No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message</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sent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No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message</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sent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"GPIO: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 - </a:t>
            </a:r>
            <a:r>
              <a:rPr kumimoji="0" lang="ko-KR" altLang="ko-KR" sz="1200" b="0" i="0" u="none" strike="noStrike" cap="none" normalizeH="0" baseline="0" dirty="0" err="1">
                <a:ln>
                  <a:noFill/>
                </a:ln>
                <a:solidFill>
                  <a:srgbClr val="669900"/>
                </a:solidFill>
                <a:effectLst/>
                <a:latin typeface="Consolas" panose="020B0609020204030204" pitchFamily="49" charset="0"/>
              </a:rPr>
              <a:t>Set</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to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send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text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plain</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"OK"</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Start</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server</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0077AA"/>
                </a:solidFill>
                <a:effectLst/>
                <a:latin typeface="Consolas" panose="020B0609020204030204" pitchFamily="49" charset="0"/>
              </a:rPr>
              <a:t>void</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loop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chemeClr val="tx1"/>
                </a:solidFill>
                <a:effectLst/>
              </a:rPr>
              <a:t> </a:t>
            </a:r>
            <a:endParaRPr kumimoji="0" lang="ko-KR" altLang="ko-KR"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74990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428D2-1C45-F333-9EAC-A321562C29B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AA2906B-CE4D-C64E-03F5-09DD666C7052}"/>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sz="2000" b="1" dirty="0">
                <a:solidFill>
                  <a:schemeClr val="tx1"/>
                </a:solidFill>
              </a:rPr>
              <a:t>동 작</a:t>
            </a:r>
          </a:p>
        </p:txBody>
      </p:sp>
      <p:pic>
        <p:nvPicPr>
          <p:cNvPr id="5" name="그림 4">
            <a:extLst>
              <a:ext uri="{FF2B5EF4-FFF2-40B4-BE49-F238E27FC236}">
                <a16:creationId xmlns:a16="http://schemas.microsoft.com/office/drawing/2014/main" id="{BDEBD6B3-1CC0-0677-94E0-DECF42A8B237}"/>
              </a:ext>
            </a:extLst>
          </p:cNvPr>
          <p:cNvPicPr>
            <a:picLocks noChangeAspect="1"/>
          </p:cNvPicPr>
          <p:nvPr/>
        </p:nvPicPr>
        <p:blipFill>
          <a:blip r:embed="rId2"/>
          <a:stretch>
            <a:fillRect/>
          </a:stretch>
        </p:blipFill>
        <p:spPr>
          <a:xfrm>
            <a:off x="4826598" y="1020135"/>
            <a:ext cx="5182323" cy="5506218"/>
          </a:xfrm>
          <a:prstGeom prst="rect">
            <a:avLst/>
          </a:prstGeom>
          <a:ln>
            <a:solidFill>
              <a:schemeClr val="bg1">
                <a:lumMod val="50000"/>
              </a:schemeClr>
            </a:solidFill>
          </a:ln>
        </p:spPr>
      </p:pic>
      <p:pic>
        <p:nvPicPr>
          <p:cNvPr id="7" name="그림 6">
            <a:extLst>
              <a:ext uri="{FF2B5EF4-FFF2-40B4-BE49-F238E27FC236}">
                <a16:creationId xmlns:a16="http://schemas.microsoft.com/office/drawing/2014/main" id="{FF97D24F-AF6D-1232-F96C-6CB4E366EB51}"/>
              </a:ext>
            </a:extLst>
          </p:cNvPr>
          <p:cNvPicPr>
            <a:picLocks noChangeAspect="1"/>
          </p:cNvPicPr>
          <p:nvPr/>
        </p:nvPicPr>
        <p:blipFill>
          <a:blip r:embed="rId3"/>
          <a:stretch>
            <a:fillRect/>
          </a:stretch>
        </p:blipFill>
        <p:spPr>
          <a:xfrm>
            <a:off x="913677" y="1020135"/>
            <a:ext cx="2976452" cy="4197263"/>
          </a:xfrm>
          <a:prstGeom prst="rect">
            <a:avLst/>
          </a:prstGeom>
          <a:ln>
            <a:solidFill>
              <a:schemeClr val="bg1">
                <a:lumMod val="50000"/>
              </a:schemeClr>
            </a:solidFill>
          </a:ln>
        </p:spPr>
      </p:pic>
      <p:sp>
        <p:nvSpPr>
          <p:cNvPr id="8" name="사각형: 둥근 모서리 7">
            <a:extLst>
              <a:ext uri="{FF2B5EF4-FFF2-40B4-BE49-F238E27FC236}">
                <a16:creationId xmlns:a16="http://schemas.microsoft.com/office/drawing/2014/main" id="{4DE25511-E877-D6C3-8ABE-BC79C3CCB76A}"/>
              </a:ext>
            </a:extLst>
          </p:cNvPr>
          <p:cNvSpPr/>
          <p:nvPr/>
        </p:nvSpPr>
        <p:spPr>
          <a:xfrm>
            <a:off x="913677" y="4830184"/>
            <a:ext cx="2195283" cy="387214"/>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147470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20E68423-4643-1711-7011-EDC44CE75FFC}"/>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30041E1-99F5-50EB-10FA-FA06BF119EE0}"/>
              </a:ext>
            </a:extLst>
          </p:cNvPr>
          <p:cNvSpPr/>
          <p:nvPr/>
        </p:nvSpPr>
        <p:spPr>
          <a:xfrm>
            <a:off x="0" y="0"/>
            <a:ext cx="12192000" cy="289249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dirty="0">
                <a:solidFill>
                  <a:schemeClr val="bg1"/>
                </a:solidFill>
              </a:rPr>
              <a:t>ESP32 Web Server using SPIFFS</a:t>
            </a:r>
          </a:p>
          <a:p>
            <a:pPr marL="179387" algn="ctr"/>
            <a:r>
              <a:rPr lang="en-US" altLang="ko-KR" sz="4800" b="1" dirty="0">
                <a:solidFill>
                  <a:schemeClr val="bg1"/>
                </a:solidFill>
              </a:rPr>
              <a:t>(SPI Flash File System)</a:t>
            </a:r>
            <a:endParaRPr lang="ko-KR" altLang="en-US" sz="4800" b="1" dirty="0">
              <a:solidFill>
                <a:schemeClr val="bg1"/>
              </a:solidFill>
            </a:endParaRPr>
          </a:p>
        </p:txBody>
      </p:sp>
      <p:sp>
        <p:nvSpPr>
          <p:cNvPr id="3" name="직사각형 2">
            <a:extLst>
              <a:ext uri="{FF2B5EF4-FFF2-40B4-BE49-F238E27FC236}">
                <a16:creationId xmlns:a16="http://schemas.microsoft.com/office/drawing/2014/main" id="{9EECC0B2-B3CE-4205-4972-E90E5690A86C}"/>
              </a:ext>
            </a:extLst>
          </p:cNvPr>
          <p:cNvSpPr/>
          <p:nvPr/>
        </p:nvSpPr>
        <p:spPr>
          <a:xfrm>
            <a:off x="1" y="3068760"/>
            <a:ext cx="3582444" cy="2116285"/>
          </a:xfrm>
          <a:prstGeom prst="rect">
            <a:avLst/>
          </a:prstGeom>
          <a:noFill/>
        </p:spPr>
        <p:txBody>
          <a:bodyPr wrap="square">
            <a:spAutoFit/>
          </a:bodyPr>
          <a:lstStyle/>
          <a:p>
            <a:pPr>
              <a:lnSpc>
                <a:spcPct val="150000"/>
              </a:lnSpc>
            </a:pPr>
            <a:r>
              <a:rPr lang="en-US" altLang="ko-KR" b="1" dirty="0">
                <a:solidFill>
                  <a:schemeClr val="bg1"/>
                </a:solidFill>
              </a:rPr>
              <a:t>ESP32 Filesystem</a:t>
            </a:r>
            <a:r>
              <a:rPr lang="ko-KR" altLang="en-US" b="1" dirty="0">
                <a:solidFill>
                  <a:schemeClr val="bg1"/>
                </a:solidFill>
              </a:rPr>
              <a:t>에 </a:t>
            </a:r>
            <a:r>
              <a:rPr lang="en-US" altLang="ko-KR" b="1" dirty="0">
                <a:solidFill>
                  <a:schemeClr val="bg1"/>
                </a:solidFill>
              </a:rPr>
              <a:t>HTML,</a:t>
            </a:r>
            <a:r>
              <a:rPr lang="ko-KR" altLang="en-US" b="1" dirty="0">
                <a:solidFill>
                  <a:schemeClr val="bg1"/>
                </a:solidFill>
              </a:rPr>
              <a:t> </a:t>
            </a:r>
            <a:r>
              <a:rPr lang="en-US" altLang="ko-KR" b="1" dirty="0">
                <a:solidFill>
                  <a:schemeClr val="bg1"/>
                </a:solidFill>
              </a:rPr>
              <a:t>CSS</a:t>
            </a:r>
            <a:br>
              <a:rPr lang="en-US" altLang="ko-KR" b="1" dirty="0">
                <a:solidFill>
                  <a:schemeClr val="bg1"/>
                </a:solidFill>
              </a:rPr>
            </a:br>
            <a:r>
              <a:rPr lang="ko-KR" altLang="en-US" b="1" dirty="0">
                <a:solidFill>
                  <a:schemeClr val="bg1"/>
                </a:solidFill>
              </a:rPr>
              <a:t>올려서 </a:t>
            </a:r>
            <a:r>
              <a:rPr lang="en-US" altLang="ko-KR" b="1" dirty="0">
                <a:solidFill>
                  <a:schemeClr val="bg1"/>
                </a:solidFill>
              </a:rPr>
              <a:t>Web Server </a:t>
            </a:r>
            <a:r>
              <a:rPr lang="ko-KR" altLang="en-US" b="1" dirty="0">
                <a:solidFill>
                  <a:schemeClr val="bg1"/>
                </a:solidFill>
              </a:rPr>
              <a:t>구축</a:t>
            </a:r>
            <a:r>
              <a:rPr lang="en-US" altLang="ko-KR" b="1" dirty="0">
                <a:solidFill>
                  <a:schemeClr val="bg1"/>
                </a:solidFill>
              </a:rPr>
              <a:t>.</a:t>
            </a:r>
          </a:p>
          <a:p>
            <a:pPr>
              <a:lnSpc>
                <a:spcPct val="150000"/>
              </a:lnSpc>
            </a:pPr>
            <a:endParaRPr lang="en-US" altLang="ko-KR" b="1" dirty="0">
              <a:solidFill>
                <a:schemeClr val="bg1"/>
              </a:solidFill>
            </a:endParaRPr>
          </a:p>
          <a:p>
            <a:pPr>
              <a:lnSpc>
                <a:spcPct val="150000"/>
              </a:lnSpc>
            </a:pPr>
            <a:r>
              <a:rPr lang="en-US" altLang="ko-KR" b="1" dirty="0">
                <a:solidFill>
                  <a:schemeClr val="bg1"/>
                </a:solidFill>
              </a:rPr>
              <a:t>Arduino </a:t>
            </a:r>
            <a:r>
              <a:rPr lang="ko-KR" altLang="en-US" b="1" dirty="0">
                <a:solidFill>
                  <a:schemeClr val="bg1"/>
                </a:solidFill>
              </a:rPr>
              <a:t>코드에서 </a:t>
            </a:r>
            <a:r>
              <a:rPr lang="en-US" altLang="ko-KR" b="1" dirty="0">
                <a:solidFill>
                  <a:schemeClr val="bg1"/>
                </a:solidFill>
              </a:rPr>
              <a:t>HTML, CSS </a:t>
            </a:r>
            <a:r>
              <a:rPr lang="ko-KR" altLang="en-US" b="1" dirty="0">
                <a:solidFill>
                  <a:schemeClr val="bg1"/>
                </a:solidFill>
              </a:rPr>
              <a:t>분리</a:t>
            </a:r>
            <a:endParaRPr lang="en-US" altLang="ko-KR" b="1" dirty="0">
              <a:solidFill>
                <a:schemeClr val="bg1"/>
              </a:solidFill>
            </a:endParaRPr>
          </a:p>
        </p:txBody>
      </p:sp>
      <p:sp>
        <p:nvSpPr>
          <p:cNvPr id="7" name="TextBox 6">
            <a:extLst>
              <a:ext uri="{FF2B5EF4-FFF2-40B4-BE49-F238E27FC236}">
                <a16:creationId xmlns:a16="http://schemas.microsoft.com/office/drawing/2014/main" id="{447E9746-ABCA-59C1-1948-7CE554C84C32}"/>
              </a:ext>
            </a:extLst>
          </p:cNvPr>
          <p:cNvSpPr txBox="1"/>
          <p:nvPr/>
        </p:nvSpPr>
        <p:spPr>
          <a:xfrm>
            <a:off x="1540701" y="2457634"/>
            <a:ext cx="9319364" cy="369332"/>
          </a:xfrm>
          <a:prstGeom prst="rect">
            <a:avLst/>
          </a:prstGeom>
          <a:noFill/>
        </p:spPr>
        <p:txBody>
          <a:bodyPr wrap="square">
            <a:spAutoFit/>
          </a:bodyPr>
          <a:lstStyle/>
          <a:p>
            <a:pPr algn="ctr"/>
            <a:r>
              <a:rPr lang="en-US" altLang="ko-KR" b="1" dirty="0">
                <a:solidFill>
                  <a:schemeClr val="bg1"/>
                </a:solidFill>
                <a:hlinkClick r:id="rId2">
                  <a:extLst>
                    <a:ext uri="{A12FA001-AC4F-418D-AE19-62706E023703}">
                      <ahyp:hlinkClr xmlns:ahyp="http://schemas.microsoft.com/office/drawing/2018/hyperlinkcolor" val="tx"/>
                    </a:ext>
                  </a:extLst>
                </a:hlinkClick>
              </a:rPr>
              <a:t>ESP32 Web Server using SPIFFS (SPI Flash File System) | Random Nerd Tutorials</a:t>
            </a:r>
            <a:endParaRPr lang="ko-KR" altLang="en-US" b="1" dirty="0">
              <a:solidFill>
                <a:schemeClr val="bg1"/>
              </a:solidFill>
            </a:endParaRPr>
          </a:p>
        </p:txBody>
      </p:sp>
      <p:pic>
        <p:nvPicPr>
          <p:cNvPr id="9" name="그림 8">
            <a:extLst>
              <a:ext uri="{FF2B5EF4-FFF2-40B4-BE49-F238E27FC236}">
                <a16:creationId xmlns:a16="http://schemas.microsoft.com/office/drawing/2014/main" id="{196E3071-6A44-28B5-ECC3-4D87A9E9DC4C}"/>
              </a:ext>
            </a:extLst>
          </p:cNvPr>
          <p:cNvPicPr>
            <a:picLocks noChangeAspect="1"/>
          </p:cNvPicPr>
          <p:nvPr/>
        </p:nvPicPr>
        <p:blipFill>
          <a:blip r:embed="rId3"/>
          <a:stretch>
            <a:fillRect/>
          </a:stretch>
        </p:blipFill>
        <p:spPr>
          <a:xfrm>
            <a:off x="3714015" y="2892490"/>
            <a:ext cx="8477986" cy="3965510"/>
          </a:xfrm>
          <a:prstGeom prst="rect">
            <a:avLst/>
          </a:prstGeom>
        </p:spPr>
      </p:pic>
    </p:spTree>
    <p:extLst>
      <p:ext uri="{BB962C8B-B14F-4D97-AF65-F5344CB8AC3E}">
        <p14:creationId xmlns:p14="http://schemas.microsoft.com/office/powerpoint/2010/main" val="16897741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159E5-76E9-45F2-9230-DBAA0C059AA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1E36648-451C-A614-4F0A-47EFE18882D0}"/>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Install ESP32 Filesystem Uploader in Arduino IDE</a:t>
            </a:r>
            <a:endParaRPr lang="ko-KR" altLang="en-US" b="1" dirty="0">
              <a:solidFill>
                <a:schemeClr val="bg1"/>
              </a:solidFill>
            </a:endParaRPr>
          </a:p>
        </p:txBody>
      </p:sp>
      <p:sp>
        <p:nvSpPr>
          <p:cNvPr id="4" name="TextBox 3">
            <a:extLst>
              <a:ext uri="{FF2B5EF4-FFF2-40B4-BE49-F238E27FC236}">
                <a16:creationId xmlns:a16="http://schemas.microsoft.com/office/drawing/2014/main" id="{7E8E9DAA-2A01-2C81-A0F9-4FDEE751C1A0}"/>
              </a:ext>
            </a:extLst>
          </p:cNvPr>
          <p:cNvSpPr txBox="1"/>
          <p:nvPr/>
        </p:nvSpPr>
        <p:spPr>
          <a:xfrm>
            <a:off x="607512" y="1248241"/>
            <a:ext cx="9538569" cy="369332"/>
          </a:xfrm>
          <a:prstGeom prst="rect">
            <a:avLst/>
          </a:prstGeom>
          <a:noFill/>
        </p:spPr>
        <p:txBody>
          <a:bodyPr wrap="square">
            <a:spAutoFit/>
          </a:bodyPr>
          <a:lstStyle/>
          <a:p>
            <a:r>
              <a:rPr lang="en-US" altLang="ko-KR" dirty="0">
                <a:hlinkClick r:id="rId2"/>
              </a:rPr>
              <a:t>Install ESP32 Filesystem Uploader in Arduino IDE | Random Nerd Tutorials</a:t>
            </a:r>
            <a:endParaRPr lang="ko-KR" altLang="en-US" dirty="0"/>
          </a:p>
        </p:txBody>
      </p:sp>
      <p:sp>
        <p:nvSpPr>
          <p:cNvPr id="5" name="TextBox 4">
            <a:extLst>
              <a:ext uri="{FF2B5EF4-FFF2-40B4-BE49-F238E27FC236}">
                <a16:creationId xmlns:a16="http://schemas.microsoft.com/office/drawing/2014/main" id="{92495B01-E222-1FC4-9371-C02D089F0A09}"/>
              </a:ext>
            </a:extLst>
          </p:cNvPr>
          <p:cNvSpPr txBox="1"/>
          <p:nvPr/>
        </p:nvSpPr>
        <p:spPr>
          <a:xfrm flipH="1">
            <a:off x="333818" y="864296"/>
            <a:ext cx="4263234" cy="369332"/>
          </a:xfrm>
          <a:prstGeom prst="rect">
            <a:avLst/>
          </a:prstGeom>
          <a:noFill/>
        </p:spPr>
        <p:txBody>
          <a:bodyPr wrap="square" rtlCol="0">
            <a:spAutoFit/>
          </a:bodyPr>
          <a:lstStyle/>
          <a:p>
            <a:pPr marL="285750" indent="-285750">
              <a:buFont typeface="Arial" panose="020B0604020202020204" pitchFamily="34" charset="0"/>
              <a:buChar char="•"/>
            </a:pPr>
            <a:r>
              <a:rPr lang="ko-KR" altLang="en-US" dirty="0"/>
              <a:t>우리는 이미 이전 수업에서 설치했음 </a:t>
            </a:r>
          </a:p>
        </p:txBody>
      </p:sp>
      <p:pic>
        <p:nvPicPr>
          <p:cNvPr id="8" name="그림 7">
            <a:extLst>
              <a:ext uri="{FF2B5EF4-FFF2-40B4-BE49-F238E27FC236}">
                <a16:creationId xmlns:a16="http://schemas.microsoft.com/office/drawing/2014/main" id="{DEFEBFBC-2B70-1B3D-425D-5142EA1A1565}"/>
              </a:ext>
            </a:extLst>
          </p:cNvPr>
          <p:cNvPicPr>
            <a:picLocks noChangeAspect="1"/>
          </p:cNvPicPr>
          <p:nvPr/>
        </p:nvPicPr>
        <p:blipFill>
          <a:blip r:embed="rId3"/>
          <a:stretch>
            <a:fillRect/>
          </a:stretch>
        </p:blipFill>
        <p:spPr>
          <a:xfrm>
            <a:off x="695535" y="1816852"/>
            <a:ext cx="7268589" cy="3648584"/>
          </a:xfrm>
          <a:prstGeom prst="rect">
            <a:avLst/>
          </a:prstGeom>
        </p:spPr>
      </p:pic>
    </p:spTree>
    <p:extLst>
      <p:ext uri="{BB962C8B-B14F-4D97-AF65-F5344CB8AC3E}">
        <p14:creationId xmlns:p14="http://schemas.microsoft.com/office/powerpoint/2010/main" val="347866367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E1D73-DBF9-3CBE-ED4F-5E1AFA649ED7}"/>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4370509-13EA-C21E-5EFD-7AE7D89D4813}"/>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Project Overview</a:t>
            </a:r>
            <a:endParaRPr lang="ko-KR" altLang="en-US" b="1" dirty="0">
              <a:solidFill>
                <a:schemeClr val="bg1"/>
              </a:solidFill>
            </a:endParaRPr>
          </a:p>
        </p:txBody>
      </p:sp>
      <p:pic>
        <p:nvPicPr>
          <p:cNvPr id="6" name="그림 5">
            <a:extLst>
              <a:ext uri="{FF2B5EF4-FFF2-40B4-BE49-F238E27FC236}">
                <a16:creationId xmlns:a16="http://schemas.microsoft.com/office/drawing/2014/main" id="{3CBFF905-E0BC-E61E-FC7D-C3FE2F6DF227}"/>
              </a:ext>
            </a:extLst>
          </p:cNvPr>
          <p:cNvPicPr>
            <a:picLocks noChangeAspect="1"/>
          </p:cNvPicPr>
          <p:nvPr/>
        </p:nvPicPr>
        <p:blipFill>
          <a:blip r:embed="rId2"/>
          <a:stretch>
            <a:fillRect/>
          </a:stretch>
        </p:blipFill>
        <p:spPr>
          <a:xfrm>
            <a:off x="1089914" y="1065216"/>
            <a:ext cx="10012172" cy="4001058"/>
          </a:xfrm>
          <a:prstGeom prst="rect">
            <a:avLst/>
          </a:prstGeom>
        </p:spPr>
      </p:pic>
    </p:spTree>
    <p:extLst>
      <p:ext uri="{BB962C8B-B14F-4D97-AF65-F5344CB8AC3E}">
        <p14:creationId xmlns:p14="http://schemas.microsoft.com/office/powerpoint/2010/main" val="2171206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08C3-E652-E9CC-AC36-3B49E5B7CE36}"/>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8686796-1CF0-751A-12E9-D1B394DC5C91}"/>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Project </a:t>
            </a:r>
            <a:r>
              <a:rPr lang="ko-KR" altLang="en-US" b="1" dirty="0">
                <a:solidFill>
                  <a:schemeClr val="bg1"/>
                </a:solidFill>
              </a:rPr>
              <a:t>구조</a:t>
            </a:r>
          </a:p>
        </p:txBody>
      </p:sp>
      <p:pic>
        <p:nvPicPr>
          <p:cNvPr id="4" name="그림 3">
            <a:extLst>
              <a:ext uri="{FF2B5EF4-FFF2-40B4-BE49-F238E27FC236}">
                <a16:creationId xmlns:a16="http://schemas.microsoft.com/office/drawing/2014/main" id="{6CE12891-AF89-3E4C-7ABF-590742E2C277}"/>
              </a:ext>
            </a:extLst>
          </p:cNvPr>
          <p:cNvPicPr>
            <a:picLocks noChangeAspect="1"/>
          </p:cNvPicPr>
          <p:nvPr/>
        </p:nvPicPr>
        <p:blipFill>
          <a:blip r:embed="rId2"/>
          <a:stretch>
            <a:fillRect/>
          </a:stretch>
        </p:blipFill>
        <p:spPr>
          <a:xfrm>
            <a:off x="1996824" y="886489"/>
            <a:ext cx="7020905" cy="3581900"/>
          </a:xfrm>
          <a:prstGeom prst="rect">
            <a:avLst/>
          </a:prstGeom>
        </p:spPr>
      </p:pic>
    </p:spTree>
    <p:extLst>
      <p:ext uri="{BB962C8B-B14F-4D97-AF65-F5344CB8AC3E}">
        <p14:creationId xmlns:p14="http://schemas.microsoft.com/office/powerpoint/2010/main" val="63962087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0F07-0CC3-F4FE-1BB9-FDD2591A550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D29B971-9E29-B20B-1DB4-80158D87B927}"/>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index.html</a:t>
            </a:r>
            <a:endParaRPr lang="ko-KR" altLang="en-US" b="1" dirty="0">
              <a:solidFill>
                <a:schemeClr val="bg1"/>
              </a:solidFill>
            </a:endParaRPr>
          </a:p>
        </p:txBody>
      </p:sp>
      <p:sp>
        <p:nvSpPr>
          <p:cNvPr id="3" name="Rectangle 1">
            <a:extLst>
              <a:ext uri="{FF2B5EF4-FFF2-40B4-BE49-F238E27FC236}">
                <a16:creationId xmlns:a16="http://schemas.microsoft.com/office/drawing/2014/main" id="{8FF25EE5-A6FF-94DC-379A-ACF884564E0F}"/>
              </a:ext>
            </a:extLst>
          </p:cNvPr>
          <p:cNvSpPr>
            <a:spLocks noChangeArrowheads="1"/>
          </p:cNvSpPr>
          <p:nvPr/>
        </p:nvSpPr>
        <p:spPr bwMode="auto">
          <a:xfrm>
            <a:off x="0" y="758591"/>
            <a:ext cx="7436651" cy="455554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708090"/>
                </a:solidFill>
                <a:effectLst/>
                <a:latin typeface="Consolas" panose="020B0609020204030204" pitchFamily="49" charset="0"/>
              </a:rPr>
              <a:t>DOCTYPE </a:t>
            </a:r>
            <a:r>
              <a:rPr kumimoji="0" lang="ko-KR" altLang="ko-KR" sz="1400" b="0" i="0" u="none" strike="noStrike" cap="none" normalizeH="0" baseline="0" dirty="0" err="1">
                <a:ln>
                  <a:noFill/>
                </a:ln>
                <a:solidFill>
                  <a:srgbClr val="708090"/>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head</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title</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ESP32 </a:t>
            </a:r>
            <a:r>
              <a:rPr kumimoji="0" lang="ko-KR" altLang="ko-KR" sz="1400" b="0" i="0" u="none" strike="noStrike" cap="none" normalizeH="0" baseline="0" dirty="0" err="1">
                <a:ln>
                  <a:noFill/>
                </a:ln>
                <a:solidFill>
                  <a:srgbClr val="000000"/>
                </a:solidFill>
                <a:effectLst/>
                <a:latin typeface="Consolas" panose="020B0609020204030204" pitchFamily="49" charset="0"/>
              </a:rPr>
              <a:t>Web</a:t>
            </a:r>
            <a:r>
              <a:rPr kumimoji="0" lang="ko-KR" altLang="ko-KR" sz="1400" b="0" i="0" u="none" strike="noStrike" cap="none" normalizeH="0" baseline="0" dirty="0">
                <a:ln>
                  <a:noFill/>
                </a:ln>
                <a:solidFill>
                  <a:srgbClr val="000000"/>
                </a:solidFill>
                <a:effectLst/>
                <a:latin typeface="Consolas" panose="020B0609020204030204" pitchFamily="49" charset="0"/>
              </a:rPr>
              <a:t> Server</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title</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meta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name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viewport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content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width</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device-width</a:t>
            </a:r>
            <a:r>
              <a:rPr kumimoji="0" lang="ko-KR" altLang="ko-KR" sz="1400" b="0" i="0" u="none" strike="noStrike" cap="none" normalizeH="0" baseline="0" dirty="0">
                <a:ln>
                  <a:noFill/>
                </a:ln>
                <a:solidFill>
                  <a:srgbClr val="0077AA"/>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initial-scale</a:t>
            </a:r>
            <a:r>
              <a:rPr kumimoji="0" lang="ko-KR" altLang="ko-KR" sz="1400" b="0" i="0" u="none" strike="noStrike" cap="none" normalizeH="0" baseline="0" dirty="0">
                <a:ln>
                  <a:noFill/>
                </a:ln>
                <a:solidFill>
                  <a:srgbClr val="0077AA"/>
                </a:solidFill>
                <a:effectLst/>
                <a:latin typeface="Consolas" panose="020B0609020204030204" pitchFamily="49" charset="0"/>
              </a:rPr>
              <a:t>=1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link</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rel</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icon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data</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link</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rel</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stylesheet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text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css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style.css</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head</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endParaRPr lang="en-US" altLang="ko-KR" sz="1400" dirty="0">
              <a:solidFill>
                <a:srgbClr val="000000"/>
              </a:solidFill>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body</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990055"/>
                </a:solidFill>
                <a:effectLst/>
                <a:latin typeface="Consolas" panose="020B0609020204030204" pitchFamily="49" charset="0"/>
              </a:rPr>
              <a:t>h1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ESP32 </a:t>
            </a:r>
            <a:r>
              <a:rPr kumimoji="0" lang="ko-KR" altLang="ko-KR" sz="1400" b="0" i="0" u="none" strike="noStrike" cap="none" normalizeH="0" baseline="0" dirty="0" err="1">
                <a:ln>
                  <a:noFill/>
                </a:ln>
                <a:solidFill>
                  <a:srgbClr val="000000"/>
                </a:solidFill>
                <a:effectLst/>
                <a:latin typeface="Consolas" panose="020B0609020204030204" pitchFamily="49" charset="0"/>
              </a:rPr>
              <a:t>Web</a:t>
            </a:r>
            <a:r>
              <a:rPr kumimoji="0" lang="ko-KR" altLang="ko-KR" sz="1400" b="0" i="0" u="none" strike="noStrike" cap="none" normalizeH="0" baseline="0" dirty="0">
                <a:ln>
                  <a:noFill/>
                </a:ln>
                <a:solidFill>
                  <a:srgbClr val="000000"/>
                </a:solidFill>
                <a:effectLst/>
                <a:latin typeface="Consolas" panose="020B0609020204030204" pitchFamily="49" charset="0"/>
              </a:rPr>
              <a:t> Server</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990055"/>
                </a:solidFill>
                <a:effectLst/>
                <a:latin typeface="Consolas" panose="020B0609020204030204" pitchFamily="49" charset="0"/>
              </a:rPr>
              <a:t>h1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GPIO </a:t>
            </a:r>
            <a:r>
              <a:rPr kumimoji="0" lang="ko-KR" altLang="ko-KR" sz="1400" b="0" i="0" u="none" strike="noStrike" cap="none" normalizeH="0" baseline="0" dirty="0" err="1">
                <a:ln>
                  <a:noFill/>
                </a:ln>
                <a:solidFill>
                  <a:srgbClr val="000000"/>
                </a:solidFill>
                <a:effectLst/>
                <a:latin typeface="Consolas" panose="020B0609020204030204" pitchFamily="49" charset="0"/>
              </a:rPr>
              <a:t>state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strong</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%STATE%</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strong</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off</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button</a:t>
            </a:r>
            <a:r>
              <a:rPr kumimoji="0" lang="ko-KR" altLang="ko-KR" sz="1400" b="0" i="0" u="none" strike="noStrike" cap="none" normalizeH="0" baseline="0" dirty="0">
                <a:ln>
                  <a:noFill/>
                </a:ln>
                <a:solidFill>
                  <a:srgbClr val="0077AA"/>
                </a:solidFill>
                <a:effectLst/>
                <a:latin typeface="Consolas" panose="020B0609020204030204" pitchFamily="49" charset="0"/>
              </a:rPr>
              <a:t> button2</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OFF</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body</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endParaRPr lang="en-US" altLang="ko-KR" sz="1400" dirty="0">
              <a:solidFill>
                <a:srgbClr val="000000"/>
              </a:solidFill>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7591ED1-4E7D-C5BF-AABB-7733FF520A2C}"/>
              </a:ext>
            </a:extLst>
          </p:cNvPr>
          <p:cNvSpPr txBox="1"/>
          <p:nvPr/>
        </p:nvSpPr>
        <p:spPr>
          <a:xfrm>
            <a:off x="7200874" y="1570525"/>
            <a:ext cx="4809330" cy="461665"/>
          </a:xfrm>
          <a:prstGeom prst="rect">
            <a:avLst/>
          </a:prstGeom>
          <a:noFill/>
          <a:ln>
            <a:solidFill>
              <a:schemeClr val="bg1">
                <a:lumMod val="50000"/>
              </a:schemeClr>
            </a:solidFill>
          </a:ln>
        </p:spPr>
        <p:txBody>
          <a:bodyPr wrap="none" rtlCol="0">
            <a:spAutoFit/>
          </a:bodyPr>
          <a:lstStyle/>
          <a:p>
            <a:r>
              <a:rPr lang="ko-KR" altLang="en-US" sz="1200" dirty="0"/>
              <a:t>화면 설정</a:t>
            </a:r>
            <a:r>
              <a:rPr lang="en-US" altLang="ko-KR" sz="1200" dirty="0"/>
              <a:t>. </a:t>
            </a:r>
            <a:r>
              <a:rPr lang="ko-KR" altLang="en-US" sz="1200" dirty="0"/>
              <a:t>기기 화면 너비에 맞춰 홈페이지 크기 조정</a:t>
            </a:r>
            <a:br>
              <a:rPr lang="en-US" altLang="ko-KR" sz="1200" dirty="0"/>
            </a:br>
            <a:r>
              <a:rPr lang="ko-KR" altLang="en-US" sz="1200" dirty="0"/>
              <a:t>초기 비율은 </a:t>
            </a:r>
            <a:r>
              <a:rPr lang="en-US" altLang="ko-KR" sz="1200" dirty="0"/>
              <a:t>1</a:t>
            </a:r>
            <a:r>
              <a:rPr lang="ko-KR" altLang="en-US" sz="1200" dirty="0"/>
              <a:t>배</a:t>
            </a:r>
            <a:r>
              <a:rPr lang="en-US" altLang="ko-KR" sz="1200" dirty="0"/>
              <a:t>(100%)</a:t>
            </a:r>
            <a:r>
              <a:rPr lang="ko-KR" altLang="en-US" sz="1200" dirty="0"/>
              <a:t>로 설정</a:t>
            </a:r>
            <a:r>
              <a:rPr lang="en-US" altLang="ko-KR" sz="1200" dirty="0"/>
              <a:t>, </a:t>
            </a:r>
            <a:r>
              <a:rPr lang="ko-KR" altLang="en-US" sz="1200" dirty="0"/>
              <a:t>모바일 화면 크기에 맞춰 자동 조정</a:t>
            </a:r>
          </a:p>
        </p:txBody>
      </p:sp>
      <p:sp>
        <p:nvSpPr>
          <p:cNvPr id="5" name="TextBox 4">
            <a:extLst>
              <a:ext uri="{FF2B5EF4-FFF2-40B4-BE49-F238E27FC236}">
                <a16:creationId xmlns:a16="http://schemas.microsoft.com/office/drawing/2014/main" id="{5173AD17-8937-23CB-4D4D-904F291D150F}"/>
              </a:ext>
            </a:extLst>
          </p:cNvPr>
          <p:cNvSpPr txBox="1"/>
          <p:nvPr/>
        </p:nvSpPr>
        <p:spPr>
          <a:xfrm>
            <a:off x="7200874" y="2084525"/>
            <a:ext cx="1374351" cy="276999"/>
          </a:xfrm>
          <a:prstGeom prst="rect">
            <a:avLst/>
          </a:prstGeom>
          <a:noFill/>
          <a:ln>
            <a:solidFill>
              <a:schemeClr val="bg1">
                <a:lumMod val="50000"/>
              </a:schemeClr>
            </a:solidFill>
          </a:ln>
        </p:spPr>
        <p:txBody>
          <a:bodyPr wrap="none" rtlCol="0">
            <a:spAutoFit/>
          </a:bodyPr>
          <a:lstStyle/>
          <a:p>
            <a:r>
              <a:rPr lang="en-US" altLang="ko-KR" sz="1200" dirty="0"/>
              <a:t>Favicon </a:t>
            </a:r>
            <a:r>
              <a:rPr lang="ko-KR" altLang="en-US" sz="1200" dirty="0"/>
              <a:t>비활성화</a:t>
            </a:r>
          </a:p>
        </p:txBody>
      </p:sp>
    </p:spTree>
    <p:extLst>
      <p:ext uri="{BB962C8B-B14F-4D97-AF65-F5344CB8AC3E}">
        <p14:creationId xmlns:p14="http://schemas.microsoft.com/office/powerpoint/2010/main" val="36239724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44D9-CF4A-EEB6-8155-0B7295447A9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0692913-E4B7-518C-C14F-DFD53A76D7F8}"/>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style.css</a:t>
            </a:r>
            <a:endParaRPr lang="ko-KR" altLang="en-US" b="1" dirty="0">
              <a:solidFill>
                <a:schemeClr val="bg1"/>
              </a:solidFill>
            </a:endParaRPr>
          </a:p>
        </p:txBody>
      </p:sp>
      <p:sp>
        <p:nvSpPr>
          <p:cNvPr id="3" name="Rectangle 1">
            <a:extLst>
              <a:ext uri="{FF2B5EF4-FFF2-40B4-BE49-F238E27FC236}">
                <a16:creationId xmlns:a16="http://schemas.microsoft.com/office/drawing/2014/main" id="{D93CC506-224F-FAC5-147A-4DAF3CD52583}"/>
              </a:ext>
            </a:extLst>
          </p:cNvPr>
          <p:cNvSpPr>
            <a:spLocks noChangeArrowheads="1"/>
          </p:cNvSpPr>
          <p:nvPr/>
        </p:nvSpPr>
        <p:spPr bwMode="auto">
          <a:xfrm>
            <a:off x="0" y="720566"/>
            <a:ext cx="5876609"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family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Helvetica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err="1">
                <a:ln>
                  <a:noFill/>
                </a:ln>
                <a:solidFill>
                  <a:srgbClr val="0077AA"/>
                </a:solidFill>
                <a:effectLst/>
                <a:latin typeface="Consolas" panose="020B0609020204030204" pitchFamily="49" charset="0"/>
              </a:rPr>
              <a:t>auto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h1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0F3376</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000000"/>
                </a:solidFill>
                <a:effectLst/>
                <a:latin typeface="Consolas" panose="020B0609020204030204" pitchFamily="49" charset="0"/>
              </a:rPr>
              <a:t>vh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1.5</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008</a:t>
            </a:r>
            <a:r>
              <a:rPr kumimoji="0" lang="ko-KR" altLang="ko-KR" sz="1600" b="0" i="0" u="none" strike="noStrike" cap="none" normalizeH="0" baseline="0" dirty="0">
                <a:ln>
                  <a:noFill/>
                </a:ln>
                <a:solidFill>
                  <a:srgbClr val="000000"/>
                </a:solidFill>
                <a:effectLst/>
                <a:latin typeface="Consolas" panose="020B0609020204030204" pitchFamily="49" charset="0"/>
              </a:rPr>
              <a:t>CBA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border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border</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radius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white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16</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a:ln>
                  <a:noFill/>
                </a:ln>
                <a:solidFill>
                  <a:srgbClr val="990055"/>
                </a:solidFill>
                <a:effectLst/>
                <a:latin typeface="Consolas" panose="020B0609020204030204" pitchFamily="49" charset="0"/>
              </a:rPr>
              <a:t>40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decoration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cursor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pointer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button2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#f44336</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40145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AEF9C-EAC6-5842-C08A-AA8D6B124A3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8927205-58AF-7DB1-442B-0448B00EB40B}"/>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Arduino  1/2</a:t>
            </a:r>
            <a:endParaRPr lang="ko-KR" altLang="en-US" b="1" dirty="0">
              <a:solidFill>
                <a:schemeClr val="bg1"/>
              </a:solidFill>
            </a:endParaRPr>
          </a:p>
        </p:txBody>
      </p:sp>
      <p:sp>
        <p:nvSpPr>
          <p:cNvPr id="3" name="Rectangle 1">
            <a:extLst>
              <a:ext uri="{FF2B5EF4-FFF2-40B4-BE49-F238E27FC236}">
                <a16:creationId xmlns:a16="http://schemas.microsoft.com/office/drawing/2014/main" id="{503FCC37-5C63-DFAC-D698-12385DD74C44}"/>
              </a:ext>
            </a:extLst>
          </p:cNvPr>
          <p:cNvSpPr>
            <a:spLocks noChangeArrowheads="1"/>
          </p:cNvSpPr>
          <p:nvPr/>
        </p:nvSpPr>
        <p:spPr bwMode="auto">
          <a:xfrm>
            <a:off x="0" y="831998"/>
            <a:ext cx="6123471"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SPIFFS.h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ledPin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Replaces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placeholder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LED </a:t>
            </a:r>
            <a:r>
              <a:rPr kumimoji="0" lang="ko-KR" altLang="ko-KR" sz="1600" b="0" i="0" u="none" strike="noStrike" cap="none" normalizeH="0" baseline="0" dirty="0" err="1">
                <a:ln>
                  <a:noFill/>
                </a:ln>
                <a:solidFill>
                  <a:srgbClr val="708090"/>
                </a:solidFill>
                <a:effectLst/>
                <a:latin typeface="Consolas" panose="020B0609020204030204" pitchFamily="49" charset="0"/>
              </a:rPr>
              <a:t>state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value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processor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digitalRead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ledPin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"OFF"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77AA"/>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320474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BFAE5-044E-4D5A-E49E-FFC785898E3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5EC6252-CDF6-E260-8EDA-47FE52D77ECC}"/>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Arduino  2/2</a:t>
            </a:r>
            <a:endParaRPr lang="ko-KR" altLang="en-US" b="1" dirty="0">
              <a:solidFill>
                <a:schemeClr val="bg1"/>
              </a:solidFill>
            </a:endParaRPr>
          </a:p>
        </p:txBody>
      </p:sp>
      <p:sp>
        <p:nvSpPr>
          <p:cNvPr id="4" name="Rectangle 1">
            <a:extLst>
              <a:ext uri="{FF2B5EF4-FFF2-40B4-BE49-F238E27FC236}">
                <a16:creationId xmlns:a16="http://schemas.microsoft.com/office/drawing/2014/main" id="{CEC5E922-A3A3-9302-3A37-FD74A8F805D0}"/>
              </a:ext>
            </a:extLst>
          </p:cNvPr>
          <p:cNvSpPr>
            <a:spLocks noChangeArrowheads="1"/>
          </p:cNvSpPr>
          <p:nvPr/>
        </p:nvSpPr>
        <p:spPr bwMode="auto">
          <a:xfrm>
            <a:off x="0" y="684550"/>
            <a:ext cx="10847540" cy="603242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0077AA"/>
                </a:solidFill>
                <a:effectLst/>
                <a:latin typeface="Consolas" panose="020B0609020204030204" pitchFamily="49" charset="0"/>
              </a:rPr>
              <a:t>void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setup</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115200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pinMode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SPIFFS</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true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Error</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has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occurred</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while</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mounting</a:t>
            </a:r>
            <a:r>
              <a:rPr kumimoji="0" lang="ko-KR" altLang="ko-KR" sz="1400" b="0" i="0" u="none" strike="noStrike" cap="none" normalizeH="0" baseline="0" dirty="0">
                <a:ln>
                  <a:noFill/>
                </a:ln>
                <a:solidFill>
                  <a:srgbClr val="669900"/>
                </a:solidFill>
                <a:effectLst/>
                <a:latin typeface="Consolas" panose="020B0609020204030204" pitchFamily="49" charset="0"/>
              </a:rPr>
              <a:t> 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ssid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password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while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status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WL_CONNECTED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delay</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1000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Connecting</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to</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WiFi</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localIP</a:t>
            </a:r>
            <a:r>
              <a:rPr kumimoji="0" lang="ko-KR" altLang="ko-KR" sz="1400" b="0" i="0" u="none" strike="noStrike" cap="none" normalizeH="0" baseline="0" dirty="0">
                <a:ln>
                  <a:noFill/>
                </a:ln>
                <a:solidFill>
                  <a:srgbClr val="999999"/>
                </a:solidFill>
                <a:effectLst/>
                <a:latin typeface="Consolas" panose="020B0609020204030204" pitchFamily="49" charset="0"/>
              </a:rPr>
              <a:t>());</a:t>
            </a:r>
            <a:endParaRPr kumimoji="0" lang="en-US" altLang="ko-KR" sz="1400" b="0" i="0" u="none" strike="noStrike" cap="none" normalizeH="0" baseline="0" dirty="0">
              <a:ln>
                <a:noFill/>
              </a:ln>
              <a:solidFill>
                <a:srgbClr val="999999"/>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999999"/>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load</a:t>
            </a:r>
            <a:r>
              <a:rPr kumimoji="0" lang="ko-KR" altLang="ko-KR" sz="1400" b="0" i="0" u="none" strike="noStrike" cap="none" normalizeH="0" baseline="0" dirty="0">
                <a:ln>
                  <a:noFill/>
                </a:ln>
                <a:solidFill>
                  <a:srgbClr val="708090"/>
                </a:solidFill>
                <a:effectLst/>
                <a:latin typeface="Consolas" panose="020B0609020204030204" pitchFamily="49" charset="0"/>
              </a:rPr>
              <a:t> style.css </a:t>
            </a:r>
            <a:r>
              <a:rPr kumimoji="0" lang="ko-KR" altLang="ko-KR" sz="1400" b="0" i="0" u="none" strike="noStrike" cap="none" normalizeH="0" baseline="0" dirty="0" err="1">
                <a:ln>
                  <a:noFill/>
                </a:ln>
                <a:solidFill>
                  <a:srgbClr val="708090"/>
                </a:solidFill>
                <a:effectLst/>
                <a:latin typeface="Consolas" panose="020B0609020204030204" pitchFamily="49" charset="0"/>
              </a:rPr>
              <a:t>file</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style.css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style.css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text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on</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set</a:t>
            </a:r>
            <a:r>
              <a:rPr kumimoji="0" lang="ko-KR" altLang="ko-KR" sz="1400" b="0" i="0" u="none" strike="noStrike" cap="none" normalizeH="0" baseline="0" dirty="0">
                <a:ln>
                  <a:noFill/>
                </a:ln>
                <a:solidFill>
                  <a:srgbClr val="708090"/>
                </a:solidFill>
                <a:effectLst/>
                <a:latin typeface="Consolas" panose="020B0609020204030204" pitchFamily="49" charset="0"/>
              </a:rPr>
              <a:t> GPIO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HIGH</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HIGH</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lang="en-US" altLang="ko-KR" sz="1400" dirty="0">
                <a:solidFill>
                  <a:srgbClr val="000000"/>
                </a:solidFill>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off</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set</a:t>
            </a:r>
            <a:r>
              <a:rPr kumimoji="0" lang="ko-KR" altLang="ko-KR" sz="1400" b="0" i="0" u="none" strike="noStrike" cap="none" normalizeH="0" baseline="0" dirty="0">
                <a:ln>
                  <a:noFill/>
                </a:ln>
                <a:solidFill>
                  <a:srgbClr val="708090"/>
                </a:solidFill>
                <a:effectLst/>
                <a:latin typeface="Consolas" panose="020B0609020204030204" pitchFamily="49" charset="0"/>
              </a:rPr>
              <a:t> GPIO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LOW</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LOW</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0077AA"/>
                </a:solidFill>
                <a:effectLst/>
                <a:latin typeface="Consolas" panose="020B0609020204030204" pitchFamily="49" charset="0"/>
              </a:rPr>
              <a:t>void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loop</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01571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9A2B0-451A-6775-2B21-4E984F8B875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698C8A4-DB27-F9F6-3D69-720C0825309B}"/>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dirty="0">
                <a:solidFill>
                  <a:schemeClr val="bg1"/>
                </a:solidFill>
              </a:rPr>
              <a:t>동 작</a:t>
            </a:r>
          </a:p>
        </p:txBody>
      </p:sp>
      <p:pic>
        <p:nvPicPr>
          <p:cNvPr id="6" name="그림 5">
            <a:extLst>
              <a:ext uri="{FF2B5EF4-FFF2-40B4-BE49-F238E27FC236}">
                <a16:creationId xmlns:a16="http://schemas.microsoft.com/office/drawing/2014/main" id="{74517990-4CB2-C7F0-286D-2BFF0B6F3F11}"/>
              </a:ext>
            </a:extLst>
          </p:cNvPr>
          <p:cNvPicPr>
            <a:picLocks noChangeAspect="1"/>
          </p:cNvPicPr>
          <p:nvPr/>
        </p:nvPicPr>
        <p:blipFill>
          <a:blip r:embed="rId2"/>
          <a:stretch>
            <a:fillRect/>
          </a:stretch>
        </p:blipFill>
        <p:spPr>
          <a:xfrm>
            <a:off x="327590" y="1050399"/>
            <a:ext cx="4432299" cy="5321228"/>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9A705B20-D7D4-7E66-A7FB-CADC7A906814}"/>
              </a:ext>
            </a:extLst>
          </p:cNvPr>
          <p:cNvPicPr>
            <a:picLocks noChangeAspect="1"/>
          </p:cNvPicPr>
          <p:nvPr/>
        </p:nvPicPr>
        <p:blipFill>
          <a:blip r:embed="rId3"/>
          <a:stretch>
            <a:fillRect/>
          </a:stretch>
        </p:blipFill>
        <p:spPr>
          <a:xfrm>
            <a:off x="6096000" y="1050399"/>
            <a:ext cx="4601217" cy="3734321"/>
          </a:xfrm>
          <a:prstGeom prst="rect">
            <a:avLst/>
          </a:prstGeom>
          <a:ln>
            <a:solidFill>
              <a:schemeClr val="accent1">
                <a:shade val="50000"/>
              </a:schemeClr>
            </a:solidFill>
          </a:ln>
        </p:spPr>
      </p:pic>
    </p:spTree>
    <p:extLst>
      <p:ext uri="{BB962C8B-B14F-4D97-AF65-F5344CB8AC3E}">
        <p14:creationId xmlns:p14="http://schemas.microsoft.com/office/powerpoint/2010/main" val="626428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B8CF559-6FA4-4186-B9CC-6E6F1412B534}"/>
              </a:ext>
            </a:extLst>
          </p:cNvPr>
          <p:cNvPicPr>
            <a:picLocks noChangeAspect="1"/>
          </p:cNvPicPr>
          <p:nvPr/>
        </p:nvPicPr>
        <p:blipFill>
          <a:blip r:embed="rId2"/>
          <a:stretch>
            <a:fillRect/>
          </a:stretch>
        </p:blipFill>
        <p:spPr>
          <a:xfrm>
            <a:off x="545775" y="1523115"/>
            <a:ext cx="11100449" cy="3057609"/>
          </a:xfrm>
          <a:prstGeom prst="rect">
            <a:avLst/>
          </a:prstGeom>
          <a:ln w="44450">
            <a:solidFill>
              <a:schemeClr val="bg2">
                <a:lumMod val="90000"/>
              </a:schemeClr>
            </a:solidFill>
          </a:ln>
        </p:spPr>
      </p:pic>
    </p:spTree>
    <p:extLst>
      <p:ext uri="{BB962C8B-B14F-4D97-AF65-F5344CB8AC3E}">
        <p14:creationId xmlns:p14="http://schemas.microsoft.com/office/powerpoint/2010/main" val="1186191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52755050-F64D-747A-E729-221154D1E1A8}"/>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9BFF5732-972E-F99A-0BD3-6FF4E0DFDCF5}"/>
              </a:ext>
            </a:extLst>
          </p:cNvPr>
          <p:cNvSpPr/>
          <p:nvPr/>
        </p:nvSpPr>
        <p:spPr>
          <a:xfrm>
            <a:off x="0" y="0"/>
            <a:ext cx="12192000" cy="289249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bg1"/>
                </a:solidFill>
              </a:rPr>
              <a:t>ESP32: Getting Started with Firebase</a:t>
            </a:r>
          </a:p>
          <a:p>
            <a:pPr marL="179387" algn="ctr"/>
            <a:r>
              <a:rPr lang="en-US" altLang="ko-KR" sz="4800" b="1">
                <a:solidFill>
                  <a:schemeClr val="bg1"/>
                </a:solidFill>
              </a:rPr>
              <a:t>(Realtime Database)</a:t>
            </a:r>
            <a:endParaRPr lang="ko-KR" altLang="en-US" sz="4800" b="1">
              <a:solidFill>
                <a:schemeClr val="bg1"/>
              </a:solidFill>
            </a:endParaRPr>
          </a:p>
        </p:txBody>
      </p:sp>
      <p:pic>
        <p:nvPicPr>
          <p:cNvPr id="2" name="그림 1">
            <a:extLst>
              <a:ext uri="{FF2B5EF4-FFF2-40B4-BE49-F238E27FC236}">
                <a16:creationId xmlns:a16="http://schemas.microsoft.com/office/drawing/2014/main" id="{BEB6F65F-C40A-9964-ED9B-F7FAF82DC9B0}"/>
              </a:ext>
            </a:extLst>
          </p:cNvPr>
          <p:cNvPicPr>
            <a:picLocks noChangeAspect="1"/>
          </p:cNvPicPr>
          <p:nvPr/>
        </p:nvPicPr>
        <p:blipFill>
          <a:blip r:embed="rId2"/>
          <a:stretch>
            <a:fillRect/>
          </a:stretch>
        </p:blipFill>
        <p:spPr>
          <a:xfrm>
            <a:off x="4825388" y="2892490"/>
            <a:ext cx="7366612" cy="3965510"/>
          </a:xfrm>
          <a:prstGeom prst="rect">
            <a:avLst/>
          </a:prstGeom>
        </p:spPr>
      </p:pic>
      <p:sp>
        <p:nvSpPr>
          <p:cNvPr id="3" name="직사각형 2">
            <a:extLst>
              <a:ext uri="{FF2B5EF4-FFF2-40B4-BE49-F238E27FC236}">
                <a16:creationId xmlns:a16="http://schemas.microsoft.com/office/drawing/2014/main" id="{D367969C-0D6B-E742-AC92-6979B2183BD9}"/>
              </a:ext>
            </a:extLst>
          </p:cNvPr>
          <p:cNvSpPr/>
          <p:nvPr/>
        </p:nvSpPr>
        <p:spPr>
          <a:xfrm>
            <a:off x="0" y="3068760"/>
            <a:ext cx="5258719" cy="3362780"/>
          </a:xfrm>
          <a:prstGeom prst="rect">
            <a:avLst/>
          </a:prstGeom>
          <a:noFill/>
        </p:spPr>
        <p:txBody>
          <a:bodyPr wrap="square">
            <a:spAutoFit/>
          </a:bodyPr>
          <a:lstStyle/>
          <a:p>
            <a:pPr>
              <a:lnSpc>
                <a:spcPct val="150000"/>
              </a:lnSpc>
            </a:pPr>
            <a:r>
              <a:rPr lang="en-US" altLang="ko-KR" b="1">
                <a:solidFill>
                  <a:schemeClr val="bg1"/>
                </a:solidFill>
              </a:rPr>
              <a:t>Firebase</a:t>
            </a:r>
            <a:r>
              <a:rPr lang="ko-KR" altLang="en-US" b="1">
                <a:solidFill>
                  <a:schemeClr val="bg1"/>
                </a:solidFill>
              </a:rPr>
              <a:t>는 </a:t>
            </a:r>
            <a:r>
              <a:rPr lang="en-US" altLang="ko-KR" b="1">
                <a:solidFill>
                  <a:schemeClr val="bg1"/>
                </a:solidFill>
              </a:rPr>
              <a:t>Google</a:t>
            </a:r>
            <a:r>
              <a:rPr lang="ko-KR" altLang="en-US" b="1">
                <a:solidFill>
                  <a:schemeClr val="bg1"/>
                </a:solidFill>
              </a:rPr>
              <a:t>의 모바일 애플리케이션 </a:t>
            </a:r>
            <a:br>
              <a:rPr lang="en-US" altLang="ko-KR" b="1">
                <a:solidFill>
                  <a:schemeClr val="bg1"/>
                </a:solidFill>
              </a:rPr>
            </a:br>
            <a:r>
              <a:rPr lang="ko-KR" altLang="en-US" b="1">
                <a:solidFill>
                  <a:schemeClr val="bg1"/>
                </a:solidFill>
              </a:rPr>
              <a:t>개발 플랫폼으로</a:t>
            </a:r>
            <a:r>
              <a:rPr lang="en-US" altLang="ko-KR" b="1">
                <a:solidFill>
                  <a:schemeClr val="bg1"/>
                </a:solidFill>
              </a:rPr>
              <a:t>, iOS, Android </a:t>
            </a:r>
            <a:r>
              <a:rPr lang="ko-KR" altLang="en-US" b="1">
                <a:solidFill>
                  <a:schemeClr val="bg1"/>
                </a:solidFill>
              </a:rPr>
              <a:t>또는 </a:t>
            </a:r>
            <a:br>
              <a:rPr lang="en-US" altLang="ko-KR" b="1">
                <a:solidFill>
                  <a:schemeClr val="bg1"/>
                </a:solidFill>
              </a:rPr>
            </a:br>
            <a:r>
              <a:rPr lang="ko-KR" altLang="en-US" b="1">
                <a:solidFill>
                  <a:schemeClr val="bg1"/>
                </a:solidFill>
              </a:rPr>
              <a:t>웹 애플리케이션의 데이터를 관리하기 위한</a:t>
            </a:r>
            <a:br>
              <a:rPr lang="en-US" altLang="ko-KR" b="1">
                <a:solidFill>
                  <a:schemeClr val="bg1"/>
                </a:solidFill>
              </a:rPr>
            </a:br>
            <a:r>
              <a:rPr lang="ko-KR" altLang="en-US" b="1">
                <a:solidFill>
                  <a:schemeClr val="bg1"/>
                </a:solidFill>
              </a:rPr>
              <a:t>다양한 서비스를 포함하고 있다</a:t>
            </a:r>
            <a:r>
              <a:rPr lang="en-US" altLang="ko-KR" b="1">
                <a:solidFill>
                  <a:schemeClr val="bg1"/>
                </a:solidFill>
              </a:rPr>
              <a:t>.</a:t>
            </a:r>
          </a:p>
          <a:p>
            <a:pPr>
              <a:lnSpc>
                <a:spcPct val="150000"/>
              </a:lnSpc>
            </a:pPr>
            <a:r>
              <a:rPr lang="ko-KR" altLang="en-US" b="1">
                <a:solidFill>
                  <a:schemeClr val="bg1"/>
                </a:solidFill>
              </a:rPr>
              <a:t>이번 수업에서는  </a:t>
            </a:r>
            <a:r>
              <a:rPr lang="en-US" altLang="ko-KR" b="1">
                <a:solidFill>
                  <a:schemeClr val="bg1"/>
                </a:solidFill>
              </a:rPr>
              <a:t>Realtime Database(RTDB)</a:t>
            </a:r>
            <a:r>
              <a:rPr lang="ko-KR" altLang="en-US" b="1">
                <a:solidFill>
                  <a:schemeClr val="bg1"/>
                </a:solidFill>
              </a:rPr>
              <a:t>를 </a:t>
            </a:r>
            <a:br>
              <a:rPr lang="en-US" altLang="ko-KR" b="1">
                <a:solidFill>
                  <a:schemeClr val="bg1"/>
                </a:solidFill>
              </a:rPr>
            </a:br>
            <a:r>
              <a:rPr lang="ko-KR" altLang="en-US" b="1">
                <a:solidFill>
                  <a:schemeClr val="bg1"/>
                </a:solidFill>
              </a:rPr>
              <a:t>사용하는 </a:t>
            </a:r>
            <a:r>
              <a:rPr lang="en-US" altLang="ko-KR" b="1">
                <a:solidFill>
                  <a:schemeClr val="bg1"/>
                </a:solidFill>
              </a:rPr>
              <a:t>Firebase </a:t>
            </a:r>
            <a:r>
              <a:rPr lang="ko-KR" altLang="en-US" b="1">
                <a:solidFill>
                  <a:schemeClr val="bg1"/>
                </a:solidFill>
              </a:rPr>
              <a:t>프로젝트를 생성하고</a:t>
            </a:r>
            <a:r>
              <a:rPr lang="en-US" altLang="ko-KR" b="1">
                <a:solidFill>
                  <a:schemeClr val="bg1"/>
                </a:solidFill>
              </a:rPr>
              <a:t>, </a:t>
            </a:r>
            <a:br>
              <a:rPr lang="en-US" altLang="ko-KR" b="1">
                <a:solidFill>
                  <a:schemeClr val="bg1"/>
                </a:solidFill>
              </a:rPr>
            </a:br>
            <a:r>
              <a:rPr lang="en-US" altLang="ko-KR" b="1">
                <a:solidFill>
                  <a:schemeClr val="bg1"/>
                </a:solidFill>
              </a:rPr>
              <a:t>ESP32</a:t>
            </a:r>
            <a:r>
              <a:rPr lang="ko-KR" altLang="en-US" b="1">
                <a:solidFill>
                  <a:schemeClr val="bg1"/>
                </a:solidFill>
              </a:rPr>
              <a:t>를 사용하여 데이터베이스에 값을 </a:t>
            </a:r>
            <a:br>
              <a:rPr lang="en-US" altLang="ko-KR" b="1">
                <a:solidFill>
                  <a:schemeClr val="bg1"/>
                </a:solidFill>
              </a:rPr>
            </a:br>
            <a:r>
              <a:rPr lang="ko-KR" altLang="en-US" b="1">
                <a:solidFill>
                  <a:schemeClr val="bg1"/>
                </a:solidFill>
              </a:rPr>
              <a:t>저장하고 읽는 방법을 학습한다</a:t>
            </a:r>
            <a:r>
              <a:rPr lang="en-US" altLang="ko-KR" b="1">
                <a:solidFill>
                  <a:schemeClr val="bg1"/>
                </a:solidFill>
              </a:rPr>
              <a:t>.</a:t>
            </a:r>
          </a:p>
        </p:txBody>
      </p:sp>
      <p:sp>
        <p:nvSpPr>
          <p:cNvPr id="5" name="직사각형 4">
            <a:extLst>
              <a:ext uri="{FF2B5EF4-FFF2-40B4-BE49-F238E27FC236}">
                <a16:creationId xmlns:a16="http://schemas.microsoft.com/office/drawing/2014/main" id="{641ECBE6-4942-5D2F-52E8-0D7F4A585BE4}"/>
              </a:ext>
            </a:extLst>
          </p:cNvPr>
          <p:cNvSpPr/>
          <p:nvPr/>
        </p:nvSpPr>
        <p:spPr>
          <a:xfrm>
            <a:off x="1563444" y="2459389"/>
            <a:ext cx="9054353" cy="369332"/>
          </a:xfrm>
          <a:prstGeom prst="rect">
            <a:avLst/>
          </a:prstGeom>
        </p:spPr>
        <p:txBody>
          <a:bodyPr wrap="square">
            <a:spAutoFit/>
          </a:bodyPr>
          <a:lstStyle/>
          <a:p>
            <a:r>
              <a:rPr lang="en-US" altLang="ko-KR">
                <a:solidFill>
                  <a:schemeClr val="bg1"/>
                </a:solidFill>
                <a:hlinkClick r:id="rId3">
                  <a:extLst>
                    <a:ext uri="{A12FA001-AC4F-418D-AE19-62706E023703}">
                      <ahyp:hlinkClr xmlns:ahyp="http://schemas.microsoft.com/office/drawing/2018/hyperlinkcolor" val="tx"/>
                    </a:ext>
                  </a:extLst>
                </a:hlinkClick>
              </a:rPr>
              <a:t>ESP32: Getting Started with Firebase (Realtime Database) | Random Nerd Tutorials</a:t>
            </a:r>
            <a:endParaRPr lang="ko-KR" altLang="en-US">
              <a:solidFill>
                <a:schemeClr val="bg1"/>
              </a:solidFill>
            </a:endParaRPr>
          </a:p>
        </p:txBody>
      </p:sp>
    </p:spTree>
    <p:extLst>
      <p:ext uri="{BB962C8B-B14F-4D97-AF65-F5344CB8AC3E}">
        <p14:creationId xmlns:p14="http://schemas.microsoft.com/office/powerpoint/2010/main" val="150754997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994B1-D8DC-59EB-1E16-8158F226327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0C48559-1120-A294-E863-2B659254739C}"/>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FE395374-C3F0-C4DC-A64D-3F35895CE67A}"/>
              </a:ext>
            </a:extLst>
          </p:cNvPr>
          <p:cNvSpPr/>
          <p:nvPr/>
        </p:nvSpPr>
        <p:spPr>
          <a:xfrm>
            <a:off x="222173" y="790715"/>
            <a:ext cx="1174765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a:t>
            </a:r>
            <a:r>
              <a:rPr lang="en-US" altLang="ko-KR"/>
              <a:t>Google</a:t>
            </a:r>
            <a:r>
              <a:rPr lang="ko-KR" altLang="en-US"/>
              <a:t>의 모바일 애플리케이션 개발 플랫폼으로</a:t>
            </a:r>
            <a:r>
              <a:rPr lang="en-US" altLang="ko-KR"/>
              <a:t>, </a:t>
            </a:r>
            <a:r>
              <a:rPr lang="ko-KR" altLang="en-US"/>
              <a:t>앱을 구축</a:t>
            </a:r>
            <a:r>
              <a:rPr lang="en-US" altLang="ko-KR"/>
              <a:t>, </a:t>
            </a:r>
            <a:r>
              <a:rPr lang="ko-KR" altLang="en-US"/>
              <a:t>개선</a:t>
            </a:r>
            <a:r>
              <a:rPr lang="en-US" altLang="ko-KR"/>
              <a:t>, </a:t>
            </a:r>
            <a:r>
              <a:rPr lang="ko-KR" altLang="en-US"/>
              <a:t>성장시키는 데 도움을 준다</a:t>
            </a:r>
            <a:r>
              <a:rPr lang="en-US" altLang="ko-KR"/>
              <a:t>. Android, iOS </a:t>
            </a:r>
            <a:r>
              <a:rPr lang="ko-KR" altLang="en-US"/>
              <a:t>또는 웹 애플리케이션의 데이터를 관리하는 데 사용되는 다양한 서비스를 제공한다</a:t>
            </a:r>
            <a:r>
              <a:rPr lang="en-US" altLang="ko-KR"/>
              <a:t>.</a:t>
            </a:r>
            <a:endParaRPr lang="ko-KR" altLang="en-US"/>
          </a:p>
        </p:txBody>
      </p:sp>
      <p:sp>
        <p:nvSpPr>
          <p:cNvPr id="6" name="직사각형 5">
            <a:extLst>
              <a:ext uri="{FF2B5EF4-FFF2-40B4-BE49-F238E27FC236}">
                <a16:creationId xmlns:a16="http://schemas.microsoft.com/office/drawing/2014/main" id="{50BDBE11-8D34-53AE-84BD-AADAB3AA2664}"/>
              </a:ext>
            </a:extLst>
          </p:cNvPr>
          <p:cNvSpPr/>
          <p:nvPr/>
        </p:nvSpPr>
        <p:spPr>
          <a:xfrm>
            <a:off x="547170" y="1660505"/>
            <a:ext cx="11097658" cy="2118080"/>
          </a:xfrm>
          <a:prstGeom prst="rect">
            <a:avLst/>
          </a:prstGeom>
        </p:spPr>
        <p:txBody>
          <a:bodyPr wrap="square">
            <a:spAutoFit/>
          </a:bodyPr>
          <a:lstStyle/>
          <a:p>
            <a:pPr>
              <a:lnSpc>
                <a:spcPct val="150000"/>
              </a:lnSpc>
            </a:pPr>
            <a:r>
              <a:rPr lang="en-US" altLang="ko-KR">
                <a:solidFill>
                  <a:srgbClr val="3A3A3A"/>
                </a:solidFill>
                <a:latin typeface="Helvetica" panose="020B0604020202020204" pitchFamily="34" charset="0"/>
              </a:rPr>
              <a:t>“</a:t>
            </a:r>
            <a:r>
              <a:rPr lang="en-US" altLang="ko-KR" i="1">
                <a:solidFill>
                  <a:srgbClr val="3A3A3A"/>
                </a:solidFill>
                <a:latin typeface="Helvetica" panose="020B0604020202020204" pitchFamily="34" charset="0"/>
              </a:rPr>
              <a:t>Firebase is a toolset to “build, improve, and grow your app”, and the tools it gives you cover a large portion of the services that developers would normally have to build themselves</a:t>
            </a:r>
            <a:r>
              <a:rPr lang="en-US" altLang="ko-KR">
                <a:solidFill>
                  <a:srgbClr val="3A3A3A"/>
                </a:solidFill>
                <a:latin typeface="Helvetica" panose="020B0604020202020204" pitchFamily="34" charset="0"/>
              </a:rPr>
              <a:t> </a:t>
            </a:r>
            <a:r>
              <a:rPr lang="en-US" altLang="ko-KR" i="1">
                <a:solidFill>
                  <a:srgbClr val="3A3A3A"/>
                </a:solidFill>
                <a:latin typeface="Helvetica" panose="020B0604020202020204" pitchFamily="34" charset="0"/>
              </a:rPr>
              <a:t>but don’t really want to build because they’d rather be focusing on the app experience itself. This includes things like analytics, authentication, databases, configuration, file storage, push messaging, and the list goes on</a:t>
            </a:r>
            <a:r>
              <a:rPr lang="en-US" altLang="ko-KR">
                <a:solidFill>
                  <a:srgbClr val="3A3A3A"/>
                </a:solidFill>
                <a:latin typeface="Helvetica" panose="020B0604020202020204" pitchFamily="34" charset="0"/>
              </a:rPr>
              <a:t>. The services are hosted in the cloud</a:t>
            </a:r>
            <a:r>
              <a:rPr lang="en-US" altLang="ko-KR" i="1">
                <a:solidFill>
                  <a:srgbClr val="3A3A3A"/>
                </a:solidFill>
                <a:latin typeface="Helvetica" panose="020B0604020202020204" pitchFamily="34" charset="0"/>
              </a:rPr>
              <a:t> and scale with little to no effort on the part of the developer</a:t>
            </a:r>
            <a:r>
              <a:rPr lang="en-US" altLang="ko-KR">
                <a:solidFill>
                  <a:srgbClr val="3A3A3A"/>
                </a:solidFill>
                <a:latin typeface="Helvetica" panose="020B0604020202020204" pitchFamily="34" charset="0"/>
              </a:rPr>
              <a:t>.”</a:t>
            </a:r>
            <a:endParaRPr lang="ko-KR" altLang="en-US"/>
          </a:p>
        </p:txBody>
      </p:sp>
      <p:sp>
        <p:nvSpPr>
          <p:cNvPr id="7" name="직사각형 6">
            <a:extLst>
              <a:ext uri="{FF2B5EF4-FFF2-40B4-BE49-F238E27FC236}">
                <a16:creationId xmlns:a16="http://schemas.microsoft.com/office/drawing/2014/main" id="{58966C06-2DE2-0317-4530-B562D84CC569}"/>
              </a:ext>
            </a:extLst>
          </p:cNvPr>
          <p:cNvSpPr/>
          <p:nvPr/>
        </p:nvSpPr>
        <p:spPr>
          <a:xfrm>
            <a:off x="547170" y="3905335"/>
            <a:ext cx="10954440" cy="1699440"/>
          </a:xfrm>
          <a:prstGeom prst="rect">
            <a:avLst/>
          </a:prstGeom>
        </p:spPr>
        <p:txBody>
          <a:bodyPr wrap="square">
            <a:spAutoFit/>
          </a:bodyPr>
          <a:lstStyle/>
          <a:p>
            <a:pPr>
              <a:lnSpc>
                <a:spcPct val="150000"/>
              </a:lnSpc>
            </a:pP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"Firebase</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는 앱을 </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구축</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개선</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성장</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시키기 위한 도구 모음이며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제공되는 도구는 개발자들이 일반적으로 직접 구축해야 하지만 실제로는 앱의 사용자 경험에 더 집중하기를 원하는 서비스의 많은 부분을 다룬다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b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b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여기에는 분석</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인증</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데이터베이스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구성</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파일 저장소</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푸시 메시징 등이 포함되며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그 외에도 다양한 서비스가 있다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이러한 서비스는 클라우드에서 호스팅되며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개발자가 거의 또는 전혀 노력하지 않아도 확장된다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endParaRPr lang="ko-KR" altLang="en-US" i="1">
              <a:latin typeface="함초롬바탕" panose="02030604000101010101" pitchFamily="18" charset="-127"/>
              <a:ea typeface="함초롬바탕" panose="02030604000101010101" pitchFamily="18" charset="-127"/>
              <a:cs typeface="함초롬바탕" panose="02030604000101010101" pitchFamily="18" charset="-127"/>
            </a:endParaRPr>
          </a:p>
        </p:txBody>
      </p:sp>
    </p:spTree>
    <p:extLst>
      <p:ext uri="{BB962C8B-B14F-4D97-AF65-F5344CB8AC3E}">
        <p14:creationId xmlns:p14="http://schemas.microsoft.com/office/powerpoint/2010/main" val="46244206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pic>
        <p:nvPicPr>
          <p:cNvPr id="10" name="그림 9">
            <a:extLst>
              <a:ext uri="{FF2B5EF4-FFF2-40B4-BE49-F238E27FC236}">
                <a16:creationId xmlns:a16="http://schemas.microsoft.com/office/drawing/2014/main" id="{C38406E7-C9BF-4B01-8E38-3D61EFC1A4A4}"/>
              </a:ext>
            </a:extLst>
          </p:cNvPr>
          <p:cNvPicPr>
            <a:picLocks noChangeAspect="1"/>
          </p:cNvPicPr>
          <p:nvPr/>
        </p:nvPicPr>
        <p:blipFill>
          <a:blip r:embed="rId2"/>
          <a:stretch>
            <a:fillRect/>
          </a:stretch>
        </p:blipFill>
        <p:spPr>
          <a:xfrm>
            <a:off x="-1" y="0"/>
            <a:ext cx="12191999" cy="6857999"/>
          </a:xfrm>
          <a:prstGeom prst="rect">
            <a:avLst/>
          </a:prstGeom>
        </p:spPr>
      </p:pic>
      <p:sp>
        <p:nvSpPr>
          <p:cNvPr id="2" name="직사각형 1">
            <a:extLst>
              <a:ext uri="{FF2B5EF4-FFF2-40B4-BE49-F238E27FC236}">
                <a16:creationId xmlns:a16="http://schemas.microsoft.com/office/drawing/2014/main" id="{D57E7A8F-4BE2-4384-BFCA-37F38AA1761C}"/>
              </a:ext>
            </a:extLst>
          </p:cNvPr>
          <p:cNvSpPr/>
          <p:nvPr/>
        </p:nvSpPr>
        <p:spPr>
          <a:xfrm>
            <a:off x="0" y="6072970"/>
            <a:ext cx="10207690" cy="338554"/>
          </a:xfrm>
          <a:prstGeom prst="rect">
            <a:avLst/>
          </a:prstGeom>
        </p:spPr>
        <p:txBody>
          <a:bodyPr wrap="square">
            <a:spAutoFit/>
          </a:bodyPr>
          <a:lstStyle/>
          <a:p>
            <a:r>
              <a:rPr lang="en-US" altLang="ko-KR" sz="1600">
                <a:hlinkClick r:id="rId3"/>
              </a:rPr>
              <a:t>What is Firebase? The complete story, abridged. | by Doug Stevenson | Firebase Developers | Medium</a:t>
            </a:r>
            <a:endParaRPr lang="ko-KR" altLang="en-US" sz="1600"/>
          </a:p>
        </p:txBody>
      </p:sp>
    </p:spTree>
    <p:extLst>
      <p:ext uri="{BB962C8B-B14F-4D97-AF65-F5344CB8AC3E}">
        <p14:creationId xmlns:p14="http://schemas.microsoft.com/office/powerpoint/2010/main" val="20885816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    </a:t>
            </a:r>
            <a:r>
              <a:rPr lang="en-US" altLang="ko-KR" sz="2000" b="1">
                <a:solidFill>
                  <a:schemeClr val="tx1"/>
                </a:solidFill>
                <a:sym typeface="Wingdings" panose="05000000000000000000" pitchFamily="2" charset="2"/>
              </a:rPr>
              <a:t>  </a:t>
            </a:r>
            <a:r>
              <a:rPr lang="ko-KR" altLang="en-US" sz="2000" b="1">
                <a:solidFill>
                  <a:schemeClr val="tx1"/>
                </a:solidFill>
              </a:rPr>
              <a:t> </a:t>
            </a:r>
            <a:r>
              <a:rPr lang="en-US" altLang="ko-KR" sz="2000" b="1">
                <a:solidFill>
                  <a:schemeClr val="tx1"/>
                </a:solidFill>
              </a:rPr>
              <a:t>https://medium.com</a:t>
            </a:r>
            <a:endParaRPr lang="ko-KR" altLang="en-US" sz="2000" b="1" dirty="0">
              <a:solidFill>
                <a:schemeClr val="tx1"/>
              </a:solidFill>
            </a:endParaRPr>
          </a:p>
        </p:txBody>
      </p:sp>
      <p:sp>
        <p:nvSpPr>
          <p:cNvPr id="8" name="직사각형 7">
            <a:extLst>
              <a:ext uri="{FF2B5EF4-FFF2-40B4-BE49-F238E27FC236}">
                <a16:creationId xmlns:a16="http://schemas.microsoft.com/office/drawing/2014/main" id="{975638EF-7761-4581-93F0-462A2FC41981}"/>
              </a:ext>
            </a:extLst>
          </p:cNvPr>
          <p:cNvSpPr/>
          <p:nvPr/>
        </p:nvSpPr>
        <p:spPr>
          <a:xfrm>
            <a:off x="0" y="6488667"/>
            <a:ext cx="11295961" cy="369332"/>
          </a:xfrm>
          <a:prstGeom prst="rect">
            <a:avLst/>
          </a:prstGeom>
        </p:spPr>
        <p:txBody>
          <a:bodyPr wrap="square">
            <a:spAutoFit/>
          </a:bodyPr>
          <a:lstStyle/>
          <a:p>
            <a:r>
              <a:rPr lang="en-US" altLang="ko-KR">
                <a:hlinkClick r:id="rId2"/>
              </a:rPr>
              <a:t>What is Firebase? The complete story, abridged. | by Doug Stevenson | Firebase Developers | Medium</a:t>
            </a:r>
            <a:endParaRPr lang="ko-KR" altLang="en-US"/>
          </a:p>
        </p:txBody>
      </p:sp>
      <p:sp>
        <p:nvSpPr>
          <p:cNvPr id="9" name="직사각형 8">
            <a:extLst>
              <a:ext uri="{FF2B5EF4-FFF2-40B4-BE49-F238E27FC236}">
                <a16:creationId xmlns:a16="http://schemas.microsoft.com/office/drawing/2014/main" id="{46527702-95C5-4886-B6C7-FEEE334AF4A0}"/>
              </a:ext>
            </a:extLst>
          </p:cNvPr>
          <p:cNvSpPr/>
          <p:nvPr/>
        </p:nvSpPr>
        <p:spPr>
          <a:xfrm>
            <a:off x="0" y="840788"/>
            <a:ext cx="12063470"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만약 모바일 앱으로 인류의 긴급한 필요를 해결하는 데 도전하는 진취적인 사람이라면 </a:t>
            </a:r>
            <a:r>
              <a:rPr lang="en-US" altLang="ko-KR"/>
              <a:t>Firebase</a:t>
            </a:r>
            <a:r>
              <a:rPr lang="ko-KR" altLang="en-US"/>
              <a:t>를 알아야 한다</a:t>
            </a:r>
            <a:r>
              <a:rPr lang="en-US" altLang="ko-KR"/>
              <a:t>. Firebase</a:t>
            </a:r>
            <a:r>
              <a:rPr lang="ko-KR" altLang="en-US"/>
              <a:t>는 </a:t>
            </a:r>
            <a:r>
              <a:rPr lang="en-US" altLang="ko-KR"/>
              <a:t>Google</a:t>
            </a:r>
            <a:r>
              <a:rPr lang="ko-KR" altLang="en-US"/>
              <a:t>의 모바일 애플리케이션 개발 플랫폼으로</a:t>
            </a:r>
            <a:r>
              <a:rPr lang="en-US" altLang="ko-KR"/>
              <a:t>, </a:t>
            </a:r>
            <a:r>
              <a:rPr lang="ko-KR" altLang="en-US"/>
              <a:t>앱을 구축</a:t>
            </a:r>
            <a:r>
              <a:rPr lang="en-US" altLang="ko-KR"/>
              <a:t>, </a:t>
            </a:r>
            <a:r>
              <a:rPr lang="ko-KR" altLang="en-US"/>
              <a:t>개선</a:t>
            </a:r>
            <a:r>
              <a:rPr lang="en-US" altLang="ko-KR"/>
              <a:t>, </a:t>
            </a:r>
            <a:r>
              <a:rPr lang="ko-KR" altLang="en-US"/>
              <a:t>성장시키는 데 도움을 줍니다</a:t>
            </a:r>
            <a:r>
              <a:rPr lang="en-US" altLang="ko-KR"/>
              <a:t>.</a:t>
            </a:r>
          </a:p>
        </p:txBody>
      </p:sp>
      <p:graphicFrame>
        <p:nvGraphicFramePr>
          <p:cNvPr id="3" name="다이어그램 2">
            <a:extLst>
              <a:ext uri="{FF2B5EF4-FFF2-40B4-BE49-F238E27FC236}">
                <a16:creationId xmlns:a16="http://schemas.microsoft.com/office/drawing/2014/main" id="{9C50BB68-5D85-432D-B625-C15CC6A8405E}"/>
              </a:ext>
            </a:extLst>
          </p:cNvPr>
          <p:cNvGraphicFramePr/>
          <p:nvPr/>
        </p:nvGraphicFramePr>
        <p:xfrm>
          <a:off x="921745" y="1879337"/>
          <a:ext cx="9984954" cy="1384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21443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8A86BF22-1BB2-4481-BBEC-E40C343C6640}"/>
              </a:ext>
            </a:extLst>
          </p:cNvPr>
          <p:cNvSpPr/>
          <p:nvPr/>
        </p:nvSpPr>
        <p:spPr>
          <a:xfrm>
            <a:off x="282766" y="787548"/>
            <a:ext cx="11406130" cy="460927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“클라우드에서 호스팅된다”는 말은 </a:t>
            </a:r>
            <a:r>
              <a:rPr lang="en-US" altLang="ko-KR"/>
              <a:t>Firebase </a:t>
            </a:r>
            <a:r>
              <a:rPr lang="ko-KR" altLang="en-US"/>
              <a:t>제품이 </a:t>
            </a:r>
            <a:r>
              <a:rPr lang="en-US" altLang="ko-KR"/>
              <a:t>Google</a:t>
            </a:r>
            <a:r>
              <a:rPr lang="ko-KR" altLang="en-US"/>
              <a:t>에서 완전히 관리 및 운영하는 백엔드 구성 </a:t>
            </a:r>
            <a:br>
              <a:rPr lang="en-US" altLang="ko-KR"/>
            </a:br>
            <a:r>
              <a:rPr lang="ko-KR" altLang="en-US"/>
              <a:t>요소를 가지고 있다는 의미이다</a:t>
            </a:r>
            <a:r>
              <a:rPr lang="en-US" altLang="ko-KR"/>
              <a:t>.</a:t>
            </a:r>
          </a:p>
          <a:p>
            <a:pPr marL="285750" indent="-285750">
              <a:lnSpc>
                <a:spcPct val="150000"/>
              </a:lnSpc>
              <a:buFont typeface="Arial" panose="020B0604020202020204" pitchFamily="34" charset="0"/>
              <a:buChar char="•"/>
            </a:pPr>
            <a:r>
              <a:rPr lang="en-US" altLang="ko-KR"/>
              <a:t>Firebase</a:t>
            </a:r>
            <a:r>
              <a:rPr lang="ko-KR" altLang="en-US"/>
              <a:t>에서 제공하는 클라이언트 </a:t>
            </a:r>
            <a:r>
              <a:rPr lang="en-US" altLang="ko-KR"/>
              <a:t>SDK</a:t>
            </a:r>
            <a:r>
              <a:rPr lang="ko-KR" altLang="en-US"/>
              <a:t>는 이러한 백엔드 서비스와 직접 상호작용하며</a:t>
            </a:r>
            <a:r>
              <a:rPr lang="en-US" altLang="ko-KR"/>
              <a:t>, </a:t>
            </a:r>
            <a:br>
              <a:rPr lang="en-US" altLang="ko-KR"/>
            </a:br>
            <a:r>
              <a:rPr lang="ko-KR" altLang="en-US" u="sng"/>
              <a:t>앱과 서비스 간에 미들웨어를 설정할 필요가 없다</a:t>
            </a:r>
            <a:r>
              <a:rPr lang="en-US" altLang="ko-KR" u="sng"/>
              <a:t>. </a:t>
            </a:r>
          </a:p>
          <a:p>
            <a:pPr marL="285750" indent="-285750">
              <a:lnSpc>
                <a:spcPct val="150000"/>
              </a:lnSpc>
              <a:buFont typeface="Arial" panose="020B0604020202020204" pitchFamily="34" charset="0"/>
              <a:buChar char="•"/>
            </a:pPr>
            <a:r>
              <a:rPr lang="ko-KR" altLang="en-US"/>
              <a:t>따라서 </a:t>
            </a:r>
            <a:r>
              <a:rPr lang="en-US" altLang="ko-KR"/>
              <a:t>Firebase </a:t>
            </a:r>
            <a:r>
              <a:rPr lang="ko-KR" altLang="en-US"/>
              <a:t>데이터베이스 옵션 중 하나를 사용할 경우</a:t>
            </a:r>
            <a:r>
              <a:rPr lang="en-US" altLang="ko-KR"/>
              <a:t>, </a:t>
            </a:r>
            <a:br>
              <a:rPr lang="en-US" altLang="ko-KR"/>
            </a:br>
            <a:r>
              <a:rPr lang="ko-KR" altLang="en-US"/>
              <a:t>일반적으로 클라이언트 앱에서 데이터베이스를 쿼리하는 코드를 작성하게 된다</a:t>
            </a:r>
            <a:r>
              <a:rPr lang="en-US" altLang="ko-KR"/>
              <a:t>.</a:t>
            </a:r>
          </a:p>
          <a:p>
            <a:pPr marL="285750" indent="-285750">
              <a:lnSpc>
                <a:spcPct val="150000"/>
              </a:lnSpc>
              <a:buFont typeface="Arial" panose="020B0604020202020204" pitchFamily="34" charset="0"/>
              <a:buChar char="•"/>
            </a:pPr>
            <a:r>
              <a:rPr lang="ko-KR" altLang="en-US"/>
              <a:t>이는 </a:t>
            </a:r>
            <a:r>
              <a:rPr lang="ko-KR" altLang="en-US" i="1" u="sng"/>
              <a:t>전통적인 앱 개발 방식과는 다르다</a:t>
            </a:r>
            <a:r>
              <a:rPr lang="en-US" altLang="ko-KR" i="1" u="sng"/>
              <a:t>. </a:t>
            </a:r>
          </a:p>
          <a:p>
            <a:pPr marL="285750" indent="-285750">
              <a:lnSpc>
                <a:spcPct val="150000"/>
              </a:lnSpc>
              <a:buFont typeface="Arial" panose="020B0604020202020204" pitchFamily="34" charset="0"/>
              <a:buChar char="•"/>
            </a:pPr>
            <a:r>
              <a:rPr lang="ko-KR" altLang="en-US"/>
              <a:t>전통적인 방식에서는 프론트엔드와 백엔드 소프트웨어를 모두 작성해야 한다</a:t>
            </a:r>
            <a:r>
              <a:rPr lang="en-US" altLang="ko-KR"/>
              <a:t>. </a:t>
            </a:r>
            <a:br>
              <a:rPr lang="en-US" altLang="ko-KR"/>
            </a:br>
            <a:r>
              <a:rPr lang="ko-KR" altLang="en-US"/>
              <a:t>프론트엔드 코드는 백엔드에서 노출된 </a:t>
            </a:r>
            <a:r>
              <a:rPr lang="en-US" altLang="ko-KR"/>
              <a:t>API </a:t>
            </a:r>
            <a:r>
              <a:rPr lang="ko-KR" altLang="en-US"/>
              <a:t>엔드포인트를 호출하고</a:t>
            </a:r>
            <a:r>
              <a:rPr lang="en-US" altLang="ko-KR"/>
              <a:t>, </a:t>
            </a:r>
            <a:r>
              <a:rPr lang="ko-KR" altLang="en-US"/>
              <a:t>실제 작업은 백엔드 코드가 수행한다</a:t>
            </a:r>
            <a:r>
              <a:rPr lang="en-US" altLang="ko-KR"/>
              <a:t>. </a:t>
            </a:r>
          </a:p>
          <a:p>
            <a:pPr marL="285750" indent="-285750">
              <a:lnSpc>
                <a:spcPct val="150000"/>
              </a:lnSpc>
              <a:buFont typeface="Arial" panose="020B0604020202020204" pitchFamily="34" charset="0"/>
              <a:buChar char="•"/>
            </a:pPr>
            <a:r>
              <a:rPr lang="ko-KR" altLang="en-US"/>
              <a:t>그러나 </a:t>
            </a:r>
            <a:r>
              <a:rPr lang="en-US" altLang="ko-KR" i="1" u="sng">
                <a:solidFill>
                  <a:schemeClr val="accent2">
                    <a:lumMod val="75000"/>
                  </a:schemeClr>
                </a:solidFill>
              </a:rPr>
              <a:t>Firebase </a:t>
            </a:r>
            <a:r>
              <a:rPr lang="ko-KR" altLang="en-US" i="1" u="sng">
                <a:solidFill>
                  <a:schemeClr val="accent2">
                    <a:lumMod val="75000"/>
                  </a:schemeClr>
                </a:solidFill>
              </a:rPr>
              <a:t>제품을 사용하면 전통적인 백엔드를 생략하고 작업을 클라이언트로 전가한다</a:t>
            </a:r>
            <a:r>
              <a:rPr lang="en-US" altLang="ko-KR" i="1" u="sng">
                <a:solidFill>
                  <a:schemeClr val="accent2">
                    <a:lumMod val="75000"/>
                  </a:schemeClr>
                </a:solidFill>
              </a:rPr>
              <a:t>. </a:t>
            </a:r>
            <a:br>
              <a:rPr lang="en-US" altLang="ko-KR" i="1" u="sng">
                <a:solidFill>
                  <a:schemeClr val="accent2">
                    <a:lumMod val="75000"/>
                  </a:schemeClr>
                </a:solidFill>
              </a:rPr>
            </a:br>
            <a:r>
              <a:rPr lang="ko-KR" altLang="en-US"/>
              <a:t>이러한 제품들에 대한 관리 액세스는 </a:t>
            </a:r>
            <a:r>
              <a:rPr lang="en-US" altLang="ko-KR"/>
              <a:t>Firebase </a:t>
            </a:r>
            <a:r>
              <a:rPr lang="ko-KR" altLang="en-US"/>
              <a:t>콘솔을 통해 제공한다</a:t>
            </a:r>
            <a:r>
              <a:rPr lang="en-US" altLang="ko-KR"/>
              <a:t>.</a:t>
            </a:r>
          </a:p>
        </p:txBody>
      </p:sp>
    </p:spTree>
    <p:extLst>
      <p:ext uri="{BB962C8B-B14F-4D97-AF65-F5344CB8AC3E}">
        <p14:creationId xmlns:p14="http://schemas.microsoft.com/office/powerpoint/2010/main" val="152481145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C8EDACE3-EA11-41F8-BD83-C579DFADEEC2}"/>
              </a:ext>
            </a:extLst>
          </p:cNvPr>
          <p:cNvPicPr>
            <a:picLocks noChangeAspect="1"/>
          </p:cNvPicPr>
          <p:nvPr/>
        </p:nvPicPr>
        <p:blipFill>
          <a:blip r:embed="rId2"/>
          <a:stretch>
            <a:fillRect/>
          </a:stretch>
        </p:blipFill>
        <p:spPr>
          <a:xfrm>
            <a:off x="1612524" y="894884"/>
            <a:ext cx="7494900" cy="4682895"/>
          </a:xfrm>
          <a:prstGeom prst="rect">
            <a:avLst/>
          </a:prstGeom>
        </p:spPr>
      </p:pic>
      <p:sp>
        <p:nvSpPr>
          <p:cNvPr id="3" name="직사각형 2">
            <a:extLst>
              <a:ext uri="{FF2B5EF4-FFF2-40B4-BE49-F238E27FC236}">
                <a16:creationId xmlns:a16="http://schemas.microsoft.com/office/drawing/2014/main" id="{4F1DE602-B187-44C3-B4C2-62F4A1415C39}"/>
              </a:ext>
            </a:extLst>
          </p:cNvPr>
          <p:cNvSpPr/>
          <p:nvPr/>
        </p:nvSpPr>
        <p:spPr>
          <a:xfrm>
            <a:off x="0" y="6211668"/>
            <a:ext cx="6096000" cy="646331"/>
          </a:xfrm>
          <a:prstGeom prst="rect">
            <a:avLst/>
          </a:prstGeom>
        </p:spPr>
        <p:txBody>
          <a:bodyPr>
            <a:spAutoFit/>
          </a:bodyPr>
          <a:lstStyle/>
          <a:p>
            <a:r>
              <a:rPr lang="en-US" altLang="ko-KR">
                <a:hlinkClick r:id="rId3"/>
              </a:rPr>
              <a:t>What is Firebase? The complete story, abridged. | by Doug Stevenson | Firebase Developers | Medium</a:t>
            </a:r>
            <a:endParaRPr lang="ko-KR" altLang="en-US"/>
          </a:p>
        </p:txBody>
      </p:sp>
    </p:spTree>
    <p:extLst>
      <p:ext uri="{BB962C8B-B14F-4D97-AF65-F5344CB8AC3E}">
        <p14:creationId xmlns:p14="http://schemas.microsoft.com/office/powerpoint/2010/main" val="28924671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Firebase </a:t>
            </a:r>
            <a:r>
              <a:rPr lang="ko-KR" altLang="en-US" sz="2000" b="1">
                <a:solidFill>
                  <a:schemeClr val="tx1"/>
                </a:solidFill>
              </a:rPr>
              <a:t>제품군</a:t>
            </a:r>
            <a:endParaRPr lang="ko-KR" altLang="en-US" sz="2000" b="1" dirty="0">
              <a:solidFill>
                <a:schemeClr val="tx1"/>
              </a:solidFill>
            </a:endParaRPr>
          </a:p>
        </p:txBody>
      </p:sp>
      <p:pic>
        <p:nvPicPr>
          <p:cNvPr id="3" name="그림 2">
            <a:extLst>
              <a:ext uri="{FF2B5EF4-FFF2-40B4-BE49-F238E27FC236}">
                <a16:creationId xmlns:a16="http://schemas.microsoft.com/office/drawing/2014/main" id="{76E59BAD-03D2-4BB6-BFB6-42D299F24868}"/>
              </a:ext>
            </a:extLst>
          </p:cNvPr>
          <p:cNvPicPr>
            <a:picLocks noChangeAspect="1"/>
          </p:cNvPicPr>
          <p:nvPr/>
        </p:nvPicPr>
        <p:blipFill>
          <a:blip r:embed="rId2"/>
          <a:stretch>
            <a:fillRect/>
          </a:stretch>
        </p:blipFill>
        <p:spPr>
          <a:xfrm>
            <a:off x="585216" y="846207"/>
            <a:ext cx="10884408" cy="5621459"/>
          </a:xfrm>
          <a:prstGeom prst="rect">
            <a:avLst/>
          </a:prstGeom>
        </p:spPr>
      </p:pic>
    </p:spTree>
    <p:extLst>
      <p:ext uri="{BB962C8B-B14F-4D97-AF65-F5344CB8AC3E}">
        <p14:creationId xmlns:p14="http://schemas.microsoft.com/office/powerpoint/2010/main" val="16998147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sort of apps is Firebase good for?</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4D92D9C0-1587-43D9-83F9-448D29A7633B}"/>
              </a:ext>
            </a:extLst>
          </p:cNvPr>
          <p:cNvSpPr/>
          <p:nvPr/>
        </p:nvSpPr>
        <p:spPr>
          <a:xfrm>
            <a:off x="204216" y="736037"/>
            <a:ext cx="11911584"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Firebase </a:t>
            </a:r>
            <a:r>
              <a:rPr lang="ko-KR" altLang="en-US" sz="1600"/>
              <a:t>제품이 도움이 될 수 있는 앱의 유형에는 사실상 제한이 없다</a:t>
            </a:r>
            <a:r>
              <a:rPr lang="en-US" altLang="ko-KR" sz="1600"/>
              <a:t>. </a:t>
            </a:r>
            <a:r>
              <a:rPr lang="ko-KR" altLang="en-US" sz="1600"/>
              <a:t>다만</a:t>
            </a:r>
            <a:r>
              <a:rPr lang="en-US" altLang="ko-KR" sz="1600"/>
              <a:t>, </a:t>
            </a:r>
            <a:r>
              <a:rPr lang="ko-KR" altLang="en-US" sz="1600"/>
              <a:t>사용 가능한 플랫폼에는 몇 가지 한계가 있다</a:t>
            </a:r>
            <a:r>
              <a:rPr lang="en-US" altLang="ko-KR" sz="1600"/>
              <a:t>. </a:t>
            </a:r>
          </a:p>
          <a:p>
            <a:pPr marL="285750" indent="-285750">
              <a:lnSpc>
                <a:spcPct val="150000"/>
              </a:lnSpc>
              <a:buFont typeface="Arial" panose="020B0604020202020204" pitchFamily="34" charset="0"/>
              <a:buChar char="•"/>
            </a:pPr>
            <a:r>
              <a:rPr lang="en-US" altLang="ko-KR" sz="1600"/>
              <a:t>Firebase SDK</a:t>
            </a:r>
            <a:r>
              <a:rPr lang="ko-KR" altLang="en-US" sz="1600"/>
              <a:t>의 주요 대상은 </a:t>
            </a:r>
            <a:r>
              <a:rPr lang="en-US" altLang="ko-KR" sz="1600"/>
              <a:t>iOS</a:t>
            </a:r>
            <a:r>
              <a:rPr lang="ko-KR" altLang="en-US" sz="1600"/>
              <a:t>와 </a:t>
            </a:r>
            <a:r>
              <a:rPr lang="en-US" altLang="ko-KR" sz="1600"/>
              <a:t>Android</a:t>
            </a:r>
            <a:r>
              <a:rPr lang="ko-KR" altLang="en-US" sz="1600"/>
              <a:t>이며</a:t>
            </a:r>
            <a:r>
              <a:rPr lang="en-US" altLang="ko-KR" sz="1600"/>
              <a:t>, </a:t>
            </a:r>
            <a:r>
              <a:rPr lang="ko-KR" altLang="en-US" sz="1600"/>
              <a:t>웹</a:t>
            </a:r>
            <a:r>
              <a:rPr lang="en-US" altLang="ko-KR" sz="1600"/>
              <a:t>, Flutter, Unity, C++</a:t>
            </a:r>
            <a:r>
              <a:rPr lang="ko-KR" altLang="en-US" sz="1600"/>
              <a:t>에 대한 지원도 점점 확대되고 있다</a:t>
            </a:r>
            <a:r>
              <a:rPr lang="en-US" altLang="ko-KR" sz="1600"/>
              <a:t>. </a:t>
            </a:r>
          </a:p>
          <a:p>
            <a:pPr marL="285750" indent="-285750">
              <a:lnSpc>
                <a:spcPct val="150000"/>
              </a:lnSpc>
              <a:buFont typeface="Arial" panose="020B0604020202020204" pitchFamily="34" charset="0"/>
              <a:buChar char="•"/>
            </a:pPr>
            <a:r>
              <a:rPr lang="ko-KR" altLang="en-US" sz="1600"/>
              <a:t>또한</a:t>
            </a:r>
            <a:r>
              <a:rPr lang="en-US" altLang="ko-KR" sz="1600"/>
              <a:t>, </a:t>
            </a:r>
            <a:r>
              <a:rPr lang="ko-KR" altLang="en-US" sz="1600"/>
              <a:t>필요한 백엔드 구성 요소와 함께 사용할 수 있는 다양한 언어용 </a:t>
            </a:r>
            <a:r>
              <a:rPr lang="en-US" altLang="ko-KR" sz="1600"/>
              <a:t>Admin SDK</a:t>
            </a:r>
            <a:r>
              <a:rPr lang="ko-KR" altLang="en-US" sz="1600"/>
              <a:t>도 제공된다</a:t>
            </a:r>
            <a:r>
              <a:rPr lang="en-US" altLang="ko-KR" sz="1600"/>
              <a:t>.</a:t>
            </a:r>
          </a:p>
          <a:p>
            <a:pPr marL="285750" indent="-285750">
              <a:lnSpc>
                <a:spcPct val="150000"/>
              </a:lnSpc>
              <a:buFont typeface="Arial" panose="020B0604020202020204" pitchFamily="34" charset="0"/>
              <a:buChar char="•"/>
            </a:pPr>
            <a:r>
              <a:rPr lang="ko-KR" altLang="en-US" sz="1600"/>
              <a:t>이 </a:t>
            </a:r>
            <a:r>
              <a:rPr lang="en-US" altLang="ko-KR" sz="1600"/>
              <a:t>SDK</a:t>
            </a:r>
            <a:r>
              <a:rPr lang="ko-KR" altLang="en-US" sz="1600"/>
              <a:t>들 외에도 </a:t>
            </a:r>
            <a:r>
              <a:rPr lang="en-US" altLang="ko-KR" sz="1600"/>
              <a:t>FirebaseUI</a:t>
            </a:r>
            <a:r>
              <a:rPr lang="ko-KR" altLang="en-US" sz="1600"/>
              <a:t>라는 라이브러리</a:t>
            </a:r>
            <a:r>
              <a:rPr lang="en-US" altLang="ko-KR" sz="1600"/>
              <a:t>(Android, iOS, </a:t>
            </a:r>
            <a:r>
              <a:rPr lang="ko-KR" altLang="en-US" sz="1600"/>
              <a:t>웹</a:t>
            </a:r>
            <a:r>
              <a:rPr lang="en-US" altLang="ko-KR" sz="1600"/>
              <a:t>)</a:t>
            </a:r>
            <a:r>
              <a:rPr lang="ko-KR" altLang="en-US" sz="1600"/>
              <a:t>가 있어 </a:t>
            </a:r>
            <a:br>
              <a:rPr lang="en-US" altLang="ko-KR" sz="1600"/>
            </a:br>
            <a:r>
              <a:rPr lang="en-US" altLang="ko-KR" sz="1600"/>
              <a:t>Firebase</a:t>
            </a:r>
            <a:r>
              <a:rPr lang="ko-KR" altLang="en-US" sz="1600"/>
              <a:t>로 개발할 때 유용한 여러 가지 도구를 제공한다</a:t>
            </a:r>
            <a:r>
              <a:rPr lang="en-US" altLang="ko-KR" sz="1600"/>
              <a:t>. </a:t>
            </a:r>
          </a:p>
          <a:p>
            <a:pPr marL="285750" indent="-285750">
              <a:lnSpc>
                <a:spcPct val="150000"/>
              </a:lnSpc>
              <a:buFont typeface="Arial" panose="020B0604020202020204" pitchFamily="34" charset="0"/>
              <a:buChar char="•"/>
            </a:pPr>
            <a:r>
              <a:rPr lang="ko-KR" altLang="en-US" sz="1600"/>
              <a:t>또한</a:t>
            </a:r>
            <a:r>
              <a:rPr lang="en-US" altLang="ko-KR" sz="1600"/>
              <a:t>, Angular</a:t>
            </a:r>
            <a:r>
              <a:rPr lang="ko-KR" altLang="en-US" sz="1600"/>
              <a:t>용 웹 </a:t>
            </a:r>
            <a:r>
              <a:rPr lang="en-US" altLang="ko-KR" sz="1600"/>
              <a:t>SDK</a:t>
            </a:r>
            <a:r>
              <a:rPr lang="ko-KR" altLang="en-US" sz="1600"/>
              <a:t>를 래핑하는 </a:t>
            </a:r>
            <a:r>
              <a:rPr lang="en-US" altLang="ko-KR" sz="1600"/>
              <a:t>AngularFire</a:t>
            </a:r>
            <a:r>
              <a:rPr lang="ko-KR" altLang="en-US" sz="1600"/>
              <a:t>와 같은 오픈 소스 프로젝트도 있다</a:t>
            </a:r>
            <a:r>
              <a:rPr lang="en-US" altLang="ko-KR" sz="1600"/>
              <a:t>. </a:t>
            </a:r>
          </a:p>
          <a:p>
            <a:pPr marL="285750" indent="-285750">
              <a:lnSpc>
                <a:spcPct val="150000"/>
              </a:lnSpc>
              <a:buFont typeface="Arial" panose="020B0604020202020204" pitchFamily="34" charset="0"/>
              <a:buChar char="•"/>
            </a:pPr>
            <a:r>
              <a:rPr lang="en-US" altLang="ko-KR" sz="1600"/>
              <a:t>Firebase</a:t>
            </a:r>
            <a:r>
              <a:rPr lang="ko-KR" altLang="en-US" sz="1600"/>
              <a:t>는 오픈 소스를 선호한다</a:t>
            </a:r>
            <a:r>
              <a:rPr lang="en-US" altLang="ko-KR" sz="1600"/>
              <a:t>.</a:t>
            </a:r>
          </a:p>
        </p:txBody>
      </p:sp>
    </p:spTree>
    <p:extLst>
      <p:ext uri="{BB962C8B-B14F-4D97-AF65-F5344CB8AC3E}">
        <p14:creationId xmlns:p14="http://schemas.microsoft.com/office/powerpoint/2010/main" val="20987620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E48B707E-B404-4A13-BEBD-27F03B246308}"/>
              </a:ext>
            </a:extLst>
          </p:cNvPr>
          <p:cNvSpPr/>
          <p:nvPr/>
        </p:nvSpPr>
        <p:spPr>
          <a:xfrm>
            <a:off x="197222" y="821331"/>
            <a:ext cx="11560885" cy="5215338"/>
          </a:xfrm>
          <a:prstGeom prst="rect">
            <a:avLst/>
          </a:prstGeom>
        </p:spPr>
        <p:txBody>
          <a:bodyPr wrap="square">
            <a:spAutoFit/>
          </a:bodyPr>
          <a:lstStyle/>
          <a:p>
            <a:pPr>
              <a:lnSpc>
                <a:spcPct val="150000"/>
              </a:lnSpc>
            </a:pPr>
            <a:r>
              <a:rPr lang="ko-KR" altLang="en-US" sz="1600"/>
              <a:t>“</a:t>
            </a:r>
            <a:r>
              <a:rPr lang="en-US" altLang="ko-KR" sz="1600"/>
              <a:t>Build” </a:t>
            </a:r>
            <a:r>
              <a:rPr lang="ko-KR" altLang="en-US" sz="1600"/>
              <a:t>그룹에 속하는 제품들은 다음과 같다</a:t>
            </a:r>
            <a:r>
              <a:rPr lang="en-US" altLang="ko-KR" sz="1600"/>
              <a:t>:</a:t>
            </a:r>
          </a:p>
          <a:p>
            <a:pPr marL="182563" indent="173038">
              <a:lnSpc>
                <a:spcPct val="150000"/>
              </a:lnSpc>
              <a:buFont typeface="Arial" panose="020B0604020202020204" pitchFamily="34" charset="0"/>
              <a:buChar char="•"/>
            </a:pPr>
            <a:r>
              <a:rPr lang="en-US" altLang="ko-KR" sz="1600" b="1"/>
              <a:t>Authentication</a:t>
            </a:r>
            <a:r>
              <a:rPr lang="ko-KR" altLang="en-US" sz="1600"/>
              <a:t> </a:t>
            </a:r>
            <a:r>
              <a:rPr lang="en-US" altLang="ko-KR" sz="1600"/>
              <a:t>— </a:t>
            </a:r>
            <a:r>
              <a:rPr lang="ko-KR" altLang="en-US" sz="1600"/>
              <a:t>사용자 로그인 및 신원 확인</a:t>
            </a:r>
          </a:p>
          <a:p>
            <a:pPr marL="182563" indent="173038">
              <a:lnSpc>
                <a:spcPct val="150000"/>
              </a:lnSpc>
              <a:buFont typeface="Arial" panose="020B0604020202020204" pitchFamily="34" charset="0"/>
              <a:buChar char="•"/>
            </a:pPr>
            <a:r>
              <a:rPr lang="en-US" altLang="ko-KR" sz="1600" b="1"/>
              <a:t>Realtime Database</a:t>
            </a:r>
            <a:r>
              <a:rPr lang="ko-KR" altLang="en-US" sz="1600"/>
              <a:t> </a:t>
            </a:r>
            <a:r>
              <a:rPr lang="en-US" altLang="ko-KR" sz="1600"/>
              <a:t>— </a:t>
            </a:r>
            <a:r>
              <a:rPr lang="ko-KR" altLang="en-US" sz="1600"/>
              <a:t>실시간</a:t>
            </a:r>
            <a:r>
              <a:rPr lang="en-US" altLang="ko-KR" sz="1600"/>
              <a:t>, </a:t>
            </a:r>
            <a:r>
              <a:rPr lang="ko-KR" altLang="en-US" sz="1600"/>
              <a:t>클라우드 호스팅</a:t>
            </a:r>
            <a:r>
              <a:rPr lang="en-US" altLang="ko-KR" sz="1600"/>
              <a:t>, NoSQL </a:t>
            </a:r>
            <a:r>
              <a:rPr lang="ko-KR" altLang="en-US" sz="1600"/>
              <a:t>데이터베이스</a:t>
            </a:r>
          </a:p>
          <a:p>
            <a:pPr marL="182563" indent="173038">
              <a:lnSpc>
                <a:spcPct val="150000"/>
              </a:lnSpc>
              <a:buFont typeface="Arial" panose="020B0604020202020204" pitchFamily="34" charset="0"/>
              <a:buChar char="•"/>
            </a:pPr>
            <a:r>
              <a:rPr lang="en-US" altLang="ko-KR" sz="1600" b="1"/>
              <a:t>Cloud Firestore</a:t>
            </a:r>
            <a:r>
              <a:rPr lang="ko-KR" altLang="en-US" sz="1600"/>
              <a:t> </a:t>
            </a:r>
            <a:r>
              <a:rPr lang="en-US" altLang="ko-KR" sz="1600"/>
              <a:t>— </a:t>
            </a:r>
            <a:r>
              <a:rPr lang="ko-KR" altLang="en-US" sz="1600"/>
              <a:t>실시간</a:t>
            </a:r>
            <a:r>
              <a:rPr lang="en-US" altLang="ko-KR" sz="1600"/>
              <a:t>, </a:t>
            </a:r>
            <a:r>
              <a:rPr lang="ko-KR" altLang="en-US" sz="1600"/>
              <a:t>클라우드 호스팅</a:t>
            </a:r>
            <a:r>
              <a:rPr lang="en-US" altLang="ko-KR" sz="1600"/>
              <a:t>, NoSQL </a:t>
            </a:r>
            <a:r>
              <a:rPr lang="ko-KR" altLang="en-US" sz="1600"/>
              <a:t>데이터베이스</a:t>
            </a:r>
          </a:p>
          <a:p>
            <a:pPr marL="182563" indent="173038">
              <a:lnSpc>
                <a:spcPct val="150000"/>
              </a:lnSpc>
              <a:buFont typeface="Arial" panose="020B0604020202020204" pitchFamily="34" charset="0"/>
              <a:buChar char="•"/>
            </a:pPr>
            <a:r>
              <a:rPr lang="en-US" altLang="ko-KR" sz="1600" b="1"/>
              <a:t>Cloud Storage</a:t>
            </a:r>
            <a:r>
              <a:rPr lang="ko-KR" altLang="en-US" sz="1600"/>
              <a:t> </a:t>
            </a:r>
            <a:r>
              <a:rPr lang="en-US" altLang="ko-KR" sz="1600"/>
              <a:t>— </a:t>
            </a:r>
            <a:r>
              <a:rPr lang="ko-KR" altLang="en-US" sz="1600"/>
              <a:t>대규모 확장이 가능한 파일 저장소</a:t>
            </a:r>
          </a:p>
          <a:p>
            <a:pPr marL="182563" indent="173038">
              <a:lnSpc>
                <a:spcPct val="150000"/>
              </a:lnSpc>
              <a:buFont typeface="Arial" panose="020B0604020202020204" pitchFamily="34" charset="0"/>
              <a:buChar char="•"/>
            </a:pPr>
            <a:r>
              <a:rPr lang="en-US" altLang="ko-KR" sz="1600" b="1"/>
              <a:t>Cloud Functions</a:t>
            </a:r>
            <a:r>
              <a:rPr lang="ko-KR" altLang="en-US" sz="1600"/>
              <a:t> </a:t>
            </a:r>
            <a:r>
              <a:rPr lang="en-US" altLang="ko-KR" sz="1600"/>
              <a:t>— “</a:t>
            </a:r>
            <a:r>
              <a:rPr lang="ko-KR" altLang="en-US" sz="1600"/>
              <a:t>서버리스” 방식의 이벤트 기반 백엔드</a:t>
            </a:r>
          </a:p>
          <a:p>
            <a:pPr marL="182563" indent="173038">
              <a:lnSpc>
                <a:spcPct val="150000"/>
              </a:lnSpc>
              <a:buFont typeface="Arial" panose="020B0604020202020204" pitchFamily="34" charset="0"/>
              <a:buChar char="•"/>
            </a:pPr>
            <a:r>
              <a:rPr lang="en-US" altLang="ko-KR" sz="1600" b="1"/>
              <a:t>Firebase Hosting</a:t>
            </a:r>
            <a:r>
              <a:rPr lang="ko-KR" altLang="en-US" sz="1600"/>
              <a:t> </a:t>
            </a:r>
            <a:r>
              <a:rPr lang="en-US" altLang="ko-KR" sz="1600"/>
              <a:t>— </a:t>
            </a:r>
            <a:r>
              <a:rPr lang="ko-KR" altLang="en-US" sz="1600"/>
              <a:t>글로벌 웹 호스팅</a:t>
            </a:r>
          </a:p>
          <a:p>
            <a:pPr marL="182563" indent="173038">
              <a:lnSpc>
                <a:spcPct val="150000"/>
              </a:lnSpc>
              <a:buFont typeface="Arial" panose="020B0604020202020204" pitchFamily="34" charset="0"/>
              <a:buChar char="•"/>
            </a:pPr>
            <a:r>
              <a:rPr lang="en-US" altLang="ko-KR" sz="1600" b="1"/>
              <a:t>ML Kit</a:t>
            </a:r>
            <a:r>
              <a:rPr lang="ko-KR" altLang="en-US" sz="1600"/>
              <a:t> </a:t>
            </a:r>
            <a:r>
              <a:rPr lang="en-US" altLang="ko-KR" sz="1600"/>
              <a:t>— </a:t>
            </a:r>
            <a:r>
              <a:rPr lang="ko-KR" altLang="en-US" sz="1600"/>
              <a:t>일반적인 머신러닝 작업을 위한 </a:t>
            </a:r>
            <a:r>
              <a:rPr lang="en-US" altLang="ko-KR" sz="1600"/>
              <a:t>SDK</a:t>
            </a:r>
          </a:p>
          <a:p>
            <a:pPr marL="182563" indent="173038">
              <a:lnSpc>
                <a:spcPct val="150000"/>
              </a:lnSpc>
              <a:buFont typeface="Arial" panose="020B0604020202020204" pitchFamily="34" charset="0"/>
              <a:buChar char="•"/>
            </a:pPr>
            <a:endParaRPr lang="en-US" altLang="ko-KR" sz="1600"/>
          </a:p>
          <a:p>
            <a:pPr>
              <a:lnSpc>
                <a:spcPct val="150000"/>
              </a:lnSpc>
            </a:pPr>
            <a:r>
              <a:rPr lang="en-US" altLang="ko-KR" sz="1600" b="1"/>
              <a:t>- Firebase Authentication</a:t>
            </a:r>
            <a:r>
              <a:rPr lang="ko-KR" altLang="en-US" sz="1600"/>
              <a:t>은 사용자의 로그인 및 신원 확인을 처리한다</a:t>
            </a:r>
            <a:r>
              <a:rPr lang="en-US" altLang="ko-KR" sz="1600"/>
              <a:t>. </a:t>
            </a:r>
            <a:r>
              <a:rPr lang="ko-KR" altLang="en-US" sz="1600"/>
              <a:t>이 제품은 다른 </a:t>
            </a:r>
            <a:r>
              <a:rPr lang="en-US" altLang="ko-KR" sz="1600"/>
              <a:t>Firebase </a:t>
            </a:r>
            <a:r>
              <a:rPr lang="ko-KR" altLang="en-US" sz="1600"/>
              <a:t>제품들을 올바르게 설정하</a:t>
            </a:r>
            <a:br>
              <a:rPr lang="en-US" altLang="ko-KR" sz="1600"/>
            </a:br>
            <a:r>
              <a:rPr lang="en-US" altLang="ko-KR" sz="1600"/>
              <a:t>  </a:t>
            </a:r>
            <a:r>
              <a:rPr lang="ko-KR" altLang="en-US" sz="1600"/>
              <a:t>는 데 필수적이다</a:t>
            </a:r>
            <a:r>
              <a:rPr lang="en-US" altLang="ko-KR" sz="1600"/>
              <a:t>. </a:t>
            </a:r>
            <a:r>
              <a:rPr lang="ko-KR" altLang="en-US" sz="1600"/>
              <a:t>특히</a:t>
            </a:r>
            <a:r>
              <a:rPr lang="en-US" altLang="ko-KR" sz="1600"/>
              <a:t>, </a:t>
            </a:r>
            <a:r>
              <a:rPr lang="ko-KR" altLang="en-US" sz="1600"/>
              <a:t>사용자별 데이터를 제한적으로 액세스해야 하는 경우</a:t>
            </a:r>
            <a:r>
              <a:rPr lang="en-US" altLang="ko-KR" sz="1600"/>
              <a:t>(</a:t>
            </a:r>
            <a:r>
              <a:rPr lang="ko-KR" altLang="en-US" sz="1600"/>
              <a:t>대부분의 앱에서 필요</a:t>
            </a:r>
            <a:r>
              <a:rPr lang="en-US" altLang="ko-KR" sz="1600"/>
              <a:t>) </a:t>
            </a:r>
            <a:r>
              <a:rPr lang="ko-KR" altLang="en-US" sz="1600"/>
              <a:t>매우 중요하다</a:t>
            </a:r>
            <a:r>
              <a:rPr lang="en-US" altLang="ko-KR" sz="1600"/>
              <a:t>.</a:t>
            </a:r>
          </a:p>
          <a:p>
            <a:pPr>
              <a:lnSpc>
                <a:spcPct val="150000"/>
              </a:lnSpc>
            </a:pPr>
            <a:r>
              <a:rPr lang="en-US" altLang="ko-KR" sz="1600"/>
              <a:t>-  Firebase Authentication</a:t>
            </a:r>
            <a:r>
              <a:rPr lang="ko-KR" altLang="en-US" sz="1600"/>
              <a:t>의 특별한 점은 안전한 로그인을 쉽게 구현할 수 있도록 돕는다는 것이다</a:t>
            </a:r>
            <a:r>
              <a:rPr lang="en-US" altLang="ko-KR" sz="1600"/>
              <a:t>. </a:t>
            </a:r>
            <a:br>
              <a:rPr lang="en-US" altLang="ko-KR" sz="1600"/>
            </a:br>
            <a:r>
              <a:rPr lang="en-US" altLang="ko-KR" sz="1600"/>
              <a:t>- </a:t>
            </a:r>
            <a:r>
              <a:rPr lang="ko-KR" altLang="en-US" sz="1600"/>
              <a:t>안전한 로그인 기능은 자체적으로 구현하기 매우 어렵다</a:t>
            </a:r>
            <a:r>
              <a:rPr lang="en-US" altLang="ko-KR" sz="1600"/>
              <a:t>. </a:t>
            </a:r>
            <a:r>
              <a:rPr lang="ko-KR" altLang="en-US" sz="1600"/>
              <a:t>게다가 </a:t>
            </a:r>
            <a:r>
              <a:rPr lang="en-US" altLang="ko-KR" sz="1600"/>
              <a:t>Authentication</a:t>
            </a:r>
            <a:r>
              <a:rPr lang="ko-KR" altLang="en-US" sz="1600"/>
              <a:t>은 </a:t>
            </a:r>
            <a:r>
              <a:rPr lang="en-US" altLang="ko-KR" sz="1600"/>
              <a:t>"</a:t>
            </a:r>
            <a:r>
              <a:rPr lang="ko-KR" altLang="en-US" sz="1600"/>
              <a:t>연합</a:t>
            </a:r>
            <a:r>
              <a:rPr lang="en-US" altLang="ko-KR" sz="1600"/>
              <a:t>(Federated)" </a:t>
            </a:r>
            <a:r>
              <a:rPr lang="ko-KR" altLang="en-US" sz="1600"/>
              <a:t>방식으로 작동한다</a:t>
            </a:r>
            <a:r>
              <a:rPr lang="en-US" altLang="ko-KR" sz="1600"/>
              <a:t>.   </a:t>
            </a:r>
            <a:br>
              <a:rPr lang="en-US" altLang="ko-KR" sz="1600"/>
            </a:br>
            <a:r>
              <a:rPr lang="en-US" altLang="ko-KR" sz="1600"/>
              <a:t>  </a:t>
            </a:r>
            <a:r>
              <a:rPr lang="ko-KR" altLang="en-US" sz="1600"/>
              <a:t>즉</a:t>
            </a:r>
            <a:r>
              <a:rPr lang="en-US" altLang="ko-KR" sz="1600"/>
              <a:t>, “</a:t>
            </a:r>
            <a:r>
              <a:rPr lang="ko-KR" altLang="en-US" sz="1600"/>
              <a:t>유나이티드 플래닛 연합”조차 이 사용 방식을 권장할 정도다</a:t>
            </a:r>
            <a:r>
              <a:rPr lang="en-US" altLang="ko-KR" sz="1600"/>
              <a:t>.</a:t>
            </a:r>
          </a:p>
        </p:txBody>
      </p:sp>
    </p:spTree>
    <p:extLst>
      <p:ext uri="{BB962C8B-B14F-4D97-AF65-F5344CB8AC3E}">
        <p14:creationId xmlns:p14="http://schemas.microsoft.com/office/powerpoint/2010/main" val="242994151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3" name="직사각형 2">
            <a:extLst>
              <a:ext uri="{FF2B5EF4-FFF2-40B4-BE49-F238E27FC236}">
                <a16:creationId xmlns:a16="http://schemas.microsoft.com/office/drawing/2014/main" id="{83C29849-C4CD-4C9B-B545-FE38178C1D5F}"/>
              </a:ext>
            </a:extLst>
          </p:cNvPr>
          <p:cNvSpPr/>
          <p:nvPr/>
        </p:nvSpPr>
        <p:spPr>
          <a:xfrm>
            <a:off x="107577" y="811879"/>
            <a:ext cx="11198710" cy="544027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b="1"/>
              <a:t>Firebase Realtime Database</a:t>
            </a:r>
            <a:r>
              <a:rPr lang="ko-KR" altLang="en-US"/>
              <a:t>와 </a:t>
            </a:r>
            <a:r>
              <a:rPr lang="en-US" altLang="ko-KR" b="1"/>
              <a:t>Cloud Firestore</a:t>
            </a:r>
            <a:r>
              <a:rPr lang="ko-KR" altLang="en-US"/>
              <a:t>는 데이터베이스 서비스를 제공한다</a:t>
            </a:r>
            <a:r>
              <a:rPr lang="en-US" altLang="ko-KR"/>
              <a:t>. </a:t>
            </a:r>
          </a:p>
          <a:p>
            <a:pPr marL="285750" indent="-285750">
              <a:lnSpc>
                <a:spcPct val="150000"/>
              </a:lnSpc>
              <a:buFont typeface="Arial" panose="020B0604020202020204" pitchFamily="34" charset="0"/>
              <a:buChar char="•"/>
            </a:pPr>
            <a:r>
              <a:rPr lang="ko-KR" altLang="en-US"/>
              <a:t>두 서비스 모두 ＂실시간</a:t>
            </a:r>
            <a:r>
              <a:rPr lang="en-US" altLang="ko-KR"/>
              <a:t>, </a:t>
            </a:r>
            <a:r>
              <a:rPr lang="ko-KR" altLang="en-US"/>
              <a:t>클라우드 호스팅</a:t>
            </a:r>
            <a:r>
              <a:rPr lang="en-US" altLang="ko-KR"/>
              <a:t>, NoSQL </a:t>
            </a:r>
            <a:r>
              <a:rPr lang="ko-KR" altLang="en-US"/>
              <a:t>데이터베이스＂로 분류되지만</a:t>
            </a:r>
            <a:r>
              <a:rPr lang="en-US" altLang="ko-KR"/>
              <a:t>, </a:t>
            </a:r>
            <a:r>
              <a:rPr lang="ko-KR" altLang="en-US"/>
              <a:t>각각의 강점과 약점이 있다</a:t>
            </a:r>
            <a:r>
              <a:rPr lang="en-US" altLang="ko-KR"/>
              <a:t>.</a:t>
            </a:r>
          </a:p>
          <a:p>
            <a:pPr marL="285750" indent="-285750">
              <a:lnSpc>
                <a:spcPct val="150000"/>
              </a:lnSpc>
              <a:buFont typeface="Arial" panose="020B0604020202020204" pitchFamily="34" charset="0"/>
              <a:buChar char="•"/>
            </a:pPr>
            <a:r>
              <a:rPr lang="en-US" altLang="ko-KR" b="1"/>
              <a:t>Cloud Firestore</a:t>
            </a:r>
            <a:r>
              <a:rPr lang="ko-KR" altLang="en-US"/>
              <a:t>부터 시작해 보자</a:t>
            </a:r>
            <a:r>
              <a:rPr lang="en-US" altLang="ko-KR"/>
              <a:t>. </a:t>
            </a:r>
            <a:r>
              <a:rPr lang="ko-KR" altLang="en-US"/>
              <a:t>대부분의 요구사항을 충족시킬 가능성이 더 크며</a:t>
            </a:r>
            <a:r>
              <a:rPr lang="en-US" altLang="ko-KR"/>
              <a:t>, </a:t>
            </a:r>
            <a:r>
              <a:rPr lang="ko-KR" altLang="en-US"/>
              <a:t>또한 대규모 확장이 가능하기 때문이다</a:t>
            </a:r>
            <a:r>
              <a:rPr lang="en-US" altLang="ko-KR"/>
              <a:t>. </a:t>
            </a:r>
            <a:r>
              <a:rPr lang="ko-KR" altLang="en-US"/>
              <a:t>앱에 적합하다면 두 서비스를 함께 사용하는 것도 가능하다</a:t>
            </a:r>
            <a:r>
              <a:rPr lang="en-US" altLang="ko-KR"/>
              <a:t>.</a:t>
            </a:r>
          </a:p>
          <a:p>
            <a:pPr marL="285750" indent="-285750">
              <a:lnSpc>
                <a:spcPct val="150000"/>
              </a:lnSpc>
              <a:buFont typeface="Arial" panose="020B0604020202020204" pitchFamily="34" charset="0"/>
              <a:buChar char="•"/>
            </a:pPr>
            <a:r>
              <a:rPr lang="en-US" altLang="ko-KR"/>
              <a:t>Firestore</a:t>
            </a:r>
            <a:r>
              <a:rPr lang="ko-KR" altLang="en-US"/>
              <a:t>는 기술적으로 </a:t>
            </a:r>
            <a:r>
              <a:rPr lang="en-US" altLang="ko-KR" b="1"/>
              <a:t>Google Cloud </a:t>
            </a:r>
            <a:r>
              <a:rPr lang="ko-KR" altLang="en-US" b="1"/>
              <a:t>제품</a:t>
            </a:r>
            <a:r>
              <a:rPr lang="ko-KR" altLang="en-US"/>
              <a:t>이며</a:t>
            </a:r>
            <a:r>
              <a:rPr lang="en-US" altLang="ko-KR"/>
              <a:t>, Firebase </a:t>
            </a:r>
            <a:r>
              <a:rPr lang="ko-KR" altLang="en-US"/>
              <a:t>제품은 아니다</a:t>
            </a:r>
            <a:r>
              <a:rPr lang="en-US" altLang="ko-KR"/>
              <a:t>. </a:t>
            </a:r>
            <a:r>
              <a:rPr lang="ko-KR" altLang="en-US"/>
              <a:t>그런데 왜 </a:t>
            </a:r>
            <a:r>
              <a:rPr lang="en-US" altLang="ko-KR"/>
              <a:t>Firebase </a:t>
            </a:r>
            <a:r>
              <a:rPr lang="ko-KR" altLang="en-US"/>
              <a:t>목록에 포함되어 있을까</a:t>
            </a:r>
            <a:r>
              <a:rPr lang="en-US" altLang="ko-KR"/>
              <a:t>? Firebase</a:t>
            </a:r>
            <a:r>
              <a:rPr lang="ko-KR" altLang="en-US"/>
              <a:t>는 모바일 앱에서 직접 데이터를 액세스할 수 있도록 </a:t>
            </a:r>
            <a:r>
              <a:rPr lang="en-US" altLang="ko-KR"/>
              <a:t>SDK</a:t>
            </a:r>
            <a:r>
              <a:rPr lang="ko-KR" altLang="en-US"/>
              <a:t>를 추가하여</a:t>
            </a:r>
            <a:r>
              <a:rPr lang="en-US" altLang="ko-KR"/>
              <a:t>, </a:t>
            </a:r>
            <a:r>
              <a:rPr lang="ko-KR" altLang="en-US"/>
              <a:t>번거로운 미들웨어 구성 요소가 필요 없게 만들었다</a:t>
            </a:r>
            <a:r>
              <a:rPr lang="en-US" altLang="ko-KR"/>
              <a:t>. </a:t>
            </a:r>
          </a:p>
          <a:p>
            <a:pPr marL="285750" indent="-285750">
              <a:lnSpc>
                <a:spcPct val="150000"/>
              </a:lnSpc>
              <a:buFont typeface="Arial" panose="020B0604020202020204" pitchFamily="34" charset="0"/>
              <a:buChar char="•"/>
            </a:pPr>
            <a:r>
              <a:rPr lang="ko-KR" altLang="en-US"/>
              <a:t>이 데이터베이스들의 진정한 특별함은 데이터베이스의 데이터가 변경될 때마다 </a:t>
            </a:r>
            <a:r>
              <a:rPr lang="ko-KR" altLang="en-US" b="1"/>
              <a:t>실시간</a:t>
            </a:r>
            <a:r>
              <a:rPr lang="ko-KR" altLang="en-US"/>
              <a:t>으로 업데이트를 제공한다는 점이다</a:t>
            </a:r>
            <a:r>
              <a:rPr lang="en-US" altLang="ko-KR"/>
              <a:t>. </a:t>
            </a:r>
            <a:r>
              <a:rPr lang="ko-KR" altLang="en-US"/>
              <a:t>클라이언트 </a:t>
            </a:r>
            <a:r>
              <a:rPr lang="en-US" altLang="ko-KR"/>
              <a:t>SDK</a:t>
            </a:r>
            <a:r>
              <a:rPr lang="ko-KR" altLang="en-US"/>
              <a:t>를 사용하여 앱이 필요로 하는 데이터 위치에 </a:t>
            </a:r>
            <a:r>
              <a:rPr lang="en-US" altLang="ko-KR"/>
              <a:t>"</a:t>
            </a:r>
            <a:r>
              <a:rPr lang="ko-KR" altLang="en-US"/>
              <a:t>리스너</a:t>
            </a:r>
            <a:r>
              <a:rPr lang="en-US" altLang="ko-KR"/>
              <a:t>(listener)"</a:t>
            </a:r>
            <a:r>
              <a:rPr lang="ko-KR" altLang="en-US"/>
              <a:t>를 설정할 수 있다</a:t>
            </a:r>
            <a:r>
              <a:rPr lang="en-US" altLang="ko-KR"/>
              <a:t>.</a:t>
            </a:r>
          </a:p>
          <a:p>
            <a:pPr marL="285750" indent="-285750">
              <a:lnSpc>
                <a:spcPct val="150000"/>
              </a:lnSpc>
              <a:buFont typeface="Arial" panose="020B0604020202020204" pitchFamily="34" charset="0"/>
              <a:buChar char="•"/>
            </a:pPr>
            <a:r>
              <a:rPr lang="ko-KR" altLang="en-US"/>
              <a:t>이 리스너는 데이터가 변경될 때마다 반복적으로 호출되며</a:t>
            </a:r>
            <a:r>
              <a:rPr lang="en-US" altLang="ko-KR"/>
              <a:t>, </a:t>
            </a:r>
            <a:r>
              <a:rPr lang="ko-KR" altLang="en-US"/>
              <a:t>변경된 데이터를 앱에 제공한다</a:t>
            </a:r>
            <a:r>
              <a:rPr lang="en-US" altLang="ko-KR"/>
              <a:t>. </a:t>
            </a:r>
            <a:r>
              <a:rPr lang="ko-KR" altLang="en-US"/>
              <a:t>이를 통해 관심 데이터를 반복적으로 조회하지 않고도 앱의 화면을 항상 최신 상태로 유지할 수 있다</a:t>
            </a:r>
            <a:r>
              <a:rPr lang="en-US" altLang="ko-KR"/>
              <a:t>.</a:t>
            </a:r>
          </a:p>
        </p:txBody>
      </p:sp>
    </p:spTree>
    <p:extLst>
      <p:ext uri="{BB962C8B-B14F-4D97-AF65-F5344CB8AC3E}">
        <p14:creationId xmlns:p14="http://schemas.microsoft.com/office/powerpoint/2010/main" val="351184755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A0F43E5B-B032-42CF-98AD-813AEC4CCEC0}"/>
              </a:ext>
            </a:extLst>
          </p:cNvPr>
          <p:cNvSpPr/>
          <p:nvPr/>
        </p:nvSpPr>
        <p:spPr>
          <a:xfrm>
            <a:off x="164950" y="819856"/>
            <a:ext cx="11593158" cy="497860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Cloud Storage</a:t>
            </a:r>
            <a:r>
              <a:rPr lang="ko-KR" altLang="en-US" sz="1600"/>
              <a:t>는 대규모 확장이 가능한 파일 저장소를 제공한다</a:t>
            </a:r>
            <a:r>
              <a:rPr lang="en-US" altLang="ko-KR" sz="1600"/>
              <a:t>. </a:t>
            </a:r>
            <a:r>
              <a:rPr lang="ko-KR" altLang="en-US" sz="1600"/>
              <a:t>또한</a:t>
            </a:r>
            <a:r>
              <a:rPr lang="en-US" altLang="ko-KR" sz="1600"/>
              <a:t>, </a:t>
            </a:r>
            <a:r>
              <a:rPr lang="ko-KR" altLang="en-US" sz="1600"/>
              <a:t>기술적으로는 </a:t>
            </a:r>
            <a:r>
              <a:rPr lang="en-US" altLang="ko-KR" sz="1600" b="1"/>
              <a:t>Google Cloud </a:t>
            </a:r>
            <a:r>
              <a:rPr lang="ko-KR" altLang="en-US" sz="1600" b="1"/>
              <a:t>제품</a:t>
            </a:r>
            <a:r>
              <a:rPr lang="ko-KR" altLang="en-US" sz="1600"/>
              <a:t>이지</a:t>
            </a:r>
            <a:r>
              <a:rPr lang="en-US" altLang="ko-KR" sz="1600"/>
              <a:t>, </a:t>
            </a:r>
            <a:r>
              <a:rPr lang="en-US" altLang="ko-KR" sz="1600" b="1"/>
              <a:t>Firebase </a:t>
            </a:r>
            <a:r>
              <a:rPr lang="ko-KR" altLang="en-US" sz="1600" b="1"/>
              <a:t>제품</a:t>
            </a:r>
            <a:r>
              <a:rPr lang="ko-KR" altLang="en-US" sz="1600"/>
              <a:t>은 아니다</a:t>
            </a:r>
            <a:r>
              <a:rPr lang="en-US" altLang="ko-KR" sz="1600"/>
              <a:t>. </a:t>
            </a:r>
            <a:r>
              <a:rPr lang="en-US" altLang="ko-KR" sz="1600" b="1"/>
              <a:t>Cloud Storage for Firebase</a:t>
            </a:r>
            <a:r>
              <a:rPr lang="ko-KR" altLang="en-US" sz="1600"/>
              <a:t>를 사용하면</a:t>
            </a:r>
            <a:r>
              <a:rPr lang="en-US" altLang="ko-KR" sz="1600"/>
              <a:t>, </a:t>
            </a:r>
            <a:r>
              <a:rPr lang="ko-KR" altLang="en-US" sz="1600"/>
              <a:t>앱에서 클라이언트 </a:t>
            </a:r>
            <a:r>
              <a:rPr lang="en-US" altLang="ko-KR" sz="1600"/>
              <a:t>SDK</a:t>
            </a:r>
            <a:r>
              <a:rPr lang="ko-KR" altLang="en-US" sz="1600"/>
              <a:t>를 통해 파일을 </a:t>
            </a:r>
            <a:r>
              <a:rPr lang="en-US" altLang="ko-KR" sz="1600" b="1"/>
              <a:t>Cloud Storage </a:t>
            </a:r>
            <a:r>
              <a:rPr lang="ko-KR" altLang="en-US" sz="1600" b="1"/>
              <a:t>버킷</a:t>
            </a:r>
            <a:r>
              <a:rPr lang="ko-KR" altLang="en-US" sz="1600"/>
              <a:t>으로 직접 업로드하고 다운로드할 수 있다</a:t>
            </a:r>
            <a:r>
              <a:rPr lang="en-US" altLang="ko-KR" sz="1600"/>
              <a:t>.</a:t>
            </a:r>
          </a:p>
          <a:p>
            <a:pPr marL="285750" indent="-285750">
              <a:lnSpc>
                <a:spcPct val="150000"/>
              </a:lnSpc>
              <a:buFont typeface="Arial" panose="020B0604020202020204" pitchFamily="34" charset="0"/>
              <a:buChar char="•"/>
            </a:pPr>
            <a:r>
              <a:rPr lang="en-US" altLang="ko-KR" sz="1600" b="1"/>
              <a:t>Authentication</a:t>
            </a:r>
            <a:r>
              <a:rPr lang="ko-KR" altLang="en-US" sz="1600"/>
              <a:t>은 이 세 가지 제품과 함께 잘 작동한다</a:t>
            </a:r>
            <a:r>
              <a:rPr lang="en-US" altLang="ko-KR" sz="1600"/>
              <a:t>. </a:t>
            </a:r>
            <a:r>
              <a:rPr lang="en-US" altLang="ko-KR" sz="1600" b="1"/>
              <a:t>Realtime Database</a:t>
            </a:r>
            <a:r>
              <a:rPr lang="en-US" altLang="ko-KR" sz="1600"/>
              <a:t>, </a:t>
            </a:r>
            <a:r>
              <a:rPr lang="en-US" altLang="ko-KR" sz="1600" b="1"/>
              <a:t>Firestore</a:t>
            </a:r>
            <a:r>
              <a:rPr lang="en-US" altLang="ko-KR" sz="1600"/>
              <a:t>, </a:t>
            </a:r>
            <a:r>
              <a:rPr lang="en-US" altLang="ko-KR" sz="1600" b="1"/>
              <a:t>Cloud Storage</a:t>
            </a:r>
            <a:r>
              <a:rPr lang="ko-KR" altLang="en-US" sz="1600"/>
              <a:t>에 대해 보안 규칙</a:t>
            </a:r>
            <a:r>
              <a:rPr lang="en-US" altLang="ko-KR" sz="1600"/>
              <a:t>(security rules)</a:t>
            </a:r>
            <a:r>
              <a:rPr lang="ko-KR" altLang="en-US" sz="1600"/>
              <a:t>을 사용하여 데이터의 접근 제어를 설정할 수 있기 때문이다</a:t>
            </a:r>
            <a:r>
              <a:rPr lang="en-US" altLang="ko-KR" sz="1600"/>
              <a:t>. </a:t>
            </a:r>
            <a:r>
              <a:rPr lang="ko-KR" altLang="en-US" sz="1600"/>
              <a:t>이를 통해 클라이언트가 데이터에 접근할 수 있는 방법을 정확히 제한할 수 있다</a:t>
            </a:r>
            <a:r>
              <a:rPr lang="en-US" altLang="ko-KR" sz="1600"/>
              <a:t>. </a:t>
            </a:r>
          </a:p>
          <a:p>
            <a:pPr marL="285750" indent="-285750">
              <a:lnSpc>
                <a:spcPct val="150000"/>
              </a:lnSpc>
              <a:buFont typeface="Arial" panose="020B0604020202020204" pitchFamily="34" charset="0"/>
              <a:buChar char="•"/>
            </a:pPr>
            <a:r>
              <a:rPr lang="en-US" altLang="ko-KR" sz="1600" b="1"/>
              <a:t>Authentication</a:t>
            </a:r>
            <a:r>
              <a:rPr lang="ko-KR" altLang="en-US" sz="1600"/>
              <a:t>으로 로그인한 사용자는 자동으로 인증 토큰을 제공하며</a:t>
            </a:r>
            <a:r>
              <a:rPr lang="en-US" altLang="ko-KR" sz="1600"/>
              <a:t>, </a:t>
            </a:r>
            <a:r>
              <a:rPr lang="ko-KR" altLang="en-US" sz="1600"/>
              <a:t>이를 규칙에 사용할 수 있어 누가 어떤 데이터를 읽고 쓸 수 있는지를 보호할 수 있다</a:t>
            </a:r>
            <a:r>
              <a:rPr lang="en-US" altLang="ko-KR" sz="1600"/>
              <a:t>. </a:t>
            </a:r>
            <a:r>
              <a:rPr lang="ko-KR" altLang="en-US" sz="1600"/>
              <a:t>그래서 사용자에 대한 개인 데이터를 저장한다면</a:t>
            </a:r>
            <a:r>
              <a:rPr lang="en-US" altLang="ko-KR" sz="1600"/>
              <a:t>, </a:t>
            </a:r>
            <a:r>
              <a:rPr lang="en-US" altLang="ko-KR" sz="1600" b="1"/>
              <a:t>Firebase Authentication</a:t>
            </a:r>
            <a:r>
              <a:rPr lang="ko-KR" altLang="en-US" sz="1600"/>
              <a:t>과 </a:t>
            </a:r>
            <a:r>
              <a:rPr lang="ko-KR" altLang="en-US" sz="1600" b="1"/>
              <a:t>보안 규칙</a:t>
            </a:r>
            <a:r>
              <a:rPr lang="ko-KR" altLang="en-US" sz="1600"/>
              <a:t>을 사용하여 접근을 적절하게 제한하는 것이 좋다</a:t>
            </a:r>
            <a:r>
              <a:rPr lang="en-US" altLang="ko-KR" sz="1600"/>
              <a:t>. </a:t>
            </a:r>
            <a:r>
              <a:rPr lang="ko-KR" altLang="en-US" sz="1600"/>
              <a:t>만약 보안 규칙이 지나치게 허용적이라면</a:t>
            </a:r>
            <a:r>
              <a:rPr lang="en-US" altLang="ko-KR" sz="1600"/>
              <a:t>, Firebase</a:t>
            </a:r>
            <a:r>
              <a:rPr lang="ko-KR" altLang="en-US" sz="1600"/>
              <a:t>에서 </a:t>
            </a:r>
            <a:r>
              <a:rPr lang="ko-KR" altLang="en-US" sz="1600" b="1"/>
              <a:t>부드러운 알림</a:t>
            </a:r>
            <a:r>
              <a:rPr lang="ko-KR" altLang="en-US" sz="1600"/>
              <a:t>을 받을 수도 있다</a:t>
            </a:r>
            <a:r>
              <a:rPr lang="en-US" altLang="ko-KR" sz="1600"/>
              <a:t>.</a:t>
            </a:r>
          </a:p>
          <a:p>
            <a:pPr marL="285750" indent="-285750">
              <a:lnSpc>
                <a:spcPct val="150000"/>
              </a:lnSpc>
              <a:buFont typeface="Arial" panose="020B0604020202020204" pitchFamily="34" charset="0"/>
              <a:buChar char="•"/>
            </a:pPr>
            <a:r>
              <a:rPr lang="en-US" altLang="ko-KR" sz="1600" b="1"/>
              <a:t>Cloud Functions</a:t>
            </a:r>
            <a:r>
              <a:rPr lang="ko-KR" altLang="en-US" sz="1600"/>
              <a:t>는 또 하나의 </a:t>
            </a:r>
            <a:r>
              <a:rPr lang="en-US" altLang="ko-KR" sz="1600" b="1"/>
              <a:t>Google Cloud </a:t>
            </a:r>
            <a:r>
              <a:rPr lang="ko-KR" altLang="en-US" sz="1600" b="1"/>
              <a:t>제품</a:t>
            </a:r>
            <a:r>
              <a:rPr lang="ko-KR" altLang="en-US" sz="1600"/>
              <a:t>으로</a:t>
            </a:r>
            <a:r>
              <a:rPr lang="en-US" altLang="ko-KR" sz="1600"/>
              <a:t>, </a:t>
            </a:r>
            <a:r>
              <a:rPr lang="ko-KR" altLang="en-US" sz="1600"/>
              <a:t>다른 </a:t>
            </a:r>
            <a:r>
              <a:rPr lang="en-US" altLang="ko-KR" sz="1600"/>
              <a:t>Firebase </a:t>
            </a:r>
            <a:r>
              <a:rPr lang="ko-KR" altLang="en-US" sz="1600"/>
              <a:t>및 </a:t>
            </a:r>
            <a:r>
              <a:rPr lang="en-US" altLang="ko-KR" sz="1600"/>
              <a:t>Google Cloud </a:t>
            </a:r>
            <a:r>
              <a:rPr lang="ko-KR" altLang="en-US" sz="1600"/>
              <a:t>제품들과 잘 통합된다</a:t>
            </a:r>
            <a:r>
              <a:rPr lang="en-US" altLang="ko-KR" sz="1600"/>
              <a:t>. </a:t>
            </a:r>
            <a:br>
              <a:rPr lang="en-US" altLang="ko-KR" sz="1600"/>
            </a:br>
            <a:r>
              <a:rPr lang="en-US" altLang="ko-KR" sz="1600"/>
              <a:t>Firebase SDK</a:t>
            </a:r>
            <a:r>
              <a:rPr lang="ko-KR" altLang="en-US" sz="1600"/>
              <a:t>를 사용하여 </a:t>
            </a:r>
            <a:r>
              <a:rPr lang="en-US" altLang="ko-KR" sz="1600" b="1"/>
              <a:t>Cloud Functions</a:t>
            </a:r>
            <a:r>
              <a:rPr lang="ko-KR" altLang="en-US" sz="1600"/>
              <a:t>를 작성하고 배포하면</a:t>
            </a:r>
            <a:r>
              <a:rPr lang="en-US" altLang="ko-KR" sz="1600"/>
              <a:t>, Google</a:t>
            </a:r>
            <a:r>
              <a:rPr lang="ko-KR" altLang="en-US" sz="1600"/>
              <a:t>의 </a:t>
            </a:r>
            <a:r>
              <a:rPr lang="en-US" altLang="ko-KR" sz="1600"/>
              <a:t>“Serverless”</a:t>
            </a:r>
            <a:r>
              <a:rPr lang="ko-KR" altLang="en-US" sz="1600"/>
              <a:t> 인프라에서 실행되는 코드가 자동으로 다른 </a:t>
            </a:r>
            <a:r>
              <a:rPr lang="en-US" altLang="ko-KR" sz="1600"/>
              <a:t>Firebase </a:t>
            </a:r>
            <a:r>
              <a:rPr lang="ko-KR" altLang="en-US" sz="1600"/>
              <a:t>제품에서 발생하는 이벤트에 응답하게 할 수 있다</a:t>
            </a:r>
            <a:r>
              <a:rPr lang="en-US" altLang="ko-KR" sz="1600"/>
              <a:t>.</a:t>
            </a:r>
            <a:endParaRPr lang="ko-KR" altLang="en-US" sz="1600"/>
          </a:p>
        </p:txBody>
      </p:sp>
    </p:spTree>
    <p:extLst>
      <p:ext uri="{BB962C8B-B14F-4D97-AF65-F5344CB8AC3E}">
        <p14:creationId xmlns:p14="http://schemas.microsoft.com/office/powerpoint/2010/main" val="237483421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Serverless backend architecture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8A37F366-1FBE-463F-91A1-CDCC4FA13795}"/>
              </a:ext>
            </a:extLst>
          </p:cNvPr>
          <p:cNvSpPr/>
          <p:nvPr/>
        </p:nvSpPr>
        <p:spPr>
          <a:xfrm>
            <a:off x="86062" y="821331"/>
            <a:ext cx="11682804" cy="3738011"/>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사람들이 **</a:t>
            </a:r>
            <a:r>
              <a:rPr lang="en-US" altLang="ko-KR" sz="1600"/>
              <a:t>"</a:t>
            </a:r>
            <a:r>
              <a:rPr lang="ko-KR" altLang="en-US" sz="1600"/>
              <a:t>서버리스</a:t>
            </a:r>
            <a:r>
              <a:rPr lang="en-US" altLang="ko-KR" sz="1600"/>
              <a:t>"**</a:t>
            </a:r>
            <a:r>
              <a:rPr lang="ko-KR" altLang="en-US" sz="1600"/>
              <a:t>라고 말할 때</a:t>
            </a:r>
            <a:r>
              <a:rPr lang="en-US" altLang="ko-KR" sz="1600"/>
              <a:t>, </a:t>
            </a:r>
            <a:r>
              <a:rPr lang="ko-KR" altLang="en-US" sz="1600"/>
              <a:t>서버가 없다고 생각하는 것은 아니다</a:t>
            </a:r>
            <a:r>
              <a:rPr lang="en-US" altLang="ko-KR" sz="1600"/>
              <a:t>. </a:t>
            </a:r>
          </a:p>
          <a:p>
            <a:pPr marL="285750" indent="-285750">
              <a:lnSpc>
                <a:spcPct val="150000"/>
              </a:lnSpc>
              <a:buFont typeface="Arial" panose="020B0604020202020204" pitchFamily="34" charset="0"/>
              <a:buChar char="•"/>
            </a:pPr>
            <a:r>
              <a:rPr lang="ko-KR" altLang="en-US" sz="1600"/>
              <a:t>서버리스 백엔드 아키텍처에서는 여전히 서버가 존재하지만</a:t>
            </a:r>
            <a:r>
              <a:rPr lang="en-US" altLang="ko-KR" sz="1600"/>
              <a:t>, </a:t>
            </a:r>
            <a:r>
              <a:rPr lang="ko-KR" altLang="en-US" sz="1600"/>
              <a:t>그 서버에 대해 신경 쓸 필요는 없다</a:t>
            </a:r>
            <a:r>
              <a:rPr lang="en-US" altLang="ko-KR" sz="1600"/>
              <a:t>. </a:t>
            </a:r>
          </a:p>
          <a:p>
            <a:pPr marL="285750" indent="-285750">
              <a:lnSpc>
                <a:spcPct val="150000"/>
              </a:lnSpc>
              <a:buFont typeface="Arial" panose="020B0604020202020204" pitchFamily="34" charset="0"/>
              <a:buChar char="•"/>
            </a:pPr>
            <a:r>
              <a:rPr lang="ko-KR" altLang="en-US" sz="1600"/>
              <a:t>전통적인</a:t>
            </a:r>
            <a:r>
              <a:rPr lang="en-US" altLang="ko-KR" sz="1600"/>
              <a:t>(</a:t>
            </a:r>
            <a:r>
              <a:rPr lang="ko-KR" altLang="en-US" sz="1600"/>
              <a:t>혹은 </a:t>
            </a:r>
            <a:r>
              <a:rPr lang="en-US" altLang="ko-KR" sz="1600"/>
              <a:t>"</a:t>
            </a:r>
            <a:r>
              <a:rPr lang="ko-KR" altLang="en-US" sz="1600"/>
              <a:t>서버가 있는</a:t>
            </a:r>
            <a:r>
              <a:rPr lang="en-US" altLang="ko-KR" sz="1600"/>
              <a:t>", “Serverful" </a:t>
            </a:r>
            <a:r>
              <a:rPr lang="ko-KR" altLang="en-US" sz="1600"/>
              <a:t>아키텍처</a:t>
            </a:r>
            <a:r>
              <a:rPr lang="en-US" altLang="ko-KR" sz="1600"/>
              <a:t>) </a:t>
            </a:r>
            <a:r>
              <a:rPr lang="ko-KR" altLang="en-US" sz="1600"/>
              <a:t>방식에서처럼 서버를 </a:t>
            </a:r>
            <a:r>
              <a:rPr lang="en-US" altLang="ko-KR" sz="1600"/>
              <a:t>provisioning</a:t>
            </a:r>
            <a:r>
              <a:rPr lang="ko-KR" altLang="en-US" sz="1600"/>
              <a:t>하거나 유지보수</a:t>
            </a:r>
            <a:r>
              <a:rPr lang="en-US" altLang="ko-KR" sz="1600"/>
              <a:t>, </a:t>
            </a:r>
            <a:r>
              <a:rPr lang="ko-KR" altLang="en-US" sz="1600"/>
              <a:t>확장</a:t>
            </a:r>
            <a:r>
              <a:rPr lang="en-US" altLang="ko-KR" sz="1600"/>
              <a:t>, </a:t>
            </a:r>
            <a:r>
              <a:rPr lang="ko-KR" altLang="en-US" sz="1600"/>
              <a:t>또는 개발 운영</a:t>
            </a:r>
            <a:r>
              <a:rPr lang="en-US" altLang="ko-KR" sz="1600"/>
              <a:t>(DevOps)</a:t>
            </a:r>
            <a:r>
              <a:rPr lang="ko-KR" altLang="en-US" sz="1600"/>
              <a:t>을 할 필요가 없다</a:t>
            </a:r>
            <a:r>
              <a:rPr lang="en-US" altLang="ko-KR" sz="1600"/>
              <a:t>. </a:t>
            </a:r>
            <a:r>
              <a:rPr lang="ko-KR" altLang="en-US" sz="1600"/>
              <a:t>그냥 코드를 작성하고 배포하면</a:t>
            </a:r>
            <a:r>
              <a:rPr lang="en-US" altLang="ko-KR" sz="1600"/>
              <a:t>, </a:t>
            </a:r>
            <a:r>
              <a:rPr lang="ko-KR" altLang="en-US" sz="1600"/>
              <a:t>나머지는 </a:t>
            </a:r>
            <a:r>
              <a:rPr lang="en-US" altLang="ko-KR" sz="1600"/>
              <a:t>Google</a:t>
            </a:r>
            <a:r>
              <a:rPr lang="ko-KR" altLang="en-US" sz="1600"/>
              <a:t>이 처리해준다</a:t>
            </a:r>
            <a:r>
              <a:rPr lang="en-US" altLang="ko-KR" sz="1600"/>
              <a:t>.</a:t>
            </a:r>
          </a:p>
          <a:p>
            <a:pPr marL="285750" indent="-285750">
              <a:lnSpc>
                <a:spcPct val="150000"/>
              </a:lnSpc>
              <a:buFont typeface="Arial" panose="020B0604020202020204" pitchFamily="34" charset="0"/>
              <a:buChar char="•"/>
            </a:pPr>
            <a:r>
              <a:rPr lang="en-US" altLang="ko-KR" sz="1600" b="1"/>
              <a:t>Cloud Functions for Firebase</a:t>
            </a:r>
            <a:r>
              <a:rPr lang="ko-KR" altLang="en-US" sz="1600"/>
              <a:t>는 </a:t>
            </a:r>
            <a:r>
              <a:rPr lang="en-US" altLang="ko-KR" sz="1600"/>
              <a:t>Firebase </a:t>
            </a:r>
            <a:r>
              <a:rPr lang="ko-KR" altLang="en-US" sz="1600"/>
              <a:t>제품군에서 실제로 </a:t>
            </a:r>
            <a:r>
              <a:rPr lang="ko-KR" altLang="en-US" sz="1600" b="1"/>
              <a:t>백엔드 코드를 작성</a:t>
            </a:r>
            <a:r>
              <a:rPr lang="ko-KR" altLang="en-US" sz="1600"/>
              <a:t>해야 하는 유일한 제품이다</a:t>
            </a:r>
            <a:r>
              <a:rPr lang="en-US" altLang="ko-KR" sz="1600"/>
              <a:t>. </a:t>
            </a:r>
          </a:p>
          <a:p>
            <a:pPr marL="285750" indent="-285750">
              <a:lnSpc>
                <a:spcPct val="150000"/>
              </a:lnSpc>
              <a:buFont typeface="Arial" panose="020B0604020202020204" pitchFamily="34" charset="0"/>
              <a:buChar char="•"/>
            </a:pPr>
            <a:r>
              <a:rPr lang="ko-KR" altLang="en-US" sz="1600"/>
              <a:t>일부 유형의 코드는 제어된 백엔드 환경에서 실행되어야 한다</a:t>
            </a:r>
            <a:r>
              <a:rPr lang="en-US" altLang="ko-KR" sz="1600"/>
              <a:t>. </a:t>
            </a:r>
            <a:r>
              <a:rPr lang="ko-KR" altLang="en-US" sz="1600"/>
              <a:t>그리고 그런 백엔드 개발자들에게 일자리를 줘야 한다</a:t>
            </a:r>
            <a:r>
              <a:rPr lang="en-US" altLang="ko-KR" sz="1600"/>
              <a:t>.</a:t>
            </a:r>
          </a:p>
          <a:p>
            <a:pPr marL="285750" indent="-285750">
              <a:lnSpc>
                <a:spcPct val="150000"/>
              </a:lnSpc>
              <a:buFont typeface="Arial" panose="020B0604020202020204" pitchFamily="34" charset="0"/>
              <a:buChar char="•"/>
            </a:pPr>
            <a:r>
              <a:rPr lang="en-US" altLang="ko-KR" sz="1600" b="1"/>
              <a:t>Cloud Functions</a:t>
            </a:r>
            <a:r>
              <a:rPr lang="ko-KR" altLang="en-US" sz="1600"/>
              <a:t>로 할 수 있는 일은 방대하다</a:t>
            </a:r>
            <a:r>
              <a:rPr lang="en-US" altLang="ko-KR" sz="1600"/>
              <a:t>. Firebase </a:t>
            </a:r>
            <a:r>
              <a:rPr lang="ko-KR" altLang="en-US" sz="1600"/>
              <a:t>제품들</a:t>
            </a:r>
            <a:r>
              <a:rPr lang="en-US" altLang="ko-KR" sz="1600"/>
              <a:t>(</a:t>
            </a:r>
            <a:r>
              <a:rPr lang="ko-KR" altLang="en-US" sz="1600"/>
              <a:t>데이터베이스</a:t>
            </a:r>
            <a:r>
              <a:rPr lang="en-US" altLang="ko-KR" sz="1600"/>
              <a:t>, </a:t>
            </a:r>
            <a:r>
              <a:rPr lang="ko-KR" altLang="en-US" sz="1600"/>
              <a:t>스토리지</a:t>
            </a:r>
            <a:r>
              <a:rPr lang="en-US" altLang="ko-KR" sz="1600"/>
              <a:t>, </a:t>
            </a:r>
            <a:r>
              <a:rPr lang="ko-KR" altLang="en-US" sz="1600"/>
              <a:t>인증 등</a:t>
            </a:r>
            <a:r>
              <a:rPr lang="en-US" altLang="ko-KR" sz="1600"/>
              <a:t>)</a:t>
            </a:r>
            <a:r>
              <a:rPr lang="ko-KR" altLang="en-US" sz="1600"/>
              <a:t>은 데이터가 변경될 때 이벤트를 발생시키고</a:t>
            </a:r>
            <a:r>
              <a:rPr lang="en-US" altLang="ko-KR" sz="1600"/>
              <a:t>, </a:t>
            </a:r>
            <a:r>
              <a:rPr lang="ko-KR" altLang="en-US" sz="1600"/>
              <a:t>그 이벤트에 반응하여 배포된 코드가 실행된다</a:t>
            </a:r>
            <a:r>
              <a:rPr lang="en-US" altLang="ko-KR" sz="1600"/>
              <a:t>.</a:t>
            </a:r>
          </a:p>
          <a:p>
            <a:pPr marL="285750" indent="-285750">
              <a:lnSpc>
                <a:spcPct val="150000"/>
              </a:lnSpc>
              <a:buFont typeface="Arial" panose="020B0604020202020204" pitchFamily="34" charset="0"/>
              <a:buChar char="•"/>
            </a:pPr>
            <a:r>
              <a:rPr lang="en-US" altLang="ko-KR" sz="1600" b="1"/>
              <a:t>Shawn</a:t>
            </a:r>
            <a:r>
              <a:rPr lang="ko-KR" altLang="en-US" sz="1600"/>
              <a:t>은 </a:t>
            </a:r>
            <a:r>
              <a:rPr lang="en-US" altLang="ko-KR" sz="1600" b="1"/>
              <a:t>Cloud Functions</a:t>
            </a:r>
            <a:r>
              <a:rPr lang="ko-KR" altLang="en-US" sz="1600"/>
              <a:t>를 사용하여 누군가 계정을 삭제할 때</a:t>
            </a:r>
            <a:r>
              <a:rPr lang="en-US" altLang="ko-KR" sz="1600"/>
              <a:t>, </a:t>
            </a:r>
            <a:r>
              <a:rPr lang="ko-KR" altLang="en-US" sz="1600"/>
              <a:t>그의 데이터베이스와 스토리지에서 데이터를 자동으로 삭제한다</a:t>
            </a:r>
            <a:r>
              <a:rPr lang="en-US" altLang="ko-KR" sz="1600"/>
              <a:t>. (</a:t>
            </a:r>
            <a:r>
              <a:rPr lang="ko-KR" altLang="en-US" sz="1600"/>
              <a:t>사용자 개인정보를 보호해야 하고</a:t>
            </a:r>
            <a:r>
              <a:rPr lang="en-US" altLang="ko-KR" sz="1600"/>
              <a:t>, </a:t>
            </a:r>
            <a:r>
              <a:rPr lang="ko-KR" altLang="en-US" sz="1600"/>
              <a:t>사용하지 않는 데이터에 대해 요금이 부과되는 것은 끔찍하죠</a:t>
            </a:r>
            <a:r>
              <a:rPr lang="en-US" altLang="ko-KR" sz="1600"/>
              <a:t>.)</a:t>
            </a:r>
          </a:p>
        </p:txBody>
      </p:sp>
    </p:spTree>
    <p:extLst>
      <p:ext uri="{BB962C8B-B14F-4D97-AF65-F5344CB8AC3E}">
        <p14:creationId xmlns:p14="http://schemas.microsoft.com/office/powerpoint/2010/main" val="77262593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Firebase Hosting</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F5A113F2-C25F-4B5B-95DD-30303668DCFF}"/>
              </a:ext>
            </a:extLst>
          </p:cNvPr>
          <p:cNvSpPr/>
          <p:nvPr/>
        </p:nvSpPr>
        <p:spPr>
          <a:xfrm>
            <a:off x="172122" y="841413"/>
            <a:ext cx="11833411" cy="336867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Firebase Hosting</a:t>
            </a:r>
            <a:r>
              <a:rPr lang="ko-KR" altLang="en-US" sz="1600"/>
              <a:t>은 보안이 강화된 글로벌 웹 호스팅 **</a:t>
            </a:r>
            <a:r>
              <a:rPr lang="en-US" altLang="ko-KR" sz="1600"/>
              <a:t>CDN(</a:t>
            </a:r>
            <a:r>
              <a:rPr lang="ko-KR" altLang="en-US" sz="1600"/>
              <a:t>콘텐츠 전송 네트워크</a:t>
            </a:r>
            <a:r>
              <a:rPr lang="en-US" altLang="ko-KR" sz="1600"/>
              <a:t>)** </a:t>
            </a:r>
            <a:r>
              <a:rPr lang="ko-KR" altLang="en-US" sz="1600"/>
              <a:t>이다</a:t>
            </a:r>
            <a:r>
              <a:rPr lang="en-US" altLang="ko-KR" sz="1600"/>
              <a:t>. </a:t>
            </a:r>
          </a:p>
          <a:p>
            <a:pPr marL="285750" indent="-285750">
              <a:lnSpc>
                <a:spcPct val="150000"/>
              </a:lnSpc>
              <a:buFont typeface="Arial" panose="020B0604020202020204" pitchFamily="34" charset="0"/>
              <a:buChar char="•"/>
            </a:pPr>
            <a:r>
              <a:rPr lang="en-US" altLang="ko-KR" sz="1600"/>
              <a:t>HTML, CSS, JS, </a:t>
            </a:r>
            <a:r>
              <a:rPr lang="ko-KR" altLang="en-US" sz="1600"/>
              <a:t>이미지와 같은 </a:t>
            </a:r>
            <a:r>
              <a:rPr lang="ko-KR" altLang="en-US" sz="1600" b="1"/>
              <a:t>정적 콘텐츠</a:t>
            </a:r>
            <a:r>
              <a:rPr lang="ko-KR" altLang="en-US" sz="1600"/>
              <a:t>를 사용자에게 빠르게 전달하는 데 매우 효율적이다</a:t>
            </a:r>
            <a:r>
              <a:rPr lang="en-US" altLang="ko-KR" sz="1600"/>
              <a:t>. </a:t>
            </a:r>
          </a:p>
          <a:p>
            <a:pPr marL="285750" indent="-285750">
              <a:lnSpc>
                <a:spcPct val="150000"/>
              </a:lnSpc>
              <a:buFont typeface="Arial" panose="020B0604020202020204" pitchFamily="34" charset="0"/>
              <a:buChar char="•"/>
            </a:pPr>
            <a:r>
              <a:rPr lang="ko-KR" altLang="en-US" sz="1600"/>
              <a:t>사용자의 위치에 가까운 서버를 사용하여 콘텐츠를 전송하므로</a:t>
            </a:r>
            <a:r>
              <a:rPr lang="en-US" altLang="ko-KR" sz="1600"/>
              <a:t>, </a:t>
            </a:r>
            <a:r>
              <a:rPr lang="ko-KR" altLang="en-US" sz="1600"/>
              <a:t>빠른 로딩 속도를 제공한다</a:t>
            </a:r>
            <a:r>
              <a:rPr lang="en-US" altLang="ko-KR" sz="1600"/>
              <a:t>. </a:t>
            </a:r>
            <a:br>
              <a:rPr lang="en-US" altLang="ko-KR" sz="1600"/>
            </a:br>
            <a:r>
              <a:rPr lang="ko-KR" altLang="en-US" sz="1600"/>
              <a:t>또한</a:t>
            </a:r>
            <a:r>
              <a:rPr lang="en-US" altLang="ko-KR" sz="1600"/>
              <a:t>, </a:t>
            </a:r>
            <a:r>
              <a:rPr lang="ko-KR" altLang="en-US" sz="1600" b="1"/>
              <a:t>맞춤 도메인</a:t>
            </a:r>
            <a:r>
              <a:rPr lang="ko-KR" altLang="en-US" sz="1600"/>
              <a:t> 없이도 손쉽게 설정할 수 있으며</a:t>
            </a:r>
            <a:r>
              <a:rPr lang="en-US" altLang="ko-KR" sz="1600"/>
              <a:t>, </a:t>
            </a:r>
            <a:r>
              <a:rPr lang="en-US" altLang="ko-KR" sz="1600" b="1"/>
              <a:t>SSL </a:t>
            </a:r>
            <a:r>
              <a:rPr lang="ko-KR" altLang="en-US" sz="1600" b="1"/>
              <a:t>인증서</a:t>
            </a:r>
            <a:r>
              <a:rPr lang="ko-KR" altLang="en-US" sz="1600"/>
              <a:t>도 무료로 제공된다</a:t>
            </a:r>
            <a:r>
              <a:rPr lang="en-US" altLang="ko-KR" sz="1600"/>
              <a:t>.</a:t>
            </a:r>
            <a:br>
              <a:rPr lang="en-US" altLang="ko-KR" sz="1600"/>
            </a:br>
            <a:endParaRPr lang="en-US" altLang="ko-KR" sz="1600"/>
          </a:p>
          <a:p>
            <a:pPr marL="285750" indent="-285750">
              <a:lnSpc>
                <a:spcPct val="150000"/>
              </a:lnSpc>
              <a:buFont typeface="Arial" panose="020B0604020202020204" pitchFamily="34" charset="0"/>
              <a:buChar char="•"/>
            </a:pPr>
            <a:r>
              <a:rPr lang="en-US" altLang="ko-KR" sz="1600" b="1"/>
              <a:t>Firebase Hosting</a:t>
            </a:r>
            <a:r>
              <a:rPr lang="ko-KR" altLang="en-US" sz="1600"/>
              <a:t>은 </a:t>
            </a:r>
            <a:r>
              <a:rPr lang="en-US" altLang="ko-KR" sz="1600"/>
              <a:t>Firebase</a:t>
            </a:r>
            <a:r>
              <a:rPr lang="ko-KR" altLang="en-US" sz="1600"/>
              <a:t>의 다른 제품들과 중요한 통합 지점을 가진다</a:t>
            </a:r>
            <a:r>
              <a:rPr lang="en-US" altLang="ko-KR" sz="1600"/>
              <a:t>. </a:t>
            </a:r>
            <a:r>
              <a:rPr lang="ko-KR" altLang="en-US" sz="1600"/>
              <a:t>바로 </a:t>
            </a:r>
            <a:r>
              <a:rPr lang="en-US" altLang="ko-KR" sz="1600" b="1"/>
              <a:t>Cloud Functions</a:t>
            </a:r>
            <a:r>
              <a:rPr lang="ko-KR" altLang="en-US" sz="1600"/>
              <a:t>와의 연동이다</a:t>
            </a:r>
            <a:r>
              <a:rPr lang="en-US" altLang="ko-KR" sz="1600"/>
              <a:t>. </a:t>
            </a:r>
          </a:p>
          <a:p>
            <a:pPr marL="285750" indent="-285750">
              <a:lnSpc>
                <a:spcPct val="150000"/>
              </a:lnSpc>
              <a:buFont typeface="Arial" panose="020B0604020202020204" pitchFamily="34" charset="0"/>
              <a:buChar char="•"/>
            </a:pPr>
            <a:r>
              <a:rPr lang="en-US" altLang="ko-KR" sz="1600"/>
              <a:t>Firebase Hosting</a:t>
            </a:r>
            <a:r>
              <a:rPr lang="ko-KR" altLang="en-US" sz="1600"/>
              <a:t>은 </a:t>
            </a:r>
            <a:r>
              <a:rPr lang="en-US" altLang="ko-KR" sz="1600"/>
              <a:t>HTTP </a:t>
            </a:r>
            <a:r>
              <a:rPr lang="ko-KR" altLang="en-US" sz="1600"/>
              <a:t>유형의 함수를 작성할 때</a:t>
            </a:r>
            <a:r>
              <a:rPr lang="en-US" altLang="ko-KR" sz="1600"/>
              <a:t>, </a:t>
            </a:r>
            <a:r>
              <a:rPr lang="ko-KR" altLang="en-US" sz="1600"/>
              <a:t>요청과 응답을 </a:t>
            </a:r>
            <a:r>
              <a:rPr lang="en-US" altLang="ko-KR" sz="1600" b="1"/>
              <a:t>Cloud Functions</a:t>
            </a:r>
            <a:r>
              <a:rPr lang="ko-KR" altLang="en-US" sz="1600"/>
              <a:t>로 프록시할 수 있게 해준다</a:t>
            </a:r>
            <a:r>
              <a:rPr lang="en-US" altLang="ko-KR" sz="1600"/>
              <a:t>. </a:t>
            </a:r>
            <a:br>
              <a:rPr lang="en-US" altLang="ko-KR" sz="1600"/>
            </a:br>
            <a:r>
              <a:rPr lang="ko-KR" altLang="en-US" sz="1600"/>
              <a:t>또한</a:t>
            </a:r>
            <a:r>
              <a:rPr lang="en-US" altLang="ko-KR" sz="1600"/>
              <a:t>, </a:t>
            </a:r>
            <a:r>
              <a:rPr lang="ko-KR" altLang="en-US" sz="1600"/>
              <a:t>이를 적절히 설정하면 </a:t>
            </a:r>
            <a:r>
              <a:rPr lang="en-US" altLang="ko-KR" sz="1600" b="1"/>
              <a:t>Cloud Functions</a:t>
            </a:r>
            <a:r>
              <a:rPr lang="ko-KR" altLang="en-US" sz="1600"/>
              <a:t>의 응답을 캐시할 수 있어</a:t>
            </a:r>
            <a:r>
              <a:rPr lang="en-US" altLang="ko-KR" sz="1600"/>
              <a:t>, </a:t>
            </a:r>
            <a:r>
              <a:rPr lang="ko-KR" altLang="en-US" sz="1600"/>
              <a:t>더 효율적인 응답을 제공한다</a:t>
            </a:r>
            <a:r>
              <a:rPr lang="en-US" altLang="ko-KR" sz="1600"/>
              <a:t>. </a:t>
            </a:r>
          </a:p>
          <a:p>
            <a:pPr marL="285750" indent="-285750">
              <a:lnSpc>
                <a:spcPct val="150000"/>
              </a:lnSpc>
              <a:buFont typeface="Arial" panose="020B0604020202020204" pitchFamily="34" charset="0"/>
              <a:buChar char="•"/>
            </a:pPr>
            <a:r>
              <a:rPr lang="ko-KR" altLang="en-US" sz="1600"/>
              <a:t>이것은 </a:t>
            </a:r>
            <a:r>
              <a:rPr lang="en-US" altLang="ko-KR" sz="1600" b="1"/>
              <a:t>RESTful API</a:t>
            </a:r>
            <a:r>
              <a:rPr lang="ko-KR" altLang="en-US" sz="1600"/>
              <a:t>를 구축하는 훌륭한 방법이다</a:t>
            </a:r>
            <a:r>
              <a:rPr lang="en-US" altLang="ko-KR" sz="1600"/>
              <a:t>.</a:t>
            </a:r>
          </a:p>
        </p:txBody>
      </p:sp>
    </p:spTree>
    <p:extLst>
      <p:ext uri="{BB962C8B-B14F-4D97-AF65-F5344CB8AC3E}">
        <p14:creationId xmlns:p14="http://schemas.microsoft.com/office/powerpoint/2010/main" val="303261018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ML Kit for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73D0B228-F7A5-4B7A-BDA9-125170EDBEF9}"/>
              </a:ext>
            </a:extLst>
          </p:cNvPr>
          <p:cNvSpPr/>
          <p:nvPr/>
        </p:nvSpPr>
        <p:spPr>
          <a:xfrm>
            <a:off x="207981" y="884443"/>
            <a:ext cx="11345732"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ML Kit for Firebase</a:t>
            </a:r>
            <a:r>
              <a:rPr lang="ko-KR" altLang="en-US" sz="1600"/>
              <a:t>는 </a:t>
            </a:r>
            <a:r>
              <a:rPr lang="en-US" altLang="ko-KR" sz="1600"/>
              <a:t>Google</a:t>
            </a:r>
            <a:r>
              <a:rPr lang="ko-KR" altLang="en-US" sz="1600"/>
              <a:t>의 풍부한 </a:t>
            </a:r>
            <a:r>
              <a:rPr lang="ko-KR" altLang="en-US" sz="1600" b="1"/>
              <a:t>머신러닝</a:t>
            </a:r>
            <a:r>
              <a:rPr lang="en-US" altLang="ko-KR" sz="1600" b="1"/>
              <a:t>(Machine Learning)</a:t>
            </a:r>
            <a:r>
              <a:rPr lang="ko-KR" altLang="en-US" sz="1600"/>
              <a:t> 전문 지식을 활용할 수 있도록 도와준다</a:t>
            </a:r>
            <a:r>
              <a:rPr lang="en-US" altLang="ko-KR" sz="1600"/>
              <a:t>. </a:t>
            </a:r>
          </a:p>
          <a:p>
            <a:pPr marL="285750" indent="-285750">
              <a:lnSpc>
                <a:spcPct val="150000"/>
              </a:lnSpc>
              <a:buFont typeface="Arial" panose="020B0604020202020204" pitchFamily="34" charset="0"/>
              <a:buChar char="•"/>
            </a:pPr>
            <a:r>
              <a:rPr lang="ko-KR" altLang="en-US" sz="1600"/>
              <a:t>머신러닝에 대해 아무것도 알지 못해도 이 제품을 통해 많은 이점을 누릴 수 있다</a:t>
            </a:r>
            <a:r>
              <a:rPr lang="en-US" altLang="ko-KR" sz="1600"/>
              <a:t>. </a:t>
            </a:r>
          </a:p>
          <a:p>
            <a:pPr marL="285750" indent="-285750">
              <a:lnSpc>
                <a:spcPct val="150000"/>
              </a:lnSpc>
              <a:buFont typeface="Arial" panose="020B0604020202020204" pitchFamily="34" charset="0"/>
              <a:buChar char="•"/>
            </a:pPr>
            <a:r>
              <a:rPr lang="en-US" altLang="ko-KR" sz="1600" b="1"/>
              <a:t>ML Kit</a:t>
            </a:r>
            <a:r>
              <a:rPr lang="ko-KR" altLang="en-US" sz="1600"/>
              <a:t>을 통해 얻을 수 있는 기능은</a:t>
            </a:r>
            <a:r>
              <a:rPr lang="en-US" altLang="ko-KR" sz="1600"/>
              <a:t>, </a:t>
            </a:r>
            <a:r>
              <a:rPr lang="ko-KR" altLang="en-US" sz="1600"/>
              <a:t> 디바이스 카메라가 포착하는 </a:t>
            </a:r>
            <a:r>
              <a:rPr lang="ko-KR" altLang="en-US" sz="1600" b="1"/>
              <a:t>텍스트</a:t>
            </a:r>
            <a:r>
              <a:rPr lang="en-US" altLang="ko-KR" sz="1600"/>
              <a:t>, </a:t>
            </a:r>
            <a:r>
              <a:rPr lang="ko-KR" altLang="en-US" sz="1600" b="1"/>
              <a:t>얼굴</a:t>
            </a:r>
            <a:r>
              <a:rPr lang="en-US" altLang="ko-KR" sz="1600"/>
              <a:t>, </a:t>
            </a:r>
            <a:r>
              <a:rPr lang="ko-KR" altLang="en-US" sz="1600" b="1"/>
              <a:t>랜드마크</a:t>
            </a:r>
            <a:r>
              <a:rPr lang="ko-KR" altLang="en-US" sz="1600"/>
              <a:t> 등을 인식하는 기능이다</a:t>
            </a:r>
            <a:r>
              <a:rPr lang="en-US" altLang="ko-KR" sz="1600"/>
              <a:t>. </a:t>
            </a:r>
            <a:br>
              <a:rPr lang="en-US" altLang="ko-KR" sz="1600"/>
            </a:br>
            <a:r>
              <a:rPr lang="ko-KR" altLang="en-US" sz="1600"/>
              <a:t>그리고 이 모든 작업은 </a:t>
            </a:r>
            <a:r>
              <a:rPr lang="ko-KR" altLang="en-US" sz="1600" b="1"/>
              <a:t>제한된 컴퓨팅 파워</a:t>
            </a:r>
            <a:r>
              <a:rPr lang="ko-KR" altLang="en-US" sz="1600"/>
              <a:t>를 가진 모바일 디바이스에서 수행할 수 있다</a:t>
            </a:r>
            <a:r>
              <a:rPr lang="en-US" altLang="ko-KR" sz="1600"/>
              <a:t>.</a:t>
            </a:r>
          </a:p>
          <a:p>
            <a:pPr marL="285750" indent="-285750">
              <a:lnSpc>
                <a:spcPct val="150000"/>
              </a:lnSpc>
              <a:buFont typeface="Arial" panose="020B0604020202020204" pitchFamily="34" charset="0"/>
              <a:buChar char="•"/>
            </a:pPr>
            <a:r>
              <a:rPr lang="en-US" altLang="ko-KR" sz="1600" b="1"/>
              <a:t>ML Kit</a:t>
            </a:r>
            <a:r>
              <a:rPr lang="ko-KR" altLang="en-US" sz="1600"/>
              <a:t>은 기본적인 사용 사례를 위한 훌륭한 기능을 제공하며</a:t>
            </a:r>
            <a:r>
              <a:rPr lang="en-US" altLang="ko-KR" sz="1600"/>
              <a:t>,</a:t>
            </a:r>
            <a:br>
              <a:rPr lang="en-US" altLang="ko-KR" sz="1600"/>
            </a:br>
            <a:r>
              <a:rPr lang="ko-KR" altLang="en-US" sz="1600"/>
              <a:t>더 고급 머신러닝 지식이 있는 사용자들은 </a:t>
            </a:r>
            <a:r>
              <a:rPr lang="en-US" altLang="ko-KR" sz="1600" b="1"/>
              <a:t>TensorFlow </a:t>
            </a:r>
            <a:r>
              <a:rPr lang="ko-KR" altLang="en-US" sz="1600" b="1"/>
              <a:t>모델</a:t>
            </a:r>
            <a:r>
              <a:rPr lang="ko-KR" altLang="en-US" sz="1600"/>
              <a:t>을 업로드하여 더 정교한 용도로 활용할 수 있다</a:t>
            </a:r>
            <a:r>
              <a:rPr lang="en-US" altLang="ko-KR" sz="1600"/>
              <a:t>. </a:t>
            </a:r>
          </a:p>
          <a:p>
            <a:pPr marL="285750" indent="-285750">
              <a:lnSpc>
                <a:spcPct val="150000"/>
              </a:lnSpc>
              <a:buFont typeface="Arial" panose="020B0604020202020204" pitchFamily="34" charset="0"/>
              <a:buChar char="•"/>
            </a:pPr>
            <a:r>
              <a:rPr lang="en-US" altLang="ko-KR" sz="1600"/>
              <a:t>Firebase</a:t>
            </a:r>
            <a:r>
              <a:rPr lang="ko-KR" altLang="en-US" sz="1600"/>
              <a:t>의 머신러닝 제품은 향후 완전한 </a:t>
            </a:r>
            <a:r>
              <a:rPr lang="en-US" altLang="ko-KR" sz="1600" b="1"/>
              <a:t>"</a:t>
            </a:r>
            <a:r>
              <a:rPr lang="ko-KR" altLang="en-US" sz="1600" b="1"/>
              <a:t>연합</a:t>
            </a:r>
            <a:r>
              <a:rPr lang="en-US" altLang="ko-KR" sz="1600" b="1"/>
              <a:t>(federated)"</a:t>
            </a:r>
            <a:r>
              <a:rPr lang="ko-KR" altLang="en-US" sz="1600"/>
              <a:t> 방식으로 발전할 예정이다</a:t>
            </a:r>
            <a:r>
              <a:rPr lang="en-US" altLang="ko-KR" sz="1600"/>
              <a:t>.</a:t>
            </a:r>
          </a:p>
        </p:txBody>
      </p:sp>
    </p:spTree>
    <p:extLst>
      <p:ext uri="{BB962C8B-B14F-4D97-AF65-F5344CB8AC3E}">
        <p14:creationId xmlns:p14="http://schemas.microsoft.com/office/powerpoint/2010/main" val="20958955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Firebase &amp; ESP32</a:t>
            </a:r>
            <a:endParaRPr lang="ko-KR" altLang="en-US" sz="2000" b="1" dirty="0">
              <a:solidFill>
                <a:schemeClr val="tx1"/>
              </a:solidFill>
            </a:endParaRPr>
          </a:p>
        </p:txBody>
      </p:sp>
      <p:pic>
        <p:nvPicPr>
          <p:cNvPr id="2" name="그림 1">
            <a:extLst>
              <a:ext uri="{FF2B5EF4-FFF2-40B4-BE49-F238E27FC236}">
                <a16:creationId xmlns:a16="http://schemas.microsoft.com/office/drawing/2014/main" id="{0D303342-27B7-4AC4-8D68-09B36CC52D92}"/>
              </a:ext>
            </a:extLst>
          </p:cNvPr>
          <p:cNvPicPr>
            <a:picLocks noChangeAspect="1"/>
          </p:cNvPicPr>
          <p:nvPr/>
        </p:nvPicPr>
        <p:blipFill>
          <a:blip r:embed="rId2"/>
          <a:stretch>
            <a:fillRect/>
          </a:stretch>
        </p:blipFill>
        <p:spPr>
          <a:xfrm>
            <a:off x="782472" y="3460138"/>
            <a:ext cx="9419467" cy="2951510"/>
          </a:xfrm>
          <a:prstGeom prst="rect">
            <a:avLst/>
          </a:prstGeom>
          <a:ln w="15875">
            <a:solidFill>
              <a:schemeClr val="bg1">
                <a:lumMod val="50000"/>
              </a:schemeClr>
            </a:solidFill>
          </a:ln>
        </p:spPr>
      </p:pic>
      <p:sp>
        <p:nvSpPr>
          <p:cNvPr id="3" name="직사각형 2">
            <a:extLst>
              <a:ext uri="{FF2B5EF4-FFF2-40B4-BE49-F238E27FC236}">
                <a16:creationId xmlns:a16="http://schemas.microsoft.com/office/drawing/2014/main" id="{2793CE07-507A-4913-9802-8CB8C3977D2F}"/>
              </a:ext>
            </a:extLst>
          </p:cNvPr>
          <p:cNvSpPr/>
          <p:nvPr/>
        </p:nvSpPr>
        <p:spPr>
          <a:xfrm>
            <a:off x="209265" y="798985"/>
            <a:ext cx="11500514"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ESP32</a:t>
            </a:r>
            <a:r>
              <a:rPr lang="ko-KR" altLang="en-US" sz="1600"/>
              <a:t>를 사용하여 </a:t>
            </a:r>
            <a:r>
              <a:rPr lang="en-US" altLang="ko-KR" sz="1600"/>
              <a:t>Firebase </a:t>
            </a:r>
            <a:r>
              <a:rPr lang="ko-KR" altLang="en-US" sz="1600"/>
              <a:t>프로젝트와 연결하고 상호작용할 수 있다</a:t>
            </a:r>
            <a:r>
              <a:rPr lang="en-US" altLang="ko-KR" sz="1600"/>
              <a:t>. </a:t>
            </a:r>
            <a:br>
              <a:rPr lang="en-US" altLang="ko-KR" sz="1600"/>
            </a:br>
            <a:r>
              <a:rPr lang="ko-KR" altLang="en-US" sz="1600"/>
              <a:t>이를 통해 어디에서든 </a:t>
            </a:r>
            <a:r>
              <a:rPr lang="en-US" altLang="ko-KR" sz="1600"/>
              <a:t>Firebase</a:t>
            </a:r>
            <a:r>
              <a:rPr lang="ko-KR" altLang="en-US" sz="1600"/>
              <a:t>를 통해 </a:t>
            </a:r>
            <a:r>
              <a:rPr lang="en-US" altLang="ko-KR" sz="1600"/>
              <a:t>ESP32</a:t>
            </a:r>
            <a:r>
              <a:rPr lang="ko-KR" altLang="en-US" sz="1600"/>
              <a:t>를 제어하는 애플리케이션을 만들 수 있다</a:t>
            </a:r>
            <a:r>
              <a:rPr lang="en-US" altLang="ko-KR" sz="1600"/>
              <a:t>.</a:t>
            </a:r>
          </a:p>
          <a:p>
            <a:pPr marL="285750" indent="-285750">
              <a:lnSpc>
                <a:spcPct val="150000"/>
              </a:lnSpc>
              <a:buFont typeface="Arial" panose="020B0604020202020204" pitchFamily="34" charset="0"/>
              <a:buChar char="•"/>
            </a:pPr>
            <a:r>
              <a:rPr lang="ko-KR" altLang="en-US" sz="1600"/>
              <a:t>이번 수업에서는 </a:t>
            </a:r>
            <a:r>
              <a:rPr lang="en-US" altLang="ko-KR" sz="1600" b="1"/>
              <a:t>Firebase </a:t>
            </a:r>
            <a:r>
              <a:rPr lang="ko-KR" altLang="en-US" sz="1600" b="1"/>
              <a:t>프로젝트</a:t>
            </a:r>
            <a:r>
              <a:rPr lang="ko-KR" altLang="en-US" sz="1600"/>
              <a:t>를 생성하고 </a:t>
            </a:r>
            <a:r>
              <a:rPr lang="en-US" altLang="ko-KR" sz="1600" b="1"/>
              <a:t>Realtime Database</a:t>
            </a:r>
            <a:r>
              <a:rPr lang="ko-KR" altLang="en-US" sz="1600"/>
              <a:t>를 설정한 후</a:t>
            </a:r>
            <a:r>
              <a:rPr lang="en-US" altLang="ko-KR" sz="1600"/>
              <a:t>, </a:t>
            </a:r>
            <a:br>
              <a:rPr lang="en-US" altLang="ko-KR" sz="1600"/>
            </a:br>
            <a:r>
              <a:rPr lang="en-US" altLang="ko-KR" sz="1600"/>
              <a:t>ESP32</a:t>
            </a:r>
            <a:r>
              <a:rPr lang="ko-KR" altLang="en-US" sz="1600"/>
              <a:t>를 사용하여 데이터베이스에서 데이터를 저장하고 읽는 방법을 배운다</a:t>
            </a:r>
            <a:r>
              <a:rPr lang="en-US" altLang="ko-KR" sz="1600"/>
              <a:t>. </a:t>
            </a:r>
          </a:p>
          <a:p>
            <a:pPr marL="285750" indent="-285750">
              <a:lnSpc>
                <a:spcPct val="150000"/>
              </a:lnSpc>
              <a:buFont typeface="Arial" panose="020B0604020202020204" pitchFamily="34" charset="0"/>
              <a:buChar char="•"/>
            </a:pPr>
            <a:r>
              <a:rPr lang="en-US" altLang="ko-KR" sz="1600"/>
              <a:t>ESP32</a:t>
            </a:r>
            <a:r>
              <a:rPr lang="ko-KR" altLang="en-US" sz="1600"/>
              <a:t>는 인터넷에 연결되어 있는 한</a:t>
            </a:r>
            <a:r>
              <a:rPr lang="en-US" altLang="ko-KR" sz="1600"/>
              <a:t>, </a:t>
            </a:r>
            <a:r>
              <a:rPr lang="ko-KR" altLang="en-US" sz="1600"/>
              <a:t>전 세계 어디에서든 데이터베이스와 상호작용할 수 있다</a:t>
            </a:r>
            <a:r>
              <a:rPr lang="en-US" altLang="ko-KR" sz="1600"/>
              <a:t>.</a:t>
            </a:r>
          </a:p>
          <a:p>
            <a:pPr marL="285750" indent="-285750">
              <a:lnSpc>
                <a:spcPct val="150000"/>
              </a:lnSpc>
              <a:buFont typeface="Arial" panose="020B0604020202020204" pitchFamily="34" charset="0"/>
              <a:buChar char="•"/>
            </a:pPr>
            <a:r>
              <a:rPr lang="ko-KR" altLang="en-US" sz="1600"/>
              <a:t>이를 통해 예를 들어</a:t>
            </a:r>
            <a:r>
              <a:rPr lang="en-US" altLang="ko-KR" sz="1600"/>
              <a:t>, </a:t>
            </a:r>
            <a:r>
              <a:rPr lang="ko-KR" altLang="en-US" sz="1600" b="1"/>
              <a:t>두 개의 </a:t>
            </a:r>
            <a:r>
              <a:rPr lang="en-US" altLang="ko-KR" sz="1600" b="1"/>
              <a:t>ESP32 </a:t>
            </a:r>
            <a:r>
              <a:rPr lang="ko-KR" altLang="en-US" sz="1600" b="1"/>
              <a:t>보드</a:t>
            </a:r>
            <a:r>
              <a:rPr lang="ko-KR" altLang="en-US" sz="1600"/>
              <a:t>가 서로 다른 네트워크에 있을 때</a:t>
            </a:r>
            <a:r>
              <a:rPr lang="en-US" altLang="ko-KR" sz="1600"/>
              <a:t>, </a:t>
            </a:r>
            <a:br>
              <a:rPr lang="en-US" altLang="ko-KR" sz="1600"/>
            </a:br>
            <a:r>
              <a:rPr lang="ko-KR" altLang="en-US" sz="1600"/>
              <a:t>하나의 보드는 데이터를 저장하고 다른 보드는 최신 데이터를 읽는 구조를 만들 수 있다</a:t>
            </a:r>
            <a:r>
              <a:rPr lang="en-US" altLang="ko-KR" sz="1600"/>
              <a:t>.</a:t>
            </a:r>
          </a:p>
        </p:txBody>
      </p:sp>
      <p:sp>
        <p:nvSpPr>
          <p:cNvPr id="5" name="직사각형 4">
            <a:extLst>
              <a:ext uri="{FF2B5EF4-FFF2-40B4-BE49-F238E27FC236}">
                <a16:creationId xmlns:a16="http://schemas.microsoft.com/office/drawing/2014/main" id="{2536832D-FC4A-4D76-B3B9-CE3F8B17F80D}"/>
              </a:ext>
            </a:extLst>
          </p:cNvPr>
          <p:cNvSpPr/>
          <p:nvPr/>
        </p:nvSpPr>
        <p:spPr>
          <a:xfrm>
            <a:off x="625760" y="6488668"/>
            <a:ext cx="9576179" cy="369332"/>
          </a:xfrm>
          <a:prstGeom prst="rect">
            <a:avLst/>
          </a:prstGeom>
        </p:spPr>
        <p:txBody>
          <a:bodyPr wrap="square">
            <a:spAutoFit/>
          </a:bodyPr>
          <a:lstStyle/>
          <a:p>
            <a:r>
              <a:rPr lang="en-US" altLang="ko-KR">
                <a:hlinkClick r:id="rId3"/>
              </a:rPr>
              <a:t>ESP32: Getting Started with Firebase (Realtime Database) | Random Nerd Tutorials</a:t>
            </a:r>
            <a:endParaRPr lang="ko-KR" altLang="en-US"/>
          </a:p>
        </p:txBody>
      </p:sp>
    </p:spTree>
    <p:extLst>
      <p:ext uri="{BB962C8B-B14F-4D97-AF65-F5344CB8AC3E}">
        <p14:creationId xmlns:p14="http://schemas.microsoft.com/office/powerpoint/2010/main" val="308964014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Project Overview</a:t>
            </a:r>
            <a:endParaRPr lang="ko-KR" altLang="en-US" sz="2000" b="1" dirty="0">
              <a:solidFill>
                <a:schemeClr val="tx1"/>
              </a:solidFill>
            </a:endParaRPr>
          </a:p>
        </p:txBody>
      </p:sp>
      <p:sp>
        <p:nvSpPr>
          <p:cNvPr id="6" name="직사각형 5">
            <a:extLst>
              <a:ext uri="{FF2B5EF4-FFF2-40B4-BE49-F238E27FC236}">
                <a16:creationId xmlns:a16="http://schemas.microsoft.com/office/drawing/2014/main" id="{C1F23DF0-C7FC-478C-9F8B-DCE921F8C55C}"/>
              </a:ext>
            </a:extLst>
          </p:cNvPr>
          <p:cNvSpPr/>
          <p:nvPr/>
        </p:nvSpPr>
        <p:spPr>
          <a:xfrm>
            <a:off x="341195" y="822155"/>
            <a:ext cx="11259402" cy="484600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이번 수업에서는 </a:t>
            </a:r>
            <a:r>
              <a:rPr lang="en-US" altLang="ko-KR" sz="1600" b="1"/>
              <a:t>Firebase </a:t>
            </a:r>
            <a:r>
              <a:rPr lang="ko-KR" altLang="en-US" sz="1600" b="1"/>
              <a:t>프로젝트</a:t>
            </a:r>
            <a:r>
              <a:rPr lang="ko-KR" altLang="en-US" sz="1600"/>
              <a:t>를 생성하고 </a:t>
            </a:r>
            <a:r>
              <a:rPr lang="en-US" altLang="ko-KR" sz="1600" b="1"/>
              <a:t>Realtime Database</a:t>
            </a:r>
            <a:r>
              <a:rPr lang="ko-KR" altLang="en-US" sz="1600"/>
              <a:t>에서 데이터를 저장하고 읽는 방법을 배운다</a:t>
            </a:r>
            <a:r>
              <a:rPr lang="en-US" altLang="ko-KR" sz="1600"/>
              <a:t>. </a:t>
            </a:r>
            <a:r>
              <a:rPr lang="ko-KR" altLang="en-US" sz="1600"/>
              <a:t>이를 통해 </a:t>
            </a:r>
            <a:r>
              <a:rPr lang="en-US" altLang="ko-KR" sz="1600" b="1"/>
              <a:t>ESP32</a:t>
            </a:r>
            <a:r>
              <a:rPr lang="ko-KR" altLang="en-US" sz="1600"/>
              <a:t>를 사용하여 </a:t>
            </a:r>
            <a:r>
              <a:rPr lang="en-US" altLang="ko-KR" sz="1600"/>
              <a:t>Firebase </a:t>
            </a:r>
            <a:r>
              <a:rPr lang="ko-KR" altLang="en-US" sz="1600"/>
              <a:t>데이터베이스와 상호작용하는 애플리케이션을 개발할 수 있다</a:t>
            </a:r>
            <a:r>
              <a:rPr lang="en-US" altLang="ko-KR" sz="1600"/>
              <a:t>.</a:t>
            </a:r>
          </a:p>
          <a:p>
            <a:pPr marL="285750" indent="-285750">
              <a:lnSpc>
                <a:spcPct val="150000"/>
              </a:lnSpc>
              <a:buFont typeface="Arial" panose="020B0604020202020204" pitchFamily="34" charset="0"/>
              <a:buChar char="•"/>
            </a:pPr>
            <a:r>
              <a:rPr lang="ko-KR" altLang="en-US" sz="1600"/>
              <a:t>이 프로젝트를 수행하려면 먼저 </a:t>
            </a:r>
            <a:r>
              <a:rPr lang="en-US" altLang="ko-KR" sz="1600"/>
              <a:t>Firebase </a:t>
            </a:r>
            <a:r>
              <a:rPr lang="ko-KR" altLang="en-US" sz="1600"/>
              <a:t>프로젝트를 설정하고</a:t>
            </a:r>
            <a:r>
              <a:rPr lang="en-US" altLang="ko-KR" sz="1600"/>
              <a:t>, </a:t>
            </a:r>
            <a:r>
              <a:rPr lang="ko-KR" altLang="en-US" sz="1600"/>
              <a:t>해당 프로젝트에 </a:t>
            </a:r>
            <a:r>
              <a:rPr lang="en-US" altLang="ko-KR" sz="1600" b="1"/>
              <a:t>Realtime Database</a:t>
            </a:r>
            <a:r>
              <a:rPr lang="ko-KR" altLang="en-US" sz="1600"/>
              <a:t>를 생성해야 한다</a:t>
            </a:r>
            <a:r>
              <a:rPr lang="en-US" altLang="ko-KR" sz="1600"/>
              <a:t>. </a:t>
            </a:r>
            <a:r>
              <a:rPr lang="ko-KR" altLang="en-US" sz="1600"/>
              <a:t>그런 다음</a:t>
            </a:r>
            <a:r>
              <a:rPr lang="en-US" altLang="ko-KR" sz="1600"/>
              <a:t>, </a:t>
            </a:r>
            <a:r>
              <a:rPr lang="en-US" altLang="ko-KR" sz="1600" b="1"/>
              <a:t>ESP32</a:t>
            </a:r>
            <a:r>
              <a:rPr lang="ko-KR" altLang="en-US" sz="1600"/>
              <a:t>를 프로그래밍하여 데이터베이스에서 데이터를 저장하고 읽을 수 있도록 설정한다</a:t>
            </a:r>
            <a:r>
              <a:rPr lang="en-US" altLang="ko-KR" sz="1600"/>
              <a:t>. </a:t>
            </a:r>
          </a:p>
          <a:p>
            <a:pPr marL="285750" indent="-285750">
              <a:lnSpc>
                <a:spcPct val="150000"/>
              </a:lnSpc>
              <a:buFont typeface="Arial" panose="020B0604020202020204" pitchFamily="34" charset="0"/>
              <a:buChar char="•"/>
            </a:pPr>
            <a:r>
              <a:rPr lang="ko-KR" altLang="en-US" sz="1600"/>
              <a:t>아래 세 가지 섹션으로 진행된다</a:t>
            </a:r>
            <a:r>
              <a:rPr lang="en-US" altLang="ko-KR" sz="1600"/>
              <a:t>.</a:t>
            </a:r>
          </a:p>
          <a:p>
            <a:pPr marL="180975">
              <a:lnSpc>
                <a:spcPct val="150000"/>
              </a:lnSpc>
            </a:pPr>
            <a:r>
              <a:rPr lang="en-US" altLang="ko-KR" sz="1600" b="1"/>
              <a:t>1. Firebase </a:t>
            </a:r>
            <a:r>
              <a:rPr lang="ko-KR" altLang="en-US" sz="1600" b="1"/>
              <a:t>프로젝트 생성</a:t>
            </a:r>
          </a:p>
          <a:p>
            <a:pPr marL="180975">
              <a:lnSpc>
                <a:spcPct val="150000"/>
              </a:lnSpc>
            </a:pPr>
            <a:r>
              <a:rPr lang="en-US" altLang="ko-KR" sz="1600"/>
              <a:t>   - Firebase </a:t>
            </a:r>
            <a:r>
              <a:rPr lang="ko-KR" altLang="en-US" sz="1600"/>
              <a:t>콘솔에서 프로젝트를 생성하고</a:t>
            </a:r>
            <a:r>
              <a:rPr lang="en-US" altLang="ko-KR" sz="1600"/>
              <a:t>, Realtime Database</a:t>
            </a:r>
            <a:r>
              <a:rPr lang="ko-KR" altLang="en-US" sz="1600"/>
              <a:t>를 활성화한다</a:t>
            </a:r>
            <a:r>
              <a:rPr lang="en-US" altLang="ko-KR" sz="1600"/>
              <a:t>.</a:t>
            </a:r>
          </a:p>
          <a:p>
            <a:pPr marL="180975">
              <a:lnSpc>
                <a:spcPct val="150000"/>
              </a:lnSpc>
            </a:pPr>
            <a:r>
              <a:rPr lang="en-US" altLang="ko-KR" sz="1600" b="1"/>
              <a:t>2. ESP32: Firebase Realtime Database</a:t>
            </a:r>
            <a:r>
              <a:rPr lang="ko-KR" altLang="en-US" sz="1600" b="1"/>
              <a:t>에 데이터 저장</a:t>
            </a:r>
          </a:p>
          <a:p>
            <a:pPr marL="180975">
              <a:lnSpc>
                <a:spcPct val="150000"/>
              </a:lnSpc>
            </a:pPr>
            <a:r>
              <a:rPr lang="en-US" altLang="ko-KR" sz="1600"/>
              <a:t>   - ESP32 </a:t>
            </a:r>
            <a:r>
              <a:rPr lang="ko-KR" altLang="en-US" sz="1600"/>
              <a:t>보드에서 </a:t>
            </a:r>
            <a:r>
              <a:rPr lang="en-US" altLang="ko-KR" sz="1600"/>
              <a:t>Firebase</a:t>
            </a:r>
            <a:r>
              <a:rPr lang="ko-KR" altLang="en-US" sz="1600"/>
              <a:t>와 연결하여 데이터를 </a:t>
            </a:r>
            <a:r>
              <a:rPr lang="en-US" altLang="ko-KR" sz="1600"/>
              <a:t>Realtime Database</a:t>
            </a:r>
            <a:r>
              <a:rPr lang="ko-KR" altLang="en-US" sz="1600"/>
              <a:t>에 저장하는 코드를 작성한다</a:t>
            </a:r>
            <a:r>
              <a:rPr lang="en-US" altLang="ko-KR" sz="1600"/>
              <a:t>.</a:t>
            </a:r>
          </a:p>
          <a:p>
            <a:pPr marL="180975">
              <a:lnSpc>
                <a:spcPct val="150000"/>
              </a:lnSpc>
            </a:pPr>
            <a:r>
              <a:rPr lang="en-US" altLang="ko-KR" sz="1600" b="1"/>
              <a:t>3. ESP32: Firebase Realtime Database</a:t>
            </a:r>
            <a:r>
              <a:rPr lang="ko-KR" altLang="en-US" sz="1600" b="1"/>
              <a:t>에서 데이터 읽기</a:t>
            </a:r>
          </a:p>
          <a:p>
            <a:pPr marL="180975">
              <a:lnSpc>
                <a:spcPct val="150000"/>
              </a:lnSpc>
            </a:pPr>
            <a:r>
              <a:rPr lang="ko-KR" altLang="en-US" sz="1600"/>
              <a:t>  </a:t>
            </a:r>
            <a:r>
              <a:rPr lang="en-US" altLang="ko-KR" sz="1600"/>
              <a:t>- </a:t>
            </a:r>
            <a:r>
              <a:rPr lang="ko-KR" altLang="en-US" sz="1600"/>
              <a:t>저장된 데이터를 </a:t>
            </a:r>
            <a:r>
              <a:rPr lang="en-US" altLang="ko-KR" sz="1600"/>
              <a:t>ESP32</a:t>
            </a:r>
            <a:r>
              <a:rPr lang="ko-KR" altLang="en-US" sz="1600"/>
              <a:t>에서 읽어와서 사용할 수 있도록 설정한다</a:t>
            </a:r>
            <a:r>
              <a:rPr lang="en-US" altLang="ko-KR" sz="1600"/>
              <a:t>.</a:t>
            </a:r>
          </a:p>
          <a:p>
            <a:pPr marL="85725">
              <a:lnSpc>
                <a:spcPct val="150000"/>
              </a:lnSpc>
            </a:pPr>
            <a:br>
              <a:rPr lang="en-US" altLang="ko-KR" sz="1600"/>
            </a:br>
            <a:r>
              <a:rPr lang="ko-KR" altLang="en-US" sz="1600"/>
              <a:t>이 단계들을 하나씩 따라가면 </a:t>
            </a:r>
            <a:r>
              <a:rPr lang="en-US" altLang="ko-KR" sz="1600"/>
              <a:t>ESP32</a:t>
            </a:r>
            <a:r>
              <a:rPr lang="ko-KR" altLang="en-US" sz="1600"/>
              <a:t>와 </a:t>
            </a:r>
            <a:r>
              <a:rPr lang="en-US" altLang="ko-KR" sz="1600"/>
              <a:t>Firebase</a:t>
            </a:r>
            <a:r>
              <a:rPr lang="ko-KR" altLang="en-US" sz="1600"/>
              <a:t>를 결합한 프로젝트를 완성할 수 있다</a:t>
            </a:r>
            <a:r>
              <a:rPr lang="en-US" altLang="ko-KR" sz="1600"/>
              <a:t>.</a:t>
            </a:r>
          </a:p>
        </p:txBody>
      </p:sp>
    </p:spTree>
    <p:extLst>
      <p:ext uri="{BB962C8B-B14F-4D97-AF65-F5344CB8AC3E}">
        <p14:creationId xmlns:p14="http://schemas.microsoft.com/office/powerpoint/2010/main" val="358300320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1. Create a Firebase Project</a:t>
            </a:r>
            <a:endParaRPr lang="ko-KR" altLang="en-US" sz="2000" b="1">
              <a:solidFill>
                <a:schemeClr val="tx1"/>
              </a:solidFill>
            </a:endParaRPr>
          </a:p>
        </p:txBody>
      </p:sp>
      <p:sp>
        <p:nvSpPr>
          <p:cNvPr id="3" name="직사각형 2">
            <a:extLst>
              <a:ext uri="{FF2B5EF4-FFF2-40B4-BE49-F238E27FC236}">
                <a16:creationId xmlns:a16="http://schemas.microsoft.com/office/drawing/2014/main" id="{C2057CD7-4F42-42C9-BAA8-80E5A11D93DA}"/>
              </a:ext>
            </a:extLst>
          </p:cNvPr>
          <p:cNvSpPr/>
          <p:nvPr/>
        </p:nvSpPr>
        <p:spPr>
          <a:xfrm>
            <a:off x="471054" y="682540"/>
            <a:ext cx="11720946" cy="1881990"/>
          </a:xfrm>
          <a:prstGeom prst="rect">
            <a:avLst/>
          </a:prstGeom>
        </p:spPr>
        <p:txBody>
          <a:bodyPr wrap="square">
            <a:spAutoFit/>
          </a:bodyPr>
          <a:lstStyle/>
          <a:p>
            <a:pPr>
              <a:lnSpc>
                <a:spcPct val="150000"/>
              </a:lnSpc>
            </a:pPr>
            <a:r>
              <a:rPr lang="en-US" altLang="ko-KR" sz="2000" b="1">
                <a:solidFill>
                  <a:srgbClr val="3A3A3A"/>
                </a:solidFill>
                <a:latin typeface="Helvetica" panose="020B0604020202020204" pitchFamily="34" charset="0"/>
              </a:rPr>
              <a:t>1)</a:t>
            </a:r>
            <a:r>
              <a:rPr lang="en-US" altLang="ko-KR" sz="2000">
                <a:solidFill>
                  <a:srgbClr val="3A3A3A"/>
                </a:solidFill>
                <a:latin typeface="Helvetica" panose="020B0604020202020204" pitchFamily="34" charset="0"/>
              </a:rPr>
              <a:t> Go to </a:t>
            </a:r>
            <a:r>
              <a:rPr lang="en-US" altLang="ko-KR" sz="2000">
                <a:solidFill>
                  <a:srgbClr val="1B78E2"/>
                </a:solidFill>
                <a:latin typeface="Helvetica" panose="020B0604020202020204" pitchFamily="34" charset="0"/>
                <a:hlinkClick r:id="rId2"/>
              </a:rPr>
              <a:t>Firebase </a:t>
            </a:r>
            <a:r>
              <a:rPr lang="en-US" altLang="ko-KR" sz="2000">
                <a:solidFill>
                  <a:srgbClr val="3A3A3A"/>
                </a:solidFill>
                <a:latin typeface="Helvetica" panose="020B0604020202020204" pitchFamily="34" charset="0"/>
              </a:rPr>
              <a:t>and sign in using a Google Account.</a:t>
            </a:r>
          </a:p>
          <a:p>
            <a:pPr>
              <a:lnSpc>
                <a:spcPct val="150000"/>
              </a:lnSpc>
            </a:pPr>
            <a:r>
              <a:rPr lang="en-US" altLang="ko-KR" sz="2000" b="1">
                <a:solidFill>
                  <a:srgbClr val="3A3A3A"/>
                </a:solidFill>
                <a:latin typeface="Helvetica" panose="020B0604020202020204" pitchFamily="34" charset="0"/>
              </a:rPr>
              <a:t>2)</a:t>
            </a:r>
            <a:r>
              <a:rPr lang="en-US" altLang="ko-KR" sz="2000">
                <a:solidFill>
                  <a:srgbClr val="3A3A3A"/>
                </a:solidFill>
                <a:latin typeface="Helvetica" panose="020B0604020202020204" pitchFamily="34" charset="0"/>
              </a:rPr>
              <a:t> Click </a:t>
            </a:r>
            <a:r>
              <a:rPr lang="en-US" altLang="ko-KR" sz="2000" b="1">
                <a:solidFill>
                  <a:srgbClr val="3A3A3A"/>
                </a:solidFill>
                <a:latin typeface="Helvetica" panose="020B0604020202020204" pitchFamily="34" charset="0"/>
              </a:rPr>
              <a:t>Get Started(</a:t>
            </a:r>
            <a:r>
              <a:rPr lang="ko-KR" altLang="en-US" sz="2000" b="1">
                <a:solidFill>
                  <a:srgbClr val="3A3A3A"/>
                </a:solidFill>
                <a:latin typeface="Helvetica" panose="020B0604020202020204" pitchFamily="34" charset="0"/>
              </a:rPr>
              <a:t>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and then </a:t>
            </a:r>
            <a:r>
              <a:rPr lang="en-US" altLang="ko-KR" sz="2000" b="1">
                <a:solidFill>
                  <a:srgbClr val="3A3A3A"/>
                </a:solidFill>
                <a:latin typeface="Helvetica" panose="020B0604020202020204" pitchFamily="34" charset="0"/>
              </a:rPr>
              <a:t>Add project(</a:t>
            </a:r>
            <a:r>
              <a:rPr lang="ko-KR" altLang="en-US" sz="2000" b="1">
                <a:solidFill>
                  <a:srgbClr val="3A3A3A"/>
                </a:solidFill>
                <a:latin typeface="Helvetica" panose="020B0604020202020204" pitchFamily="34" charset="0"/>
              </a:rPr>
              <a:t>프로젝트 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to create a new project.</a:t>
            </a:r>
          </a:p>
          <a:p>
            <a:pPr>
              <a:lnSpc>
                <a:spcPct val="150000"/>
              </a:lnSpc>
            </a:pPr>
            <a:r>
              <a:rPr lang="en-US" altLang="ko-KR" sz="2000" b="1">
                <a:solidFill>
                  <a:srgbClr val="3A3A3A"/>
                </a:solidFill>
                <a:latin typeface="Helvetica" panose="020B0604020202020204" pitchFamily="34" charset="0"/>
              </a:rPr>
              <a:t>3)</a:t>
            </a:r>
            <a:r>
              <a:rPr lang="en-US" altLang="ko-KR" sz="2000">
                <a:solidFill>
                  <a:srgbClr val="3A3A3A"/>
                </a:solidFill>
                <a:latin typeface="Helvetica" panose="020B0604020202020204" pitchFamily="34" charset="0"/>
              </a:rPr>
              <a:t> Give a name to your project, for example: </a:t>
            </a:r>
            <a:r>
              <a:rPr lang="en-US" altLang="ko-KR" sz="2000" i="1">
                <a:solidFill>
                  <a:srgbClr val="3A3A3A"/>
                </a:solidFill>
                <a:latin typeface="Helvetica" panose="020B0604020202020204" pitchFamily="34" charset="0"/>
              </a:rPr>
              <a:t>ESP Firebase Demo</a:t>
            </a:r>
            <a:r>
              <a:rPr lang="en-US" altLang="ko-KR" sz="2000">
                <a:solidFill>
                  <a:srgbClr val="3A3A3A"/>
                </a:solidFill>
                <a:latin typeface="Helvetica" panose="020B0604020202020204" pitchFamily="34" charset="0"/>
              </a:rPr>
              <a:t>.</a:t>
            </a:r>
          </a:p>
          <a:p>
            <a:pPr>
              <a:lnSpc>
                <a:spcPct val="150000"/>
              </a:lnSpc>
            </a:pPr>
            <a:r>
              <a:rPr lang="en-US" altLang="ko-KR" sz="2000" b="0" i="0">
                <a:solidFill>
                  <a:srgbClr val="3A3A3A"/>
                </a:solidFill>
                <a:effectLst/>
                <a:latin typeface="Helvetica" panose="020B0604020202020204" pitchFamily="34" charset="0"/>
              </a:rPr>
              <a:t> </a:t>
            </a:r>
            <a:r>
              <a:rPr lang="en-US" altLang="ko-KR" b="1"/>
              <a:t>4)</a:t>
            </a:r>
            <a:r>
              <a:rPr lang="en-US" altLang="ko-KR"/>
              <a:t> Disable the option </a:t>
            </a:r>
            <a:r>
              <a:rPr lang="en-US" altLang="ko-KR" i="1"/>
              <a:t>Enable Google Analytics</a:t>
            </a:r>
            <a:r>
              <a:rPr lang="en-US" altLang="ko-KR"/>
              <a:t> for this project as it is not needed and click </a:t>
            </a:r>
            <a:r>
              <a:rPr lang="en-US" altLang="ko-KR" b="1"/>
              <a:t>Create project</a:t>
            </a:r>
            <a:r>
              <a:rPr lang="en-US" altLang="ko-KR"/>
              <a:t>.</a:t>
            </a:r>
            <a:endParaRPr lang="en-US" altLang="ko-KR" sz="2000" b="0" i="0">
              <a:solidFill>
                <a:srgbClr val="3A3A3A"/>
              </a:solidFill>
              <a:effectLst/>
              <a:latin typeface="Helvetica" panose="020B0604020202020204" pitchFamily="34" charset="0"/>
            </a:endParaRPr>
          </a:p>
        </p:txBody>
      </p:sp>
      <p:pic>
        <p:nvPicPr>
          <p:cNvPr id="4" name="그림 3">
            <a:extLst>
              <a:ext uri="{FF2B5EF4-FFF2-40B4-BE49-F238E27FC236}">
                <a16:creationId xmlns:a16="http://schemas.microsoft.com/office/drawing/2014/main" id="{16C5A1DD-F3B9-4CFF-8AF7-25E05FD89B47}"/>
              </a:ext>
            </a:extLst>
          </p:cNvPr>
          <p:cNvPicPr>
            <a:picLocks noChangeAspect="1"/>
          </p:cNvPicPr>
          <p:nvPr/>
        </p:nvPicPr>
        <p:blipFill>
          <a:blip r:embed="rId3"/>
          <a:stretch>
            <a:fillRect/>
          </a:stretch>
        </p:blipFill>
        <p:spPr>
          <a:xfrm>
            <a:off x="906559" y="2687782"/>
            <a:ext cx="6887536" cy="4170217"/>
          </a:xfrm>
          <a:prstGeom prst="rect">
            <a:avLst/>
          </a:prstGeom>
        </p:spPr>
      </p:pic>
    </p:spTree>
    <p:extLst>
      <p:ext uri="{BB962C8B-B14F-4D97-AF65-F5344CB8AC3E}">
        <p14:creationId xmlns:p14="http://schemas.microsoft.com/office/powerpoint/2010/main" val="65683891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457201" y="783990"/>
            <a:ext cx="10418618"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Authentication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4" name="그림 3">
            <a:extLst>
              <a:ext uri="{FF2B5EF4-FFF2-40B4-BE49-F238E27FC236}">
                <a16:creationId xmlns:a16="http://schemas.microsoft.com/office/drawing/2014/main" id="{1F63EEE0-E530-4606-AB1A-7583EC1F1DC5}"/>
              </a:ext>
            </a:extLst>
          </p:cNvPr>
          <p:cNvPicPr>
            <a:picLocks noChangeAspect="1"/>
          </p:cNvPicPr>
          <p:nvPr/>
        </p:nvPicPr>
        <p:blipFill>
          <a:blip r:embed="rId2"/>
          <a:stretch>
            <a:fillRect/>
          </a:stretch>
        </p:blipFill>
        <p:spPr>
          <a:xfrm>
            <a:off x="641327" y="1272295"/>
            <a:ext cx="10659963" cy="5483500"/>
          </a:xfrm>
          <a:prstGeom prst="rect">
            <a:avLst/>
          </a:prstGeom>
        </p:spPr>
      </p:pic>
      <p:sp>
        <p:nvSpPr>
          <p:cNvPr id="5" name="사각형: 둥근 모서리 4">
            <a:extLst>
              <a:ext uri="{FF2B5EF4-FFF2-40B4-BE49-F238E27FC236}">
                <a16:creationId xmlns:a16="http://schemas.microsoft.com/office/drawing/2014/main" id="{52A39994-34E3-45C8-A581-82721C46FE66}"/>
              </a:ext>
            </a:extLst>
          </p:cNvPr>
          <p:cNvSpPr/>
          <p:nvPr/>
        </p:nvSpPr>
        <p:spPr>
          <a:xfrm>
            <a:off x="762000" y="4114799"/>
            <a:ext cx="1648691" cy="2909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925436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2)</a:t>
            </a:r>
            <a:r>
              <a:rPr lang="en-US" altLang="ko-KR"/>
              <a:t> Select the Option </a:t>
            </a:r>
            <a:r>
              <a:rPr lang="en-US" altLang="ko-KR" b="1"/>
              <a:t>Email/Password</a:t>
            </a:r>
            <a:r>
              <a:rPr lang="en-US" altLang="ko-KR"/>
              <a:t>.</a:t>
            </a:r>
            <a:endParaRPr lang="ko-KR" altLang="en-US"/>
          </a:p>
        </p:txBody>
      </p:sp>
      <p:pic>
        <p:nvPicPr>
          <p:cNvPr id="6" name="그림 5">
            <a:extLst>
              <a:ext uri="{FF2B5EF4-FFF2-40B4-BE49-F238E27FC236}">
                <a16:creationId xmlns:a16="http://schemas.microsoft.com/office/drawing/2014/main" id="{B644E378-CEDC-4172-BAE7-A741FAEE083F}"/>
              </a:ext>
            </a:extLst>
          </p:cNvPr>
          <p:cNvPicPr>
            <a:picLocks noChangeAspect="1"/>
          </p:cNvPicPr>
          <p:nvPr/>
        </p:nvPicPr>
        <p:blipFill>
          <a:blip r:embed="rId2"/>
          <a:stretch>
            <a:fillRect/>
          </a:stretch>
        </p:blipFill>
        <p:spPr>
          <a:xfrm>
            <a:off x="623123" y="1399413"/>
            <a:ext cx="10945753" cy="5458587"/>
          </a:xfrm>
          <a:prstGeom prst="rect">
            <a:avLst/>
          </a:prstGeom>
        </p:spPr>
      </p:pic>
      <p:sp>
        <p:nvSpPr>
          <p:cNvPr id="7" name="사각형: 둥근 모서리 6">
            <a:extLst>
              <a:ext uri="{FF2B5EF4-FFF2-40B4-BE49-F238E27FC236}">
                <a16:creationId xmlns:a16="http://schemas.microsoft.com/office/drawing/2014/main" id="{AEF58A17-28EA-4AB2-A52A-E6CA923FADC9}"/>
              </a:ext>
            </a:extLst>
          </p:cNvPr>
          <p:cNvSpPr/>
          <p:nvPr/>
        </p:nvSpPr>
        <p:spPr>
          <a:xfrm>
            <a:off x="3477492" y="4281054"/>
            <a:ext cx="1620982" cy="56803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65363929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3)</a:t>
            </a:r>
            <a:r>
              <a:rPr lang="en-US" altLang="ko-KR"/>
              <a:t> Enable that authentication method and click </a:t>
            </a:r>
            <a:r>
              <a:rPr lang="en-US" altLang="ko-KR" b="1"/>
              <a:t>Save</a:t>
            </a:r>
            <a:r>
              <a:rPr lang="en-US" altLang="ko-KR"/>
              <a:t>.</a:t>
            </a:r>
            <a:endParaRPr lang="ko-KR" altLang="en-US"/>
          </a:p>
        </p:txBody>
      </p:sp>
      <p:pic>
        <p:nvPicPr>
          <p:cNvPr id="4" name="그림 3">
            <a:extLst>
              <a:ext uri="{FF2B5EF4-FFF2-40B4-BE49-F238E27FC236}">
                <a16:creationId xmlns:a16="http://schemas.microsoft.com/office/drawing/2014/main" id="{6554A4DD-F183-4B12-8B31-B761CD24656D}"/>
              </a:ext>
            </a:extLst>
          </p:cNvPr>
          <p:cNvPicPr>
            <a:picLocks noChangeAspect="1"/>
          </p:cNvPicPr>
          <p:nvPr/>
        </p:nvPicPr>
        <p:blipFill>
          <a:blip r:embed="rId2"/>
          <a:stretch>
            <a:fillRect/>
          </a:stretch>
        </p:blipFill>
        <p:spPr>
          <a:xfrm>
            <a:off x="277092" y="1244585"/>
            <a:ext cx="11679280" cy="5239481"/>
          </a:xfrm>
          <a:prstGeom prst="rect">
            <a:avLst/>
          </a:prstGeom>
          <a:ln>
            <a:solidFill>
              <a:schemeClr val="accent1">
                <a:shade val="50000"/>
              </a:schemeClr>
            </a:solidFill>
          </a:ln>
        </p:spPr>
      </p:pic>
      <p:sp>
        <p:nvSpPr>
          <p:cNvPr id="8" name="사각형: 둥근 모서리 7">
            <a:extLst>
              <a:ext uri="{FF2B5EF4-FFF2-40B4-BE49-F238E27FC236}">
                <a16:creationId xmlns:a16="http://schemas.microsoft.com/office/drawing/2014/main" id="{7A04D035-7A89-4CE1-8724-7064692CB122}"/>
              </a:ext>
            </a:extLst>
          </p:cNvPr>
          <p:cNvSpPr/>
          <p:nvPr/>
        </p:nvSpPr>
        <p:spPr>
          <a:xfrm>
            <a:off x="8922327" y="4045527"/>
            <a:ext cx="1149928" cy="38683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5257F0D8-1923-42F1-89EB-E1C866D62388}"/>
              </a:ext>
            </a:extLst>
          </p:cNvPr>
          <p:cNvSpPr/>
          <p:nvPr/>
        </p:nvSpPr>
        <p:spPr>
          <a:xfrm>
            <a:off x="11166761" y="5832762"/>
            <a:ext cx="734191" cy="5264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0585593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pic>
        <p:nvPicPr>
          <p:cNvPr id="3" name="그림 2">
            <a:extLst>
              <a:ext uri="{FF2B5EF4-FFF2-40B4-BE49-F238E27FC236}">
                <a16:creationId xmlns:a16="http://schemas.microsoft.com/office/drawing/2014/main" id="{1ED7E15C-6CB4-4139-8C6C-B500A97423BF}"/>
              </a:ext>
            </a:extLst>
          </p:cNvPr>
          <p:cNvPicPr>
            <a:picLocks noChangeAspect="1"/>
          </p:cNvPicPr>
          <p:nvPr/>
        </p:nvPicPr>
        <p:blipFill>
          <a:blip r:embed="rId2"/>
          <a:stretch>
            <a:fillRect/>
          </a:stretch>
        </p:blipFill>
        <p:spPr>
          <a:xfrm>
            <a:off x="1118514" y="1179931"/>
            <a:ext cx="9650172" cy="4248743"/>
          </a:xfrm>
          <a:prstGeom prst="rect">
            <a:avLst/>
          </a:prstGeom>
          <a:ln>
            <a:solidFill>
              <a:schemeClr val="tx1">
                <a:lumMod val="50000"/>
                <a:lumOff val="50000"/>
              </a:schemeClr>
            </a:solidFill>
          </a:ln>
        </p:spPr>
      </p:pic>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4)</a:t>
            </a:r>
            <a:r>
              <a:rPr lang="en-US" altLang="ko-KR"/>
              <a:t> </a:t>
            </a:r>
            <a:r>
              <a:rPr lang="ko-KR" altLang="en-US"/>
              <a:t>사용자 추가 클릭</a:t>
            </a:r>
            <a:r>
              <a:rPr lang="en-US" altLang="ko-KR"/>
              <a:t>, </a:t>
            </a:r>
            <a:r>
              <a:rPr lang="ko-KR" altLang="en-US"/>
              <a:t>이메일 입력</a:t>
            </a:r>
            <a:r>
              <a:rPr lang="en-US" altLang="ko-KR"/>
              <a:t>, </a:t>
            </a:r>
            <a:r>
              <a:rPr lang="ko-KR" altLang="en-US"/>
              <a:t>접근 비밀번호 입력</a:t>
            </a:r>
            <a:r>
              <a:rPr lang="en-US" altLang="ko-KR"/>
              <a:t>(</a:t>
            </a:r>
            <a:r>
              <a:rPr lang="ko-KR" altLang="en-US"/>
              <a:t>이메일 비밀번호 아님</a:t>
            </a:r>
            <a:r>
              <a:rPr lang="en-US" altLang="ko-KR"/>
              <a:t>)</a:t>
            </a:r>
            <a:endParaRPr lang="ko-KR" altLang="en-US"/>
          </a:p>
        </p:txBody>
      </p:sp>
      <p:sp>
        <p:nvSpPr>
          <p:cNvPr id="5" name="사각형: 둥근 모서리 4">
            <a:extLst>
              <a:ext uri="{FF2B5EF4-FFF2-40B4-BE49-F238E27FC236}">
                <a16:creationId xmlns:a16="http://schemas.microsoft.com/office/drawing/2014/main" id="{4AC8C8C7-DA29-42D9-A411-C8133D047BA3}"/>
              </a:ext>
            </a:extLst>
          </p:cNvPr>
          <p:cNvSpPr/>
          <p:nvPr/>
        </p:nvSpPr>
        <p:spPr>
          <a:xfrm>
            <a:off x="8465127" y="2355266"/>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73ECFB21-ECBA-40BD-AB09-577D4CD8B079}"/>
              </a:ext>
            </a:extLst>
          </p:cNvPr>
          <p:cNvSpPr/>
          <p:nvPr/>
        </p:nvSpPr>
        <p:spPr>
          <a:xfrm>
            <a:off x="1620982" y="3699159"/>
            <a:ext cx="5735782" cy="824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48CEB187-A1E8-4967-81C1-BF884D8A6387}"/>
              </a:ext>
            </a:extLst>
          </p:cNvPr>
          <p:cNvSpPr/>
          <p:nvPr/>
        </p:nvSpPr>
        <p:spPr>
          <a:xfrm>
            <a:off x="9199418" y="4565070"/>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3"/>
          <a:stretch>
            <a:fillRect/>
          </a:stretch>
        </p:blipFill>
        <p:spPr>
          <a:xfrm>
            <a:off x="1118514" y="5463313"/>
            <a:ext cx="7476460" cy="1394688"/>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6095999" y="5866248"/>
            <a:ext cx="1648691" cy="50684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2321473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5)</a:t>
            </a:r>
            <a:r>
              <a:rPr lang="en-US" altLang="ko-KR"/>
              <a:t> UUID </a:t>
            </a:r>
            <a:r>
              <a:rPr lang="ko-KR" altLang="en-US"/>
              <a:t>확인</a:t>
            </a:r>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2"/>
          <a:stretch>
            <a:fillRect/>
          </a:stretch>
        </p:blipFill>
        <p:spPr>
          <a:xfrm>
            <a:off x="564331" y="1214458"/>
            <a:ext cx="10126083" cy="1888959"/>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7412181" y="1652094"/>
            <a:ext cx="2161310" cy="6893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F63484C-6419-45CF-9D73-E5C5C2E437CA}"/>
              </a:ext>
            </a:extLst>
          </p:cNvPr>
          <p:cNvSpPr/>
          <p:nvPr/>
        </p:nvSpPr>
        <p:spPr>
          <a:xfrm>
            <a:off x="282165" y="3286128"/>
            <a:ext cx="11627670"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각 등록된 사용자에 대해 고유한 </a:t>
            </a:r>
            <a:r>
              <a:rPr lang="en-US" altLang="ko-KR"/>
              <a:t>UID</a:t>
            </a:r>
            <a:r>
              <a:rPr lang="ko-KR" altLang="en-US"/>
              <a:t>를 생성한다</a:t>
            </a:r>
            <a:r>
              <a:rPr lang="en-US" altLang="ko-KR"/>
              <a:t>. </a:t>
            </a:r>
          </a:p>
          <a:p>
            <a:pPr marL="285750" indent="-285750">
              <a:lnSpc>
                <a:spcPct val="150000"/>
              </a:lnSpc>
              <a:buFont typeface="Arial" panose="020B0604020202020204" pitchFamily="34" charset="0"/>
              <a:buChar char="•"/>
            </a:pPr>
            <a:r>
              <a:rPr lang="ko-KR" altLang="en-US"/>
              <a:t>이 </a:t>
            </a:r>
            <a:r>
              <a:rPr lang="en-US" altLang="ko-KR"/>
              <a:t>UID</a:t>
            </a:r>
            <a:r>
              <a:rPr lang="ko-KR" altLang="en-US"/>
              <a:t>를 통해 사용자를 식별하고</a:t>
            </a:r>
            <a:r>
              <a:rPr lang="en-US" altLang="ko-KR"/>
              <a:t>, </a:t>
            </a:r>
            <a:r>
              <a:rPr lang="ko-KR" altLang="en-US"/>
              <a:t>프로젝트나 데이터베이스에 대한 접근 권한을 부여하거나 제한할 수 있다</a:t>
            </a:r>
            <a:r>
              <a:rPr lang="en-US" altLang="ko-KR"/>
              <a:t>. </a:t>
            </a:r>
            <a:r>
              <a:rPr lang="ko-KR" altLang="en-US"/>
              <a:t>또한</a:t>
            </a:r>
            <a:r>
              <a:rPr lang="en-US" altLang="ko-KR"/>
              <a:t>, </a:t>
            </a:r>
            <a:r>
              <a:rPr lang="ko-KR" altLang="en-US"/>
              <a:t>마지막 로그인 날짜를 기록하는 열이 있다</a:t>
            </a:r>
            <a:r>
              <a:rPr lang="en-US" altLang="ko-KR"/>
              <a:t>. </a:t>
            </a:r>
          </a:p>
          <a:p>
            <a:pPr marL="285750" indent="-285750">
              <a:lnSpc>
                <a:spcPct val="150000"/>
              </a:lnSpc>
              <a:buFont typeface="Arial" panose="020B0604020202020204" pitchFamily="34" charset="0"/>
              <a:buChar char="•"/>
            </a:pPr>
            <a:r>
              <a:rPr lang="ko-KR" altLang="en-US"/>
              <a:t>현재는 해당 사용자로 로그인한 적이 없기 때문에 이 열이 비어 있다</a:t>
            </a:r>
            <a:r>
              <a:rPr lang="en-US" altLang="ko-KR"/>
              <a:t>.</a:t>
            </a:r>
            <a:endParaRPr lang="ko-KR" altLang="en-US"/>
          </a:p>
        </p:txBody>
      </p:sp>
    </p:spTree>
    <p:extLst>
      <p:ext uri="{BB962C8B-B14F-4D97-AF65-F5344CB8AC3E}">
        <p14:creationId xmlns:p14="http://schemas.microsoft.com/office/powerpoint/2010/main" val="162154589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38544" y="1231101"/>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sp>
        <p:nvSpPr>
          <p:cNvPr id="5" name="TextBox 4">
            <a:extLst>
              <a:ext uri="{FF2B5EF4-FFF2-40B4-BE49-F238E27FC236}">
                <a16:creationId xmlns:a16="http://schemas.microsoft.com/office/drawing/2014/main" id="{61E25197-0983-4993-B887-626ECA837762}"/>
              </a:ext>
            </a:extLst>
          </p:cNvPr>
          <p:cNvSpPr txBox="1"/>
          <p:nvPr/>
        </p:nvSpPr>
        <p:spPr>
          <a:xfrm>
            <a:off x="277090" y="763393"/>
            <a:ext cx="613937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Firebase storage </a:t>
            </a:r>
            <a:r>
              <a:rPr lang="ko-KR" altLang="en-US"/>
              <a:t>가 기본 사용 무료에서 유료로 전환됨</a:t>
            </a:r>
            <a:r>
              <a:rPr lang="en-US" altLang="ko-KR"/>
              <a:t>.</a:t>
            </a:r>
            <a:endParaRPr lang="ko-KR" altLang="en-US"/>
          </a:p>
        </p:txBody>
      </p:sp>
      <p:pic>
        <p:nvPicPr>
          <p:cNvPr id="6" name="그림 5">
            <a:extLst>
              <a:ext uri="{FF2B5EF4-FFF2-40B4-BE49-F238E27FC236}">
                <a16:creationId xmlns:a16="http://schemas.microsoft.com/office/drawing/2014/main" id="{89221D88-06DC-4887-AFA2-01829D529CD8}"/>
              </a:ext>
            </a:extLst>
          </p:cNvPr>
          <p:cNvPicPr>
            <a:picLocks noChangeAspect="1"/>
          </p:cNvPicPr>
          <p:nvPr/>
        </p:nvPicPr>
        <p:blipFill>
          <a:blip r:embed="rId2"/>
          <a:stretch>
            <a:fillRect/>
          </a:stretch>
        </p:blipFill>
        <p:spPr>
          <a:xfrm>
            <a:off x="568745" y="1698809"/>
            <a:ext cx="8449854" cy="4909809"/>
          </a:xfrm>
          <a:prstGeom prst="rect">
            <a:avLst/>
          </a:prstGeom>
          <a:ln>
            <a:solidFill>
              <a:schemeClr val="tx1">
                <a:lumMod val="65000"/>
                <a:lumOff val="35000"/>
              </a:schemeClr>
            </a:solidFill>
          </a:ln>
        </p:spPr>
      </p:pic>
      <p:sp>
        <p:nvSpPr>
          <p:cNvPr id="7" name="사각형: 둥근 모서리 6">
            <a:extLst>
              <a:ext uri="{FF2B5EF4-FFF2-40B4-BE49-F238E27FC236}">
                <a16:creationId xmlns:a16="http://schemas.microsoft.com/office/drawing/2014/main" id="{61B00746-6CED-4E77-B0D3-5A8EABF7F50B}"/>
              </a:ext>
            </a:extLst>
          </p:cNvPr>
          <p:cNvSpPr/>
          <p:nvPr/>
        </p:nvSpPr>
        <p:spPr>
          <a:xfrm>
            <a:off x="6096000" y="2634225"/>
            <a:ext cx="1551708" cy="386066"/>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8626806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5" name="TextBox 4">
            <a:extLst>
              <a:ext uri="{FF2B5EF4-FFF2-40B4-BE49-F238E27FC236}">
                <a16:creationId xmlns:a16="http://schemas.microsoft.com/office/drawing/2014/main" id="{61E25197-0983-4993-B887-626ECA837762}"/>
              </a:ext>
            </a:extLst>
          </p:cNvPr>
          <p:cNvSpPr txBox="1"/>
          <p:nvPr/>
        </p:nvSpPr>
        <p:spPr>
          <a:xfrm>
            <a:off x="612069" y="996967"/>
            <a:ext cx="5240537"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300</a:t>
            </a:r>
            <a:r>
              <a:rPr lang="ko-KR" altLang="en-US"/>
              <a:t>달러 무료 크레딧 받기  </a:t>
            </a:r>
            <a:r>
              <a:rPr lang="en-US" altLang="ko-KR">
                <a:sym typeface="Wingdings" panose="05000000000000000000" pitchFamily="2" charset="2"/>
              </a:rPr>
              <a:t> </a:t>
            </a:r>
            <a:r>
              <a:rPr lang="ko-KR" altLang="en-US">
                <a:sym typeface="Wingdings" panose="05000000000000000000" pitchFamily="2" charset="2"/>
              </a:rPr>
              <a:t>사용기한 </a:t>
            </a:r>
            <a:r>
              <a:rPr lang="en-US" altLang="ko-KR">
                <a:sym typeface="Wingdings" panose="05000000000000000000" pitchFamily="2" charset="2"/>
              </a:rPr>
              <a:t>3</a:t>
            </a:r>
            <a:r>
              <a:rPr lang="ko-KR" altLang="en-US">
                <a:sym typeface="Wingdings" panose="05000000000000000000" pitchFamily="2" charset="2"/>
              </a:rPr>
              <a:t>개월</a:t>
            </a:r>
            <a:endParaRPr lang="ko-KR" altLang="en-US"/>
          </a:p>
        </p:txBody>
      </p:sp>
      <p:pic>
        <p:nvPicPr>
          <p:cNvPr id="3" name="그림 2">
            <a:extLst>
              <a:ext uri="{FF2B5EF4-FFF2-40B4-BE49-F238E27FC236}">
                <a16:creationId xmlns:a16="http://schemas.microsoft.com/office/drawing/2014/main" id="{35A72F28-6E0E-433D-969D-EB7C6A757424}"/>
              </a:ext>
            </a:extLst>
          </p:cNvPr>
          <p:cNvPicPr>
            <a:picLocks noChangeAspect="1"/>
          </p:cNvPicPr>
          <p:nvPr/>
        </p:nvPicPr>
        <p:blipFill>
          <a:blip r:embed="rId2"/>
          <a:stretch>
            <a:fillRect/>
          </a:stretch>
        </p:blipFill>
        <p:spPr>
          <a:xfrm>
            <a:off x="566157" y="1698809"/>
            <a:ext cx="10572898" cy="5050284"/>
          </a:xfrm>
          <a:prstGeom prst="rect">
            <a:avLst/>
          </a:prstGeom>
        </p:spPr>
      </p:pic>
    </p:spTree>
    <p:extLst>
      <p:ext uri="{BB962C8B-B14F-4D97-AF65-F5344CB8AC3E}">
        <p14:creationId xmlns:p14="http://schemas.microsoft.com/office/powerpoint/2010/main" val="295349251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2B3F0CE1-FA99-415A-A6E1-F084741FABF5}"/>
              </a:ext>
            </a:extLst>
          </p:cNvPr>
          <p:cNvSpPr/>
          <p:nvPr/>
        </p:nvSpPr>
        <p:spPr>
          <a:xfrm>
            <a:off x="0" y="6488667"/>
            <a:ext cx="8651309" cy="369332"/>
          </a:xfrm>
          <a:prstGeom prst="rect">
            <a:avLst/>
          </a:prstGeom>
        </p:spPr>
        <p:txBody>
          <a:bodyPr wrap="square">
            <a:spAutoFit/>
          </a:bodyPr>
          <a:lstStyle/>
          <a:p>
            <a:r>
              <a:rPr lang="ko-KR" altLang="en-US"/>
              <a:t>https://randomnerdtutorials.com/esp32-firebase-realtime-database/</a:t>
            </a:r>
          </a:p>
        </p:txBody>
      </p:sp>
      <p:sp>
        <p:nvSpPr>
          <p:cNvPr id="3" name="직사각형 2">
            <a:extLst>
              <a:ext uri="{FF2B5EF4-FFF2-40B4-BE49-F238E27FC236}">
                <a16:creationId xmlns:a16="http://schemas.microsoft.com/office/drawing/2014/main" id="{93CBFC01-E15C-4226-BA13-29C097050714}"/>
              </a:ext>
            </a:extLst>
          </p:cNvPr>
          <p:cNvSpPr/>
          <p:nvPr/>
        </p:nvSpPr>
        <p:spPr>
          <a:xfrm>
            <a:off x="-70982" y="6119335"/>
            <a:ext cx="8793271"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
        <p:nvSpPr>
          <p:cNvPr id="5" name="직사각형 4">
            <a:extLst>
              <a:ext uri="{FF2B5EF4-FFF2-40B4-BE49-F238E27FC236}">
                <a16:creationId xmlns:a16="http://schemas.microsoft.com/office/drawing/2014/main" id="{4A926E94-D231-424B-A971-5D12E81F04FA}"/>
              </a:ext>
            </a:extLst>
          </p:cNvPr>
          <p:cNvSpPr/>
          <p:nvPr/>
        </p:nvSpPr>
        <p:spPr>
          <a:xfrm>
            <a:off x="298537" y="745945"/>
            <a:ext cx="11594926" cy="783356"/>
          </a:xfrm>
          <a:prstGeom prst="rect">
            <a:avLst/>
          </a:prstGeom>
        </p:spPr>
        <p:txBody>
          <a:bodyPr wrap="square">
            <a:spAutoFit/>
          </a:bodyPr>
          <a:lstStyle/>
          <a:p>
            <a:pPr>
              <a:lnSpc>
                <a:spcPct val="150000"/>
              </a:lnSpc>
            </a:pPr>
            <a:r>
              <a:rPr lang="en-US" altLang="ko-KR" sz="1600"/>
              <a:t>1) </a:t>
            </a:r>
            <a:r>
              <a:rPr lang="ko-KR" altLang="en-US" sz="1600"/>
              <a:t>왼쪽 사이드바에서 **실시간 데이터베이스</a:t>
            </a:r>
            <a:r>
              <a:rPr lang="en-US" altLang="ko-KR" sz="1600"/>
              <a:t>(Realtime Database)**</a:t>
            </a:r>
            <a:r>
              <a:rPr lang="ko-KR" altLang="en-US" sz="1600"/>
              <a:t>를 클릭한 다음</a:t>
            </a:r>
            <a:r>
              <a:rPr lang="en-US" altLang="ko-KR" sz="1600"/>
              <a:t>, </a:t>
            </a:r>
            <a:br>
              <a:rPr lang="en-US" altLang="ko-KR" sz="1600"/>
            </a:br>
            <a:r>
              <a:rPr lang="en-US" altLang="ko-KR" sz="1600"/>
              <a:t>   **</a:t>
            </a:r>
            <a:r>
              <a:rPr lang="ko-KR" altLang="en-US" sz="1600"/>
              <a:t>데이터베이스 생성</a:t>
            </a:r>
            <a:r>
              <a:rPr lang="en-US" altLang="ko-KR" sz="1600"/>
              <a:t>(Create Database)**</a:t>
            </a:r>
            <a:r>
              <a:rPr lang="ko-KR" altLang="en-US" sz="1600"/>
              <a:t>을 클릭</a:t>
            </a:r>
            <a:r>
              <a:rPr lang="en-US" altLang="ko-KR" sz="1600"/>
              <a:t>.</a:t>
            </a:r>
            <a:endParaRPr lang="ko-KR" altLang="en-US" sz="1600"/>
          </a:p>
        </p:txBody>
      </p:sp>
      <p:pic>
        <p:nvPicPr>
          <p:cNvPr id="6" name="그림 5">
            <a:extLst>
              <a:ext uri="{FF2B5EF4-FFF2-40B4-BE49-F238E27FC236}">
                <a16:creationId xmlns:a16="http://schemas.microsoft.com/office/drawing/2014/main" id="{01D258CA-70A2-4FD1-AAA9-F20A23AEB58E}"/>
              </a:ext>
            </a:extLst>
          </p:cNvPr>
          <p:cNvPicPr>
            <a:picLocks noChangeAspect="1"/>
          </p:cNvPicPr>
          <p:nvPr/>
        </p:nvPicPr>
        <p:blipFill>
          <a:blip r:embed="rId3"/>
          <a:stretch>
            <a:fillRect/>
          </a:stretch>
        </p:blipFill>
        <p:spPr>
          <a:xfrm>
            <a:off x="601249" y="1898633"/>
            <a:ext cx="10112680" cy="4183519"/>
          </a:xfrm>
          <a:prstGeom prst="rect">
            <a:avLst/>
          </a:prstGeom>
        </p:spPr>
      </p:pic>
      <p:sp>
        <p:nvSpPr>
          <p:cNvPr id="7" name="사각형: 둥근 모서리 6">
            <a:extLst>
              <a:ext uri="{FF2B5EF4-FFF2-40B4-BE49-F238E27FC236}">
                <a16:creationId xmlns:a16="http://schemas.microsoft.com/office/drawing/2014/main" id="{357BC336-2871-4019-AD3A-4969C780B415}"/>
              </a:ext>
            </a:extLst>
          </p:cNvPr>
          <p:cNvSpPr/>
          <p:nvPr/>
        </p:nvSpPr>
        <p:spPr>
          <a:xfrm>
            <a:off x="413359" y="4212242"/>
            <a:ext cx="2204581"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화살표: 아래쪽 7">
            <a:extLst>
              <a:ext uri="{FF2B5EF4-FFF2-40B4-BE49-F238E27FC236}">
                <a16:creationId xmlns:a16="http://schemas.microsoft.com/office/drawing/2014/main" id="{5D52814C-7051-436E-86FC-2AD8792D6B87}"/>
              </a:ext>
            </a:extLst>
          </p:cNvPr>
          <p:cNvSpPr/>
          <p:nvPr/>
        </p:nvSpPr>
        <p:spPr>
          <a:xfrm rot="16200000">
            <a:off x="2683674" y="4136454"/>
            <a:ext cx="378373" cy="357627"/>
          </a:xfrm>
          <a:prstGeom prst="downArrow">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3556832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dirty="0">
              <a:solidFill>
                <a:schemeClr val="tx1"/>
              </a:solidFill>
            </a:endParaRPr>
          </a:p>
        </p:txBody>
      </p:sp>
      <p:pic>
        <p:nvPicPr>
          <p:cNvPr id="9" name="그림 8">
            <a:extLst>
              <a:ext uri="{FF2B5EF4-FFF2-40B4-BE49-F238E27FC236}">
                <a16:creationId xmlns:a16="http://schemas.microsoft.com/office/drawing/2014/main" id="{3F026972-9DED-4F43-9144-E14721D0B770}"/>
              </a:ext>
            </a:extLst>
          </p:cNvPr>
          <p:cNvPicPr>
            <a:picLocks noChangeAspect="1"/>
          </p:cNvPicPr>
          <p:nvPr/>
        </p:nvPicPr>
        <p:blipFill>
          <a:blip r:embed="rId2"/>
          <a:stretch>
            <a:fillRect/>
          </a:stretch>
        </p:blipFill>
        <p:spPr>
          <a:xfrm>
            <a:off x="1032756" y="1292715"/>
            <a:ext cx="8662087" cy="5141841"/>
          </a:xfrm>
          <a:prstGeom prst="rect">
            <a:avLst/>
          </a:prstGeom>
        </p:spPr>
      </p:pic>
      <p:sp>
        <p:nvSpPr>
          <p:cNvPr id="10" name="직사각형 9">
            <a:extLst>
              <a:ext uri="{FF2B5EF4-FFF2-40B4-BE49-F238E27FC236}">
                <a16:creationId xmlns:a16="http://schemas.microsoft.com/office/drawing/2014/main" id="{B521F951-06F6-40FB-9C19-2B3355FAB494}"/>
              </a:ext>
            </a:extLst>
          </p:cNvPr>
          <p:cNvSpPr/>
          <p:nvPr/>
        </p:nvSpPr>
        <p:spPr>
          <a:xfrm>
            <a:off x="298537" y="745945"/>
            <a:ext cx="11594926" cy="414024"/>
          </a:xfrm>
          <a:prstGeom prst="rect">
            <a:avLst/>
          </a:prstGeom>
        </p:spPr>
        <p:txBody>
          <a:bodyPr wrap="square">
            <a:spAutoFit/>
          </a:bodyPr>
          <a:lstStyle/>
          <a:p>
            <a:pPr>
              <a:lnSpc>
                <a:spcPct val="150000"/>
              </a:lnSpc>
            </a:pPr>
            <a:r>
              <a:rPr lang="en-US" altLang="ko-KR" sz="1600"/>
              <a:t>2) </a:t>
            </a:r>
            <a:r>
              <a:rPr lang="ko-KR" altLang="en-US" sz="1600"/>
              <a:t>데이터베이스 저장소 위치 선택</a:t>
            </a:r>
            <a:r>
              <a:rPr lang="en-US" altLang="ko-KR" sz="1600"/>
              <a:t>. </a:t>
            </a:r>
            <a:r>
              <a:rPr lang="ko-KR" altLang="en-US" sz="1600"/>
              <a:t>가까운 곳을 선택한다</a:t>
            </a:r>
            <a:r>
              <a:rPr lang="en-US" altLang="ko-KR" sz="1600"/>
              <a:t>.</a:t>
            </a:r>
            <a:endParaRPr lang="ko-KR" altLang="en-US" sz="1600"/>
          </a:p>
        </p:txBody>
      </p:sp>
      <p:sp>
        <p:nvSpPr>
          <p:cNvPr id="11" name="사각형: 둥근 모서리 10">
            <a:extLst>
              <a:ext uri="{FF2B5EF4-FFF2-40B4-BE49-F238E27FC236}">
                <a16:creationId xmlns:a16="http://schemas.microsoft.com/office/drawing/2014/main" id="{B96F3BBA-0C8F-4BF9-84A1-446E5DE44AE5}"/>
              </a:ext>
            </a:extLst>
          </p:cNvPr>
          <p:cNvSpPr/>
          <p:nvPr/>
        </p:nvSpPr>
        <p:spPr>
          <a:xfrm>
            <a:off x="1394867" y="5742723"/>
            <a:ext cx="1656806"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11">
            <a:extLst>
              <a:ext uri="{FF2B5EF4-FFF2-40B4-BE49-F238E27FC236}">
                <a16:creationId xmlns:a16="http://schemas.microsoft.com/office/drawing/2014/main" id="{C82AC02C-F6C1-44CA-9C50-2031E4B2C79F}"/>
              </a:ext>
            </a:extLst>
          </p:cNvPr>
          <p:cNvSpPr/>
          <p:nvPr/>
        </p:nvSpPr>
        <p:spPr>
          <a:xfrm>
            <a:off x="7165869" y="5742723"/>
            <a:ext cx="656107" cy="47079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01645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2" name="직사각형 1">
            <a:extLst>
              <a:ext uri="{FF2B5EF4-FFF2-40B4-BE49-F238E27FC236}">
                <a16:creationId xmlns:a16="http://schemas.microsoft.com/office/drawing/2014/main" id="{CFA3FB5E-C70E-4E9D-AC6A-FBB8A8F0BA0F}"/>
              </a:ext>
            </a:extLst>
          </p:cNvPr>
          <p:cNvSpPr/>
          <p:nvPr/>
        </p:nvSpPr>
        <p:spPr>
          <a:xfrm>
            <a:off x="194631" y="757665"/>
            <a:ext cx="11626468" cy="584775"/>
          </a:xfrm>
          <a:prstGeom prst="rect">
            <a:avLst/>
          </a:prstGeom>
        </p:spPr>
        <p:txBody>
          <a:bodyPr wrap="square">
            <a:spAutoFit/>
          </a:bodyPr>
          <a:lstStyle/>
          <a:p>
            <a:r>
              <a:rPr lang="en-US" altLang="ko-KR" sz="1600"/>
              <a:t>3) </a:t>
            </a:r>
            <a:r>
              <a:rPr lang="ko-KR" altLang="en-US" sz="1600"/>
              <a:t>데이터베이스의 보안 규칙을 설정한다</a:t>
            </a:r>
            <a:r>
              <a:rPr lang="en-US" altLang="ko-KR" sz="1600"/>
              <a:t>. </a:t>
            </a:r>
            <a:br>
              <a:rPr lang="en-US" altLang="ko-KR" sz="1600"/>
            </a:br>
            <a:r>
              <a:rPr lang="en-US" altLang="ko-KR" sz="1600"/>
              <a:t>    </a:t>
            </a:r>
            <a:r>
              <a:rPr lang="ko-KR" altLang="en-US" sz="1600"/>
              <a:t>테스트 목적으로 </a:t>
            </a:r>
            <a:r>
              <a:rPr lang="en-US" altLang="ko-KR" sz="1600"/>
              <a:t>"</a:t>
            </a:r>
            <a:r>
              <a:rPr lang="ko-KR" altLang="en-US" sz="1600"/>
              <a:t>테스트 모드에서 시작</a:t>
            </a:r>
            <a:r>
              <a:rPr lang="en-US" altLang="ko-KR" sz="1600"/>
              <a:t>"</a:t>
            </a:r>
            <a:r>
              <a:rPr lang="ko-KR" altLang="en-US" sz="1600"/>
              <a:t>을 선택하자</a:t>
            </a:r>
            <a:r>
              <a:rPr lang="en-US" altLang="ko-KR" sz="1600"/>
              <a:t>.</a:t>
            </a:r>
            <a:endParaRPr lang="ko-KR" altLang="en-US" sz="1600"/>
          </a:p>
        </p:txBody>
      </p:sp>
      <p:pic>
        <p:nvPicPr>
          <p:cNvPr id="3" name="그림 2">
            <a:extLst>
              <a:ext uri="{FF2B5EF4-FFF2-40B4-BE49-F238E27FC236}">
                <a16:creationId xmlns:a16="http://schemas.microsoft.com/office/drawing/2014/main" id="{B1AA03ED-3DC5-42DF-A667-3DC20D7C1255}"/>
              </a:ext>
            </a:extLst>
          </p:cNvPr>
          <p:cNvPicPr>
            <a:picLocks noChangeAspect="1"/>
          </p:cNvPicPr>
          <p:nvPr/>
        </p:nvPicPr>
        <p:blipFill>
          <a:blip r:embed="rId2"/>
          <a:stretch>
            <a:fillRect/>
          </a:stretch>
        </p:blipFill>
        <p:spPr>
          <a:xfrm>
            <a:off x="735104" y="1428076"/>
            <a:ext cx="8011643" cy="5191850"/>
          </a:xfrm>
          <a:prstGeom prst="rect">
            <a:avLst/>
          </a:prstGeom>
        </p:spPr>
      </p:pic>
      <p:sp>
        <p:nvSpPr>
          <p:cNvPr id="5" name="사각형: 둥근 모서리 4">
            <a:extLst>
              <a:ext uri="{FF2B5EF4-FFF2-40B4-BE49-F238E27FC236}">
                <a16:creationId xmlns:a16="http://schemas.microsoft.com/office/drawing/2014/main" id="{DC9EC77D-7385-42AE-90FC-9286215BF394}"/>
              </a:ext>
            </a:extLst>
          </p:cNvPr>
          <p:cNvSpPr/>
          <p:nvPr/>
        </p:nvSpPr>
        <p:spPr>
          <a:xfrm>
            <a:off x="1086394" y="4409682"/>
            <a:ext cx="1789007"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9052A621-2A7A-4F41-960E-B0C1237E975B}"/>
              </a:ext>
            </a:extLst>
          </p:cNvPr>
          <p:cNvSpPr/>
          <p:nvPr/>
        </p:nvSpPr>
        <p:spPr>
          <a:xfrm>
            <a:off x="7430274" y="5915669"/>
            <a:ext cx="1063731" cy="45208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153457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3" name="직사각형 2">
            <a:extLst>
              <a:ext uri="{FF2B5EF4-FFF2-40B4-BE49-F238E27FC236}">
                <a16:creationId xmlns:a16="http://schemas.microsoft.com/office/drawing/2014/main" id="{285F2B43-17BA-4FA7-9240-C8BBC59E5A5A}"/>
              </a:ext>
            </a:extLst>
          </p:cNvPr>
          <p:cNvSpPr/>
          <p:nvPr/>
        </p:nvSpPr>
        <p:spPr>
          <a:xfrm>
            <a:off x="194631" y="757665"/>
            <a:ext cx="11626468" cy="338554"/>
          </a:xfrm>
          <a:prstGeom prst="rect">
            <a:avLst/>
          </a:prstGeom>
        </p:spPr>
        <p:txBody>
          <a:bodyPr wrap="square">
            <a:spAutoFit/>
          </a:bodyPr>
          <a:lstStyle/>
          <a:p>
            <a:r>
              <a:rPr lang="en-US" altLang="ko-KR" sz="1600"/>
              <a:t>4) </a:t>
            </a:r>
            <a:r>
              <a:rPr lang="ko-KR" altLang="en-US" sz="1600"/>
              <a:t>데이터베이스 생성이 되었다</a:t>
            </a:r>
            <a:r>
              <a:rPr lang="en-US" altLang="ko-KR" sz="1600"/>
              <a:t>. </a:t>
            </a:r>
            <a:r>
              <a:rPr lang="ko-KR" altLang="en-US" sz="1600"/>
              <a:t>데이터베이스 </a:t>
            </a:r>
            <a:r>
              <a:rPr lang="en-US" altLang="ko-KR" sz="1600"/>
              <a:t>URL</a:t>
            </a:r>
            <a:r>
              <a:rPr lang="ko-KR" altLang="en-US" sz="1600"/>
              <a:t>을 복사하여 저장해 놓자</a:t>
            </a:r>
            <a:r>
              <a:rPr lang="en-US" altLang="ko-KR" sz="1600"/>
              <a:t>. </a:t>
            </a:r>
            <a:r>
              <a:rPr lang="ko-KR" altLang="en-US" sz="1600"/>
              <a:t>이후 </a:t>
            </a:r>
            <a:r>
              <a:rPr lang="en-US" altLang="ko-KR" sz="1600"/>
              <a:t>ESP32 </a:t>
            </a:r>
            <a:r>
              <a:rPr lang="ko-KR" altLang="en-US" sz="1600"/>
              <a:t>코딩에 필요하다</a:t>
            </a:r>
            <a:r>
              <a:rPr lang="en-US" altLang="ko-KR" sz="1600"/>
              <a:t>. </a:t>
            </a:r>
            <a:endParaRPr lang="ko-KR" altLang="en-US" sz="1600"/>
          </a:p>
        </p:txBody>
      </p:sp>
      <p:sp>
        <p:nvSpPr>
          <p:cNvPr id="2" name="직사각형 1">
            <a:extLst>
              <a:ext uri="{FF2B5EF4-FFF2-40B4-BE49-F238E27FC236}">
                <a16:creationId xmlns:a16="http://schemas.microsoft.com/office/drawing/2014/main" id="{19385B88-6BBF-4E6B-AC47-0153D68A8583}"/>
              </a:ext>
            </a:extLst>
          </p:cNvPr>
          <p:cNvSpPr/>
          <p:nvPr/>
        </p:nvSpPr>
        <p:spPr>
          <a:xfrm>
            <a:off x="558187" y="4842612"/>
            <a:ext cx="11340029" cy="369332"/>
          </a:xfrm>
          <a:prstGeom prst="rect">
            <a:avLst/>
          </a:prstGeom>
        </p:spPr>
        <p:txBody>
          <a:bodyPr wrap="square">
            <a:spAutoFit/>
          </a:bodyPr>
          <a:lstStyle/>
          <a:p>
            <a:r>
              <a:rPr lang="ko-KR" altLang="en-US"/>
              <a:t>https://esp-firebase-demo-ddfde-default-rtdb.asia-southeast1.firebasedatabase.app/</a:t>
            </a:r>
          </a:p>
        </p:txBody>
      </p:sp>
      <p:pic>
        <p:nvPicPr>
          <p:cNvPr id="5" name="그림 4">
            <a:extLst>
              <a:ext uri="{FF2B5EF4-FFF2-40B4-BE49-F238E27FC236}">
                <a16:creationId xmlns:a16="http://schemas.microsoft.com/office/drawing/2014/main" id="{DD96BC76-CB1D-4649-A354-9A42DBB66CFB}"/>
              </a:ext>
            </a:extLst>
          </p:cNvPr>
          <p:cNvPicPr>
            <a:picLocks noChangeAspect="1"/>
          </p:cNvPicPr>
          <p:nvPr/>
        </p:nvPicPr>
        <p:blipFill>
          <a:blip r:embed="rId2"/>
          <a:stretch>
            <a:fillRect/>
          </a:stretch>
        </p:blipFill>
        <p:spPr>
          <a:xfrm>
            <a:off x="547430" y="1181855"/>
            <a:ext cx="10259857" cy="3648584"/>
          </a:xfrm>
          <a:prstGeom prst="rect">
            <a:avLst/>
          </a:prstGeom>
          <a:ln>
            <a:solidFill>
              <a:schemeClr val="bg2"/>
            </a:solidFill>
          </a:ln>
        </p:spPr>
      </p:pic>
      <p:sp>
        <p:nvSpPr>
          <p:cNvPr id="6" name="사각형: 둥근 모서리 5">
            <a:extLst>
              <a:ext uri="{FF2B5EF4-FFF2-40B4-BE49-F238E27FC236}">
                <a16:creationId xmlns:a16="http://schemas.microsoft.com/office/drawing/2014/main" id="{90337989-980C-460E-BD82-FAFC83826022}"/>
              </a:ext>
            </a:extLst>
          </p:cNvPr>
          <p:cNvSpPr/>
          <p:nvPr/>
        </p:nvSpPr>
        <p:spPr>
          <a:xfrm>
            <a:off x="711820" y="3138048"/>
            <a:ext cx="422917"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 name="직선 화살표 연결선 7">
            <a:extLst>
              <a:ext uri="{FF2B5EF4-FFF2-40B4-BE49-F238E27FC236}">
                <a16:creationId xmlns:a16="http://schemas.microsoft.com/office/drawing/2014/main" id="{1FDB99C9-277D-460D-8FDD-550C31ECB69C}"/>
              </a:ext>
            </a:extLst>
          </p:cNvPr>
          <p:cNvCxnSpPr>
            <a:cxnSpLocks/>
            <a:endCxn id="6" idx="0"/>
          </p:cNvCxnSpPr>
          <p:nvPr/>
        </p:nvCxnSpPr>
        <p:spPr>
          <a:xfrm flipH="1">
            <a:off x="923279" y="2886419"/>
            <a:ext cx="112307" cy="25162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48782CDF-5100-45FA-ACEA-725F69E32080}"/>
              </a:ext>
            </a:extLst>
          </p:cNvPr>
          <p:cNvCxnSpPr/>
          <p:nvPr/>
        </p:nvCxnSpPr>
        <p:spPr>
          <a:xfrm>
            <a:off x="1134737" y="3429000"/>
            <a:ext cx="4961263"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7777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4. Get</a:t>
            </a:r>
            <a:r>
              <a:rPr lang="ko-KR" altLang="en-US" sz="2000" b="1">
                <a:solidFill>
                  <a:schemeClr val="tx1"/>
                </a:solidFill>
              </a:rPr>
              <a:t> </a:t>
            </a:r>
            <a:r>
              <a:rPr lang="en-US" altLang="ko-KR" sz="2000" b="1">
                <a:solidFill>
                  <a:schemeClr val="tx1"/>
                </a:solidFill>
              </a:rPr>
              <a:t>Project</a:t>
            </a:r>
            <a:r>
              <a:rPr lang="ko-KR" altLang="en-US" sz="2000" b="1">
                <a:solidFill>
                  <a:schemeClr val="tx1"/>
                </a:solidFill>
              </a:rPr>
              <a:t> </a:t>
            </a:r>
            <a:r>
              <a:rPr lang="en-US" altLang="ko-KR" sz="2000" b="1">
                <a:solidFill>
                  <a:schemeClr val="tx1"/>
                </a:solidFill>
              </a:rPr>
              <a:t>API</a:t>
            </a:r>
            <a:r>
              <a:rPr lang="ko-KR" altLang="en-US" sz="2000" b="1">
                <a:solidFill>
                  <a:schemeClr val="tx1"/>
                </a:solidFill>
              </a:rPr>
              <a:t> </a:t>
            </a:r>
            <a:r>
              <a:rPr lang="en-US" altLang="ko-KR" sz="2000" b="1">
                <a:solidFill>
                  <a:schemeClr val="tx1"/>
                </a:solidFill>
              </a:rPr>
              <a:t>Key</a:t>
            </a:r>
            <a:endParaRPr lang="ko-KR" altLang="en-US" sz="2000" b="1">
              <a:solidFill>
                <a:schemeClr val="tx1"/>
              </a:solidFill>
            </a:endParaRPr>
          </a:p>
        </p:txBody>
      </p:sp>
      <p:sp>
        <p:nvSpPr>
          <p:cNvPr id="3" name="직사각형 2">
            <a:extLst>
              <a:ext uri="{FF2B5EF4-FFF2-40B4-BE49-F238E27FC236}">
                <a16:creationId xmlns:a16="http://schemas.microsoft.com/office/drawing/2014/main" id="{2B6B4D79-7B12-4DA9-8844-E28643165F2D}"/>
              </a:ext>
            </a:extLst>
          </p:cNvPr>
          <p:cNvSpPr/>
          <p:nvPr/>
        </p:nvSpPr>
        <p:spPr>
          <a:xfrm>
            <a:off x="140843" y="824900"/>
            <a:ext cx="11626468" cy="338554"/>
          </a:xfrm>
          <a:prstGeom prst="rect">
            <a:avLst/>
          </a:prstGeom>
        </p:spPr>
        <p:txBody>
          <a:bodyPr wrap="square">
            <a:spAutoFit/>
          </a:bodyPr>
          <a:lstStyle/>
          <a:p>
            <a:r>
              <a:rPr lang="en-US" altLang="ko-KR" sz="1600"/>
              <a:t>1) </a:t>
            </a:r>
            <a:r>
              <a:rPr lang="ko-KR" altLang="en-US" sz="1600"/>
              <a:t>프로젝트 설정을 클릭하여 프로젝트의 </a:t>
            </a:r>
            <a:r>
              <a:rPr lang="en-US" altLang="ko-KR" sz="1600"/>
              <a:t>API </a:t>
            </a:r>
            <a:r>
              <a:rPr lang="ko-KR" altLang="en-US" sz="1600"/>
              <a:t>키를 가져오자</a:t>
            </a:r>
            <a:r>
              <a:rPr lang="en-US" altLang="ko-KR" sz="1600"/>
              <a:t>.</a:t>
            </a:r>
            <a:endParaRPr lang="ko-KR" altLang="en-US" sz="1600"/>
          </a:p>
        </p:txBody>
      </p:sp>
      <p:pic>
        <p:nvPicPr>
          <p:cNvPr id="2" name="그림 1">
            <a:extLst>
              <a:ext uri="{FF2B5EF4-FFF2-40B4-BE49-F238E27FC236}">
                <a16:creationId xmlns:a16="http://schemas.microsoft.com/office/drawing/2014/main" id="{8DB31128-7F12-4D1F-B0D9-F4E0015C20D4}"/>
              </a:ext>
            </a:extLst>
          </p:cNvPr>
          <p:cNvPicPr>
            <a:picLocks noChangeAspect="1"/>
          </p:cNvPicPr>
          <p:nvPr/>
        </p:nvPicPr>
        <p:blipFill>
          <a:blip r:embed="rId2"/>
          <a:stretch>
            <a:fillRect/>
          </a:stretch>
        </p:blipFill>
        <p:spPr>
          <a:xfrm>
            <a:off x="438617" y="1342734"/>
            <a:ext cx="5344271" cy="2086266"/>
          </a:xfrm>
          <a:prstGeom prst="rect">
            <a:avLst/>
          </a:prstGeom>
          <a:ln>
            <a:solidFill>
              <a:schemeClr val="tx1">
                <a:lumMod val="50000"/>
                <a:lumOff val="50000"/>
              </a:schemeClr>
            </a:solidFill>
          </a:ln>
        </p:spPr>
      </p:pic>
      <p:sp>
        <p:nvSpPr>
          <p:cNvPr id="5" name="사각형: 둥근 모서리 4">
            <a:extLst>
              <a:ext uri="{FF2B5EF4-FFF2-40B4-BE49-F238E27FC236}">
                <a16:creationId xmlns:a16="http://schemas.microsoft.com/office/drawing/2014/main" id="{C2D63208-649A-4377-92AB-7987530676DD}"/>
              </a:ext>
            </a:extLst>
          </p:cNvPr>
          <p:cNvSpPr/>
          <p:nvPr/>
        </p:nvSpPr>
        <p:spPr>
          <a:xfrm>
            <a:off x="2298573" y="1766448"/>
            <a:ext cx="422917"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590C2725-750F-40EE-8A86-5EE7C604E6D6}"/>
              </a:ext>
            </a:extLst>
          </p:cNvPr>
          <p:cNvSpPr/>
          <p:nvPr/>
        </p:nvSpPr>
        <p:spPr>
          <a:xfrm>
            <a:off x="2843856" y="1896035"/>
            <a:ext cx="1015450" cy="31284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375FFEC9-5B83-4814-B50B-A58D8D1F5104}"/>
              </a:ext>
            </a:extLst>
          </p:cNvPr>
          <p:cNvPicPr>
            <a:picLocks noChangeAspect="1"/>
          </p:cNvPicPr>
          <p:nvPr/>
        </p:nvPicPr>
        <p:blipFill>
          <a:blip r:embed="rId3"/>
          <a:stretch>
            <a:fillRect/>
          </a:stretch>
        </p:blipFill>
        <p:spPr>
          <a:xfrm>
            <a:off x="438617" y="4405448"/>
            <a:ext cx="9307224" cy="2219635"/>
          </a:xfrm>
          <a:prstGeom prst="rect">
            <a:avLst/>
          </a:prstGeom>
        </p:spPr>
      </p:pic>
      <p:sp>
        <p:nvSpPr>
          <p:cNvPr id="8" name="사각형: 둥근 모서리 7">
            <a:extLst>
              <a:ext uri="{FF2B5EF4-FFF2-40B4-BE49-F238E27FC236}">
                <a16:creationId xmlns:a16="http://schemas.microsoft.com/office/drawing/2014/main" id="{D34371F8-41B5-4509-8614-7D19AC55C69C}"/>
              </a:ext>
            </a:extLst>
          </p:cNvPr>
          <p:cNvSpPr/>
          <p:nvPr/>
        </p:nvSpPr>
        <p:spPr>
          <a:xfrm>
            <a:off x="2781805" y="6019653"/>
            <a:ext cx="2987636"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BB116462-388C-4447-A392-FAC77C31A3BE}"/>
              </a:ext>
            </a:extLst>
          </p:cNvPr>
          <p:cNvSpPr/>
          <p:nvPr/>
        </p:nvSpPr>
        <p:spPr>
          <a:xfrm>
            <a:off x="140843" y="3869782"/>
            <a:ext cx="11626468" cy="338554"/>
          </a:xfrm>
          <a:prstGeom prst="rect">
            <a:avLst/>
          </a:prstGeom>
        </p:spPr>
        <p:txBody>
          <a:bodyPr wrap="square">
            <a:spAutoFit/>
          </a:bodyPr>
          <a:lstStyle/>
          <a:p>
            <a:r>
              <a:rPr lang="en-US" altLang="ko-KR" sz="1600"/>
              <a:t>2) Web API Key</a:t>
            </a:r>
            <a:r>
              <a:rPr lang="ko-KR" altLang="en-US" sz="1600"/>
              <a:t>를 복사해 둔다</a:t>
            </a:r>
            <a:r>
              <a:rPr lang="en-US" altLang="ko-KR" sz="1600"/>
              <a:t>. </a:t>
            </a:r>
            <a:endParaRPr lang="ko-KR" altLang="en-US" sz="1600"/>
          </a:p>
        </p:txBody>
      </p:sp>
      <p:sp>
        <p:nvSpPr>
          <p:cNvPr id="10" name="직사각형 9">
            <a:extLst>
              <a:ext uri="{FF2B5EF4-FFF2-40B4-BE49-F238E27FC236}">
                <a16:creationId xmlns:a16="http://schemas.microsoft.com/office/drawing/2014/main" id="{246B86D7-C6A5-4CF1-ABFB-6788FA39A9A7}"/>
              </a:ext>
            </a:extLst>
          </p:cNvPr>
          <p:cNvSpPr/>
          <p:nvPr/>
        </p:nvSpPr>
        <p:spPr>
          <a:xfrm>
            <a:off x="6422561" y="6028506"/>
            <a:ext cx="5117748" cy="369332"/>
          </a:xfrm>
          <a:prstGeom prst="rect">
            <a:avLst/>
          </a:prstGeom>
        </p:spPr>
        <p:txBody>
          <a:bodyPr wrap="none">
            <a:spAutoFit/>
          </a:bodyPr>
          <a:lstStyle/>
          <a:p>
            <a:r>
              <a:rPr lang="en-US" altLang="ko-KR"/>
              <a:t>AIzaSyDcqzjUPhuIUXzIH5zHU3J7OkR4c7tDpOU</a:t>
            </a:r>
            <a:endParaRPr lang="ko-KR" altLang="en-US"/>
          </a:p>
        </p:txBody>
      </p:sp>
    </p:spTree>
    <p:extLst>
      <p:ext uri="{BB962C8B-B14F-4D97-AF65-F5344CB8AC3E}">
        <p14:creationId xmlns:p14="http://schemas.microsoft.com/office/powerpoint/2010/main" val="22064900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2" name="TextBox 1">
            <a:extLst>
              <a:ext uri="{FF2B5EF4-FFF2-40B4-BE49-F238E27FC236}">
                <a16:creationId xmlns:a16="http://schemas.microsoft.com/office/drawing/2014/main" id="{E9C4DD0E-D35F-4E7E-8C25-7C65FABD4EE9}"/>
              </a:ext>
            </a:extLst>
          </p:cNvPr>
          <p:cNvSpPr txBox="1"/>
          <p:nvPr/>
        </p:nvSpPr>
        <p:spPr>
          <a:xfrm>
            <a:off x="1265991" y="1143000"/>
            <a:ext cx="9660017" cy="461665"/>
          </a:xfrm>
          <a:prstGeom prst="rect">
            <a:avLst/>
          </a:prstGeom>
          <a:noFill/>
        </p:spPr>
        <p:txBody>
          <a:bodyPr wrap="none" rtlCol="0">
            <a:spAutoFit/>
          </a:bodyPr>
          <a:lstStyle/>
          <a:p>
            <a:r>
              <a:rPr lang="ko-KR" altLang="en-US" sz="2400">
                <a:solidFill>
                  <a:schemeClr val="accent2">
                    <a:lumMod val="50000"/>
                  </a:schemeClr>
                </a:solidFill>
              </a:rPr>
              <a:t>이제 </a:t>
            </a:r>
            <a:r>
              <a:rPr lang="en-US" altLang="ko-KR" sz="2400">
                <a:solidFill>
                  <a:schemeClr val="accent2">
                    <a:lumMod val="50000"/>
                  </a:schemeClr>
                </a:solidFill>
              </a:rPr>
              <a:t>ESP32</a:t>
            </a:r>
            <a:r>
              <a:rPr lang="ko-KR" altLang="en-US" sz="2400">
                <a:solidFill>
                  <a:schemeClr val="accent2">
                    <a:lumMod val="50000"/>
                  </a:schemeClr>
                </a:solidFill>
              </a:rPr>
              <a:t>와 데이터베이스 인터페이스를 위한 모든 준비가 끝났다</a:t>
            </a:r>
            <a:r>
              <a:rPr lang="en-US" altLang="ko-KR" sz="2400">
                <a:solidFill>
                  <a:schemeClr val="accent2">
                    <a:lumMod val="50000"/>
                  </a:schemeClr>
                </a:solidFill>
              </a:rPr>
              <a:t>. </a:t>
            </a:r>
            <a:endParaRPr lang="ko-KR" altLang="en-US" sz="2400">
              <a:solidFill>
                <a:schemeClr val="accent2">
                  <a:lumMod val="50000"/>
                </a:schemeClr>
              </a:solidFill>
            </a:endParaRPr>
          </a:p>
        </p:txBody>
      </p:sp>
      <p:sp>
        <p:nvSpPr>
          <p:cNvPr id="5" name="TextBox 4">
            <a:extLst>
              <a:ext uri="{FF2B5EF4-FFF2-40B4-BE49-F238E27FC236}">
                <a16:creationId xmlns:a16="http://schemas.microsoft.com/office/drawing/2014/main" id="{E28CAF47-ED78-4A14-8F2E-33398A58621D}"/>
              </a:ext>
            </a:extLst>
          </p:cNvPr>
          <p:cNvSpPr txBox="1"/>
          <p:nvPr/>
        </p:nvSpPr>
        <p:spPr>
          <a:xfrm>
            <a:off x="423484" y="2210107"/>
            <a:ext cx="11345029" cy="3726148"/>
          </a:xfrm>
          <a:prstGeom prst="rect">
            <a:avLst/>
          </a:prstGeom>
          <a:noFill/>
        </p:spPr>
        <p:txBody>
          <a:bodyPr wrap="none" rtlCol="0">
            <a:spAutoFit/>
          </a:bodyPr>
          <a:lstStyle/>
          <a:p>
            <a:pPr algn="ctr">
              <a:lnSpc>
                <a:spcPct val="150000"/>
              </a:lnSpc>
            </a:pPr>
            <a:r>
              <a:rPr lang="en-US" altLang="ko-KR" sz="2000"/>
              <a:t>ESP32</a:t>
            </a:r>
            <a:r>
              <a:rPr lang="ko-KR" altLang="en-US" sz="2000"/>
              <a:t>를 프로그래밍하려면 </a:t>
            </a:r>
            <a:r>
              <a:rPr lang="en-US" altLang="ko-KR" sz="2000"/>
              <a:t>Arduino IDE, VS Code(PlatformIO </a:t>
            </a:r>
            <a:r>
              <a:rPr lang="ko-KR" altLang="en-US" sz="2000"/>
              <a:t>확장 포함</a:t>
            </a:r>
            <a:r>
              <a:rPr lang="en-US" altLang="ko-KR" sz="2000"/>
              <a:t>), </a:t>
            </a:r>
            <a:r>
              <a:rPr lang="ko-KR" altLang="en-US" sz="2000"/>
              <a:t>또는 </a:t>
            </a:r>
            <a:br>
              <a:rPr lang="en-US" altLang="ko-KR" sz="2000"/>
            </a:br>
            <a:r>
              <a:rPr lang="ko-KR" altLang="en-US" sz="2000"/>
              <a:t>기타 적합한 소프트웨어를 사용할 수 있습니다</a:t>
            </a:r>
            <a:r>
              <a:rPr lang="en-US" altLang="ko-KR" sz="2000"/>
              <a:t>.</a:t>
            </a:r>
          </a:p>
          <a:p>
            <a:pPr algn="ctr">
              <a:lnSpc>
                <a:spcPct val="150000"/>
              </a:lnSpc>
            </a:pPr>
            <a:endParaRPr lang="en-US" altLang="ko-KR" sz="2000"/>
          </a:p>
          <a:p>
            <a:pPr algn="ctr">
              <a:lnSpc>
                <a:spcPct val="150000"/>
              </a:lnSpc>
            </a:pPr>
            <a:r>
              <a:rPr lang="ko-KR" altLang="en-US" sz="2000"/>
              <a:t> </a:t>
            </a:r>
            <a:r>
              <a:rPr lang="en-US" altLang="ko-KR" sz="2000"/>
              <a:t>Firebase </a:t>
            </a:r>
            <a:r>
              <a:rPr lang="ko-KR" altLang="en-US" sz="2000"/>
              <a:t>프로젝트의 경우 </a:t>
            </a:r>
            <a:r>
              <a:rPr lang="en-US" altLang="ko-KR" sz="2000"/>
              <a:t>VS Code</a:t>
            </a:r>
            <a:r>
              <a:rPr lang="ko-KR" altLang="en-US" sz="2000"/>
              <a:t>와 </a:t>
            </a:r>
            <a:r>
              <a:rPr lang="en-US" altLang="ko-KR" sz="2000"/>
              <a:t>PlatformIO </a:t>
            </a:r>
            <a:r>
              <a:rPr lang="ko-KR" altLang="en-US" sz="2000"/>
              <a:t>확장을 사용하는 것을 권장한다</a:t>
            </a:r>
            <a:r>
              <a:rPr lang="en-US" altLang="ko-KR" sz="2000"/>
              <a:t>. </a:t>
            </a:r>
            <a:br>
              <a:rPr lang="en-US" altLang="ko-KR" sz="2000"/>
            </a:br>
            <a:r>
              <a:rPr lang="ko-KR" altLang="en-US" sz="2000"/>
              <a:t>이는 </a:t>
            </a:r>
            <a:r>
              <a:rPr lang="en-US" altLang="ko-KR" sz="2000"/>
              <a:t>ESP32</a:t>
            </a:r>
            <a:r>
              <a:rPr lang="ko-KR" altLang="en-US" sz="2000"/>
              <a:t>와 </a:t>
            </a:r>
            <a:r>
              <a:rPr lang="en-US" altLang="ko-KR" sz="2000"/>
              <a:t>Firebase </a:t>
            </a:r>
            <a:r>
              <a:rPr lang="ko-KR" altLang="en-US" sz="2000"/>
              <a:t>간의 브릿지 역할을 하는 웹 애플리케이션을 개발하려는 경우 </a:t>
            </a:r>
            <a:r>
              <a:rPr lang="en-US" altLang="ko-KR" sz="2000"/>
              <a:t>VS Code</a:t>
            </a:r>
            <a:r>
              <a:rPr lang="ko-KR" altLang="en-US" sz="2000"/>
              <a:t>가 </a:t>
            </a:r>
            <a:br>
              <a:rPr lang="en-US" altLang="ko-KR" sz="2000"/>
            </a:br>
            <a:r>
              <a:rPr lang="ko-KR" altLang="en-US" sz="2000"/>
              <a:t>필요한 모든 도구를 제공하기 때문이다</a:t>
            </a:r>
            <a:r>
              <a:rPr lang="en-US" altLang="ko-KR" sz="2000"/>
              <a:t>. </a:t>
            </a:r>
          </a:p>
          <a:p>
            <a:pPr algn="ctr">
              <a:lnSpc>
                <a:spcPct val="150000"/>
              </a:lnSpc>
            </a:pPr>
            <a:r>
              <a:rPr lang="ko-KR" altLang="en-US" sz="2000"/>
              <a:t>하지만 이번 수업에서는 웹 애플리케이션을 제작하지 않으므로 </a:t>
            </a:r>
            <a:endParaRPr lang="en-US" altLang="ko-KR" sz="2000"/>
          </a:p>
          <a:p>
            <a:pPr algn="ctr">
              <a:lnSpc>
                <a:spcPct val="150000"/>
              </a:lnSpc>
            </a:pPr>
            <a:r>
              <a:rPr lang="en-US" altLang="ko-KR" sz="2000"/>
              <a:t>Arduino IDE</a:t>
            </a:r>
            <a:r>
              <a:rPr lang="ko-KR" altLang="en-US" sz="2000"/>
              <a:t>를 사용해도 된다</a:t>
            </a:r>
            <a:r>
              <a:rPr lang="en-US" altLang="ko-KR" sz="2000"/>
              <a:t>.</a:t>
            </a:r>
          </a:p>
        </p:txBody>
      </p:sp>
      <p:sp>
        <p:nvSpPr>
          <p:cNvPr id="6" name="직사각형 5">
            <a:extLst>
              <a:ext uri="{FF2B5EF4-FFF2-40B4-BE49-F238E27FC236}">
                <a16:creationId xmlns:a16="http://schemas.microsoft.com/office/drawing/2014/main" id="{CB2452CF-CEFB-43F5-A8F4-B6353A337E5C}"/>
              </a:ext>
            </a:extLst>
          </p:cNvPr>
          <p:cNvSpPr/>
          <p:nvPr/>
        </p:nvSpPr>
        <p:spPr>
          <a:xfrm>
            <a:off x="625760" y="6488668"/>
            <a:ext cx="9576179"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Tree>
    <p:extLst>
      <p:ext uri="{BB962C8B-B14F-4D97-AF65-F5344CB8AC3E}">
        <p14:creationId xmlns:p14="http://schemas.microsoft.com/office/powerpoint/2010/main" val="336141782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Firebase &amp; ESP32</a:t>
            </a:r>
            <a:endParaRPr lang="ko-KR" altLang="en-US" sz="2000" b="1" dirty="0">
              <a:solidFill>
                <a:schemeClr val="tx1"/>
              </a:solidFill>
            </a:endParaRPr>
          </a:p>
        </p:txBody>
      </p:sp>
      <p:sp>
        <p:nvSpPr>
          <p:cNvPr id="2" name="TextBox 1">
            <a:extLst>
              <a:ext uri="{FF2B5EF4-FFF2-40B4-BE49-F238E27FC236}">
                <a16:creationId xmlns:a16="http://schemas.microsoft.com/office/drawing/2014/main" id="{37B14B49-A721-40FE-B705-C9C8863A2941}"/>
              </a:ext>
            </a:extLst>
          </p:cNvPr>
          <p:cNvSpPr txBox="1"/>
          <p:nvPr/>
        </p:nvSpPr>
        <p:spPr>
          <a:xfrm>
            <a:off x="561860" y="1024569"/>
            <a:ext cx="45719" cy="369332"/>
          </a:xfrm>
          <a:prstGeom prst="rect">
            <a:avLst/>
          </a:prstGeom>
          <a:noFill/>
        </p:spPr>
        <p:txBody>
          <a:bodyPr wrap="square" rtlCol="0">
            <a:spAutoFit/>
          </a:bodyPr>
          <a:lstStyle/>
          <a:p>
            <a:pPr marL="285750" indent="-285750">
              <a:buFont typeface="Arial" panose="020B0604020202020204" pitchFamily="34" charset="0"/>
              <a:buChar char="•"/>
            </a:pPr>
            <a:endParaRPr lang="ko-KR" altLang="en-US"/>
          </a:p>
        </p:txBody>
      </p:sp>
      <p:sp>
        <p:nvSpPr>
          <p:cNvPr id="3" name="TextBox 2">
            <a:extLst>
              <a:ext uri="{FF2B5EF4-FFF2-40B4-BE49-F238E27FC236}">
                <a16:creationId xmlns:a16="http://schemas.microsoft.com/office/drawing/2014/main" id="{AECF7894-5D87-4EF9-96CC-CCACB5044003}"/>
              </a:ext>
            </a:extLst>
          </p:cNvPr>
          <p:cNvSpPr txBox="1"/>
          <p:nvPr/>
        </p:nvSpPr>
        <p:spPr>
          <a:xfrm>
            <a:off x="165253" y="888169"/>
            <a:ext cx="11987321" cy="244682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Firebase-ESP-Client </a:t>
            </a:r>
            <a:r>
              <a:rPr lang="ko-KR" altLang="en-US"/>
              <a:t>라이브러리는 </a:t>
            </a:r>
            <a:r>
              <a:rPr lang="en-US" altLang="ko-KR"/>
              <a:t>ESP32</a:t>
            </a:r>
            <a:r>
              <a:rPr lang="ko-KR" altLang="en-US"/>
              <a:t>와 </a:t>
            </a:r>
            <a:r>
              <a:rPr lang="en-US" altLang="ko-KR"/>
              <a:t>Firebase</a:t>
            </a:r>
            <a:r>
              <a:rPr lang="ko-KR" altLang="en-US"/>
              <a:t>를 함께 사용하는 다양한 예제를 제공하는 라이브러리이다</a:t>
            </a:r>
            <a:r>
              <a:rPr lang="en-US" altLang="ko-KR"/>
              <a:t>. </a:t>
            </a:r>
          </a:p>
          <a:p>
            <a:pPr marL="285750" indent="-285750">
              <a:lnSpc>
                <a:spcPct val="150000"/>
              </a:lnSpc>
              <a:buFont typeface="Arial" panose="020B0604020202020204" pitchFamily="34" charset="0"/>
              <a:buChar char="•"/>
            </a:pPr>
            <a:r>
              <a:rPr lang="ko-KR" altLang="en-US"/>
              <a:t>이 라이브러리는 </a:t>
            </a:r>
            <a:r>
              <a:rPr lang="en-US" altLang="ko-KR"/>
              <a:t>ESP32</a:t>
            </a:r>
            <a:r>
              <a:rPr lang="ko-KR" altLang="en-US"/>
              <a:t>와 </a:t>
            </a:r>
            <a:r>
              <a:rPr lang="en-US" altLang="ko-KR"/>
              <a:t>ESP8266 </a:t>
            </a:r>
            <a:r>
              <a:rPr lang="ko-KR" altLang="en-US"/>
              <a:t>보드 모두에서 호환된다</a:t>
            </a:r>
            <a:r>
              <a:rPr lang="en-US" altLang="ko-KR"/>
              <a:t>.</a:t>
            </a:r>
          </a:p>
          <a:p>
            <a:pPr marL="285750" indent="-285750">
              <a:lnSpc>
                <a:spcPct val="150000"/>
              </a:lnSpc>
              <a:buFont typeface="Arial" panose="020B0604020202020204" pitchFamily="34" charset="0"/>
              <a:buChar char="•"/>
            </a:pPr>
            <a:r>
              <a:rPr lang="ko-KR" altLang="en-US"/>
              <a:t>이번 에서는 데이터베이스에 데이터를 저장하고 읽는 간단한 예제를 실습한다</a:t>
            </a:r>
            <a:r>
              <a:rPr lang="en-US" altLang="ko-KR"/>
              <a:t>. </a:t>
            </a:r>
          </a:p>
          <a:p>
            <a:pPr marL="285750" indent="-285750">
              <a:lnSpc>
                <a:spcPct val="150000"/>
              </a:lnSpc>
              <a:buFont typeface="Arial" panose="020B0604020202020204" pitchFamily="34" charset="0"/>
              <a:buChar char="•"/>
            </a:pPr>
            <a:r>
              <a:rPr lang="ko-KR" altLang="en-US"/>
              <a:t>이 라이브러리는 여기에서 확인할 수 있는 다양한 다른 예제도 제공한다</a:t>
            </a:r>
            <a:r>
              <a:rPr lang="en-US" altLang="ko-KR"/>
              <a:t>. </a:t>
            </a:r>
            <a:br>
              <a:rPr lang="en-US" altLang="ko-KR"/>
            </a:br>
            <a:r>
              <a:rPr lang="ko-KR" altLang="en-US"/>
              <a:t>또한</a:t>
            </a:r>
            <a:r>
              <a:rPr lang="en-US" altLang="ko-KR"/>
              <a:t>, </a:t>
            </a:r>
            <a:r>
              <a:rPr lang="ko-KR" altLang="en-US"/>
              <a:t>라이브러리 사용 방법을 설명하는 자세한 문서도 함께 제공된다</a:t>
            </a:r>
            <a:r>
              <a:rPr lang="en-US" altLang="ko-KR"/>
              <a:t>.</a:t>
            </a:r>
          </a:p>
          <a:p>
            <a:pPr marL="285750" indent="-285750">
              <a:buFont typeface="Arial" panose="020B0604020202020204" pitchFamily="34" charset="0"/>
              <a:buChar char="•"/>
            </a:pPr>
            <a:endParaRPr lang="ko-KR" altLang="en-US"/>
          </a:p>
        </p:txBody>
      </p:sp>
    </p:spTree>
    <p:extLst>
      <p:ext uri="{BB962C8B-B14F-4D97-AF65-F5344CB8AC3E}">
        <p14:creationId xmlns:p14="http://schemas.microsoft.com/office/powerpoint/2010/main" val="265761975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Installation – Arduino IDE</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2F45930B-C57F-407A-BEA8-147C84D43939}"/>
              </a:ext>
            </a:extLst>
          </p:cNvPr>
          <p:cNvSpPr>
            <a:spLocks noChangeArrowheads="1"/>
          </p:cNvSpPr>
          <p:nvPr/>
        </p:nvSpPr>
        <p:spPr bwMode="auto">
          <a:xfrm>
            <a:off x="169493" y="856695"/>
            <a:ext cx="11953209" cy="783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Sketch</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스케치</a:t>
            </a:r>
            <a:r>
              <a:rPr kumimoji="0" lang="en-US" altLang="ko-KR" sz="1600" b="1" i="0" u="none" strike="noStrike" cap="none" normalizeH="0" baseline="0">
                <a:ln>
                  <a:noFill/>
                </a:ln>
                <a:solidFill>
                  <a:schemeClr val="tx1"/>
                </a:solidFill>
                <a:effectLst/>
                <a:latin typeface="+mn-ea"/>
              </a:rPr>
              <a:t>)</a:t>
            </a:r>
            <a:r>
              <a:rPr kumimoji="0" lang="ko-KR" altLang="ko-KR" sz="1600" b="1" i="0" u="none" strike="noStrike" cap="none" normalizeH="0" baseline="0">
                <a:ln>
                  <a:noFill/>
                </a:ln>
                <a:solidFill>
                  <a:schemeClr val="tx1"/>
                </a:solidFill>
                <a:effectLst/>
                <a:latin typeface="+mn-ea"/>
              </a:rPr>
              <a:t> &gt; Include Library</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라이브러리 포함하기</a:t>
            </a:r>
            <a:r>
              <a:rPr kumimoji="0" lang="en-US" altLang="ko-KR" sz="1600" b="1" i="0" u="none" strike="noStrike" cap="none" normalizeH="0" baseline="0">
                <a:ln>
                  <a:noFill/>
                </a:ln>
                <a:solidFill>
                  <a:schemeClr val="tx1"/>
                </a:solidFill>
                <a:effectLst/>
                <a:latin typeface="+mn-ea"/>
              </a:rPr>
              <a:t>)</a:t>
            </a:r>
            <a:r>
              <a:rPr kumimoji="0" lang="ko-KR" altLang="ko-KR" sz="1600" b="1" i="0" u="none" strike="noStrike" cap="none" normalizeH="0" baseline="0">
                <a:ln>
                  <a:noFill/>
                </a:ln>
                <a:solidFill>
                  <a:schemeClr val="tx1"/>
                </a:solidFill>
                <a:effectLst/>
                <a:latin typeface="+mn-ea"/>
              </a:rPr>
              <a:t> &gt; Manage Libraries</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라이브러리 관리</a:t>
            </a:r>
            <a:r>
              <a:rPr kumimoji="0" lang="en-US" altLang="ko-KR" sz="1600" b="1" i="0" u="none" strike="noStrike" cap="none" normalizeH="0" baseline="0">
                <a:ln>
                  <a:noFill/>
                </a:ln>
                <a:solidFill>
                  <a:schemeClr val="tx1"/>
                </a:solidFill>
                <a:effectLst/>
                <a:latin typeface="+mn-ea"/>
              </a:rPr>
              <a:t>)</a:t>
            </a:r>
            <a:r>
              <a:rPr kumimoji="0" lang="ko-KR" altLang="ko-KR" sz="1600" b="0" i="0" u="none" strike="noStrike" cap="none" normalizeH="0" baseline="0">
                <a:ln>
                  <a:noFill/>
                </a:ln>
                <a:solidFill>
                  <a:schemeClr val="tx1"/>
                </a:solidFill>
                <a:effectLst/>
                <a:latin typeface="+mn-ea"/>
              </a:rPr>
              <a:t>로 이동</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Firebase ESP Client</a:t>
            </a:r>
            <a:r>
              <a:rPr kumimoji="0" lang="ko-KR" altLang="ko-KR" sz="1600" b="0" i="0" u="none" strike="noStrike" cap="none" normalizeH="0" baseline="0">
                <a:ln>
                  <a:noFill/>
                </a:ln>
                <a:solidFill>
                  <a:schemeClr val="tx1"/>
                </a:solidFill>
                <a:effectLst/>
                <a:latin typeface="+mn-ea"/>
              </a:rPr>
              <a:t>를 검색하고, </a:t>
            </a:r>
            <a:r>
              <a:rPr kumimoji="0" lang="ko-KR" altLang="ko-KR" sz="1600" b="1" i="0" u="none" strike="noStrike" cap="none" normalizeH="0" baseline="0">
                <a:ln>
                  <a:noFill/>
                </a:ln>
                <a:solidFill>
                  <a:schemeClr val="tx1"/>
                </a:solidFill>
                <a:effectLst/>
                <a:latin typeface="+mn-ea"/>
              </a:rPr>
              <a:t>Mobitz</a:t>
            </a:r>
            <a:r>
              <a:rPr kumimoji="0" lang="ko-KR" altLang="ko-KR" sz="1600" b="0" i="0" u="none" strike="noStrike" cap="none" normalizeH="0" baseline="0">
                <a:ln>
                  <a:noFill/>
                </a:ln>
                <a:solidFill>
                  <a:schemeClr val="tx1"/>
                </a:solidFill>
                <a:effectLst/>
                <a:latin typeface="+mn-ea"/>
              </a:rPr>
              <a:t>가 제공하는</a:t>
            </a:r>
            <a:r>
              <a:rPr kumimoji="0" lang="en-US" altLang="ko-KR" sz="1600" b="0"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rgbClr val="3A0DFB"/>
                </a:solidFill>
                <a:effectLst/>
                <a:latin typeface="+mn-ea"/>
              </a:rPr>
              <a:t>Firebase Arduino Client Library for ESP8266 and ESP32</a:t>
            </a:r>
            <a:r>
              <a:rPr kumimoji="0" lang="ko-KR" altLang="ko-KR" sz="1600" b="0" i="0" u="none" strike="noStrike" cap="none" normalizeH="0" baseline="0">
                <a:ln>
                  <a:noFill/>
                </a:ln>
                <a:solidFill>
                  <a:schemeClr val="tx1"/>
                </a:solidFill>
                <a:effectLst/>
                <a:latin typeface="+mn-ea"/>
              </a:rPr>
              <a:t>를 설치</a:t>
            </a:r>
            <a:r>
              <a:rPr kumimoji="0" lang="ko-KR" altLang="en-US" sz="1600" b="0" i="0" u="none" strike="noStrike" cap="none" normalizeH="0" baseline="0">
                <a:ln>
                  <a:noFill/>
                </a:ln>
                <a:solidFill>
                  <a:schemeClr val="tx1"/>
                </a:solidFill>
                <a:effectLst/>
                <a:latin typeface="+mn-ea"/>
              </a:rPr>
              <a:t>한</a:t>
            </a:r>
            <a:r>
              <a:rPr kumimoji="0" lang="ko-KR" altLang="ko-KR" sz="1600" b="0" i="0" u="none" strike="noStrike" cap="none" normalizeH="0" baseline="0">
                <a:ln>
                  <a:noFill/>
                </a:ln>
                <a:solidFill>
                  <a:schemeClr val="tx1"/>
                </a:solidFill>
                <a:effectLst/>
                <a:latin typeface="+mn-ea"/>
              </a:rPr>
              <a:t>다. </a:t>
            </a:r>
          </a:p>
        </p:txBody>
      </p:sp>
      <p:pic>
        <p:nvPicPr>
          <p:cNvPr id="3" name="그림 2">
            <a:extLst>
              <a:ext uri="{FF2B5EF4-FFF2-40B4-BE49-F238E27FC236}">
                <a16:creationId xmlns:a16="http://schemas.microsoft.com/office/drawing/2014/main" id="{64642692-3591-4D59-A4C5-9B3560FCEADF}"/>
              </a:ext>
            </a:extLst>
          </p:cNvPr>
          <p:cNvPicPr>
            <a:picLocks noChangeAspect="1"/>
          </p:cNvPicPr>
          <p:nvPr/>
        </p:nvPicPr>
        <p:blipFill>
          <a:blip r:embed="rId2"/>
          <a:stretch>
            <a:fillRect/>
          </a:stretch>
        </p:blipFill>
        <p:spPr>
          <a:xfrm>
            <a:off x="482335" y="1972781"/>
            <a:ext cx="7344800" cy="4182059"/>
          </a:xfrm>
          <a:prstGeom prst="rect">
            <a:avLst/>
          </a:prstGeom>
          <a:ln w="12700">
            <a:solidFill>
              <a:schemeClr val="tx1">
                <a:lumMod val="50000"/>
                <a:lumOff val="50000"/>
              </a:schemeClr>
            </a:solidFill>
          </a:ln>
        </p:spPr>
      </p:pic>
      <p:sp>
        <p:nvSpPr>
          <p:cNvPr id="5" name="사각형: 둥근 모서리 4">
            <a:extLst>
              <a:ext uri="{FF2B5EF4-FFF2-40B4-BE49-F238E27FC236}">
                <a16:creationId xmlns:a16="http://schemas.microsoft.com/office/drawing/2014/main" id="{1677B379-DF11-4600-9472-A403F870DDF7}"/>
              </a:ext>
            </a:extLst>
          </p:cNvPr>
          <p:cNvSpPr/>
          <p:nvPr/>
        </p:nvSpPr>
        <p:spPr>
          <a:xfrm>
            <a:off x="399245" y="2550020"/>
            <a:ext cx="4146997" cy="386366"/>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0DE9C651-33ED-4B8B-959C-806D2E5CDA13}"/>
              </a:ext>
            </a:extLst>
          </p:cNvPr>
          <p:cNvSpPr txBox="1"/>
          <p:nvPr/>
        </p:nvSpPr>
        <p:spPr>
          <a:xfrm>
            <a:off x="482335" y="6412316"/>
            <a:ext cx="9262472" cy="369332"/>
          </a:xfrm>
          <a:prstGeom prst="rect">
            <a:avLst/>
          </a:prstGeom>
          <a:solidFill>
            <a:srgbClr val="FFC000"/>
          </a:solidFill>
        </p:spPr>
        <p:txBody>
          <a:bodyPr wrap="none" rtlCol="0">
            <a:spAutoFit/>
          </a:bodyPr>
          <a:lstStyle/>
          <a:p>
            <a:pPr marL="285750" indent="-285750">
              <a:buFont typeface="Arial" panose="020B0604020202020204" pitchFamily="34" charset="0"/>
              <a:buChar char="•"/>
            </a:pPr>
            <a:r>
              <a:rPr lang="ko-KR" altLang="en-US">
                <a:solidFill>
                  <a:schemeClr val="tx2">
                    <a:lumMod val="50000"/>
                  </a:schemeClr>
                </a:solidFill>
              </a:rPr>
              <a:t>만약 라이브러리가 제대로 동작하지 않는다면</a:t>
            </a:r>
            <a:r>
              <a:rPr lang="en-US" altLang="ko-KR">
                <a:solidFill>
                  <a:schemeClr val="tx2">
                    <a:lumMod val="50000"/>
                  </a:schemeClr>
                </a:solidFill>
              </a:rPr>
              <a:t>, </a:t>
            </a:r>
            <a:r>
              <a:rPr lang="ko-KR" altLang="en-US">
                <a:solidFill>
                  <a:schemeClr val="tx2">
                    <a:lumMod val="50000"/>
                  </a:schemeClr>
                </a:solidFill>
              </a:rPr>
              <a:t>버전을 </a:t>
            </a:r>
            <a:r>
              <a:rPr lang="en-US" altLang="ko-KR">
                <a:solidFill>
                  <a:schemeClr val="tx2">
                    <a:lumMod val="50000"/>
                  </a:schemeClr>
                </a:solidFill>
              </a:rPr>
              <a:t>2.3.7</a:t>
            </a:r>
            <a:r>
              <a:rPr lang="ko-KR" altLang="en-US">
                <a:solidFill>
                  <a:schemeClr val="tx2">
                    <a:lumMod val="50000"/>
                  </a:schemeClr>
                </a:solidFill>
              </a:rPr>
              <a:t>로 낮추어서 하여야 한다</a:t>
            </a:r>
            <a:r>
              <a:rPr lang="en-US" altLang="ko-KR">
                <a:solidFill>
                  <a:schemeClr val="tx2">
                    <a:lumMod val="50000"/>
                  </a:schemeClr>
                </a:solidFill>
              </a:rPr>
              <a:t>. </a:t>
            </a:r>
            <a:endParaRPr lang="ko-KR" altLang="en-US">
              <a:solidFill>
                <a:schemeClr val="tx2">
                  <a:lumMod val="50000"/>
                </a:schemeClr>
              </a:solidFill>
            </a:endParaRPr>
          </a:p>
        </p:txBody>
      </p:sp>
    </p:spTree>
    <p:extLst>
      <p:ext uri="{BB962C8B-B14F-4D97-AF65-F5344CB8AC3E}">
        <p14:creationId xmlns:p14="http://schemas.microsoft.com/office/powerpoint/2010/main" val="278040061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ESP32</a:t>
            </a:r>
            <a:r>
              <a:rPr lang="ko-KR" altLang="en-US" sz="2000" b="1">
                <a:solidFill>
                  <a:schemeClr val="tx1"/>
                </a:solidFill>
              </a:rPr>
              <a:t> </a:t>
            </a:r>
            <a:r>
              <a:rPr lang="en-US" altLang="ko-KR" sz="2000" b="1">
                <a:solidFill>
                  <a:schemeClr val="tx1"/>
                </a:solidFill>
              </a:rPr>
              <a:t>Store</a:t>
            </a:r>
            <a:r>
              <a:rPr lang="ko-KR" altLang="en-US" sz="2000" b="1">
                <a:solidFill>
                  <a:schemeClr val="tx1"/>
                </a:solidFill>
              </a:rPr>
              <a:t> </a:t>
            </a:r>
            <a:r>
              <a:rPr lang="en-US" altLang="ko-KR" sz="2000" b="1">
                <a:solidFill>
                  <a:schemeClr val="tx1"/>
                </a:solidFill>
              </a:rPr>
              <a:t>Data</a:t>
            </a:r>
            <a:r>
              <a:rPr lang="ko-KR" altLang="en-US" sz="2000" b="1">
                <a:solidFill>
                  <a:schemeClr val="tx1"/>
                </a:solidFill>
              </a:rPr>
              <a:t> </a:t>
            </a:r>
            <a:r>
              <a:rPr lang="en-US" altLang="ko-KR" sz="2000" b="1">
                <a:solidFill>
                  <a:schemeClr val="tx1"/>
                </a:solidFill>
              </a:rPr>
              <a:t>to</a:t>
            </a:r>
            <a:r>
              <a:rPr lang="ko-KR" altLang="en-US" sz="2000" b="1">
                <a:solidFill>
                  <a:schemeClr val="tx1"/>
                </a:solidFill>
              </a:rPr>
              <a:t> </a:t>
            </a:r>
            <a:r>
              <a:rPr lang="en-US" altLang="ko-KR" sz="2000" b="1">
                <a:solidFill>
                  <a:schemeClr val="tx1"/>
                </a:solidFill>
              </a:rPr>
              <a:t>Firebase</a:t>
            </a:r>
            <a:r>
              <a:rPr lang="ko-KR" altLang="en-US" sz="2000" b="1">
                <a:solidFill>
                  <a:schemeClr val="tx1"/>
                </a:solidFill>
              </a:rPr>
              <a:t> </a:t>
            </a:r>
            <a:r>
              <a:rPr lang="en-US" altLang="ko-KR" sz="2000" b="1">
                <a:solidFill>
                  <a:schemeClr val="tx1"/>
                </a:solidFill>
              </a:rPr>
              <a:t>Database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122C9FB7-0420-470C-ABC3-F7736E81DB92}"/>
              </a:ext>
            </a:extLst>
          </p:cNvPr>
          <p:cNvPicPr>
            <a:picLocks noChangeAspect="1"/>
          </p:cNvPicPr>
          <p:nvPr/>
        </p:nvPicPr>
        <p:blipFill>
          <a:blip r:embed="rId2"/>
          <a:stretch>
            <a:fillRect/>
          </a:stretch>
        </p:blipFill>
        <p:spPr>
          <a:xfrm>
            <a:off x="730127" y="1012793"/>
            <a:ext cx="10452529" cy="4048605"/>
          </a:xfrm>
          <a:prstGeom prst="rect">
            <a:avLst/>
          </a:prstGeom>
          <a:noFill/>
          <a:ln>
            <a:solidFill>
              <a:schemeClr val="accent1">
                <a:lumMod val="75000"/>
              </a:schemeClr>
            </a:solidFill>
          </a:ln>
        </p:spPr>
      </p:pic>
    </p:spTree>
    <p:extLst>
      <p:ext uri="{BB962C8B-B14F-4D97-AF65-F5344CB8AC3E}">
        <p14:creationId xmlns:p14="http://schemas.microsoft.com/office/powerpoint/2010/main" val="412076522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Arduino Code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0EAC85F3-60A3-43F5-9B1B-C4624EAABB1F}"/>
              </a:ext>
            </a:extLst>
          </p:cNvPr>
          <p:cNvSpPr/>
          <p:nvPr/>
        </p:nvSpPr>
        <p:spPr>
          <a:xfrm>
            <a:off x="253284" y="987157"/>
            <a:ext cx="11518005" cy="460927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이번 실습 예제의 스케치는 </a:t>
            </a:r>
            <a:r>
              <a:rPr lang="en-US" altLang="ko-KR"/>
              <a:t>15</a:t>
            </a:r>
            <a:r>
              <a:rPr lang="ko-KR" altLang="en-US"/>
              <a:t>초마다 </a:t>
            </a:r>
            <a:r>
              <a:rPr lang="en-US" altLang="ko-KR"/>
              <a:t>int</a:t>
            </a:r>
            <a:r>
              <a:rPr lang="ko-KR" altLang="en-US"/>
              <a:t>와 </a:t>
            </a:r>
            <a:r>
              <a:rPr lang="en-US" altLang="ko-KR"/>
              <a:t>float </a:t>
            </a:r>
            <a:r>
              <a:rPr lang="ko-KR" altLang="en-US"/>
              <a:t>숫자를 데이터베이스에 저장한다</a:t>
            </a:r>
            <a:r>
              <a:rPr lang="en-US" altLang="ko-KR"/>
              <a:t>. </a:t>
            </a:r>
          </a:p>
          <a:p>
            <a:pPr marL="285750" indent="-285750">
              <a:lnSpc>
                <a:spcPct val="150000"/>
              </a:lnSpc>
              <a:buFont typeface="Arial" panose="020B0604020202020204" pitchFamily="34" charset="0"/>
              <a:buChar char="•"/>
            </a:pPr>
            <a:r>
              <a:rPr lang="en-US" altLang="ko-KR"/>
              <a:t>ESP32</a:t>
            </a:r>
            <a:r>
              <a:rPr lang="ko-KR" altLang="en-US"/>
              <a:t>를 데이터베이스에 연결하고 데이터를 저장하는 방법을 보여주는 간단한 예제이다</a:t>
            </a:r>
            <a:r>
              <a:rPr lang="en-US" altLang="ko-KR"/>
              <a:t>. </a:t>
            </a:r>
          </a:p>
          <a:p>
            <a:pPr marL="285750" indent="-285750">
              <a:lnSpc>
                <a:spcPct val="150000"/>
              </a:lnSpc>
              <a:buFont typeface="Arial" panose="020B0604020202020204" pitchFamily="34" charset="0"/>
              <a:buChar char="•"/>
            </a:pPr>
            <a:r>
              <a:rPr lang="ko-KR" altLang="en-US"/>
              <a:t>이 코드는 </a:t>
            </a:r>
            <a:r>
              <a:rPr lang="en-US" altLang="ko-KR"/>
              <a:t>ESP8266 </a:t>
            </a:r>
            <a:r>
              <a:rPr lang="ko-KR" altLang="en-US"/>
              <a:t>보드와도 호환된다</a:t>
            </a:r>
            <a:r>
              <a:rPr lang="en-US" altLang="ko-KR"/>
              <a:t>.</a:t>
            </a:r>
          </a:p>
          <a:p>
            <a:pPr marL="285750" indent="-285750">
              <a:lnSpc>
                <a:spcPct val="150000"/>
              </a:lnSpc>
              <a:buFont typeface="Arial" panose="020B0604020202020204" pitchFamily="34" charset="0"/>
              <a:buChar char="•"/>
            </a:pPr>
            <a:r>
              <a:rPr lang="ko-KR" altLang="en-US"/>
              <a:t>아래 링크에서 소스코드를 복사하여 아두이노에 붙여 넣는다</a:t>
            </a:r>
            <a:r>
              <a:rPr lang="en-US" altLang="ko-KR"/>
              <a:t>.</a:t>
            </a:r>
          </a:p>
          <a:p>
            <a:pPr marL="285750" indent="-285750">
              <a:lnSpc>
                <a:spcPct val="150000"/>
              </a:lnSpc>
              <a:buFont typeface="Arial" panose="020B0604020202020204" pitchFamily="34" charset="0"/>
              <a:buChar char="•"/>
            </a:pPr>
            <a:endParaRPr lang="en-US" altLang="ko-KR"/>
          </a:p>
          <a:p>
            <a:pPr marL="285750" indent="-285750">
              <a:lnSpc>
                <a:spcPct val="150000"/>
              </a:lnSpc>
              <a:buFont typeface="Arial" panose="020B0604020202020204" pitchFamily="34" charset="0"/>
              <a:buChar char="•"/>
            </a:pPr>
            <a:endParaRPr lang="en-US" altLang="ko-KR"/>
          </a:p>
          <a:p>
            <a:pPr marL="285750" indent="-285750">
              <a:lnSpc>
                <a:spcPct val="150000"/>
              </a:lnSpc>
              <a:buFont typeface="Arial" panose="020B0604020202020204" pitchFamily="34" charset="0"/>
              <a:buChar char="•"/>
            </a:pPr>
            <a:r>
              <a:rPr lang="ko-KR" altLang="en-US"/>
              <a:t>복사한 소스 코드에 네트워크 자격증명</a:t>
            </a:r>
            <a:r>
              <a:rPr lang="en-US" altLang="ko-KR"/>
              <a:t>(network credentials), URL database, </a:t>
            </a:r>
            <a:br>
              <a:rPr lang="en-US" altLang="ko-KR"/>
            </a:br>
            <a:r>
              <a:rPr lang="ko-KR" altLang="en-US"/>
              <a:t>프로젝트 </a:t>
            </a:r>
            <a:r>
              <a:rPr lang="en-US" altLang="ko-KR"/>
              <a:t>API </a:t>
            </a:r>
            <a:r>
              <a:rPr lang="ko-KR" altLang="en-US"/>
              <a:t>키</a:t>
            </a:r>
            <a:r>
              <a:rPr lang="en-US" altLang="ko-KR"/>
              <a:t>(project API key)</a:t>
            </a:r>
            <a:r>
              <a:rPr lang="ko-KR" altLang="en-US"/>
              <a:t>를 입력하여야 프로젝트가 동작한다</a:t>
            </a:r>
            <a:r>
              <a:rPr lang="en-US" altLang="ko-KR"/>
              <a:t>. </a:t>
            </a:r>
          </a:p>
          <a:p>
            <a:pPr marL="285750" indent="-285750">
              <a:lnSpc>
                <a:spcPct val="150000"/>
              </a:lnSpc>
              <a:buFont typeface="Arial" panose="020B0604020202020204" pitchFamily="34" charset="0"/>
              <a:buChar char="•"/>
            </a:pPr>
            <a:r>
              <a:rPr lang="ko-KR" altLang="en-US"/>
              <a:t>본 예제는 익명 사용자로 접근하는 것이며</a:t>
            </a:r>
            <a:r>
              <a:rPr lang="en-US" altLang="ko-KR"/>
              <a:t>, </a:t>
            </a:r>
            <a:r>
              <a:rPr lang="ko-KR" altLang="en-US"/>
              <a:t>다른 인증 방법에 대한 예제는 아래 링크를 참고하라</a:t>
            </a:r>
            <a:r>
              <a:rPr lang="en-US" altLang="ko-KR"/>
              <a:t>. </a:t>
            </a:r>
            <a:br>
              <a:rPr lang="en-US" altLang="ko-KR"/>
            </a:br>
            <a:r>
              <a:rPr lang="ko-KR" altLang="en-US"/>
              <a:t>다른 인증 방법을 사용하게 된다면 </a:t>
            </a:r>
            <a:r>
              <a:rPr lang="en-US" altLang="ko-KR"/>
              <a:t>Firebase </a:t>
            </a:r>
            <a:r>
              <a:rPr lang="ko-KR" altLang="en-US"/>
              <a:t>프로젝트에서 해당 방법을 활성화해야 한다</a:t>
            </a:r>
            <a:r>
              <a:rPr lang="en-US" altLang="ko-KR"/>
              <a:t>. </a:t>
            </a:r>
            <a:br>
              <a:rPr lang="en-US" altLang="ko-KR"/>
            </a:br>
            <a:r>
              <a:rPr lang="en-US" altLang="ko-KR"/>
              <a:t>(</a:t>
            </a:r>
            <a:r>
              <a:rPr lang="ko-KR" altLang="en-US"/>
              <a:t>빌드 </a:t>
            </a:r>
            <a:r>
              <a:rPr lang="en-US" altLang="ko-KR">
                <a:sym typeface="Wingdings" panose="05000000000000000000" pitchFamily="2" charset="2"/>
              </a:rPr>
              <a:t> </a:t>
            </a:r>
            <a:r>
              <a:rPr lang="ko-KR" altLang="en-US">
                <a:sym typeface="Wingdings" panose="05000000000000000000" pitchFamily="2" charset="2"/>
              </a:rPr>
              <a:t>인증 </a:t>
            </a:r>
            <a:r>
              <a:rPr lang="en-US" altLang="ko-KR">
                <a:sym typeface="Wingdings" panose="05000000000000000000" pitchFamily="2" charset="2"/>
              </a:rPr>
              <a:t> </a:t>
            </a:r>
            <a:r>
              <a:rPr lang="ko-KR" altLang="en-US">
                <a:sym typeface="Wingdings" panose="05000000000000000000" pitchFamily="2" charset="2"/>
              </a:rPr>
              <a:t>로그인 방법</a:t>
            </a:r>
            <a:r>
              <a:rPr lang="en-US" altLang="ko-KR">
                <a:sym typeface="Wingdings" panose="05000000000000000000" pitchFamily="2" charset="2"/>
              </a:rPr>
              <a:t>)</a:t>
            </a:r>
            <a:endParaRPr lang="ko-KR" altLang="en-US"/>
          </a:p>
        </p:txBody>
      </p:sp>
      <p:sp>
        <p:nvSpPr>
          <p:cNvPr id="3" name="직사각형 2">
            <a:extLst>
              <a:ext uri="{FF2B5EF4-FFF2-40B4-BE49-F238E27FC236}">
                <a16:creationId xmlns:a16="http://schemas.microsoft.com/office/drawing/2014/main" id="{6E14B6A4-8E5F-46B5-BC0D-436E9FE09C65}"/>
              </a:ext>
            </a:extLst>
          </p:cNvPr>
          <p:cNvSpPr/>
          <p:nvPr/>
        </p:nvSpPr>
        <p:spPr>
          <a:xfrm>
            <a:off x="575256" y="2687944"/>
            <a:ext cx="9547538"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
        <p:nvSpPr>
          <p:cNvPr id="5" name="TextBox 4">
            <a:extLst>
              <a:ext uri="{FF2B5EF4-FFF2-40B4-BE49-F238E27FC236}">
                <a16:creationId xmlns:a16="http://schemas.microsoft.com/office/drawing/2014/main" id="{5C7A21DD-AE16-4FAB-95C8-C03459E8874E}"/>
              </a:ext>
            </a:extLst>
          </p:cNvPr>
          <p:cNvSpPr txBox="1"/>
          <p:nvPr/>
        </p:nvSpPr>
        <p:spPr>
          <a:xfrm>
            <a:off x="695459" y="5686177"/>
            <a:ext cx="9842503" cy="369332"/>
          </a:xfrm>
          <a:prstGeom prst="rect">
            <a:avLst/>
          </a:prstGeom>
          <a:noFill/>
        </p:spPr>
        <p:txBody>
          <a:bodyPr wrap="none" rtlCol="0">
            <a:spAutoFit/>
          </a:bodyPr>
          <a:lstStyle/>
          <a:p>
            <a:r>
              <a:rPr lang="en-US" altLang="ko-KR">
                <a:hlinkClick r:id="rId3"/>
              </a:rPr>
              <a:t>Firebase-ESP-Client/examples/Authentications at main · mobizt/Firebase-ESP-Client · GitHub</a:t>
            </a:r>
            <a:endParaRPr lang="ko-KR" altLang="en-US"/>
          </a:p>
        </p:txBody>
      </p:sp>
    </p:spTree>
    <p:extLst>
      <p:ext uri="{BB962C8B-B14F-4D97-AF65-F5344CB8AC3E}">
        <p14:creationId xmlns:p14="http://schemas.microsoft.com/office/powerpoint/2010/main" val="142702171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of Firebase &amp; ESP32  : 1/4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115910" y="794380"/>
            <a:ext cx="8015015"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&lt;Arduino.h&gt;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ESP32</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ESP8266</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&lt;ESP8266WiFi.h&gt;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RTDB payload printing info and other helper functions.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"addons/RTDBHelper.h"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WIFI_SSID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RTDB URLefine the RTDB URL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DATABASE_URL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"REPLACE_WITH_YOUR_FIREBASE_DATABASE_URL"</a:t>
            </a:r>
            <a:r>
              <a:rPr kumimoji="0" lang="ko-KR" altLang="ko-KR" sz="1600" b="0" i="0" u="none" strike="noStrike" cap="none" normalizeH="0" baseline="0">
                <a:ln>
                  <a:noFill/>
                </a:ln>
                <a:solidFill>
                  <a:srgbClr val="990055"/>
                </a:solidFill>
                <a:effectLst/>
                <a:latin typeface="Consolas" panose="020B0609020204030204" pitchFamily="49" charset="0"/>
              </a:rPr>
              <a:t> </a:t>
            </a:r>
            <a:endParaRPr kumimoji="0" lang="en-US" altLang="ko-KR" sz="1600" b="0" i="0" u="none" strike="noStrike" cap="none" normalizeH="0" baseline="0">
              <a:ln>
                <a:noFill/>
              </a:ln>
              <a:solidFill>
                <a:srgbClr val="990055"/>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990055"/>
              </a:solidFill>
              <a:latin typeface="Consolas" panose="020B0609020204030204" pitchFamily="49" charset="0"/>
            </a:endParaRPr>
          </a:p>
        </p:txBody>
      </p:sp>
      <p:sp>
        <p:nvSpPr>
          <p:cNvPr id="3" name="화살표: 오른쪽 2">
            <a:extLst>
              <a:ext uri="{FF2B5EF4-FFF2-40B4-BE49-F238E27FC236}">
                <a16:creationId xmlns:a16="http://schemas.microsoft.com/office/drawing/2014/main" id="{A49E5F8F-3440-4BCE-A707-93CC7FA32C63}"/>
              </a:ext>
            </a:extLst>
          </p:cNvPr>
          <p:cNvSpPr/>
          <p:nvPr/>
        </p:nvSpPr>
        <p:spPr>
          <a:xfrm flipH="1">
            <a:off x="6194737" y="4121241"/>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5" name="TextBox 4">
            <a:extLst>
              <a:ext uri="{FF2B5EF4-FFF2-40B4-BE49-F238E27FC236}">
                <a16:creationId xmlns:a16="http://schemas.microsoft.com/office/drawing/2014/main" id="{B807F03E-8209-4D24-9644-38790D6699D4}"/>
              </a:ext>
            </a:extLst>
          </p:cNvPr>
          <p:cNvSpPr txBox="1"/>
          <p:nvPr/>
        </p:nvSpPr>
        <p:spPr>
          <a:xfrm>
            <a:off x="8435662" y="3966695"/>
            <a:ext cx="1813317" cy="369332"/>
          </a:xfrm>
          <a:prstGeom prst="rect">
            <a:avLst/>
          </a:prstGeom>
          <a:noFill/>
        </p:spPr>
        <p:txBody>
          <a:bodyPr wrap="none" rtlCol="0">
            <a:spAutoFit/>
          </a:bodyPr>
          <a:lstStyle/>
          <a:p>
            <a:r>
              <a:rPr lang="en-US" altLang="ko-KR">
                <a:solidFill>
                  <a:srgbClr val="3A0DFB"/>
                </a:solidFill>
              </a:rPr>
              <a:t>Wi-Fi </a:t>
            </a:r>
            <a:r>
              <a:rPr lang="ko-KR" altLang="en-US">
                <a:solidFill>
                  <a:srgbClr val="3A0DFB"/>
                </a:solidFill>
              </a:rPr>
              <a:t>정보 입력</a:t>
            </a:r>
          </a:p>
        </p:txBody>
      </p:sp>
      <p:sp>
        <p:nvSpPr>
          <p:cNvPr id="6" name="화살표: 오른쪽 5">
            <a:extLst>
              <a:ext uri="{FF2B5EF4-FFF2-40B4-BE49-F238E27FC236}">
                <a16:creationId xmlns:a16="http://schemas.microsoft.com/office/drawing/2014/main" id="{98933240-2961-48DB-91D3-F2A2F103C3EC}"/>
              </a:ext>
            </a:extLst>
          </p:cNvPr>
          <p:cNvSpPr/>
          <p:nvPr/>
        </p:nvSpPr>
        <p:spPr>
          <a:xfrm flipH="1">
            <a:off x="7225047" y="5214370"/>
            <a:ext cx="103031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7" name="TextBox 6">
            <a:extLst>
              <a:ext uri="{FF2B5EF4-FFF2-40B4-BE49-F238E27FC236}">
                <a16:creationId xmlns:a16="http://schemas.microsoft.com/office/drawing/2014/main" id="{74B9450B-DBD8-4BE7-B761-0BA49904B6F7}"/>
              </a:ext>
            </a:extLst>
          </p:cNvPr>
          <p:cNvSpPr txBox="1"/>
          <p:nvPr/>
        </p:nvSpPr>
        <p:spPr>
          <a:xfrm>
            <a:off x="8255357" y="5106977"/>
            <a:ext cx="3015826" cy="369332"/>
          </a:xfrm>
          <a:prstGeom prst="rect">
            <a:avLst/>
          </a:prstGeom>
          <a:noFill/>
        </p:spPr>
        <p:txBody>
          <a:bodyPr wrap="none" rtlCol="0">
            <a:spAutoFit/>
          </a:bodyPr>
          <a:lstStyle/>
          <a:p>
            <a:r>
              <a:rPr lang="en-US" altLang="ko-KR">
                <a:solidFill>
                  <a:srgbClr val="3A0DFB"/>
                </a:solidFill>
              </a:rPr>
              <a:t>Firebase Web API Key</a:t>
            </a:r>
            <a:r>
              <a:rPr lang="ko-KR" altLang="en-US">
                <a:solidFill>
                  <a:srgbClr val="3A0DFB"/>
                </a:solidFill>
              </a:rPr>
              <a:t> 입력</a:t>
            </a:r>
          </a:p>
        </p:txBody>
      </p:sp>
      <p:sp>
        <p:nvSpPr>
          <p:cNvPr id="9" name="직사각형 8">
            <a:extLst>
              <a:ext uri="{FF2B5EF4-FFF2-40B4-BE49-F238E27FC236}">
                <a16:creationId xmlns:a16="http://schemas.microsoft.com/office/drawing/2014/main" id="{29623CF8-5753-457F-84D6-8D9E09C98127}"/>
              </a:ext>
            </a:extLst>
          </p:cNvPr>
          <p:cNvSpPr/>
          <p:nvPr/>
        </p:nvSpPr>
        <p:spPr>
          <a:xfrm>
            <a:off x="8255357" y="5428013"/>
            <a:ext cx="3598421" cy="461665"/>
          </a:xfrm>
          <a:prstGeom prst="rect">
            <a:avLst/>
          </a:prstGeom>
        </p:spPr>
        <p:txBody>
          <a:bodyPr wrap="none">
            <a:spAutoFit/>
          </a:bodyPr>
          <a:lstStyle/>
          <a:p>
            <a:r>
              <a:rPr lang="en-US" altLang="ko-KR" sz="1200">
                <a:solidFill>
                  <a:srgbClr val="3A0DFB"/>
                </a:solidFill>
              </a:rPr>
              <a:t>Example:</a:t>
            </a:r>
          </a:p>
          <a:p>
            <a:r>
              <a:rPr lang="ko-KR" altLang="en-US" sz="1200">
                <a:solidFill>
                  <a:srgbClr val="3A0DFB"/>
                </a:solidFill>
              </a:rPr>
              <a:t>"AIzaSyDcqzjUPhuIUXzIH5zHU3J7OkR4c7tDpOU"</a:t>
            </a:r>
          </a:p>
        </p:txBody>
      </p:sp>
      <p:sp>
        <p:nvSpPr>
          <p:cNvPr id="10" name="화살표: 오른쪽 9">
            <a:extLst>
              <a:ext uri="{FF2B5EF4-FFF2-40B4-BE49-F238E27FC236}">
                <a16:creationId xmlns:a16="http://schemas.microsoft.com/office/drawing/2014/main" id="{DA2245C6-482A-483F-AF17-795804479E4A}"/>
              </a:ext>
            </a:extLst>
          </p:cNvPr>
          <p:cNvSpPr/>
          <p:nvPr/>
        </p:nvSpPr>
        <p:spPr>
          <a:xfrm flipH="1">
            <a:off x="7405351" y="5986272"/>
            <a:ext cx="850006"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11" name="TextBox 10">
            <a:extLst>
              <a:ext uri="{FF2B5EF4-FFF2-40B4-BE49-F238E27FC236}">
                <a16:creationId xmlns:a16="http://schemas.microsoft.com/office/drawing/2014/main" id="{D8FC8190-3F9F-41B3-9782-A7AC59FDC3EA}"/>
              </a:ext>
            </a:extLst>
          </p:cNvPr>
          <p:cNvSpPr txBox="1"/>
          <p:nvPr/>
        </p:nvSpPr>
        <p:spPr>
          <a:xfrm>
            <a:off x="8283284" y="5948775"/>
            <a:ext cx="3119572" cy="369332"/>
          </a:xfrm>
          <a:prstGeom prst="rect">
            <a:avLst/>
          </a:prstGeom>
          <a:noFill/>
        </p:spPr>
        <p:txBody>
          <a:bodyPr wrap="none" rtlCol="0">
            <a:spAutoFit/>
          </a:bodyPr>
          <a:lstStyle/>
          <a:p>
            <a:r>
              <a:rPr lang="en-US" altLang="ko-KR">
                <a:solidFill>
                  <a:srgbClr val="3A0DFB"/>
                </a:solidFill>
              </a:rPr>
              <a:t>Firebase Database URL </a:t>
            </a:r>
            <a:r>
              <a:rPr lang="ko-KR" altLang="en-US">
                <a:solidFill>
                  <a:srgbClr val="3A0DFB"/>
                </a:solidFill>
              </a:rPr>
              <a:t>입력</a:t>
            </a:r>
          </a:p>
        </p:txBody>
      </p:sp>
      <p:sp>
        <p:nvSpPr>
          <p:cNvPr id="12" name="직사각형 11">
            <a:extLst>
              <a:ext uri="{FF2B5EF4-FFF2-40B4-BE49-F238E27FC236}">
                <a16:creationId xmlns:a16="http://schemas.microsoft.com/office/drawing/2014/main" id="{2BDBAED5-9357-48B5-9570-F957096DE3B1}"/>
              </a:ext>
            </a:extLst>
          </p:cNvPr>
          <p:cNvSpPr/>
          <p:nvPr/>
        </p:nvSpPr>
        <p:spPr>
          <a:xfrm>
            <a:off x="5379075" y="6282487"/>
            <a:ext cx="7316889" cy="276999"/>
          </a:xfrm>
          <a:prstGeom prst="rect">
            <a:avLst/>
          </a:prstGeom>
        </p:spPr>
        <p:txBody>
          <a:bodyPr wrap="square">
            <a:spAutoFit/>
          </a:bodyPr>
          <a:lstStyle/>
          <a:p>
            <a:r>
              <a:rPr lang="en-US" altLang="ko-KR" sz="1200">
                <a:solidFill>
                  <a:srgbClr val="3A0DFB"/>
                </a:solidFill>
              </a:rPr>
              <a:t>Example : </a:t>
            </a:r>
            <a:r>
              <a:rPr lang="ko-KR" altLang="en-US" sz="1200">
                <a:solidFill>
                  <a:srgbClr val="3A0DFB"/>
                </a:solidFill>
              </a:rPr>
              <a:t>https://esp-firebase-demo-ddfde-default-rtdb.asia-southeast1.firebasedatabase.app/</a:t>
            </a:r>
          </a:p>
        </p:txBody>
      </p:sp>
    </p:spTree>
    <p:extLst>
      <p:ext uri="{BB962C8B-B14F-4D97-AF65-F5344CB8AC3E}">
        <p14:creationId xmlns:p14="http://schemas.microsoft.com/office/powerpoint/2010/main" val="370561184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2/4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25757" y="717106"/>
            <a:ext cx="5975798" cy="617092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long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WIFI_SSID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WIFI_PASSWORD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300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IP: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527574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3/4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38636" y="717106"/>
            <a:ext cx="9810378" cy="560666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api key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api_key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API_KEY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RTDB URL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database_url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DATABASE_URL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Sign up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signUp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signupOK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signupError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message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c_str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callback function for the long running token generation task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token_status_callback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tokenStatusCallback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//see 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reconnectWiFi</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
        <p:nvSpPr>
          <p:cNvPr id="5" name="화살표: 오른쪽 4">
            <a:extLst>
              <a:ext uri="{FF2B5EF4-FFF2-40B4-BE49-F238E27FC236}">
                <a16:creationId xmlns:a16="http://schemas.microsoft.com/office/drawing/2014/main" id="{512C8169-91FE-41A1-A1E9-25230CF4869C}"/>
              </a:ext>
            </a:extLst>
          </p:cNvPr>
          <p:cNvSpPr/>
          <p:nvPr/>
        </p:nvSpPr>
        <p:spPr>
          <a:xfrm flipH="1">
            <a:off x="7122016" y="1300768"/>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676A6D7-E894-4D50-84A7-E7432274B95C}"/>
              </a:ext>
            </a:extLst>
          </p:cNvPr>
          <p:cNvSpPr/>
          <p:nvPr/>
        </p:nvSpPr>
        <p:spPr>
          <a:xfrm>
            <a:off x="9307713" y="1193704"/>
            <a:ext cx="2845651" cy="523220"/>
          </a:xfrm>
          <a:prstGeom prst="rect">
            <a:avLst/>
          </a:prstGeom>
        </p:spPr>
        <p:txBody>
          <a:bodyPr wrap="none">
            <a:spAutoFit/>
          </a:bodyPr>
          <a:lstStyle/>
          <a:p>
            <a:r>
              <a:rPr lang="en-US" altLang="ko-KR" sz="1400">
                <a:solidFill>
                  <a:srgbClr val="3A0DFB"/>
                </a:solidFill>
              </a:rPr>
              <a:t>// API </a:t>
            </a:r>
            <a:r>
              <a:rPr lang="ko-KR" altLang="en-US" sz="1400">
                <a:solidFill>
                  <a:srgbClr val="3A0DFB"/>
                </a:solidFill>
              </a:rPr>
              <a:t>키와 데이터베이스 </a:t>
            </a:r>
            <a:r>
              <a:rPr lang="en-US" altLang="ko-KR" sz="1400">
                <a:solidFill>
                  <a:srgbClr val="3A0DFB"/>
                </a:solidFill>
              </a:rPr>
              <a:t>URL</a:t>
            </a:r>
            <a:r>
              <a:rPr lang="ko-KR" altLang="en-US" sz="1400">
                <a:solidFill>
                  <a:srgbClr val="3A0DFB"/>
                </a:solidFill>
              </a:rPr>
              <a:t>을 </a:t>
            </a:r>
            <a:br>
              <a:rPr lang="en-US" altLang="ko-KR" sz="1400">
                <a:solidFill>
                  <a:srgbClr val="3A0DFB"/>
                </a:solidFill>
              </a:rPr>
            </a:br>
            <a:r>
              <a:rPr lang="en-US" altLang="ko-KR" sz="1400">
                <a:solidFill>
                  <a:srgbClr val="3A0DFB"/>
                </a:solidFill>
              </a:rPr>
              <a:t>   Firebase </a:t>
            </a:r>
            <a:r>
              <a:rPr lang="ko-KR" altLang="en-US" sz="1400">
                <a:solidFill>
                  <a:srgbClr val="3A0DFB"/>
                </a:solidFill>
              </a:rPr>
              <a:t>구성에 할당</a:t>
            </a:r>
          </a:p>
        </p:txBody>
      </p:sp>
      <p:sp>
        <p:nvSpPr>
          <p:cNvPr id="6" name="화살표: 오른쪽 5">
            <a:extLst>
              <a:ext uri="{FF2B5EF4-FFF2-40B4-BE49-F238E27FC236}">
                <a16:creationId xmlns:a16="http://schemas.microsoft.com/office/drawing/2014/main" id="{E2FBAED0-DBF4-42DE-ACF3-ABC940F7015D}"/>
              </a:ext>
            </a:extLst>
          </p:cNvPr>
          <p:cNvSpPr/>
          <p:nvPr/>
        </p:nvSpPr>
        <p:spPr>
          <a:xfrm flipH="1">
            <a:off x="6091706" y="2187264"/>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6A2766C4-80AC-4C15-9E71-6E02DA3CD1DF}"/>
              </a:ext>
            </a:extLst>
          </p:cNvPr>
          <p:cNvSpPr/>
          <p:nvPr/>
        </p:nvSpPr>
        <p:spPr>
          <a:xfrm>
            <a:off x="8275257" y="2080200"/>
            <a:ext cx="3836307" cy="954107"/>
          </a:xfrm>
          <a:prstGeom prst="rect">
            <a:avLst/>
          </a:prstGeom>
        </p:spPr>
        <p:txBody>
          <a:bodyPr wrap="none">
            <a:spAutoFit/>
          </a:bodyPr>
          <a:lstStyle/>
          <a:p>
            <a:r>
              <a:rPr lang="en-US" altLang="ko-KR" sz="1400">
                <a:solidFill>
                  <a:srgbClr val="3A0DFB"/>
                </a:solidFill>
              </a:rPr>
              <a:t>// </a:t>
            </a:r>
            <a:r>
              <a:rPr lang="ko-KR" altLang="en-US" sz="1400">
                <a:solidFill>
                  <a:srgbClr val="3A0DFB"/>
                </a:solidFill>
              </a:rPr>
              <a:t>익명 사용자</a:t>
            </a:r>
            <a:r>
              <a:rPr lang="en-US" altLang="ko-KR" sz="1400">
                <a:solidFill>
                  <a:srgbClr val="3A0DFB"/>
                </a:solidFill>
              </a:rPr>
              <a:t>(Anonymous User) </a:t>
            </a:r>
            <a:r>
              <a:rPr lang="ko-KR" altLang="en-US" sz="1400">
                <a:solidFill>
                  <a:srgbClr val="3A0DFB"/>
                </a:solidFill>
              </a:rPr>
              <a:t>회원 가입</a:t>
            </a:r>
            <a:br>
              <a:rPr lang="en-US" altLang="ko-KR" sz="1400">
                <a:solidFill>
                  <a:srgbClr val="3A0DFB"/>
                </a:solidFill>
              </a:rPr>
            </a:br>
            <a:r>
              <a:rPr lang="en-US" altLang="ko-KR" sz="1400">
                <a:solidFill>
                  <a:srgbClr val="3A0DFB"/>
                </a:solidFill>
              </a:rPr>
              <a:t>   </a:t>
            </a:r>
            <a:r>
              <a:rPr lang="ko-KR" altLang="en-US" sz="1400">
                <a:solidFill>
                  <a:srgbClr val="3A0DFB"/>
                </a:solidFill>
              </a:rPr>
              <a:t>익명 사용자라서 마지막 </a:t>
            </a:r>
            <a:r>
              <a:rPr lang="en-US" altLang="ko-KR" sz="1400">
                <a:solidFill>
                  <a:srgbClr val="3A0DFB"/>
                </a:solidFill>
              </a:rPr>
              <a:t>2</a:t>
            </a:r>
            <a:r>
              <a:rPr lang="ko-KR" altLang="en-US" sz="1400">
                <a:solidFill>
                  <a:srgbClr val="3A0DFB"/>
                </a:solidFill>
              </a:rPr>
              <a:t>개 인수 비어있음</a:t>
            </a:r>
            <a:endParaRPr lang="en-US" altLang="ko-KR" sz="1400">
              <a:solidFill>
                <a:srgbClr val="3A0DFB"/>
              </a:solidFill>
            </a:endParaRPr>
          </a:p>
          <a:p>
            <a:r>
              <a:rPr lang="en-US" altLang="ko-KR" sz="1400">
                <a:solidFill>
                  <a:srgbClr val="3A0DFB"/>
                </a:solidFill>
              </a:rPr>
              <a:t>// ESP32</a:t>
            </a:r>
            <a:r>
              <a:rPr lang="ko-KR" altLang="en-US" sz="1400">
                <a:solidFill>
                  <a:srgbClr val="3A0DFB"/>
                </a:solidFill>
              </a:rPr>
              <a:t>가 재실행될 때마다 새로운 </a:t>
            </a:r>
            <a:br>
              <a:rPr lang="en-US" altLang="ko-KR" sz="1400">
                <a:solidFill>
                  <a:srgbClr val="3A0DFB"/>
                </a:solidFill>
              </a:rPr>
            </a:br>
            <a:r>
              <a:rPr lang="en-US" altLang="ko-KR" sz="1400">
                <a:solidFill>
                  <a:srgbClr val="3A0DFB"/>
                </a:solidFill>
              </a:rPr>
              <a:t>   Anonymous user </a:t>
            </a:r>
            <a:r>
              <a:rPr lang="ko-KR" altLang="en-US" sz="1400">
                <a:solidFill>
                  <a:srgbClr val="3A0DFB"/>
                </a:solidFill>
              </a:rPr>
              <a:t>생성됨</a:t>
            </a:r>
          </a:p>
        </p:txBody>
      </p:sp>
    </p:spTree>
    <p:extLst>
      <p:ext uri="{BB962C8B-B14F-4D97-AF65-F5344CB8AC3E}">
        <p14:creationId xmlns:p14="http://schemas.microsoft.com/office/powerpoint/2010/main" val="356318357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4/4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12878" y="717106"/>
            <a:ext cx="12189234"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15000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Write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"PASSED"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"PATH: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"TYPE: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"REASON: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Write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Float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float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setFloat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0.01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random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"PASSED"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"PATH: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"TYPE: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"REASON: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71DCA893-3A23-47EF-91ED-990362342F00}"/>
              </a:ext>
            </a:extLst>
          </p:cNvPr>
          <p:cNvSpPr/>
          <p:nvPr/>
        </p:nvSpPr>
        <p:spPr>
          <a:xfrm>
            <a:off x="4462491" y="148809"/>
            <a:ext cx="7739621" cy="523220"/>
          </a:xfrm>
          <a:prstGeom prst="rect">
            <a:avLst/>
          </a:prstGeom>
        </p:spPr>
        <p:txBody>
          <a:bodyPr wrap="square">
            <a:spAutoFit/>
          </a:bodyPr>
          <a:lstStyle/>
          <a:p>
            <a:r>
              <a:rPr lang="en-US" altLang="ko-KR" sz="1400">
                <a:solidFill>
                  <a:srgbClr val="3A0DFB"/>
                </a:solidFill>
              </a:rPr>
              <a:t>//  loop() </a:t>
            </a:r>
            <a:r>
              <a:rPr lang="ko-KR" altLang="en-US" sz="1400">
                <a:solidFill>
                  <a:srgbClr val="3A0DFB"/>
                </a:solidFill>
              </a:rPr>
              <a:t>함수에서는 회원 가입이 성공적으로 완료되고</a:t>
            </a:r>
            <a:r>
              <a:rPr lang="en-US" altLang="ko-KR" sz="1400">
                <a:solidFill>
                  <a:srgbClr val="3A0DFB"/>
                </a:solidFill>
              </a:rPr>
              <a:t>, </a:t>
            </a:r>
            <a:r>
              <a:rPr lang="ko-KR" altLang="en-US" sz="1400">
                <a:solidFill>
                  <a:srgbClr val="3A0DFB"/>
                </a:solidFill>
              </a:rPr>
              <a:t>모든 설정이 정상적으로 완료된 경우</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주기적으로 데이터를 데이터베이스에 전송한다</a:t>
            </a:r>
            <a:r>
              <a:rPr lang="en-US" altLang="ko-KR" sz="1400">
                <a:solidFill>
                  <a:srgbClr val="3A0DFB"/>
                </a:solidFill>
              </a:rPr>
              <a:t>.</a:t>
            </a:r>
            <a:endParaRPr lang="ko-KR" altLang="en-US" sz="1400">
              <a:solidFill>
                <a:srgbClr val="3A0DFB"/>
              </a:solidFill>
            </a:endParaRPr>
          </a:p>
        </p:txBody>
      </p:sp>
      <p:sp>
        <p:nvSpPr>
          <p:cNvPr id="6" name="화살표: 오른쪽 5">
            <a:extLst>
              <a:ext uri="{FF2B5EF4-FFF2-40B4-BE49-F238E27FC236}">
                <a16:creationId xmlns:a16="http://schemas.microsoft.com/office/drawing/2014/main" id="{A53B99EF-B7AC-41EF-8EC2-17511106106E}"/>
              </a:ext>
            </a:extLst>
          </p:cNvPr>
          <p:cNvSpPr/>
          <p:nvPr/>
        </p:nvSpPr>
        <p:spPr>
          <a:xfrm flipH="1">
            <a:off x="6941712" y="1764407"/>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26054CFF-5A0A-4F5B-8A24-ACA2DC1FC258}"/>
              </a:ext>
            </a:extLst>
          </p:cNvPr>
          <p:cNvSpPr/>
          <p:nvPr/>
        </p:nvSpPr>
        <p:spPr>
          <a:xfrm>
            <a:off x="9127409" y="1657343"/>
            <a:ext cx="1168910" cy="307777"/>
          </a:xfrm>
          <a:prstGeom prst="rect">
            <a:avLst/>
          </a:prstGeom>
        </p:spPr>
        <p:txBody>
          <a:bodyPr wrap="none">
            <a:spAutoFit/>
          </a:bodyPr>
          <a:lstStyle/>
          <a:p>
            <a:r>
              <a:rPr lang="en-US" altLang="ko-KR" sz="1400">
                <a:solidFill>
                  <a:srgbClr val="3A0DFB"/>
                </a:solidFill>
              </a:rPr>
              <a:t>// </a:t>
            </a:r>
            <a:r>
              <a:rPr lang="ko-KR" altLang="en-US" sz="1400">
                <a:solidFill>
                  <a:srgbClr val="3A0DFB"/>
                </a:solidFill>
              </a:rPr>
              <a:t>정수 전달</a:t>
            </a:r>
          </a:p>
        </p:txBody>
      </p:sp>
      <p:sp>
        <p:nvSpPr>
          <p:cNvPr id="8" name="화살표: 오른쪽 7">
            <a:extLst>
              <a:ext uri="{FF2B5EF4-FFF2-40B4-BE49-F238E27FC236}">
                <a16:creationId xmlns:a16="http://schemas.microsoft.com/office/drawing/2014/main" id="{0E2DB12E-9DF2-4BB9-B545-84D65ED54312}"/>
              </a:ext>
            </a:extLst>
          </p:cNvPr>
          <p:cNvSpPr/>
          <p:nvPr/>
        </p:nvSpPr>
        <p:spPr>
          <a:xfrm flipH="1">
            <a:off x="9127409" y="4402430"/>
            <a:ext cx="441594" cy="169570"/>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14F72415-E64E-414B-AD33-11CC18A3C238}"/>
              </a:ext>
            </a:extLst>
          </p:cNvPr>
          <p:cNvSpPr/>
          <p:nvPr/>
        </p:nvSpPr>
        <p:spPr>
          <a:xfrm>
            <a:off x="9748354" y="4333326"/>
            <a:ext cx="1805944" cy="307777"/>
          </a:xfrm>
          <a:prstGeom prst="rect">
            <a:avLst/>
          </a:prstGeom>
        </p:spPr>
        <p:txBody>
          <a:bodyPr wrap="none">
            <a:spAutoFit/>
          </a:bodyPr>
          <a:lstStyle/>
          <a:p>
            <a:r>
              <a:rPr lang="en-US" altLang="ko-KR" sz="1400">
                <a:solidFill>
                  <a:srgbClr val="3A0DFB"/>
                </a:solidFill>
              </a:rPr>
              <a:t>// Float </a:t>
            </a:r>
            <a:r>
              <a:rPr lang="ko-KR" altLang="en-US" sz="1400">
                <a:solidFill>
                  <a:srgbClr val="3A0DFB"/>
                </a:solidFill>
              </a:rPr>
              <a:t>랜덤값 전달</a:t>
            </a:r>
          </a:p>
        </p:txBody>
      </p:sp>
    </p:spTree>
    <p:extLst>
      <p:ext uri="{BB962C8B-B14F-4D97-AF65-F5344CB8AC3E}">
        <p14:creationId xmlns:p14="http://schemas.microsoft.com/office/powerpoint/2010/main" val="256499489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Arduino</a:t>
            </a:r>
            <a:r>
              <a:rPr lang="ko-KR" altLang="en-US" sz="2000" b="1">
                <a:solidFill>
                  <a:schemeClr val="tx1"/>
                </a:solidFill>
              </a:rPr>
              <a:t>에서 </a:t>
            </a:r>
            <a:r>
              <a:rPr lang="en-US" altLang="ko-KR" sz="2000" b="1">
                <a:solidFill>
                  <a:schemeClr val="tx1"/>
                </a:solidFill>
              </a:rPr>
              <a:t>Firebase RTDB</a:t>
            </a:r>
            <a:r>
              <a:rPr lang="ko-KR" altLang="en-US" sz="2000" b="1">
                <a:solidFill>
                  <a:schemeClr val="tx1"/>
                </a:solidFill>
              </a:rPr>
              <a:t>에 데이터 저장을 위해 사용하는 함수</a:t>
            </a:r>
            <a:endParaRPr lang="ko-KR" altLang="en-US" sz="2000" b="1" dirty="0">
              <a:solidFill>
                <a:schemeClr val="tx1"/>
              </a:solidFill>
            </a:endParaRPr>
          </a:p>
        </p:txBody>
      </p:sp>
      <p:sp>
        <p:nvSpPr>
          <p:cNvPr id="5" name="Rectangle 1">
            <a:extLst>
              <a:ext uri="{FF2B5EF4-FFF2-40B4-BE49-F238E27FC236}">
                <a16:creationId xmlns:a16="http://schemas.microsoft.com/office/drawing/2014/main" id="{3684F121-66B2-4EBD-BE81-A46DC2960A0A}"/>
              </a:ext>
            </a:extLst>
          </p:cNvPr>
          <p:cNvSpPr>
            <a:spLocks noChangeArrowheads="1"/>
          </p:cNvSpPr>
          <p:nvPr/>
        </p:nvSpPr>
        <p:spPr bwMode="auto">
          <a:xfrm>
            <a:off x="193184" y="853139"/>
            <a:ext cx="10342255" cy="3370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Firebase RTDB(실시간 데이터베이스)의 특정 노드에 데이터를 저장하려면 다음 함수들을 사용</a:t>
            </a:r>
            <a:r>
              <a:rPr kumimoji="0" lang="ko-KR" altLang="en-US" sz="1600" b="0" i="0" u="none" strike="noStrike" cap="none" normalizeH="0" baseline="0">
                <a:ln>
                  <a:noFill/>
                </a:ln>
                <a:solidFill>
                  <a:schemeClr val="tx1"/>
                </a:solidFill>
                <a:effectLst/>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a:t>
            </a:r>
            <a:r>
              <a:rPr kumimoji="0" lang="en-US" altLang="ko-KR" sz="1600" b="0" i="0" u="none" strike="noStrike" cap="none" normalizeH="0" baseline="0">
                <a:ln>
                  <a:noFill/>
                </a:ln>
                <a:solidFill>
                  <a:schemeClr val="tx1"/>
                </a:solidFill>
                <a:effectLst/>
                <a:latin typeface="Arial" panose="020B0604020202020204" pitchFamily="34" charset="0"/>
              </a:rPr>
              <a:t>.</a:t>
            </a:r>
            <a:br>
              <a:rPr kumimoji="0" lang="en-US" altLang="ko-KR" sz="1600" b="0" i="0" u="none" strike="noStrike" cap="none" normalizeH="0" baseline="0">
                <a:ln>
                  <a:noFill/>
                </a:ln>
                <a:solidFill>
                  <a:schemeClr val="tx1"/>
                </a:solidFill>
                <a:effectLst/>
                <a:latin typeface="Arial" panose="020B0604020202020204" pitchFamily="34" charset="0"/>
              </a:rPr>
            </a:br>
            <a:r>
              <a:rPr kumimoji="0" lang="en-US" altLang="ko-KR" sz="1600" b="0" i="0" u="none" strike="noStrike" cap="none" normalizeH="0" baseline="0">
                <a:ln>
                  <a:noFill/>
                </a:ln>
                <a:solidFill>
                  <a:schemeClr val="tx1"/>
                </a:solidFill>
                <a:effectLst/>
                <a:latin typeface="Arial" panose="020B0604020202020204" pitchFamily="34" charset="0"/>
              </a:rPr>
              <a:t>  </a:t>
            </a:r>
            <a:r>
              <a:rPr kumimoji="0" lang="en-US" altLang="ko-KR" sz="1600" b="0" i="0" u="none" strike="noStrike" cap="none" normalizeH="0" baseline="0">
                <a:ln>
                  <a:noFill/>
                </a:ln>
                <a:solidFill>
                  <a:schemeClr val="tx1"/>
                </a:solidFill>
                <a:effectLst/>
                <a:latin typeface="Arial" panose="020B0604020202020204" pitchFamily="34" charset="0"/>
                <a:sym typeface="Wingdings" panose="05000000000000000000" pitchFamily="2" charset="2"/>
              </a:rPr>
              <a:t> </a:t>
            </a:r>
            <a:r>
              <a:rPr kumimoji="0" lang="ko-KR"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set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setInt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setFloat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setDouble</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setString</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setJSON</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setArray</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setBlob</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setFile</a:t>
            </a:r>
            <a:r>
              <a:rPr kumimoji="0" lang="ko-KR" altLang="ko-KR" sz="1600" b="0" i="0" u="none" strike="noStrike" cap="none" normalizeH="0" baseline="0">
                <a:ln>
                  <a:noFill/>
                </a:ln>
                <a:solidFill>
                  <a:schemeClr val="tx1"/>
                </a:solidFill>
                <a:effectLst/>
              </a:rPr>
              <a:t>.</a:t>
            </a:r>
            <a:br>
              <a:rPr kumimoji="0" lang="en-US" altLang="ko-KR" sz="1600" b="0" i="0" u="none" strike="noStrike" cap="none" normalizeH="0" baseline="0">
                <a:ln>
                  <a:noFill/>
                </a:ln>
                <a:solidFill>
                  <a:schemeClr val="tx1"/>
                </a:solidFill>
                <a:effectLst/>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이 함수들은 작업의 성공 여부를 나타내는 불리언 값을 반환하며, 아래 조건이 모두 충족되면 </a:t>
            </a:r>
            <a:r>
              <a:rPr kumimoji="0" lang="ko-KR" altLang="ko-KR" sz="1600" b="0" i="0" u="none" strike="noStrike" cap="none" normalizeH="0" baseline="0">
                <a:ln>
                  <a:noFill/>
                </a:ln>
                <a:solidFill>
                  <a:schemeClr val="tx1"/>
                </a:solidFill>
                <a:effectLst/>
                <a:latin typeface="Arial Unicode MS"/>
              </a:rPr>
              <a:t>true</a:t>
            </a:r>
            <a:r>
              <a:rPr kumimoji="0" lang="ko-KR" altLang="ko-KR" sz="1600" b="0" i="0" u="none" strike="noStrike" cap="none" normalizeH="0" baseline="0">
                <a:ln>
                  <a:noFill/>
                </a:ln>
                <a:solidFill>
                  <a:schemeClr val="tx1"/>
                </a:solidFill>
                <a:effectLst/>
              </a:rPr>
              <a:t>를 반환</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서버가 HTTP 상태 코드 200을 반환했을 경우</a:t>
            </a: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요청과 응답 간 데이터 유형이 일치할 경우</a:t>
            </a: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단, </a:t>
            </a:r>
            <a:r>
              <a:rPr kumimoji="0" lang="ko-KR" altLang="ko-KR" sz="1600" b="0" i="0" u="none" strike="noStrike" cap="none" normalizeH="0" baseline="0">
                <a:ln>
                  <a:noFill/>
                </a:ln>
                <a:solidFill>
                  <a:schemeClr val="tx1"/>
                </a:solidFill>
                <a:effectLst/>
                <a:latin typeface="Arial Unicode MS"/>
              </a:rPr>
              <a:t>setBlob</a:t>
            </a:r>
            <a:r>
              <a:rPr kumimoji="0" lang="ko-KR" altLang="ko-KR" sz="1600" b="0" i="0" u="none" strike="noStrike" cap="none" normalizeH="0" baseline="0">
                <a:ln>
                  <a:noFill/>
                </a:ln>
                <a:solidFill>
                  <a:schemeClr val="tx1"/>
                </a:solidFill>
                <a:effectLst/>
              </a:rPr>
              <a:t>과 </a:t>
            </a:r>
            <a:r>
              <a:rPr kumimoji="0" lang="ko-KR" altLang="ko-KR" sz="1600" b="0" i="0" u="none" strike="noStrike" cap="none" normalizeH="0" baseline="0">
                <a:ln>
                  <a:noFill/>
                </a:ln>
                <a:solidFill>
                  <a:schemeClr val="tx1"/>
                </a:solidFill>
                <a:effectLst/>
                <a:latin typeface="Arial Unicode MS"/>
              </a:rPr>
              <a:t>setFile</a:t>
            </a:r>
            <a:r>
              <a:rPr kumimoji="0" lang="ko-KR" altLang="ko-KR" sz="1600" b="0" i="0" u="none" strike="noStrike" cap="none" normalizeH="0" baseline="0">
                <a:ln>
                  <a:noFill/>
                </a:ln>
                <a:solidFill>
                  <a:schemeClr val="tx1"/>
                </a:solidFill>
                <a:effectLst/>
              </a:rPr>
              <a:t> 함수는 Firebase 서버에 조용히 요청을 보내므로, 페이로드 응답이 반환되지 않</a:t>
            </a:r>
            <a:r>
              <a:rPr kumimoji="0" lang="ko-KR" altLang="en-US" sz="1600" b="0" i="0" u="none" strike="noStrike" cap="none" normalizeH="0" baseline="0">
                <a:ln>
                  <a:noFill/>
                </a:ln>
                <a:solidFill>
                  <a:schemeClr val="tx1"/>
                </a:solidFill>
                <a:effectLst/>
              </a:rPr>
              <a:t>는</a:t>
            </a:r>
            <a:r>
              <a:rPr kumimoji="0" lang="ko-KR" altLang="ko-KR" sz="1600" b="0" i="0" u="none" strike="noStrike" cap="none" normalizeH="0" baseline="0">
                <a:ln>
                  <a:noFill/>
                </a:ln>
                <a:solidFill>
                  <a:schemeClr val="tx1"/>
                </a:solidFill>
                <a:effectLst/>
              </a:rPr>
              <a:t>다.</a:t>
            </a:r>
            <a:br>
              <a:rPr kumimoji="0" lang="en-US" altLang="ko-KR" sz="1600" b="0" i="0" u="none" strike="noStrike" cap="none" normalizeH="0" baseline="0">
                <a:ln>
                  <a:noFill/>
                </a:ln>
                <a:solidFill>
                  <a:schemeClr val="tx1"/>
                </a:solidFill>
                <a:effectLst/>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예제에서는 정수를 전송할 것이므로, 아래와 같이 </a:t>
            </a:r>
            <a:r>
              <a:rPr kumimoji="0" lang="ko-KR" altLang="ko-KR" sz="1600" b="0" i="0" u="none" strike="noStrike" cap="none" normalizeH="0" baseline="0">
                <a:ln>
                  <a:noFill/>
                </a:ln>
                <a:solidFill>
                  <a:schemeClr val="tx1"/>
                </a:solidFill>
                <a:effectLst/>
                <a:latin typeface="Arial Unicode MS"/>
              </a:rPr>
              <a:t>setInt()</a:t>
            </a:r>
            <a:r>
              <a:rPr kumimoji="0" lang="ko-KR" altLang="ko-KR" sz="1600" b="0" i="0" u="none" strike="noStrike" cap="none" normalizeH="0" baseline="0">
                <a:ln>
                  <a:noFill/>
                </a:ln>
                <a:solidFill>
                  <a:schemeClr val="tx1"/>
                </a:solidFill>
                <a:effectLst/>
              </a:rPr>
              <a:t> 함수를 사용해야 </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6" name="직사각형 5">
            <a:extLst>
              <a:ext uri="{FF2B5EF4-FFF2-40B4-BE49-F238E27FC236}">
                <a16:creationId xmlns:a16="http://schemas.microsoft.com/office/drawing/2014/main" id="{AB7ADC08-124C-4AD4-956C-4D51A9FB0C6A}"/>
              </a:ext>
            </a:extLst>
          </p:cNvPr>
          <p:cNvSpPr/>
          <p:nvPr/>
        </p:nvSpPr>
        <p:spPr>
          <a:xfrm>
            <a:off x="644024" y="4404531"/>
            <a:ext cx="6009979" cy="369332"/>
          </a:xfrm>
          <a:prstGeom prst="rect">
            <a:avLst/>
          </a:prstGeom>
          <a:solidFill>
            <a:schemeClr val="bg1">
              <a:lumMod val="95000"/>
            </a:schemeClr>
          </a:solidFill>
        </p:spPr>
        <p:txBody>
          <a:bodyPr wrap="none">
            <a:spAutoFit/>
          </a:bodyPr>
          <a:lstStyle/>
          <a:p>
            <a:r>
              <a:rPr lang="en-US" altLang="ko-KR">
                <a:solidFill>
                  <a:srgbClr val="000000"/>
                </a:solidFill>
                <a:latin typeface="Consolas" panose="020B0609020204030204" pitchFamily="49" charset="0"/>
              </a:rPr>
              <a:t>Firebase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RTDB</a:t>
            </a:r>
            <a:r>
              <a:rPr lang="en-US" altLang="ko-KR">
                <a:solidFill>
                  <a:srgbClr val="999999"/>
                </a:solidFill>
                <a:latin typeface="Consolas" panose="020B0609020204030204" pitchFamily="49" charset="0"/>
              </a:rPr>
              <a:t>.</a:t>
            </a:r>
            <a:r>
              <a:rPr lang="en-US" altLang="ko-KR">
                <a:solidFill>
                  <a:srgbClr val="DD4A68"/>
                </a:solidFill>
                <a:latin typeface="Consolas" panose="020B0609020204030204" pitchFamily="49" charset="0"/>
              </a:rPr>
              <a:t>setInt</a:t>
            </a:r>
            <a:r>
              <a:rPr lang="en-US" altLang="ko-KR">
                <a:solidFill>
                  <a:srgbClr val="999999"/>
                </a:solidFill>
                <a:latin typeface="Consolas" panose="020B0609020204030204" pitchFamily="49" charset="0"/>
              </a:rPr>
              <a:t>(</a:t>
            </a:r>
            <a:r>
              <a:rPr lang="en-US" altLang="ko-KR">
                <a:solidFill>
                  <a:srgbClr val="9A6E3A"/>
                </a:solidFill>
                <a:latin typeface="Consolas" panose="020B0609020204030204" pitchFamily="49" charset="0"/>
              </a:rPr>
              <a:t>&amp;</a:t>
            </a:r>
            <a:r>
              <a:rPr lang="en-US" altLang="ko-KR">
                <a:solidFill>
                  <a:srgbClr val="000000"/>
                </a:solidFill>
                <a:latin typeface="Consolas" panose="020B0609020204030204" pitchFamily="49" charset="0"/>
              </a:rPr>
              <a:t>fbdo</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669900"/>
                </a:solidFill>
                <a:latin typeface="Consolas" panose="020B0609020204030204" pitchFamily="49" charset="0"/>
              </a:rPr>
              <a:t>"test/int"</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count</a:t>
            </a:r>
            <a:r>
              <a:rPr lang="en-US" altLang="ko-KR">
                <a:solidFill>
                  <a:srgbClr val="999999"/>
                </a:solidFill>
                <a:latin typeface="Consolas" panose="020B0609020204030204" pitchFamily="49" charset="0"/>
              </a:rPr>
              <a:t>)</a:t>
            </a:r>
            <a:endParaRPr lang="ko-KR" altLang="en-US"/>
          </a:p>
        </p:txBody>
      </p:sp>
      <p:sp>
        <p:nvSpPr>
          <p:cNvPr id="7" name="Rectangle 2">
            <a:extLst>
              <a:ext uri="{FF2B5EF4-FFF2-40B4-BE49-F238E27FC236}">
                <a16:creationId xmlns:a16="http://schemas.microsoft.com/office/drawing/2014/main" id="{78A03F30-05EB-4B80-97C1-620D3B2856FE}"/>
              </a:ext>
            </a:extLst>
          </p:cNvPr>
          <p:cNvSpPr>
            <a:spLocks noChangeArrowheads="1"/>
          </p:cNvSpPr>
          <p:nvPr/>
        </p:nvSpPr>
        <p:spPr bwMode="auto">
          <a:xfrm>
            <a:off x="283336" y="4954973"/>
            <a:ext cx="9462847" cy="784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두 번째 인수는 데이터베이스 노드 경로이며, 마지막 인수는 해당 데이터베이스 경로에 전달할 값</a:t>
            </a:r>
            <a:r>
              <a:rPr kumimoji="0" lang="ko-KR" altLang="en-US" sz="1600" b="0" i="0" u="none" strike="noStrike" cap="none" normalizeH="0" baseline="0">
                <a:ln>
                  <a:noFill/>
                </a:ln>
                <a:solidFill>
                  <a:schemeClr val="tx1"/>
                </a:solidFill>
                <a:effectLst/>
                <a:latin typeface="Arial" panose="020B0604020202020204" pitchFamily="34" charset="0"/>
              </a:rPr>
              <a:t>이</a:t>
            </a:r>
            <a:r>
              <a:rPr kumimoji="0" lang="ko-KR" altLang="ko-KR" sz="1600" b="0" i="0" u="none" strike="noStrike" cap="none" normalizeH="0" baseline="0">
                <a:ln>
                  <a:noFill/>
                </a:ln>
                <a:solidFill>
                  <a:schemeClr val="tx1"/>
                </a:solidFill>
                <a:effectLst/>
                <a:latin typeface="Arial" panose="020B0604020202020204" pitchFamily="34" charset="0"/>
              </a:rPr>
              <a:t>다.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다른 데이터베이스 경로를 선택할 수도 있습니다. </a:t>
            </a:r>
          </a:p>
        </p:txBody>
      </p:sp>
    </p:spTree>
    <p:extLst>
      <p:ext uri="{BB962C8B-B14F-4D97-AF65-F5344CB8AC3E}">
        <p14:creationId xmlns:p14="http://schemas.microsoft.com/office/powerpoint/2010/main" val="8266859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실행 </a:t>
            </a:r>
            <a:r>
              <a:rPr lang="en-US" altLang="ko-KR" sz="2000" b="1">
                <a:solidFill>
                  <a:schemeClr val="tx1"/>
                </a:solidFill>
              </a:rPr>
              <a:t>- Arduino</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C523FD1B-C5BA-4C8A-B723-70E50D8A8B04}"/>
              </a:ext>
            </a:extLst>
          </p:cNvPr>
          <p:cNvSpPr/>
          <p:nvPr/>
        </p:nvSpPr>
        <p:spPr>
          <a:xfrm>
            <a:off x="222220" y="1354413"/>
            <a:ext cx="5117206" cy="231287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400"/>
              <a:t>코드를 </a:t>
            </a:r>
            <a:r>
              <a:rPr lang="en-US" altLang="ko-KR" sz="1400"/>
              <a:t>ESP32 </a:t>
            </a:r>
            <a:r>
              <a:rPr lang="ko-KR" altLang="en-US" sz="1400"/>
              <a:t>보드에 업로드한다</a:t>
            </a:r>
            <a:r>
              <a:rPr lang="en-US" altLang="ko-KR" sz="1400"/>
              <a:t>. </a:t>
            </a:r>
            <a:r>
              <a:rPr lang="ko-KR" altLang="en-US" sz="1400"/>
              <a:t>네트워크 자격 증명</a:t>
            </a:r>
            <a:r>
              <a:rPr lang="en-US" altLang="ko-KR" sz="1400"/>
              <a:t>, </a:t>
            </a:r>
            <a:r>
              <a:rPr lang="ko-KR" altLang="en-US" sz="1400"/>
              <a:t>데이터베이스 </a:t>
            </a:r>
            <a:r>
              <a:rPr lang="en-US" altLang="ko-KR" sz="1400"/>
              <a:t>URL </a:t>
            </a:r>
            <a:r>
              <a:rPr lang="ko-KR" altLang="en-US" sz="1400"/>
              <a:t>경로</a:t>
            </a:r>
            <a:r>
              <a:rPr lang="en-US" altLang="ko-KR" sz="1400"/>
              <a:t>, </a:t>
            </a:r>
            <a:r>
              <a:rPr lang="ko-KR" altLang="en-US" sz="1400"/>
              <a:t>프로젝트 </a:t>
            </a:r>
            <a:r>
              <a:rPr lang="en-US" altLang="ko-KR" sz="1400"/>
              <a:t>API </a:t>
            </a:r>
            <a:r>
              <a:rPr lang="ko-KR" altLang="en-US" sz="1400"/>
              <a:t>키를 입력해야한다</a:t>
            </a:r>
            <a:r>
              <a:rPr lang="en-US" altLang="ko-KR" sz="1400"/>
              <a:t>.</a:t>
            </a:r>
          </a:p>
          <a:p>
            <a:pPr marL="285750" indent="-285750">
              <a:lnSpc>
                <a:spcPct val="150000"/>
              </a:lnSpc>
              <a:buFont typeface="Arial" panose="020B0604020202020204" pitchFamily="34" charset="0"/>
              <a:buChar char="•"/>
            </a:pPr>
            <a:r>
              <a:rPr lang="ko-KR" altLang="en-US" sz="1400"/>
              <a:t>코드를 업로드한 후</a:t>
            </a:r>
            <a:r>
              <a:rPr lang="en-US" altLang="ko-KR" sz="1400"/>
              <a:t>, </a:t>
            </a:r>
            <a:r>
              <a:rPr lang="ko-KR" altLang="en-US" sz="1400"/>
              <a:t>시리얼 모니터를 </a:t>
            </a:r>
            <a:r>
              <a:rPr lang="en-US" altLang="ko-KR" sz="1400"/>
              <a:t>115200</a:t>
            </a:r>
            <a:r>
              <a:rPr lang="ko-KR" altLang="en-US" sz="1400"/>
              <a:t>의 보드 레이트로 열고 </a:t>
            </a:r>
            <a:r>
              <a:rPr lang="en-US" altLang="ko-KR" sz="1400"/>
              <a:t>ESP32 </a:t>
            </a:r>
            <a:r>
              <a:rPr lang="ko-KR" altLang="en-US" sz="1400"/>
              <a:t>보드의 리셋 버튼을 눌러 코드를 실행하자</a:t>
            </a:r>
            <a:r>
              <a:rPr lang="en-US" altLang="ko-KR" sz="1400"/>
              <a:t>.</a:t>
            </a:r>
          </a:p>
          <a:p>
            <a:pPr marL="285750" indent="-285750">
              <a:lnSpc>
                <a:spcPct val="150000"/>
              </a:lnSpc>
              <a:buFont typeface="Arial" panose="020B0604020202020204" pitchFamily="34" charset="0"/>
              <a:buChar char="•"/>
            </a:pPr>
            <a:r>
              <a:rPr lang="ko-KR" altLang="en-US" sz="1400"/>
              <a:t>모든 것이 정상적으로 작동하면 값이 데이터베이스에 저장되고 성공 메시지가 표시될 것이다</a:t>
            </a:r>
            <a:r>
              <a:rPr lang="en-US" altLang="ko-KR" sz="1400"/>
              <a:t>.</a:t>
            </a:r>
          </a:p>
        </p:txBody>
      </p:sp>
      <p:sp>
        <p:nvSpPr>
          <p:cNvPr id="5" name="TextBox 4">
            <a:extLst>
              <a:ext uri="{FF2B5EF4-FFF2-40B4-BE49-F238E27FC236}">
                <a16:creationId xmlns:a16="http://schemas.microsoft.com/office/drawing/2014/main" id="{A5782078-3550-4FEF-9463-72BE6196BC6B}"/>
              </a:ext>
            </a:extLst>
          </p:cNvPr>
          <p:cNvSpPr txBox="1"/>
          <p:nvPr/>
        </p:nvSpPr>
        <p:spPr>
          <a:xfrm>
            <a:off x="5339426" y="882416"/>
            <a:ext cx="1406154" cy="261610"/>
          </a:xfrm>
          <a:prstGeom prst="rect">
            <a:avLst/>
          </a:prstGeom>
          <a:noFill/>
        </p:spPr>
        <p:txBody>
          <a:bodyPr wrap="none" rtlCol="0">
            <a:spAutoFit/>
          </a:bodyPr>
          <a:lstStyle/>
          <a:p>
            <a:r>
              <a:rPr lang="en-US" altLang="ko-KR" sz="1100">
                <a:solidFill>
                  <a:srgbClr val="3A0DFB"/>
                </a:solidFill>
              </a:rPr>
              <a:t>ESP32 Dev Module</a:t>
            </a:r>
            <a:endParaRPr lang="ko-KR" altLang="en-US" sz="1100">
              <a:solidFill>
                <a:srgbClr val="3A0DFB"/>
              </a:solidFill>
            </a:endParaRPr>
          </a:p>
        </p:txBody>
      </p:sp>
      <p:pic>
        <p:nvPicPr>
          <p:cNvPr id="3" name="그림 2">
            <a:extLst>
              <a:ext uri="{FF2B5EF4-FFF2-40B4-BE49-F238E27FC236}">
                <a16:creationId xmlns:a16="http://schemas.microsoft.com/office/drawing/2014/main" id="{72FF16ED-0E49-4474-9E09-5FB57643634D}"/>
              </a:ext>
            </a:extLst>
          </p:cNvPr>
          <p:cNvPicPr>
            <a:picLocks noChangeAspect="1"/>
          </p:cNvPicPr>
          <p:nvPr/>
        </p:nvPicPr>
        <p:blipFill>
          <a:blip r:embed="rId2"/>
          <a:stretch>
            <a:fillRect/>
          </a:stretch>
        </p:blipFill>
        <p:spPr>
          <a:xfrm>
            <a:off x="5519728" y="1354413"/>
            <a:ext cx="6315956" cy="4829849"/>
          </a:xfrm>
          <a:prstGeom prst="rect">
            <a:avLst/>
          </a:prstGeom>
        </p:spPr>
      </p:pic>
    </p:spTree>
    <p:extLst>
      <p:ext uri="{BB962C8B-B14F-4D97-AF65-F5344CB8AC3E}">
        <p14:creationId xmlns:p14="http://schemas.microsoft.com/office/powerpoint/2010/main" val="226931917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실행 </a:t>
            </a:r>
            <a:r>
              <a:rPr lang="en-US" altLang="ko-KR" sz="2000" b="1">
                <a:solidFill>
                  <a:schemeClr val="tx1"/>
                </a:solidFill>
              </a:rPr>
              <a:t>: Firebase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C062A1CD-8066-4161-B251-FF2E4A54ECF4}"/>
              </a:ext>
            </a:extLst>
          </p:cNvPr>
          <p:cNvPicPr>
            <a:picLocks noChangeAspect="1"/>
          </p:cNvPicPr>
          <p:nvPr/>
        </p:nvPicPr>
        <p:blipFill>
          <a:blip r:embed="rId2"/>
          <a:stretch>
            <a:fillRect/>
          </a:stretch>
        </p:blipFill>
        <p:spPr>
          <a:xfrm>
            <a:off x="647452" y="962707"/>
            <a:ext cx="10278909" cy="3696216"/>
          </a:xfrm>
          <a:prstGeom prst="rect">
            <a:avLst/>
          </a:prstGeom>
          <a:ln w="19050">
            <a:solidFill>
              <a:schemeClr val="tx1">
                <a:lumMod val="50000"/>
                <a:lumOff val="50000"/>
              </a:schemeClr>
            </a:solidFill>
          </a:ln>
        </p:spPr>
      </p:pic>
      <p:sp>
        <p:nvSpPr>
          <p:cNvPr id="3" name="사각형: 둥근 모서리 2">
            <a:extLst>
              <a:ext uri="{FF2B5EF4-FFF2-40B4-BE49-F238E27FC236}">
                <a16:creationId xmlns:a16="http://schemas.microsoft.com/office/drawing/2014/main" id="{87D1471C-55D5-4B6D-AD37-7B2F6C404064}"/>
              </a:ext>
            </a:extLst>
          </p:cNvPr>
          <p:cNvSpPr/>
          <p:nvPr/>
        </p:nvSpPr>
        <p:spPr>
          <a:xfrm>
            <a:off x="432262" y="2810815"/>
            <a:ext cx="2576945" cy="464400"/>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15470C3F-C4E5-48D0-8470-2A44638BF847}"/>
              </a:ext>
            </a:extLst>
          </p:cNvPr>
          <p:cNvSpPr/>
          <p:nvPr/>
        </p:nvSpPr>
        <p:spPr>
          <a:xfrm>
            <a:off x="3793375" y="3960741"/>
            <a:ext cx="1210887" cy="698181"/>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C82FD58F-D3F0-45FD-990D-3BC517FC7470}"/>
              </a:ext>
            </a:extLst>
          </p:cNvPr>
          <p:cNvSpPr/>
          <p:nvPr/>
        </p:nvSpPr>
        <p:spPr>
          <a:xfrm>
            <a:off x="647451" y="4949601"/>
            <a:ext cx="9992839" cy="69705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400"/>
              <a:t>Firebase RealTime Database</a:t>
            </a:r>
            <a:r>
              <a:rPr lang="ko-KR" altLang="en-US" sz="1400"/>
              <a:t>로 이동하면 </a:t>
            </a:r>
            <a:r>
              <a:rPr lang="en-US" altLang="ko-KR" sz="1400"/>
              <a:t>15</a:t>
            </a:r>
            <a:r>
              <a:rPr lang="ko-KR" altLang="en-US" sz="1400"/>
              <a:t>초마다 새로운 값이 저장되며</a:t>
            </a:r>
            <a:r>
              <a:rPr lang="en-US" altLang="ko-KR" sz="1400"/>
              <a:t>, </a:t>
            </a:r>
            <a:br>
              <a:rPr lang="en-US" altLang="ko-KR" sz="1400"/>
            </a:br>
            <a:r>
              <a:rPr lang="ko-KR" altLang="en-US" sz="1400"/>
              <a:t>새로운 값이 저장될 때 데이터베이스가 깜박이는 것을 볼 수 있다</a:t>
            </a:r>
            <a:r>
              <a:rPr lang="en-US" altLang="ko-KR" sz="1400"/>
              <a:t>. </a:t>
            </a:r>
          </a:p>
        </p:txBody>
      </p:sp>
    </p:spTree>
    <p:extLst>
      <p:ext uri="{BB962C8B-B14F-4D97-AF65-F5344CB8AC3E}">
        <p14:creationId xmlns:p14="http://schemas.microsoft.com/office/powerpoint/2010/main" val="40845442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136456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3200" b="1">
                <a:solidFill>
                  <a:schemeClr val="tx1"/>
                </a:solidFill>
              </a:rPr>
              <a:t> ESP32 Read From Firebase Database</a:t>
            </a:r>
            <a:endParaRPr lang="ko-KR" altLang="en-US" sz="3200" b="1" dirty="0">
              <a:solidFill>
                <a:schemeClr val="tx1"/>
              </a:solidFill>
            </a:endParaRPr>
          </a:p>
        </p:txBody>
      </p:sp>
      <p:pic>
        <p:nvPicPr>
          <p:cNvPr id="2" name="그림 1">
            <a:extLst>
              <a:ext uri="{FF2B5EF4-FFF2-40B4-BE49-F238E27FC236}">
                <a16:creationId xmlns:a16="http://schemas.microsoft.com/office/drawing/2014/main" id="{591B20EE-A793-46DD-ADCF-3336A907B2DD}"/>
              </a:ext>
            </a:extLst>
          </p:cNvPr>
          <p:cNvPicPr>
            <a:picLocks noChangeAspect="1"/>
          </p:cNvPicPr>
          <p:nvPr/>
        </p:nvPicPr>
        <p:blipFill>
          <a:blip r:embed="rId2"/>
          <a:stretch>
            <a:fillRect/>
          </a:stretch>
        </p:blipFill>
        <p:spPr>
          <a:xfrm>
            <a:off x="1772811" y="1561802"/>
            <a:ext cx="8403406" cy="3247334"/>
          </a:xfrm>
          <a:prstGeom prst="rect">
            <a:avLst/>
          </a:prstGeom>
          <a:ln w="22225">
            <a:solidFill>
              <a:schemeClr val="tx1">
                <a:lumMod val="50000"/>
                <a:lumOff val="50000"/>
              </a:schemeClr>
            </a:solidFill>
          </a:ln>
        </p:spPr>
      </p:pic>
      <p:sp>
        <p:nvSpPr>
          <p:cNvPr id="3" name="직사각형 2">
            <a:extLst>
              <a:ext uri="{FF2B5EF4-FFF2-40B4-BE49-F238E27FC236}">
                <a16:creationId xmlns:a16="http://schemas.microsoft.com/office/drawing/2014/main" id="{988F7AD0-0F7C-4269-A2BC-0BBCB032853E}"/>
              </a:ext>
            </a:extLst>
          </p:cNvPr>
          <p:cNvSpPr/>
          <p:nvPr/>
        </p:nvSpPr>
        <p:spPr>
          <a:xfrm>
            <a:off x="0" y="6488668"/>
            <a:ext cx="8976360" cy="369332"/>
          </a:xfrm>
          <a:prstGeom prst="rect">
            <a:avLst/>
          </a:prstGeom>
        </p:spPr>
        <p:txBody>
          <a:bodyPr wrap="square">
            <a:spAutoFit/>
          </a:bodyPr>
          <a:lstStyle/>
          <a:p>
            <a:r>
              <a:rPr lang="en-US" altLang="ko-KR">
                <a:hlinkClick r:id="rId3"/>
              </a:rPr>
              <a:t>ESP32: Getting Started with Firebase (Realtime Database) | Random Nerd Tutorials</a:t>
            </a:r>
            <a:endParaRPr lang="ko-KR" altLang="en-US"/>
          </a:p>
        </p:txBody>
      </p:sp>
      <p:sp>
        <p:nvSpPr>
          <p:cNvPr id="5" name="Rectangle 1">
            <a:extLst>
              <a:ext uri="{FF2B5EF4-FFF2-40B4-BE49-F238E27FC236}">
                <a16:creationId xmlns:a16="http://schemas.microsoft.com/office/drawing/2014/main" id="{F3433A9D-AB7B-4F54-B13F-59528A90916A}"/>
              </a:ext>
            </a:extLst>
          </p:cNvPr>
          <p:cNvSpPr>
            <a:spLocks noChangeArrowheads="1"/>
          </p:cNvSpPr>
          <p:nvPr/>
        </p:nvSpPr>
        <p:spPr bwMode="auto">
          <a:xfrm>
            <a:off x="244274" y="5006258"/>
            <a:ext cx="11713463" cy="128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이</a:t>
            </a:r>
            <a:r>
              <a:rPr kumimoji="0" lang="ko-KR" altLang="en-US" b="0" i="0" u="none" strike="noStrike" cap="none" normalizeH="0" baseline="0">
                <a:ln>
                  <a:noFill/>
                </a:ln>
                <a:solidFill>
                  <a:schemeClr val="tx1"/>
                </a:solidFill>
                <a:effectLst/>
                <a:latin typeface="+mn-ea"/>
              </a:rPr>
              <a:t>번 수업</a:t>
            </a:r>
            <a:r>
              <a:rPr kumimoji="0" lang="ko-KR" altLang="ko-KR" b="0" i="0" u="none" strike="noStrike" cap="none" normalizeH="0" baseline="0">
                <a:ln>
                  <a:noFill/>
                </a:ln>
                <a:solidFill>
                  <a:schemeClr val="tx1"/>
                </a:solidFill>
                <a:effectLst/>
                <a:latin typeface="+mn-ea"/>
              </a:rPr>
              <a:t>에서는 데이터베이스에서 데이터를 읽는 방법을 배</a:t>
            </a:r>
            <a:r>
              <a:rPr kumimoji="0" lang="ko-KR" altLang="en-US" b="0" i="0" u="none" strike="noStrike" cap="none" normalizeH="0" baseline="0">
                <a:ln>
                  <a:noFill/>
                </a:ln>
                <a:solidFill>
                  <a:schemeClr val="tx1"/>
                </a:solidFill>
                <a:effectLst/>
                <a:latin typeface="+mn-ea"/>
              </a:rPr>
              <a:t>운</a:t>
            </a:r>
            <a:r>
              <a:rPr kumimoji="0" lang="ko-KR" altLang="ko-KR" b="0" i="0" u="none" strike="noStrike" cap="none" normalizeH="0" baseline="0">
                <a:ln>
                  <a:noFill/>
                </a:ln>
                <a:solidFill>
                  <a:schemeClr val="tx1"/>
                </a:solidFill>
                <a:effectLst/>
                <a:latin typeface="+mn-ea"/>
              </a:rPr>
              <a:t>다. 이전 섹션에서 저장된 데이터를 읽어</a:t>
            </a:r>
            <a:r>
              <a:rPr kumimoji="0" lang="ko-KR" altLang="en-US" b="0" i="0" u="none" strike="noStrike" cap="none" normalizeH="0" baseline="0">
                <a:ln>
                  <a:noFill/>
                </a:ln>
                <a:solidFill>
                  <a:schemeClr val="tx1"/>
                </a:solidFill>
                <a:effectLst/>
                <a:latin typeface="+mn-ea"/>
              </a:rPr>
              <a:t>보자</a:t>
            </a:r>
            <a:r>
              <a:rPr kumimoji="0" lang="ko-KR" altLang="ko-KR" b="0" i="0" u="none" strike="noStrike" cap="none" normalizeH="0" baseline="0">
                <a:ln>
                  <a:noFill/>
                </a:ln>
                <a:solidFill>
                  <a:schemeClr val="tx1"/>
                </a:solidFill>
                <a:effectLst/>
                <a:latin typeface="+mn-ea"/>
              </a:rPr>
              <a:t>. </a:t>
            </a:r>
            <a:endParaRPr kumimoji="0" lang="en-US" altLang="ko-KR" b="0" i="0" u="none" strike="noStrike" cap="none" normalizeH="0" baseline="0">
              <a:ln>
                <a:noFill/>
              </a:ln>
              <a:solidFill>
                <a:schemeClr val="tx1"/>
              </a:solidFill>
              <a:effectLst/>
              <a:latin typeface="+mn-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test/int 경로에 정수 값을, test/float 경로에 실수 값을 저장했다.</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다음 예제는 데이터베이스에 저장된 값을 읽는 방법을 보여</a:t>
            </a:r>
            <a:r>
              <a:rPr kumimoji="0" lang="ko-KR" altLang="en-US" b="0" i="0" u="none" strike="noStrike" cap="none" normalizeH="0" baseline="0">
                <a:ln>
                  <a:noFill/>
                </a:ln>
                <a:solidFill>
                  <a:schemeClr val="tx1"/>
                </a:solidFill>
                <a:effectLst/>
                <a:latin typeface="+mn-ea"/>
              </a:rPr>
              <a:t>준</a:t>
            </a:r>
            <a:r>
              <a:rPr kumimoji="0" lang="ko-KR" altLang="ko-KR" b="0" i="0" u="none" strike="noStrike" cap="none" normalizeH="0" baseline="0">
                <a:ln>
                  <a:noFill/>
                </a:ln>
                <a:solidFill>
                  <a:schemeClr val="tx1"/>
                </a:solidFill>
                <a:effectLst/>
                <a:latin typeface="+mn-ea"/>
              </a:rPr>
              <a:t>다.</a:t>
            </a:r>
          </a:p>
        </p:txBody>
      </p:sp>
    </p:spTree>
    <p:extLst>
      <p:ext uri="{BB962C8B-B14F-4D97-AF65-F5344CB8AC3E}">
        <p14:creationId xmlns:p14="http://schemas.microsoft.com/office/powerpoint/2010/main" val="139078563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- 1/4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7927170" cy="590161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&lt;Arduino.h&gt;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ESP32</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ESP8266</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&lt;ESP8266WiFi.h&gt;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RTDB payload printing info and other helper functions.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"addons/RTDBHelper.h"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WIFI_SSID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RTDB URLefine the RTDB URL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DATABASE_URL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"REPLACE_WITH_YOUR_FIREBASE_DATABASE_URL"</a:t>
            </a:r>
            <a:r>
              <a:rPr kumimoji="0" lang="ko-KR" altLang="ko-KR" sz="1600" b="0" i="0" u="none" strike="noStrike" cap="none" normalizeH="0" baseline="0">
                <a:ln>
                  <a:noFill/>
                </a:ln>
                <a:solidFill>
                  <a:srgbClr val="990055"/>
                </a:solidFill>
                <a:effectLst/>
                <a:latin typeface="Consolas" panose="020B0609020204030204" pitchFamily="49" charset="0"/>
              </a:rPr>
              <a:t> </a:t>
            </a:r>
            <a:endParaRPr kumimoji="0" lang="en-US" altLang="ko-KR" sz="1600" b="0" i="0" u="none" strike="noStrike" cap="none" normalizeH="0" baseline="0">
              <a:ln>
                <a:noFill/>
              </a:ln>
              <a:solidFill>
                <a:srgbClr val="990055"/>
              </a:solidFill>
              <a:effectLst/>
              <a:latin typeface="Consolas" panose="020B0609020204030204" pitchFamily="49" charset="0"/>
            </a:endParaRPr>
          </a:p>
          <a:p>
            <a:pPr marR="0" lvl="0" indent="1825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708090"/>
              </a:solidFill>
              <a:effectLst/>
              <a:latin typeface="Consolas" panose="020B0609020204030204" pitchFamily="49" charset="0"/>
            </a:endParaRPr>
          </a:p>
        </p:txBody>
      </p:sp>
    </p:spTree>
    <p:extLst>
      <p:ext uri="{BB962C8B-B14F-4D97-AF65-F5344CB8AC3E}">
        <p14:creationId xmlns:p14="http://schemas.microsoft.com/office/powerpoint/2010/main" val="187497991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- 2/4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5009705" cy="588879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long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float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WIFI_SSID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WIFI_PASSWORD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300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IP: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0104511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3/4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9385903" cy="50605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api key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api_key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API_KEY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RTDB URL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database_url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DATABASE_URL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Sign up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signUp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signupOK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signupError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message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c_str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callback function for the long running token generation task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token_status_callback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tokenStatusCallback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//see 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reconnectWiFi</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96396048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4/4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11056232" cy="5886035"/>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Firebase</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ready</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&amp;&amp;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signupOK</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&amp;&amp;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millis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15000</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intData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getFloat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floatData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직사각형 2">
            <a:extLst>
              <a:ext uri="{FF2B5EF4-FFF2-40B4-BE49-F238E27FC236}">
                <a16:creationId xmlns:a16="http://schemas.microsoft.com/office/drawing/2014/main" id="{ECC24C60-0210-442F-BB7B-D927B6B61B44}"/>
              </a:ext>
            </a:extLst>
          </p:cNvPr>
          <p:cNvSpPr/>
          <p:nvPr/>
        </p:nvSpPr>
        <p:spPr>
          <a:xfrm>
            <a:off x="5409320" y="1901666"/>
            <a:ext cx="6690360" cy="954107"/>
          </a:xfrm>
          <a:prstGeom prst="rect">
            <a:avLst/>
          </a:prstGeom>
        </p:spPr>
        <p:txBody>
          <a:bodyPr wrap="square">
            <a:spAutoFit/>
          </a:bodyPr>
          <a:lstStyle/>
          <a:p>
            <a:r>
              <a:rPr lang="en-US" altLang="ko-KR" sz="1400">
                <a:solidFill>
                  <a:srgbClr val="3A0DFB"/>
                </a:solidFill>
              </a:rPr>
              <a:t>// test/int </a:t>
            </a:r>
            <a:r>
              <a:rPr lang="ko-KR" altLang="en-US" sz="1400">
                <a:solidFill>
                  <a:srgbClr val="3A0DFB"/>
                </a:solidFill>
              </a:rPr>
              <a:t>노드에 저장된 정수 값을 가져오는 방법을 보여준다</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먼저</a:t>
            </a:r>
            <a:r>
              <a:rPr lang="en-US" altLang="ko-KR" sz="1400">
                <a:solidFill>
                  <a:srgbClr val="3A0DFB"/>
                </a:solidFill>
              </a:rPr>
              <a:t>, getInt() </a:t>
            </a:r>
            <a:r>
              <a:rPr lang="ko-KR" altLang="en-US" sz="1400">
                <a:solidFill>
                  <a:srgbClr val="3A0DFB"/>
                </a:solidFill>
              </a:rPr>
              <a:t>함수를 사용하고</a:t>
            </a:r>
            <a:r>
              <a:rPr lang="en-US" altLang="ko-KR" sz="1400">
                <a:solidFill>
                  <a:srgbClr val="3A0DFB"/>
                </a:solidFill>
              </a:rPr>
              <a:t>, </a:t>
            </a:r>
            <a:r>
              <a:rPr lang="ko-KR" altLang="en-US" sz="1400">
                <a:solidFill>
                  <a:srgbClr val="3A0DFB"/>
                </a:solidFill>
              </a:rPr>
              <a:t>그 후 </a:t>
            </a:r>
            <a:r>
              <a:rPr lang="en-US" altLang="ko-KR" sz="1400">
                <a:solidFill>
                  <a:srgbClr val="3A0DFB"/>
                </a:solidFill>
              </a:rPr>
              <a:t>fbdo.dataType()</a:t>
            </a:r>
            <a:r>
              <a:rPr lang="ko-KR" altLang="en-US" sz="1400">
                <a:solidFill>
                  <a:srgbClr val="3A0DFB"/>
                </a:solidFill>
              </a:rPr>
              <a:t>을 사용하여 데이터 </a:t>
            </a:r>
            <a:br>
              <a:rPr lang="en-US" altLang="ko-KR" sz="1400">
                <a:solidFill>
                  <a:srgbClr val="3A0DFB"/>
                </a:solidFill>
              </a:rPr>
            </a:br>
            <a:r>
              <a:rPr lang="en-US" altLang="ko-KR" sz="1400">
                <a:solidFill>
                  <a:srgbClr val="3A0DFB"/>
                </a:solidFill>
              </a:rPr>
              <a:t>// </a:t>
            </a:r>
            <a:r>
              <a:rPr lang="ko-KR" altLang="en-US" sz="1400">
                <a:solidFill>
                  <a:srgbClr val="3A0DFB"/>
                </a:solidFill>
              </a:rPr>
              <a:t>타입이 정수인지 확인한 다음</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마지막으로 </a:t>
            </a:r>
            <a:r>
              <a:rPr lang="en-US" altLang="ko-KR" sz="1400">
                <a:solidFill>
                  <a:srgbClr val="3A0DFB"/>
                </a:solidFill>
              </a:rPr>
              <a:t>fbdo.intData()</a:t>
            </a:r>
            <a:r>
              <a:rPr lang="ko-KR" altLang="en-US" sz="1400">
                <a:solidFill>
                  <a:srgbClr val="3A0DFB"/>
                </a:solidFill>
              </a:rPr>
              <a:t>를 사용하여 해당 노드에 저장된 값을 가져온다</a:t>
            </a:r>
            <a:r>
              <a:rPr lang="en-US" altLang="ko-KR" sz="1400">
                <a:solidFill>
                  <a:srgbClr val="3A0DFB"/>
                </a:solidFill>
              </a:rPr>
              <a:t>.</a:t>
            </a:r>
            <a:endParaRPr lang="ko-KR" altLang="en-US" sz="1400">
              <a:solidFill>
                <a:srgbClr val="3A0DFB"/>
              </a:solidFill>
            </a:endParaRPr>
          </a:p>
        </p:txBody>
      </p:sp>
    </p:spTree>
    <p:extLst>
      <p:ext uri="{BB962C8B-B14F-4D97-AF65-F5344CB8AC3E}">
        <p14:creationId xmlns:p14="http://schemas.microsoft.com/office/powerpoint/2010/main" val="232316785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a:t>
            </a:r>
            <a:r>
              <a:rPr lang="ko-KR" altLang="en-US" sz="2000" b="1">
                <a:solidFill>
                  <a:schemeClr val="tx1"/>
                </a:solidFill>
              </a:rPr>
              <a:t>설명</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7D1DC610-0FC8-46FA-A386-2A43BB2FA336}"/>
              </a:ext>
            </a:extLst>
          </p:cNvPr>
          <p:cNvSpPr/>
          <p:nvPr/>
        </p:nvSpPr>
        <p:spPr>
          <a:xfrm>
            <a:off x="201930" y="774899"/>
            <a:ext cx="11410950" cy="4476675"/>
          </a:xfrm>
          <a:prstGeom prst="rect">
            <a:avLst/>
          </a:prstGeom>
        </p:spPr>
        <p:txBody>
          <a:bodyPr wrap="square">
            <a:spAutoFit/>
          </a:bodyPr>
          <a:lstStyle/>
          <a:p>
            <a:pPr>
              <a:lnSpc>
                <a:spcPct val="150000"/>
              </a:lnSpc>
            </a:pPr>
            <a:r>
              <a:rPr lang="en-US" altLang="ko-KR" sz="1600" b="1"/>
              <a:t>Firebase RTDB</a:t>
            </a:r>
            <a:r>
              <a:rPr lang="ko-KR" altLang="en-US" sz="1600" b="1"/>
              <a:t>의 특정 노드에서 데이터를 읽는 데 사용할 수 있는 함수는 다음과 같다</a:t>
            </a:r>
            <a:r>
              <a:rPr lang="en-US" altLang="ko-KR" sz="1600" b="1"/>
              <a:t>: </a:t>
            </a:r>
            <a:br>
              <a:rPr lang="en-US" altLang="ko-KR" sz="1600" b="1"/>
            </a:br>
            <a:r>
              <a:rPr lang="en-US" altLang="ko-KR" sz="1600" b="1"/>
              <a:t>  get, getInt, getFloat, getDouble, getBool, getString, getJSON, getArray, getBlob, getFile.</a:t>
            </a:r>
          </a:p>
          <a:p>
            <a:pPr>
              <a:lnSpc>
                <a:spcPct val="150000"/>
              </a:lnSpc>
            </a:pPr>
            <a:r>
              <a:rPr lang="ko-KR" altLang="en-US" sz="1600" b="1"/>
              <a:t>이 함수들은 작업의 성공 여부를 나타내는 부울 값을 반환한다</a:t>
            </a:r>
            <a:r>
              <a:rPr lang="en-US" altLang="ko-KR" sz="1600" b="1"/>
              <a:t>. </a:t>
            </a:r>
            <a:r>
              <a:rPr lang="ko-KR" altLang="en-US" sz="1600" b="1"/>
              <a:t>이 값이 </a:t>
            </a:r>
            <a:r>
              <a:rPr lang="en-US" altLang="ko-KR" sz="1600" b="1"/>
              <a:t>true</a:t>
            </a:r>
            <a:r>
              <a:rPr lang="ko-KR" altLang="en-US" sz="1600" b="1"/>
              <a:t>이면 다음 조건들이 모두 충족된 것이다</a:t>
            </a:r>
            <a:r>
              <a:rPr lang="en-US" altLang="ko-KR" sz="1600" b="1"/>
              <a:t>:</a:t>
            </a:r>
          </a:p>
          <a:p>
            <a:pPr marL="446088" indent="-182563">
              <a:lnSpc>
                <a:spcPct val="150000"/>
              </a:lnSpc>
              <a:buFont typeface="Arial" panose="020B0604020202020204" pitchFamily="34" charset="0"/>
              <a:buChar char="•"/>
            </a:pPr>
            <a:r>
              <a:rPr lang="ko-KR" altLang="en-US" sz="1600"/>
              <a:t>서버가 </a:t>
            </a:r>
            <a:r>
              <a:rPr lang="en-US" altLang="ko-KR" sz="1600"/>
              <a:t>HTTP </a:t>
            </a:r>
            <a:r>
              <a:rPr lang="ko-KR" altLang="en-US" sz="1600"/>
              <a:t>상태 코드 </a:t>
            </a:r>
            <a:r>
              <a:rPr lang="en-US" altLang="ko-KR" sz="1600"/>
              <a:t>200</a:t>
            </a:r>
            <a:r>
              <a:rPr lang="ko-KR" altLang="en-US" sz="1600"/>
              <a:t>을 반환</a:t>
            </a:r>
          </a:p>
          <a:p>
            <a:pPr marL="446088" indent="-182563">
              <a:lnSpc>
                <a:spcPct val="150000"/>
              </a:lnSpc>
              <a:buFont typeface="Arial" panose="020B0604020202020204" pitchFamily="34" charset="0"/>
              <a:buChar char="•"/>
            </a:pPr>
            <a:r>
              <a:rPr lang="ko-KR" altLang="en-US" sz="1600"/>
              <a:t>요청과 응답 간의 데이터 타입이 일치</a:t>
            </a:r>
            <a:endParaRPr lang="en-US" altLang="ko-KR" sz="1600"/>
          </a:p>
          <a:p>
            <a:pPr>
              <a:lnSpc>
                <a:spcPct val="150000"/>
              </a:lnSpc>
              <a:buFont typeface="Arial" panose="020B0604020202020204" pitchFamily="34" charset="0"/>
              <a:buChar char="•"/>
            </a:pPr>
            <a:endParaRPr lang="ko-KR" altLang="en-US" sz="1600"/>
          </a:p>
          <a:p>
            <a:pPr>
              <a:lnSpc>
                <a:spcPct val="150000"/>
              </a:lnSpc>
            </a:pPr>
            <a:r>
              <a:rPr lang="ko-KR" altLang="en-US" sz="1600" b="1"/>
              <a:t>  데이터베이스 데이터의 페이로드</a:t>
            </a:r>
            <a:r>
              <a:rPr lang="en-US" altLang="ko-KR" sz="1600" b="1"/>
              <a:t>(</a:t>
            </a:r>
            <a:r>
              <a:rPr lang="ko-KR" altLang="en-US" sz="1600" b="1"/>
              <a:t>응답</a:t>
            </a:r>
            <a:r>
              <a:rPr lang="en-US" altLang="ko-KR" sz="1600" b="1"/>
              <a:t>)</a:t>
            </a:r>
            <a:r>
              <a:rPr lang="ko-KR" altLang="en-US" sz="1600" b="1"/>
              <a:t>를 다음 </a:t>
            </a:r>
            <a:r>
              <a:rPr lang="en-US" altLang="ko-KR" sz="1600" b="1"/>
              <a:t>Firebase Data </a:t>
            </a:r>
            <a:r>
              <a:rPr lang="ko-KR" altLang="en-US" sz="1600" b="1"/>
              <a:t>객체의 함수들을 통해 읽거나 접근할 수 있다</a:t>
            </a:r>
            <a:r>
              <a:rPr lang="en-US" altLang="ko-KR" sz="1600" b="1"/>
              <a:t>. </a:t>
            </a:r>
            <a:br>
              <a:rPr lang="en-US" altLang="ko-KR" sz="1600"/>
            </a:br>
            <a:r>
              <a:rPr lang="en-US" altLang="ko-KR" sz="1600"/>
              <a:t>   </a:t>
            </a:r>
            <a:r>
              <a:rPr lang="en-US" altLang="ko-KR" sz="1600">
                <a:sym typeface="Wingdings" panose="05000000000000000000" pitchFamily="2" charset="2"/>
              </a:rPr>
              <a:t> </a:t>
            </a:r>
            <a:r>
              <a:rPr lang="en-US" altLang="ko-KR" sz="1600"/>
              <a:t> fbdo.intData, fbdo.floatData, fbdo.doubleData, fbdo.boolData, fbdo.stringData, fbdo.jsonString, fbdo.jsonObject, </a:t>
            </a:r>
            <a:br>
              <a:rPr lang="en-US" altLang="ko-KR" sz="1600"/>
            </a:br>
            <a:r>
              <a:rPr lang="en-US" altLang="ko-KR" sz="1600"/>
              <a:t>        fbdo.jsonObjectPtr, fbdo.jsonArray, fbdo.jsonArrayPtr, fbdo.jsonData(</a:t>
            </a:r>
            <a:r>
              <a:rPr lang="ko-KR" altLang="en-US" sz="1600"/>
              <a:t>파싱</a:t>
            </a:r>
            <a:r>
              <a:rPr lang="en-US" altLang="ko-KR" sz="1600"/>
              <a:t>/</a:t>
            </a:r>
            <a:r>
              <a:rPr lang="ko-KR" altLang="en-US" sz="1600"/>
              <a:t>가져오기 결과를 저장하기 위해</a:t>
            </a:r>
            <a:r>
              <a:rPr lang="en-US" altLang="ko-KR" sz="1600"/>
              <a:t>), </a:t>
            </a:r>
            <a:br>
              <a:rPr lang="en-US" altLang="ko-KR" sz="1600"/>
            </a:br>
            <a:r>
              <a:rPr lang="en-US" altLang="ko-KR" sz="1600"/>
              <a:t>        </a:t>
            </a:r>
            <a:r>
              <a:rPr lang="ko-KR" altLang="en-US" sz="1600"/>
              <a:t>그리고 </a:t>
            </a:r>
            <a:r>
              <a:rPr lang="en-US" altLang="ko-KR" sz="1600"/>
              <a:t>fbdo.blobData.</a:t>
            </a:r>
          </a:p>
          <a:p>
            <a:pPr>
              <a:lnSpc>
                <a:spcPct val="150000"/>
              </a:lnSpc>
            </a:pPr>
            <a:r>
              <a:rPr lang="ko-KR" altLang="en-US" sz="1600"/>
              <a:t>  데이터베이스에서 반환된 데이터 타입과 일치하지 않는 함수를 사용하면 빈 값</a:t>
            </a:r>
            <a:r>
              <a:rPr lang="en-US" altLang="ko-KR" sz="1600"/>
              <a:t>(</a:t>
            </a:r>
            <a:r>
              <a:rPr lang="ko-KR" altLang="en-US" sz="1600"/>
              <a:t>문자열</a:t>
            </a:r>
            <a:r>
              <a:rPr lang="en-US" altLang="ko-KR" sz="1600"/>
              <a:t>, </a:t>
            </a:r>
            <a:r>
              <a:rPr lang="ko-KR" altLang="en-US" sz="1600"/>
              <a:t>객체</a:t>
            </a:r>
            <a:r>
              <a:rPr lang="en-US" altLang="ko-KR" sz="1600"/>
              <a:t>, </a:t>
            </a:r>
            <a:r>
              <a:rPr lang="ko-KR" altLang="en-US" sz="1600"/>
              <a:t>또는 배열</a:t>
            </a:r>
            <a:r>
              <a:rPr lang="en-US" altLang="ko-KR" sz="1600"/>
              <a:t>)</a:t>
            </a:r>
            <a:r>
              <a:rPr lang="ko-KR" altLang="en-US" sz="1600"/>
              <a:t>이 반환된다</a:t>
            </a:r>
            <a:r>
              <a:rPr lang="en-US" altLang="ko-KR" sz="1600"/>
              <a:t>.</a:t>
            </a:r>
          </a:p>
          <a:p>
            <a:pPr>
              <a:lnSpc>
                <a:spcPct val="150000"/>
              </a:lnSpc>
            </a:pPr>
            <a:r>
              <a:rPr lang="ko-KR" altLang="en-US" sz="1600"/>
              <a:t>반환되는 페이로드의 데이터 타입은 </a:t>
            </a:r>
            <a:r>
              <a:rPr lang="en-US" altLang="ko-KR" sz="1600"/>
              <a:t>fbdo.getDataType</a:t>
            </a:r>
            <a:r>
              <a:rPr lang="ko-KR" altLang="en-US" sz="1600"/>
              <a:t>을 통해 확인할 수 있다</a:t>
            </a:r>
            <a:r>
              <a:rPr lang="en-US" altLang="ko-KR" sz="1600"/>
              <a:t>.</a:t>
            </a:r>
          </a:p>
        </p:txBody>
      </p:sp>
    </p:spTree>
    <p:extLst>
      <p:ext uri="{BB962C8B-B14F-4D97-AF65-F5344CB8AC3E}">
        <p14:creationId xmlns:p14="http://schemas.microsoft.com/office/powerpoint/2010/main" val="225846105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동작 결과</a:t>
            </a:r>
            <a:endParaRPr lang="ko-KR" altLang="en-US" sz="2000" b="1" dirty="0">
              <a:solidFill>
                <a:schemeClr val="tx1"/>
              </a:solidFill>
            </a:endParaRPr>
          </a:p>
        </p:txBody>
      </p:sp>
      <p:pic>
        <p:nvPicPr>
          <p:cNvPr id="2" name="그림 1">
            <a:extLst>
              <a:ext uri="{FF2B5EF4-FFF2-40B4-BE49-F238E27FC236}">
                <a16:creationId xmlns:a16="http://schemas.microsoft.com/office/drawing/2014/main" id="{10B8BBCE-DD1C-4BF3-8926-E5A95B02A802}"/>
              </a:ext>
            </a:extLst>
          </p:cNvPr>
          <p:cNvPicPr>
            <a:picLocks noChangeAspect="1"/>
          </p:cNvPicPr>
          <p:nvPr/>
        </p:nvPicPr>
        <p:blipFill>
          <a:blip r:embed="rId2"/>
          <a:stretch>
            <a:fillRect/>
          </a:stretch>
        </p:blipFill>
        <p:spPr>
          <a:xfrm>
            <a:off x="466040" y="1418236"/>
            <a:ext cx="5911314" cy="5206768"/>
          </a:xfrm>
          <a:prstGeom prst="rect">
            <a:avLst/>
          </a:prstGeom>
          <a:ln w="15875">
            <a:solidFill>
              <a:schemeClr val="tx1">
                <a:lumMod val="50000"/>
                <a:lumOff val="50000"/>
              </a:schemeClr>
            </a:solidFill>
          </a:ln>
        </p:spPr>
      </p:pic>
      <p:pic>
        <p:nvPicPr>
          <p:cNvPr id="3" name="그림 2">
            <a:extLst>
              <a:ext uri="{FF2B5EF4-FFF2-40B4-BE49-F238E27FC236}">
                <a16:creationId xmlns:a16="http://schemas.microsoft.com/office/drawing/2014/main" id="{586FFC4D-A21B-451B-ACA1-A0C5D960C27E}"/>
              </a:ext>
            </a:extLst>
          </p:cNvPr>
          <p:cNvPicPr>
            <a:picLocks noChangeAspect="1"/>
          </p:cNvPicPr>
          <p:nvPr/>
        </p:nvPicPr>
        <p:blipFill>
          <a:blip r:embed="rId3"/>
          <a:stretch>
            <a:fillRect/>
          </a:stretch>
        </p:blipFill>
        <p:spPr>
          <a:xfrm>
            <a:off x="7236358" y="954002"/>
            <a:ext cx="4267796" cy="3839111"/>
          </a:xfrm>
          <a:prstGeom prst="rect">
            <a:avLst/>
          </a:prstGeom>
          <a:ln w="15875">
            <a:solidFill>
              <a:schemeClr val="tx1">
                <a:lumMod val="50000"/>
                <a:lumOff val="50000"/>
              </a:schemeClr>
            </a:solidFill>
          </a:ln>
        </p:spPr>
      </p:pic>
      <p:sp>
        <p:nvSpPr>
          <p:cNvPr id="5" name="TextBox 4">
            <a:extLst>
              <a:ext uri="{FF2B5EF4-FFF2-40B4-BE49-F238E27FC236}">
                <a16:creationId xmlns:a16="http://schemas.microsoft.com/office/drawing/2014/main" id="{FD906479-473D-4B3B-BE55-3422F7B8B687}"/>
              </a:ext>
            </a:extLst>
          </p:cNvPr>
          <p:cNvSpPr txBox="1"/>
          <p:nvPr/>
        </p:nvSpPr>
        <p:spPr>
          <a:xfrm>
            <a:off x="466040" y="860466"/>
            <a:ext cx="3123027" cy="369332"/>
          </a:xfrm>
          <a:prstGeom prst="rect">
            <a:avLst/>
          </a:prstGeom>
          <a:noFill/>
        </p:spPr>
        <p:txBody>
          <a:bodyPr wrap="square" rtlCol="0">
            <a:spAutoFit/>
          </a:bodyPr>
          <a:lstStyle/>
          <a:p>
            <a:r>
              <a:rPr lang="en-US" altLang="ko-KR" b="1" i="1">
                <a:solidFill>
                  <a:schemeClr val="accent1">
                    <a:lumMod val="50000"/>
                  </a:schemeClr>
                </a:solidFill>
              </a:rPr>
              <a:t>Arduino Serial Monitor</a:t>
            </a:r>
            <a:endParaRPr lang="ko-KR" altLang="en-US" b="1" i="1">
              <a:solidFill>
                <a:schemeClr val="accent1">
                  <a:lumMod val="50000"/>
                </a:schemeClr>
              </a:solidFill>
            </a:endParaRPr>
          </a:p>
        </p:txBody>
      </p:sp>
      <p:sp>
        <p:nvSpPr>
          <p:cNvPr id="6" name="사각형: 둥근 모서리 5">
            <a:extLst>
              <a:ext uri="{FF2B5EF4-FFF2-40B4-BE49-F238E27FC236}">
                <a16:creationId xmlns:a16="http://schemas.microsoft.com/office/drawing/2014/main" id="{8E0339C4-4DDD-4498-AC3D-341F605A001C}"/>
              </a:ext>
            </a:extLst>
          </p:cNvPr>
          <p:cNvSpPr/>
          <p:nvPr/>
        </p:nvSpPr>
        <p:spPr>
          <a:xfrm>
            <a:off x="309489" y="5101634"/>
            <a:ext cx="872197" cy="79273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1471099C-D2DE-4DCD-98E6-21729333F426}"/>
              </a:ext>
            </a:extLst>
          </p:cNvPr>
          <p:cNvSpPr/>
          <p:nvPr/>
        </p:nvSpPr>
        <p:spPr>
          <a:xfrm>
            <a:off x="8498059" y="3875400"/>
            <a:ext cx="1278987" cy="79273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화살표 연결선 8">
            <a:extLst>
              <a:ext uri="{FF2B5EF4-FFF2-40B4-BE49-F238E27FC236}">
                <a16:creationId xmlns:a16="http://schemas.microsoft.com/office/drawing/2014/main" id="{00F41D01-EFAA-4699-9CCA-CAE79C8E7194}"/>
              </a:ext>
            </a:extLst>
          </p:cNvPr>
          <p:cNvCxnSpPr>
            <a:endCxn id="6" idx="3"/>
          </p:cNvCxnSpPr>
          <p:nvPr/>
        </p:nvCxnSpPr>
        <p:spPr>
          <a:xfrm flipH="1">
            <a:off x="1181686" y="4290646"/>
            <a:ext cx="7316373" cy="1207353"/>
          </a:xfrm>
          <a:prstGeom prst="straightConnector1">
            <a:avLst/>
          </a:prstGeom>
          <a:ln>
            <a:solidFill>
              <a:srgbClr val="3A0DFB"/>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19015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198466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a:t>
            </a:r>
            <a:endParaRPr lang="ko-KR" altLang="en-US" sz="4800" b="1">
              <a:solidFill>
                <a:schemeClr val="tx1"/>
              </a:solidFill>
            </a:endParaRPr>
          </a:p>
        </p:txBody>
      </p:sp>
      <p:sp>
        <p:nvSpPr>
          <p:cNvPr id="2" name="직사각형 1">
            <a:extLst>
              <a:ext uri="{FF2B5EF4-FFF2-40B4-BE49-F238E27FC236}">
                <a16:creationId xmlns:a16="http://schemas.microsoft.com/office/drawing/2014/main" id="{0880067C-DF6C-4D79-9409-260681DD118F}"/>
              </a:ext>
            </a:extLst>
          </p:cNvPr>
          <p:cNvSpPr/>
          <p:nvPr/>
        </p:nvSpPr>
        <p:spPr>
          <a:xfrm>
            <a:off x="0" y="6337408"/>
            <a:ext cx="9559636" cy="369332"/>
          </a:xfrm>
          <a:prstGeom prst="rect">
            <a:avLst/>
          </a:prstGeom>
        </p:spPr>
        <p:txBody>
          <a:bodyPr wrap="square">
            <a:spAutoFit/>
          </a:bodyPr>
          <a:lstStyle/>
          <a:p>
            <a:r>
              <a:rPr lang="en-US" altLang="ko-KR">
                <a:hlinkClick r:id="rId2"/>
              </a:rPr>
              <a:t>ESP32-CAM AI-Thinker Pinout Guide: GPIOs Usage Explained | Random Nerd Tutorials</a:t>
            </a:r>
            <a:endParaRPr lang="ko-KR" altLang="en-US"/>
          </a:p>
        </p:txBody>
      </p:sp>
      <p:pic>
        <p:nvPicPr>
          <p:cNvPr id="3" name="그림 2">
            <a:extLst>
              <a:ext uri="{FF2B5EF4-FFF2-40B4-BE49-F238E27FC236}">
                <a16:creationId xmlns:a16="http://schemas.microsoft.com/office/drawing/2014/main" id="{281A0EA8-5294-4DCB-98DC-F01E7B806BB5}"/>
              </a:ext>
            </a:extLst>
          </p:cNvPr>
          <p:cNvPicPr>
            <a:picLocks noChangeAspect="1"/>
          </p:cNvPicPr>
          <p:nvPr/>
        </p:nvPicPr>
        <p:blipFill>
          <a:blip r:embed="rId3"/>
          <a:stretch>
            <a:fillRect/>
          </a:stretch>
        </p:blipFill>
        <p:spPr>
          <a:xfrm>
            <a:off x="2151124" y="2316419"/>
            <a:ext cx="7481250" cy="3341725"/>
          </a:xfrm>
          <a:prstGeom prst="rect">
            <a:avLst/>
          </a:prstGeom>
        </p:spPr>
      </p:pic>
      <p:sp>
        <p:nvSpPr>
          <p:cNvPr id="7" name="TextBox 6">
            <a:extLst>
              <a:ext uri="{FF2B5EF4-FFF2-40B4-BE49-F238E27FC236}">
                <a16:creationId xmlns:a16="http://schemas.microsoft.com/office/drawing/2014/main" id="{F88A0E8D-4DD4-4BFD-81C8-103E54340E49}"/>
              </a:ext>
            </a:extLst>
          </p:cNvPr>
          <p:cNvSpPr txBox="1"/>
          <p:nvPr/>
        </p:nvSpPr>
        <p:spPr>
          <a:xfrm>
            <a:off x="7478893" y="5011813"/>
            <a:ext cx="2689711" cy="646331"/>
          </a:xfrm>
          <a:prstGeom prst="rect">
            <a:avLst/>
          </a:prstGeom>
          <a:noFill/>
        </p:spPr>
        <p:txBody>
          <a:bodyPr wrap="none" rtlCol="0">
            <a:spAutoFit/>
          </a:bodyPr>
          <a:lstStyle/>
          <a:p>
            <a:r>
              <a:rPr lang="en-US" altLang="ko-KR" b="1" dirty="0">
                <a:solidFill>
                  <a:srgbClr val="3A0DFB"/>
                </a:solidFill>
              </a:rPr>
              <a:t>Arduino IDE</a:t>
            </a:r>
            <a:r>
              <a:rPr lang="ko-KR" altLang="en-US" b="1" dirty="0">
                <a:solidFill>
                  <a:srgbClr val="3A0DFB"/>
                </a:solidFill>
              </a:rPr>
              <a:t> </a:t>
            </a:r>
            <a:r>
              <a:rPr lang="en-US" altLang="ko-KR" b="1" dirty="0">
                <a:solidFill>
                  <a:srgbClr val="3A0DFB"/>
                </a:solidFill>
                <a:sym typeface="Wingdings" panose="05000000000000000000" pitchFamily="2" charset="2"/>
              </a:rPr>
              <a:t></a:t>
            </a:r>
            <a:endParaRPr lang="en-US" altLang="ko-KR" b="1" dirty="0">
              <a:solidFill>
                <a:srgbClr val="3A0DFB"/>
              </a:solidFill>
            </a:endParaRPr>
          </a:p>
          <a:p>
            <a:r>
              <a:rPr lang="en-US" altLang="ko-KR" b="1" dirty="0">
                <a:solidFill>
                  <a:srgbClr val="3A0DFB"/>
                </a:solidFill>
              </a:rPr>
              <a:t>ESP32_Wrover_Module</a:t>
            </a:r>
            <a:endParaRPr lang="ko-KR" altLang="en-US" b="1" dirty="0">
              <a:solidFill>
                <a:srgbClr val="3A0DFB"/>
              </a:solidFill>
            </a:endParaRPr>
          </a:p>
        </p:txBody>
      </p:sp>
    </p:spTree>
    <p:extLst>
      <p:ext uri="{BB962C8B-B14F-4D97-AF65-F5344CB8AC3E}">
        <p14:creationId xmlns:p14="http://schemas.microsoft.com/office/powerpoint/2010/main" val="97952264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000" b="1">
                <a:solidFill>
                  <a:schemeClr val="tx1"/>
                </a:solidFill>
              </a:rPr>
              <a:t>ESP32-CAM schematic</a:t>
            </a:r>
            <a:endParaRPr lang="ko-KR" altLang="en-US" sz="4000" b="1">
              <a:solidFill>
                <a:schemeClr val="tx1"/>
              </a:solidFill>
            </a:endParaRPr>
          </a:p>
        </p:txBody>
      </p:sp>
      <p:pic>
        <p:nvPicPr>
          <p:cNvPr id="5" name="그림 4">
            <a:extLst>
              <a:ext uri="{FF2B5EF4-FFF2-40B4-BE49-F238E27FC236}">
                <a16:creationId xmlns:a16="http://schemas.microsoft.com/office/drawing/2014/main" id="{6F4C4EA6-0B31-4861-95B0-F2C431F1BD55}"/>
              </a:ext>
            </a:extLst>
          </p:cNvPr>
          <p:cNvPicPr>
            <a:picLocks noChangeAspect="1"/>
          </p:cNvPicPr>
          <p:nvPr/>
        </p:nvPicPr>
        <p:blipFill>
          <a:blip r:embed="rId2"/>
          <a:stretch>
            <a:fillRect/>
          </a:stretch>
        </p:blipFill>
        <p:spPr>
          <a:xfrm>
            <a:off x="918465" y="716972"/>
            <a:ext cx="10355069" cy="6141027"/>
          </a:xfrm>
          <a:prstGeom prst="rect">
            <a:avLst/>
          </a:prstGeom>
        </p:spPr>
      </p:pic>
    </p:spTree>
    <p:extLst>
      <p:ext uri="{BB962C8B-B14F-4D97-AF65-F5344CB8AC3E}">
        <p14:creationId xmlns:p14="http://schemas.microsoft.com/office/powerpoint/2010/main" val="17028431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179270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3600" b="1">
                <a:solidFill>
                  <a:schemeClr val="tx1"/>
                </a:solidFill>
              </a:rPr>
              <a:t>ESP32-CAM Video Streaming </a:t>
            </a:r>
          </a:p>
          <a:p>
            <a:pPr marL="179387" algn="ctr"/>
            <a:r>
              <a:rPr lang="en-US" altLang="ko-KR" sz="3600" b="1">
                <a:solidFill>
                  <a:schemeClr val="tx1"/>
                </a:solidFill>
              </a:rPr>
              <a:t>Web Server</a:t>
            </a:r>
            <a:endParaRPr lang="ko-KR" altLang="en-US" sz="3600" b="1">
              <a:solidFill>
                <a:schemeClr val="tx1"/>
              </a:solidFill>
            </a:endParaRPr>
          </a:p>
        </p:txBody>
      </p:sp>
      <p:sp>
        <p:nvSpPr>
          <p:cNvPr id="6" name="직사각형 5">
            <a:extLst>
              <a:ext uri="{FF2B5EF4-FFF2-40B4-BE49-F238E27FC236}">
                <a16:creationId xmlns:a16="http://schemas.microsoft.com/office/drawing/2014/main" id="{748D50C4-95DC-4FF1-8B85-04355688DEA9}"/>
              </a:ext>
            </a:extLst>
          </p:cNvPr>
          <p:cNvSpPr/>
          <p:nvPr/>
        </p:nvSpPr>
        <p:spPr>
          <a:xfrm>
            <a:off x="0" y="6488667"/>
            <a:ext cx="10631906" cy="369332"/>
          </a:xfrm>
          <a:prstGeom prst="rect">
            <a:avLst/>
          </a:prstGeom>
        </p:spPr>
        <p:txBody>
          <a:bodyPr wrap="square">
            <a:spAutoFit/>
          </a:bodyPr>
          <a:lstStyle/>
          <a:p>
            <a:r>
              <a:rPr lang="en-US" altLang="ko-KR">
                <a:hlinkClick r:id="rId2"/>
              </a:rPr>
              <a:t>ESP32-CAM Video Streaming Web Server (works with Home Assistant) | Random Nerd Tutorials</a:t>
            </a:r>
            <a:endParaRPr lang="ko-KR" altLang="en-US"/>
          </a:p>
        </p:txBody>
      </p:sp>
      <p:pic>
        <p:nvPicPr>
          <p:cNvPr id="7" name="그림 6">
            <a:extLst>
              <a:ext uri="{FF2B5EF4-FFF2-40B4-BE49-F238E27FC236}">
                <a16:creationId xmlns:a16="http://schemas.microsoft.com/office/drawing/2014/main" id="{B626F1DF-FA25-4183-B5B9-941CC169EF9B}"/>
              </a:ext>
            </a:extLst>
          </p:cNvPr>
          <p:cNvPicPr>
            <a:picLocks noChangeAspect="1"/>
          </p:cNvPicPr>
          <p:nvPr/>
        </p:nvPicPr>
        <p:blipFill>
          <a:blip r:embed="rId3"/>
          <a:stretch>
            <a:fillRect/>
          </a:stretch>
        </p:blipFill>
        <p:spPr>
          <a:xfrm>
            <a:off x="6145228" y="3244331"/>
            <a:ext cx="4851637" cy="2922190"/>
          </a:xfrm>
          <a:prstGeom prst="rect">
            <a:avLst/>
          </a:prstGeom>
        </p:spPr>
      </p:pic>
      <p:pic>
        <p:nvPicPr>
          <p:cNvPr id="8" name="그림 7">
            <a:extLst>
              <a:ext uri="{FF2B5EF4-FFF2-40B4-BE49-F238E27FC236}">
                <a16:creationId xmlns:a16="http://schemas.microsoft.com/office/drawing/2014/main" id="{031C14A4-D5D5-4A53-98EE-B15D6F8ED055}"/>
              </a:ext>
            </a:extLst>
          </p:cNvPr>
          <p:cNvPicPr>
            <a:picLocks noChangeAspect="1"/>
          </p:cNvPicPr>
          <p:nvPr/>
        </p:nvPicPr>
        <p:blipFill>
          <a:blip r:embed="rId4"/>
          <a:stretch>
            <a:fillRect/>
          </a:stretch>
        </p:blipFill>
        <p:spPr>
          <a:xfrm>
            <a:off x="738008" y="3244331"/>
            <a:ext cx="5217625" cy="2921870"/>
          </a:xfrm>
          <a:prstGeom prst="rect">
            <a:avLst/>
          </a:prstGeom>
        </p:spPr>
      </p:pic>
      <p:sp>
        <p:nvSpPr>
          <p:cNvPr id="9" name="직사각형 8">
            <a:extLst>
              <a:ext uri="{FF2B5EF4-FFF2-40B4-BE49-F238E27FC236}">
                <a16:creationId xmlns:a16="http://schemas.microsoft.com/office/drawing/2014/main" id="{F8B9E50D-3088-4B18-A1C0-145082548854}"/>
              </a:ext>
            </a:extLst>
          </p:cNvPr>
          <p:cNvSpPr/>
          <p:nvPr/>
        </p:nvSpPr>
        <p:spPr>
          <a:xfrm>
            <a:off x="376085" y="1875874"/>
            <a:ext cx="11815915" cy="869790"/>
          </a:xfrm>
          <a:prstGeom prst="rect">
            <a:avLst/>
          </a:prstGeom>
        </p:spPr>
        <p:txBody>
          <a:bodyPr wrap="square">
            <a:spAutoFit/>
          </a:bodyPr>
          <a:lstStyle/>
          <a:p>
            <a:pPr>
              <a:lnSpc>
                <a:spcPct val="150000"/>
              </a:lnSpc>
            </a:pPr>
            <a:r>
              <a:rPr lang="ko-KR" altLang="en-US"/>
              <a:t>이 프로젝트에서는 </a:t>
            </a:r>
            <a:r>
              <a:rPr lang="en-US" altLang="ko-KR"/>
              <a:t>ESP32-CAM </a:t>
            </a:r>
            <a:r>
              <a:rPr lang="ko-KR" altLang="en-US"/>
              <a:t>보드를 사용하여 </a:t>
            </a:r>
            <a:r>
              <a:rPr lang="en-US" altLang="ko-KR"/>
              <a:t>IP </a:t>
            </a:r>
            <a:r>
              <a:rPr lang="ko-KR" altLang="en-US"/>
              <a:t>감시 카메라를 제작할 것이다</a:t>
            </a:r>
            <a:r>
              <a:rPr lang="en-US" altLang="ko-KR"/>
              <a:t>. </a:t>
            </a:r>
            <a:br>
              <a:rPr lang="en-US" altLang="ko-KR"/>
            </a:br>
            <a:r>
              <a:rPr lang="en-US" altLang="ko-KR"/>
              <a:t>ESP32 </a:t>
            </a:r>
            <a:r>
              <a:rPr lang="ko-KR" altLang="en-US"/>
              <a:t>카메라는 비디오 스트리밍 웹 서버를 호스팅하며</a:t>
            </a:r>
            <a:r>
              <a:rPr lang="en-US" altLang="ko-KR"/>
              <a:t>, </a:t>
            </a:r>
            <a:r>
              <a:rPr lang="ko-KR" altLang="en-US"/>
              <a:t>네트워크 내의 어떤 장치에서든 이를 액세스할 수 있다</a:t>
            </a:r>
            <a:r>
              <a:rPr lang="en-US" altLang="ko-KR"/>
              <a:t>.</a:t>
            </a:r>
            <a:endParaRPr lang="ko-KR" altLang="en-US"/>
          </a:p>
        </p:txBody>
      </p:sp>
    </p:spTree>
    <p:extLst>
      <p:ext uri="{BB962C8B-B14F-4D97-AF65-F5344CB8AC3E}">
        <p14:creationId xmlns:p14="http://schemas.microsoft.com/office/powerpoint/2010/main" val="53242440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1/9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04537" y="777315"/>
            <a:ext cx="6690934" cy="55004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"esp_camera.h"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"esp_timer.h"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"img_converters.h"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"Arduino.h"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"fb_gfx.h"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"soc/soc.h"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"soc/rtc_cntl_reg.h"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"esp_http_server.h"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//Replace with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ssid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password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PART_BOUNDARY </a:t>
            </a:r>
            <a:r>
              <a:rPr kumimoji="0" lang="ko-KR" altLang="ko-KR" sz="1600" b="0" i="0" u="none" strike="noStrike" cap="none" normalizeH="0" baseline="0">
                <a:ln>
                  <a:noFill/>
                </a:ln>
                <a:solidFill>
                  <a:srgbClr val="669900"/>
                </a:solidFill>
                <a:effectLst/>
                <a:latin typeface="Consolas" panose="020B0609020204030204" pitchFamily="49" charset="0"/>
              </a:rPr>
              <a:t>"123456789000000000000987654321"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EC28F73C-1A18-4024-A041-2B968AF3781C}"/>
              </a:ext>
            </a:extLst>
          </p:cNvPr>
          <p:cNvSpPr txBox="1"/>
          <p:nvPr/>
        </p:nvSpPr>
        <p:spPr>
          <a:xfrm>
            <a:off x="7087977" y="4896853"/>
            <a:ext cx="2969083" cy="646331"/>
          </a:xfrm>
          <a:prstGeom prst="rect">
            <a:avLst/>
          </a:prstGeom>
          <a:noFill/>
        </p:spPr>
        <p:txBody>
          <a:bodyPr wrap="none" rtlCol="0">
            <a:spAutoFit/>
          </a:bodyPr>
          <a:lstStyle/>
          <a:p>
            <a:r>
              <a:rPr lang="ko-KR" altLang="en-US"/>
              <a:t>실험 환경에서 연결 가능한</a:t>
            </a:r>
            <a:endParaRPr lang="en-US" altLang="ko-KR"/>
          </a:p>
          <a:p>
            <a:r>
              <a:rPr lang="en-US" altLang="ko-KR"/>
              <a:t> Wi-Fi SSID, PWD </a:t>
            </a:r>
            <a:r>
              <a:rPr lang="ko-KR" altLang="en-US"/>
              <a:t>입력</a:t>
            </a:r>
          </a:p>
        </p:txBody>
      </p:sp>
    </p:spTree>
    <p:extLst>
      <p:ext uri="{BB962C8B-B14F-4D97-AF65-F5344CB8AC3E}">
        <p14:creationId xmlns:p14="http://schemas.microsoft.com/office/powerpoint/2010/main" val="36605771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2/9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04537" y="777315"/>
            <a:ext cx="11221021" cy="541686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AI </a:t>
            </a:r>
            <a:r>
              <a:rPr kumimoji="0" lang="ko-KR" altLang="ko-KR" sz="1600" b="0" i="0" u="none" strike="noStrike" cap="none" normalizeH="0" baseline="0" dirty="0" err="1">
                <a:ln>
                  <a:noFill/>
                </a:ln>
                <a:solidFill>
                  <a:srgbClr val="708090"/>
                </a:solidFill>
                <a:effectLst/>
                <a:latin typeface="Consolas" panose="020B0609020204030204" pitchFamily="49" charset="0"/>
              </a:rPr>
              <a:t>Thinker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708090"/>
                </a:solidFill>
                <a:effectLst/>
                <a:latin typeface="Consolas" panose="020B0609020204030204" pitchFamily="49" charset="0"/>
              </a:rPr>
              <a:t>, M5STACK PSRAM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708090"/>
                </a:solidFill>
                <a:effectLst/>
                <a:latin typeface="Consolas" panose="020B0609020204030204" pitchFamily="49" charset="0"/>
              </a:rPr>
              <a:t> and M5STACK WITHOUT 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CAMERA_MODEL_M5STACK_PSRAM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CAMERA_MODEL_M5STACK_WITHOUT_PSRAM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Not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CAMERA_MODEL_WROVER_KIT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defined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CAMERA_MODEL_WROVER_KIT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03433320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3/9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28600" y="915728"/>
            <a:ext cx="4712829" cy="41857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CAMERA_MODEL_M5STACK_PSRAM</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15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32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p:txBody>
      </p:sp>
      <p:sp>
        <p:nvSpPr>
          <p:cNvPr id="4" name="Rectangle 1">
            <a:extLst>
              <a:ext uri="{FF2B5EF4-FFF2-40B4-BE49-F238E27FC236}">
                <a16:creationId xmlns:a16="http://schemas.microsoft.com/office/drawing/2014/main" id="{51F778AB-F5C5-4295-939B-CA949E22873E}"/>
              </a:ext>
            </a:extLst>
          </p:cNvPr>
          <p:cNvSpPr>
            <a:spLocks noChangeArrowheads="1"/>
          </p:cNvSpPr>
          <p:nvPr/>
        </p:nvSpPr>
        <p:spPr bwMode="auto">
          <a:xfrm>
            <a:off x="5486400" y="885599"/>
            <a:ext cx="5610510" cy="41857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CAMERA_MODEL_M5STACK_WITHOUT_PSRAM</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15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17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21</a:t>
            </a:r>
            <a:endParaRPr kumimoji="0" lang="en-US" altLang="ko-KR" sz="1600" b="0" i="0" u="none" strike="noStrike" cap="none" normalizeH="0" baseline="0">
              <a:ln>
                <a:noFill/>
              </a:ln>
              <a:solidFill>
                <a:srgbClr val="990055"/>
              </a:solidFill>
              <a:effectLst/>
              <a:latin typeface="Consolas" panose="020B0609020204030204" pitchFamily="49" charset="0"/>
            </a:endParaRPr>
          </a:p>
        </p:txBody>
      </p:sp>
    </p:spTree>
    <p:extLst>
      <p:ext uri="{BB962C8B-B14F-4D97-AF65-F5344CB8AC3E}">
        <p14:creationId xmlns:p14="http://schemas.microsoft.com/office/powerpoint/2010/main" val="13195653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4/9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180473" y="843677"/>
            <a:ext cx="11445441" cy="517064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CAMERA_MODEL_AI_THINKER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32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0</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error</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"Camera model not selected"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_STREAM_CONTENT_TYPE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"multipart/x-mixed-replace;boundary="</a:t>
            </a:r>
            <a:r>
              <a:rPr kumimoji="0" lang="ko-KR" altLang="ko-KR" sz="1600" b="0" i="0" u="none" strike="noStrike" cap="none" normalizeH="0" baseline="0">
                <a:ln>
                  <a:noFill/>
                </a:ln>
                <a:solidFill>
                  <a:srgbClr val="000000"/>
                </a:solidFill>
                <a:effectLst/>
                <a:latin typeface="Consolas" panose="020B0609020204030204" pitchFamily="49" charset="0"/>
              </a:rPr>
              <a:t> PART_BOUNDARY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_STREAM_BOUNDARY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"\r\n--"</a:t>
            </a:r>
            <a:r>
              <a:rPr kumimoji="0" lang="ko-KR" altLang="ko-KR" sz="1600" b="0" i="0" u="none" strike="noStrike" cap="none" normalizeH="0" baseline="0">
                <a:ln>
                  <a:noFill/>
                </a:ln>
                <a:solidFill>
                  <a:srgbClr val="000000"/>
                </a:solidFill>
                <a:effectLst/>
                <a:latin typeface="Consolas" panose="020B0609020204030204" pitchFamily="49" charset="0"/>
              </a:rPr>
              <a:t> PART_BOUNDARY </a:t>
            </a:r>
            <a:r>
              <a:rPr kumimoji="0" lang="ko-KR" altLang="ko-KR" sz="1600" b="0" i="0" u="none" strike="noStrike" cap="none" normalizeH="0" baseline="0">
                <a:ln>
                  <a:noFill/>
                </a:ln>
                <a:solidFill>
                  <a:srgbClr val="669900"/>
                </a:solidFill>
                <a:effectLst/>
                <a:latin typeface="Consolas" panose="020B0609020204030204" pitchFamily="49" charset="0"/>
              </a:rPr>
              <a:t>"\r\n"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_STREAM_PART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"Content-Type: image/jpeg\r\nContent-Length: %u\r\n\r\n"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14687154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5/9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665017"/>
            <a:ext cx="10534935" cy="58169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DD4A68"/>
                </a:solidFill>
                <a:effectLst/>
                <a:latin typeface="Consolas" panose="020B0609020204030204" pitchFamily="49" charset="0"/>
              </a:rPr>
              <a:t>httpd_handle_t</a:t>
            </a:r>
            <a:r>
              <a:rPr kumimoji="0" lang="ko-KR" altLang="ko-KR" sz="1400" b="0" i="0" u="none" strike="noStrike" cap="none" normalizeH="0" baseline="0">
                <a:ln>
                  <a:noFill/>
                </a:ln>
                <a:solidFill>
                  <a:srgbClr val="000000"/>
                </a:solidFill>
                <a:effectLst/>
                <a:latin typeface="Consolas" panose="020B0609020204030204" pitchFamily="49" charset="0"/>
              </a:rPr>
              <a:t> stream_httpd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static</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esp_err_t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stream_handler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httpd_req_t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camera_fb_t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esp_err_t</a:t>
            </a:r>
            <a:r>
              <a:rPr kumimoji="0" lang="ko-KR" altLang="ko-KR" sz="1400" b="0" i="0" u="none" strike="noStrike" cap="none" normalizeH="0" baseline="0">
                <a:ln>
                  <a:noFill/>
                </a:ln>
                <a:solidFill>
                  <a:srgbClr val="000000"/>
                </a:solidFill>
                <a:effectLst/>
                <a:latin typeface="Consolas" panose="020B0609020204030204" pitchFamily="49" charset="0"/>
              </a:rPr>
              <a:t> 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size_t</a:t>
            </a:r>
            <a:r>
              <a:rPr kumimoji="0" lang="ko-KR" altLang="ko-KR" sz="1400" b="0" i="0" u="none" strike="noStrike" cap="none" normalizeH="0" baseline="0">
                <a:ln>
                  <a:noFill/>
                </a:ln>
                <a:solidFill>
                  <a:srgbClr val="000000"/>
                </a:solidFill>
                <a:effectLst/>
                <a:latin typeface="Consolas" panose="020B0609020204030204" pitchFamily="49" charset="0"/>
              </a:rPr>
              <a:t> _jpg_buf_len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uint8_t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90055"/>
                </a:solidFill>
                <a:effectLst/>
                <a:latin typeface="Consolas" panose="020B0609020204030204" pitchFamily="49" charset="0"/>
              </a:rPr>
              <a:t>64</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endParaRPr lang="en-US" altLang="ko-KR" sz="1400">
              <a:solidFill>
                <a:srgbClr val="000000"/>
              </a:solidFill>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en-US"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httpd_resp_set_type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_STREAM_CONTENT_TYPE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return</a:t>
            </a:r>
            <a:r>
              <a:rPr kumimoji="0" lang="ko-KR" altLang="ko-KR" sz="1400" b="0" i="0" u="none" strike="noStrike" cap="none" normalizeH="0" baseline="0">
                <a:ln>
                  <a:noFill/>
                </a:ln>
                <a:solidFill>
                  <a:srgbClr val="000000"/>
                </a:solidFill>
                <a:effectLst/>
                <a:latin typeface="Consolas" panose="020B0609020204030204" pitchFamily="49" charset="0"/>
              </a:rPr>
              <a:t> res</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while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true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esp_camera_fb_get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Serial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"Camera capture failed"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ESP_FAIL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width </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400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format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PIXFORMAT_JPEG</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bool jpeg_converted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frame2jpg</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80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&amp;</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&amp;</a:t>
            </a:r>
            <a:r>
              <a:rPr kumimoji="0" lang="ko-KR" altLang="ko-KR" sz="1400" b="0" i="0" u="none" strike="noStrike" cap="none" normalizeH="0" baseline="0">
                <a:ln>
                  <a:noFill/>
                </a:ln>
                <a:solidFill>
                  <a:srgbClr val="000000"/>
                </a:solidFill>
                <a:effectLst/>
                <a:latin typeface="Consolas" panose="020B0609020204030204" pitchFamily="49" charset="0"/>
              </a:rPr>
              <a:t>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esp_camera_fb_return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jpeg_converted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Serial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"JPEG compression failed"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ESP_FAIL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649265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6/9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1" y="665017"/>
            <a:ext cx="9673389" cy="624786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80975" algn="l" defTabSz="914400" rtl="0" eaLnBrk="0" fontAlgn="base" latinLnBrk="0" hangingPunct="0">
              <a:spcBef>
                <a:spcPct val="0"/>
              </a:spcBef>
              <a:spcAft>
                <a:spcPct val="0"/>
              </a:spcAft>
              <a:buClrTx/>
              <a:buSzTx/>
              <a:buFontTx/>
              <a:buNone/>
              <a:tabLst/>
            </a:pPr>
            <a:r>
              <a:rPr kumimoji="0" lang="en-US" altLang="ko-KR" sz="1400" b="0" i="0" u="none" strike="noStrike" cap="none" normalizeH="0" baseline="0">
                <a:ln>
                  <a:noFill/>
                </a:ln>
                <a:solidFill>
                  <a:srgbClr val="0077AA"/>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_jpg_buf_len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size_t</a:t>
            </a:r>
            <a:r>
              <a:rPr kumimoji="0" lang="ko-KR" altLang="ko-KR" sz="1400" b="0" i="0" u="none" strike="noStrike" cap="none" normalizeH="0" baseline="0">
                <a:ln>
                  <a:noFill/>
                </a:ln>
                <a:solidFill>
                  <a:srgbClr val="000000"/>
                </a:solidFill>
                <a:effectLst/>
                <a:latin typeface="Consolas" panose="020B0609020204030204" pitchFamily="49" charset="0"/>
              </a:rPr>
              <a:t> hlen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snprintf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64</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_STREAM_PART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const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hlen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const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_STREAM_BOUNDARY</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strlen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_STREAM_BOUNDARY</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esp_camera_fb_return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free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break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//Serial.printf("MJPG: %uB\n",(uint32_t)(_jpg_buf_len));</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return</a:t>
            </a:r>
            <a:r>
              <a:rPr kumimoji="0" lang="ko-KR" altLang="ko-KR" sz="1400" b="0" i="0" u="none" strike="noStrike" cap="none" normalizeH="0" baseline="0">
                <a:ln>
                  <a:noFill/>
                </a:ln>
                <a:solidFill>
                  <a:srgbClr val="000000"/>
                </a:solidFill>
                <a:effectLst/>
                <a:latin typeface="Consolas" panose="020B0609020204030204" pitchFamily="49" charset="0"/>
              </a:rPr>
              <a:t> res</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94895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7/9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809396"/>
            <a:ext cx="12192000" cy="365375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startCameraServer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HTTPD_DEFAULT_CONFIG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server_port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httpd_uri_t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index_uri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uri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method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handler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stream_handler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user_ctx</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Serial.printf</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Starting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web</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config.server_port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httpd_start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stream_httpd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httpd_register_uri_handler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stream_httpd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index_uri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23658876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8/9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713145"/>
            <a:ext cx="12077024" cy="549913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setDebugOutput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p>
          <a:p>
            <a:pPr marR="0" lvl="0" indent="180975" algn="l" defTabSz="914400" rtl="0" eaLnBrk="0" fontAlgn="base" latinLnBrk="0" hangingPunct="0">
              <a:lnSpc>
                <a:spcPct val="1500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387892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9/9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713145"/>
            <a:ext cx="10954922" cy="58680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esp_err_t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0x%x"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Wi-Fi</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connection</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500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Stream</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Ready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Go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http://"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Start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streaming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web</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startCameraServer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385440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실행 결과</a:t>
            </a:r>
          </a:p>
        </p:txBody>
      </p:sp>
      <p:pic>
        <p:nvPicPr>
          <p:cNvPr id="2" name="그림 1">
            <a:extLst>
              <a:ext uri="{FF2B5EF4-FFF2-40B4-BE49-F238E27FC236}">
                <a16:creationId xmlns:a16="http://schemas.microsoft.com/office/drawing/2014/main" id="{0D32FE38-3DE5-4825-B773-1A11615FE436}"/>
              </a:ext>
            </a:extLst>
          </p:cNvPr>
          <p:cNvPicPr>
            <a:picLocks noChangeAspect="1"/>
          </p:cNvPicPr>
          <p:nvPr/>
        </p:nvPicPr>
        <p:blipFill>
          <a:blip r:embed="rId2"/>
          <a:stretch>
            <a:fillRect/>
          </a:stretch>
        </p:blipFill>
        <p:spPr>
          <a:xfrm>
            <a:off x="5896289" y="1000484"/>
            <a:ext cx="5839640" cy="5191850"/>
          </a:xfrm>
          <a:prstGeom prst="rect">
            <a:avLst/>
          </a:prstGeom>
          <a:ln w="15875">
            <a:solidFill>
              <a:schemeClr val="tx1">
                <a:lumMod val="50000"/>
                <a:lumOff val="50000"/>
              </a:schemeClr>
            </a:solidFill>
          </a:ln>
        </p:spPr>
      </p:pic>
      <p:pic>
        <p:nvPicPr>
          <p:cNvPr id="3" name="그림 2">
            <a:extLst>
              <a:ext uri="{FF2B5EF4-FFF2-40B4-BE49-F238E27FC236}">
                <a16:creationId xmlns:a16="http://schemas.microsoft.com/office/drawing/2014/main" id="{B9C0E1E8-D735-47BF-96D2-FAF384FC1130}"/>
              </a:ext>
            </a:extLst>
          </p:cNvPr>
          <p:cNvPicPr>
            <a:picLocks noChangeAspect="1"/>
          </p:cNvPicPr>
          <p:nvPr/>
        </p:nvPicPr>
        <p:blipFill>
          <a:blip r:embed="rId3"/>
          <a:stretch>
            <a:fillRect/>
          </a:stretch>
        </p:blipFill>
        <p:spPr>
          <a:xfrm>
            <a:off x="251953" y="1178285"/>
            <a:ext cx="5272547" cy="1327674"/>
          </a:xfrm>
          <a:prstGeom prst="rect">
            <a:avLst/>
          </a:prstGeom>
          <a:ln w="22225">
            <a:solidFill>
              <a:schemeClr val="tx1">
                <a:lumMod val="50000"/>
                <a:lumOff val="50000"/>
              </a:schemeClr>
            </a:solidFill>
          </a:ln>
        </p:spPr>
      </p:pic>
      <p:sp>
        <p:nvSpPr>
          <p:cNvPr id="5" name="TextBox 4">
            <a:extLst>
              <a:ext uri="{FF2B5EF4-FFF2-40B4-BE49-F238E27FC236}">
                <a16:creationId xmlns:a16="http://schemas.microsoft.com/office/drawing/2014/main" id="{07249752-0878-2534-9715-9306986DE5F4}"/>
              </a:ext>
            </a:extLst>
          </p:cNvPr>
          <p:cNvSpPr txBox="1"/>
          <p:nvPr/>
        </p:nvSpPr>
        <p:spPr>
          <a:xfrm>
            <a:off x="359635" y="2716841"/>
            <a:ext cx="2689711" cy="646331"/>
          </a:xfrm>
          <a:prstGeom prst="rect">
            <a:avLst/>
          </a:prstGeom>
          <a:noFill/>
        </p:spPr>
        <p:txBody>
          <a:bodyPr wrap="none" rtlCol="0">
            <a:spAutoFit/>
          </a:bodyPr>
          <a:lstStyle/>
          <a:p>
            <a:r>
              <a:rPr lang="en-US" altLang="ko-KR" b="1" dirty="0">
                <a:solidFill>
                  <a:srgbClr val="3A0DFB"/>
                </a:solidFill>
              </a:rPr>
              <a:t>Arduino IDE</a:t>
            </a:r>
            <a:r>
              <a:rPr lang="ko-KR" altLang="en-US" b="1" dirty="0">
                <a:solidFill>
                  <a:srgbClr val="3A0DFB"/>
                </a:solidFill>
              </a:rPr>
              <a:t>  보드 </a:t>
            </a:r>
            <a:r>
              <a:rPr lang="en-US" altLang="ko-KR" b="1" dirty="0">
                <a:solidFill>
                  <a:srgbClr val="3A0DFB"/>
                </a:solidFill>
                <a:sym typeface="Wingdings" panose="05000000000000000000" pitchFamily="2" charset="2"/>
              </a:rPr>
              <a:t></a:t>
            </a:r>
            <a:endParaRPr lang="en-US" altLang="ko-KR" b="1" dirty="0">
              <a:solidFill>
                <a:srgbClr val="3A0DFB"/>
              </a:solidFill>
            </a:endParaRPr>
          </a:p>
          <a:p>
            <a:r>
              <a:rPr lang="en-US" altLang="ko-KR" b="1" dirty="0">
                <a:solidFill>
                  <a:srgbClr val="3A0DFB"/>
                </a:solidFill>
              </a:rPr>
              <a:t>ESP32_Wrover_Module</a:t>
            </a:r>
            <a:endParaRPr lang="ko-KR" altLang="en-US" b="1" dirty="0">
              <a:solidFill>
                <a:srgbClr val="3A0DFB"/>
              </a:solidFill>
            </a:endParaRPr>
          </a:p>
        </p:txBody>
      </p:sp>
    </p:spTree>
    <p:extLst>
      <p:ext uri="{BB962C8B-B14F-4D97-AF65-F5344CB8AC3E}">
        <p14:creationId xmlns:p14="http://schemas.microsoft.com/office/powerpoint/2010/main" val="13957490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89249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Take Photo and Save</a:t>
            </a:r>
          </a:p>
          <a:p>
            <a:pPr marL="179387" algn="ctr"/>
            <a:r>
              <a:rPr lang="en-US" altLang="ko-KR" sz="4800" b="1">
                <a:solidFill>
                  <a:schemeClr val="tx1"/>
                </a:solidFill>
              </a:rPr>
              <a:t>to MicroSD Card</a:t>
            </a:r>
            <a:endParaRPr lang="ko-KR" altLang="en-US" sz="4800" b="1">
              <a:solidFill>
                <a:schemeClr val="tx1"/>
              </a:solidFill>
            </a:endParaRPr>
          </a:p>
        </p:txBody>
      </p:sp>
      <p:pic>
        <p:nvPicPr>
          <p:cNvPr id="2" name="그림 1">
            <a:extLst>
              <a:ext uri="{FF2B5EF4-FFF2-40B4-BE49-F238E27FC236}">
                <a16:creationId xmlns:a16="http://schemas.microsoft.com/office/drawing/2014/main" id="{03DF9081-8EF4-40DE-BD43-DCD12640D813}"/>
              </a:ext>
            </a:extLst>
          </p:cNvPr>
          <p:cNvPicPr>
            <a:picLocks noChangeAspect="1"/>
          </p:cNvPicPr>
          <p:nvPr/>
        </p:nvPicPr>
        <p:blipFill>
          <a:blip r:embed="rId2"/>
          <a:stretch>
            <a:fillRect/>
          </a:stretch>
        </p:blipFill>
        <p:spPr>
          <a:xfrm>
            <a:off x="5110019" y="2892491"/>
            <a:ext cx="7081981" cy="3965510"/>
          </a:xfrm>
          <a:prstGeom prst="rect">
            <a:avLst/>
          </a:prstGeom>
        </p:spPr>
      </p:pic>
      <p:sp>
        <p:nvSpPr>
          <p:cNvPr id="3" name="직사각형 2">
            <a:extLst>
              <a:ext uri="{FF2B5EF4-FFF2-40B4-BE49-F238E27FC236}">
                <a16:creationId xmlns:a16="http://schemas.microsoft.com/office/drawing/2014/main" id="{2340600E-6CE8-4BEC-9106-7DFF093A8960}"/>
              </a:ext>
            </a:extLst>
          </p:cNvPr>
          <p:cNvSpPr/>
          <p:nvPr/>
        </p:nvSpPr>
        <p:spPr>
          <a:xfrm>
            <a:off x="0" y="6211669"/>
            <a:ext cx="4724400" cy="646331"/>
          </a:xfrm>
          <a:prstGeom prst="rect">
            <a:avLst/>
          </a:prstGeom>
        </p:spPr>
        <p:txBody>
          <a:bodyPr wrap="square">
            <a:spAutoFit/>
          </a:bodyPr>
          <a:lstStyle/>
          <a:p>
            <a:r>
              <a:rPr lang="en-US" altLang="ko-KR">
                <a:hlinkClick r:id="rId3"/>
              </a:rPr>
              <a:t>ESP32-CAM Take Photo and Save to MicroSD Card | Random Nerd Tutorials</a:t>
            </a:r>
            <a:endParaRPr lang="ko-KR" altLang="en-US"/>
          </a:p>
        </p:txBody>
      </p:sp>
      <p:sp>
        <p:nvSpPr>
          <p:cNvPr id="7" name="직사각형 6">
            <a:extLst>
              <a:ext uri="{FF2B5EF4-FFF2-40B4-BE49-F238E27FC236}">
                <a16:creationId xmlns:a16="http://schemas.microsoft.com/office/drawing/2014/main" id="{8D88CE6C-6A68-4FEE-B279-B14AD4EDC829}"/>
              </a:ext>
            </a:extLst>
          </p:cNvPr>
          <p:cNvSpPr/>
          <p:nvPr/>
        </p:nvSpPr>
        <p:spPr>
          <a:xfrm>
            <a:off x="192810" y="3093531"/>
            <a:ext cx="4724399" cy="2116285"/>
          </a:xfrm>
          <a:prstGeom prst="rect">
            <a:avLst/>
          </a:prstGeom>
        </p:spPr>
        <p:txBody>
          <a:bodyPr wrap="square">
            <a:spAutoFit/>
          </a:bodyPr>
          <a:lstStyle/>
          <a:p>
            <a:pPr>
              <a:lnSpc>
                <a:spcPct val="150000"/>
              </a:lnSpc>
            </a:pPr>
            <a:r>
              <a:rPr lang="en-US" altLang="ko-KR"/>
              <a:t>ESP32-CAM </a:t>
            </a:r>
            <a:r>
              <a:rPr lang="ko-KR" altLang="en-US"/>
              <a:t>보드로 사진을 촬영하고 이를 </a:t>
            </a:r>
            <a:r>
              <a:rPr lang="en-US" altLang="ko-KR"/>
              <a:t>Arduino IDE</a:t>
            </a:r>
            <a:r>
              <a:rPr lang="ko-KR" altLang="en-US"/>
              <a:t>를 사용하여 </a:t>
            </a:r>
            <a:r>
              <a:rPr lang="en-US" altLang="ko-KR"/>
              <a:t>microSD </a:t>
            </a:r>
            <a:r>
              <a:rPr lang="ko-KR" altLang="en-US"/>
              <a:t>카드에 저장하는 방법을 배워보자</a:t>
            </a:r>
            <a:r>
              <a:rPr lang="en-US" altLang="ko-KR"/>
              <a:t>. ESP32-CAM</a:t>
            </a:r>
            <a:r>
              <a:rPr lang="ko-KR" altLang="en-US"/>
              <a:t>의 </a:t>
            </a:r>
            <a:r>
              <a:rPr lang="en-US" altLang="ko-KR"/>
              <a:t>RESET </a:t>
            </a:r>
            <a:r>
              <a:rPr lang="ko-KR" altLang="en-US"/>
              <a:t>버튼을 누르면 보드가 활성화되어 사진을 촬영한 후 </a:t>
            </a:r>
            <a:r>
              <a:rPr lang="en-US" altLang="ko-KR"/>
              <a:t>microSD </a:t>
            </a:r>
            <a:r>
              <a:rPr lang="ko-KR" altLang="en-US"/>
              <a:t>카드에 저장한다</a:t>
            </a:r>
            <a:r>
              <a:rPr lang="en-US" altLang="ko-KR"/>
              <a:t>.</a:t>
            </a:r>
            <a:endParaRPr lang="ko-KR" altLang="en-US"/>
          </a:p>
        </p:txBody>
      </p:sp>
    </p:spTree>
    <p:extLst>
      <p:ext uri="{BB962C8B-B14F-4D97-AF65-F5344CB8AC3E}">
        <p14:creationId xmlns:p14="http://schemas.microsoft.com/office/powerpoint/2010/main" val="327644005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Project Overview</a:t>
            </a:r>
            <a:endParaRPr lang="ko-KR" altLang="en-US" sz="2000" b="1">
              <a:solidFill>
                <a:schemeClr val="tx1"/>
              </a:solidFill>
            </a:endParaRPr>
          </a:p>
        </p:txBody>
      </p:sp>
      <p:pic>
        <p:nvPicPr>
          <p:cNvPr id="5" name="그림 4">
            <a:extLst>
              <a:ext uri="{FF2B5EF4-FFF2-40B4-BE49-F238E27FC236}">
                <a16:creationId xmlns:a16="http://schemas.microsoft.com/office/drawing/2014/main" id="{9AE6FDD1-9841-46EC-9F23-33FF9EB1FFB5}"/>
              </a:ext>
            </a:extLst>
          </p:cNvPr>
          <p:cNvPicPr>
            <a:picLocks noChangeAspect="1"/>
          </p:cNvPicPr>
          <p:nvPr/>
        </p:nvPicPr>
        <p:blipFill>
          <a:blip r:embed="rId2"/>
          <a:stretch>
            <a:fillRect/>
          </a:stretch>
        </p:blipFill>
        <p:spPr>
          <a:xfrm>
            <a:off x="492157" y="924151"/>
            <a:ext cx="10673148" cy="5165749"/>
          </a:xfrm>
          <a:prstGeom prst="rect">
            <a:avLst/>
          </a:prstGeom>
        </p:spPr>
      </p:pic>
      <p:sp>
        <p:nvSpPr>
          <p:cNvPr id="6" name="직사각형 5">
            <a:extLst>
              <a:ext uri="{FF2B5EF4-FFF2-40B4-BE49-F238E27FC236}">
                <a16:creationId xmlns:a16="http://schemas.microsoft.com/office/drawing/2014/main" id="{61E65A48-1875-49C5-A06B-C69AFEC1FD2B}"/>
              </a:ext>
            </a:extLst>
          </p:cNvPr>
          <p:cNvSpPr/>
          <p:nvPr/>
        </p:nvSpPr>
        <p:spPr>
          <a:xfrm>
            <a:off x="0" y="6488667"/>
            <a:ext cx="8610600" cy="369332"/>
          </a:xfrm>
          <a:prstGeom prst="rect">
            <a:avLst/>
          </a:prstGeom>
        </p:spPr>
        <p:txBody>
          <a:bodyPr wrap="square">
            <a:spAutoFit/>
          </a:bodyPr>
          <a:lstStyle/>
          <a:p>
            <a:r>
              <a:rPr lang="en-US" altLang="ko-KR">
                <a:hlinkClick r:id="rId3"/>
              </a:rPr>
              <a:t>ESP32-CAM Take Photo and Save to MicroSD Card | Random Nerd Tutorials</a:t>
            </a:r>
            <a:endParaRPr lang="ko-KR" altLang="en-US"/>
          </a:p>
        </p:txBody>
      </p:sp>
    </p:spTree>
    <p:extLst>
      <p:ext uri="{BB962C8B-B14F-4D97-AF65-F5344CB8AC3E}">
        <p14:creationId xmlns:p14="http://schemas.microsoft.com/office/powerpoint/2010/main" val="211309670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Formatting MicroSD Card</a:t>
            </a:r>
            <a:endParaRPr lang="ko-KR" altLang="en-US" sz="2000" b="1">
              <a:solidFill>
                <a:schemeClr val="tx1"/>
              </a:solidFill>
            </a:endParaRPr>
          </a:p>
        </p:txBody>
      </p:sp>
      <p:pic>
        <p:nvPicPr>
          <p:cNvPr id="2" name="그림 1">
            <a:extLst>
              <a:ext uri="{FF2B5EF4-FFF2-40B4-BE49-F238E27FC236}">
                <a16:creationId xmlns:a16="http://schemas.microsoft.com/office/drawing/2014/main" id="{BC975DC4-1F1E-4925-BE59-97C61777ACEE}"/>
              </a:ext>
            </a:extLst>
          </p:cNvPr>
          <p:cNvPicPr>
            <a:picLocks noChangeAspect="1"/>
          </p:cNvPicPr>
          <p:nvPr/>
        </p:nvPicPr>
        <p:blipFill>
          <a:blip r:embed="rId2"/>
          <a:stretch>
            <a:fillRect/>
          </a:stretch>
        </p:blipFill>
        <p:spPr>
          <a:xfrm>
            <a:off x="698018" y="784143"/>
            <a:ext cx="4515480" cy="5963482"/>
          </a:xfrm>
          <a:prstGeom prst="rect">
            <a:avLst/>
          </a:prstGeom>
        </p:spPr>
      </p:pic>
      <p:pic>
        <p:nvPicPr>
          <p:cNvPr id="3" name="그림 2">
            <a:extLst>
              <a:ext uri="{FF2B5EF4-FFF2-40B4-BE49-F238E27FC236}">
                <a16:creationId xmlns:a16="http://schemas.microsoft.com/office/drawing/2014/main" id="{8EBC5AF4-491A-4DEE-BEB4-C7D8BB5F60A0}"/>
              </a:ext>
            </a:extLst>
          </p:cNvPr>
          <p:cNvPicPr>
            <a:picLocks noChangeAspect="1"/>
          </p:cNvPicPr>
          <p:nvPr/>
        </p:nvPicPr>
        <p:blipFill>
          <a:blip r:embed="rId3"/>
          <a:stretch>
            <a:fillRect/>
          </a:stretch>
        </p:blipFill>
        <p:spPr>
          <a:xfrm>
            <a:off x="7561155" y="1312854"/>
            <a:ext cx="2724530" cy="4906060"/>
          </a:xfrm>
          <a:prstGeom prst="rect">
            <a:avLst/>
          </a:prstGeom>
        </p:spPr>
      </p:pic>
      <p:sp>
        <p:nvSpPr>
          <p:cNvPr id="7" name="화살표: 오른쪽 6">
            <a:extLst>
              <a:ext uri="{FF2B5EF4-FFF2-40B4-BE49-F238E27FC236}">
                <a16:creationId xmlns:a16="http://schemas.microsoft.com/office/drawing/2014/main" id="{1EE2E0D8-82E4-430A-A9A6-BD899BC0BCA7}"/>
              </a:ext>
            </a:extLst>
          </p:cNvPr>
          <p:cNvSpPr/>
          <p:nvPr/>
        </p:nvSpPr>
        <p:spPr>
          <a:xfrm>
            <a:off x="5955632" y="3429000"/>
            <a:ext cx="445168" cy="180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6145880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1/4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61505" y="692365"/>
            <a:ext cx="9579546" cy="603242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"esp_camera.h"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"Arduino.h"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"FS.h"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SD Card ESP32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"SD_MMC.h"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SD Card ESP32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"soc/soc.h"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Disable brownour problems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"soc/rtc_cntl_reg.h"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Disable brownour problems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"driver/rtc_io.h"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&lt;EEPROM.h&gt;</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read and write from flash memory</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en-US" altLang="ko-KR" sz="1400" b="0" i="0" u="none" strike="noStrike" cap="none" normalizeH="0" baseline="0">
                <a:ln>
                  <a:noFill/>
                </a:ln>
                <a:solidFill>
                  <a:srgbClr val="708090"/>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define the number of bytes you want to access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EEPROM_SIZE 1</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en-US" altLang="ko-KR" sz="1400" b="0" i="0" u="none" strike="noStrike" cap="none" normalizeH="0" baseline="0">
                <a:ln>
                  <a:noFill/>
                </a:ln>
                <a:solidFill>
                  <a:srgbClr val="000000"/>
                </a:solidFill>
                <a:effectLst/>
                <a:latin typeface="Consolas" panose="020B0609020204030204" pitchFamily="49" charset="0"/>
              </a:rPr>
              <a:t>  </a:t>
            </a:r>
            <a:r>
              <a:rPr kumimoji="0" lang="en-US" altLang="ko-KR" sz="1400" b="0" i="0" u="none" strike="noStrike" cap="none" normalizeH="0" baseline="0">
                <a:ln>
                  <a:noFill/>
                </a:ln>
                <a:solidFill>
                  <a:srgbClr val="3A0DFB"/>
                </a:solidFill>
                <a:effectLst/>
                <a:latin typeface="Consolas" panose="020B0609020204030204" pitchFamily="49" charset="0"/>
              </a:rPr>
              <a:t> // EEPROM </a:t>
            </a:r>
            <a:r>
              <a:rPr kumimoji="0" lang="ko-KR" altLang="en-US" sz="1400" b="0" i="0" u="none" strike="noStrike" cap="none" normalizeH="0" baseline="0">
                <a:ln>
                  <a:noFill/>
                </a:ln>
                <a:solidFill>
                  <a:srgbClr val="3A0DFB"/>
                </a:solidFill>
                <a:effectLst/>
                <a:latin typeface="Consolas" panose="020B0609020204030204" pitchFamily="49" charset="0"/>
              </a:rPr>
              <a:t>은 전원이 </a:t>
            </a:r>
            <a:r>
              <a:rPr kumimoji="0" lang="en-US" altLang="ko-KR" sz="1400" b="0" i="0" u="none" strike="noStrike" cap="none" normalizeH="0" baseline="0">
                <a:ln>
                  <a:noFill/>
                </a:ln>
                <a:solidFill>
                  <a:srgbClr val="3A0DFB"/>
                </a:solidFill>
                <a:effectLst/>
                <a:latin typeface="Consolas" panose="020B0609020204030204" pitchFamily="49" charset="0"/>
              </a:rPr>
              <a:t>OFF </a:t>
            </a:r>
            <a:r>
              <a:rPr kumimoji="0" lang="ko-KR" altLang="en-US" sz="1400" b="0" i="0" u="none" strike="noStrike" cap="none" normalizeH="0" baseline="0">
                <a:ln>
                  <a:noFill/>
                </a:ln>
                <a:solidFill>
                  <a:srgbClr val="3A0DFB"/>
                </a:solidFill>
                <a:effectLst/>
                <a:latin typeface="Consolas" panose="020B0609020204030204" pitchFamily="49" charset="0"/>
              </a:rPr>
              <a:t>되어도 지워지지 않는다</a:t>
            </a:r>
            <a:r>
              <a:rPr kumimoji="0" lang="en-US" altLang="ko-KR" sz="1400" b="0" i="0" u="none" strike="noStrike" cap="none" normalizeH="0" baseline="0">
                <a:ln>
                  <a:noFill/>
                </a:ln>
                <a:solidFill>
                  <a:srgbClr val="3A0DFB"/>
                </a:solidFill>
                <a:effectLst/>
                <a:latin typeface="Consolas" panose="020B0609020204030204" pitchFamily="49" charset="0"/>
              </a:rPr>
              <a:t>. </a:t>
            </a:r>
            <a:r>
              <a:rPr kumimoji="0" lang="ko-KR" altLang="en-US" sz="1400" b="0" i="0" u="none" strike="noStrike" cap="none" normalizeH="0" baseline="0">
                <a:ln>
                  <a:noFill/>
                </a:ln>
                <a:solidFill>
                  <a:srgbClr val="3A0DFB"/>
                </a:solidFill>
                <a:effectLst/>
                <a:latin typeface="Consolas" panose="020B0609020204030204" pitchFamily="49" charset="0"/>
              </a:rPr>
              <a:t>파일명에 추가할 </a:t>
            </a:r>
            <a:r>
              <a:rPr lang="en-US" altLang="ko-KR" sz="1400">
                <a:solidFill>
                  <a:srgbClr val="3A0DFB"/>
                </a:solidFill>
                <a:latin typeface="Consolas" panose="020B0609020204030204" pitchFamily="49" charset="0"/>
              </a:rPr>
              <a:t>index </a:t>
            </a:r>
            <a:r>
              <a:rPr lang="ko-KR" altLang="en-US" sz="1400">
                <a:solidFill>
                  <a:srgbClr val="3A0DFB"/>
                </a:solidFill>
                <a:latin typeface="Consolas" panose="020B0609020204030204" pitchFamily="49" charset="0"/>
              </a:rPr>
              <a:t>저장</a:t>
            </a:r>
            <a:endParaRPr kumimoji="0" lang="en-US" altLang="ko-KR" sz="1400" b="0" i="0" u="none" strike="noStrike" cap="none" normalizeH="0" baseline="0">
              <a:ln>
                <a:noFill/>
              </a:ln>
              <a:solidFill>
                <a:srgbClr val="3A0DFB"/>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Pin definition for CAMERA_MODEL_AI_THINKER</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PWDN_GPIO_NUM 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RESET_GPIO_NUM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0055"/>
                </a:solidFill>
                <a:effectLst/>
                <a:latin typeface="Consolas" panose="020B0609020204030204" pitchFamily="49" charset="0"/>
              </a:rPr>
              <a:t>1</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XCLK_GPIO_NUM 0</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SIOD_GPIO_NUM 26</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SIOC_GPIO_NUM 27</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Y9_GPIO_NUM 35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Y8_GPIO_NUM 34</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Y7_GPIO_NUM 39</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Y6_GPIO_NUM 36</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Y5_GPIO_NUM 21</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Y4_GPIO_NUM 19</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Y3_GPIO_NUM 18</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Y2_GPIO_NUM 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VSYNC_GPIO_NUM 25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HREF_GPIO_NUM 23</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PCLK_GPIO_NUM 22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int</a:t>
            </a:r>
            <a:r>
              <a:rPr kumimoji="0" lang="ko-KR" altLang="ko-KR" sz="1400" b="0" i="0" u="none" strike="noStrike" cap="none" normalizeH="0" baseline="0">
                <a:ln>
                  <a:noFill/>
                </a:ln>
                <a:solidFill>
                  <a:srgbClr val="000000"/>
                </a:solidFill>
                <a:effectLst/>
                <a:latin typeface="Consolas" panose="020B0609020204030204" pitchFamily="49" charset="0"/>
              </a:rPr>
              <a:t> pictureNumber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78F5CA1-916E-45FE-8B08-D6261BDDA32C}"/>
              </a:ext>
            </a:extLst>
          </p:cNvPr>
          <p:cNvSpPr txBox="1"/>
          <p:nvPr/>
        </p:nvSpPr>
        <p:spPr>
          <a:xfrm>
            <a:off x="3554920" y="3244334"/>
            <a:ext cx="2541080" cy="369332"/>
          </a:xfrm>
          <a:prstGeom prst="rect">
            <a:avLst/>
          </a:prstGeom>
          <a:noFill/>
        </p:spPr>
        <p:txBody>
          <a:bodyPr wrap="none" rtlCol="0">
            <a:spAutoFit/>
          </a:bodyPr>
          <a:lstStyle/>
          <a:p>
            <a:r>
              <a:rPr lang="en-US" altLang="ko-KR">
                <a:solidFill>
                  <a:srgbClr val="3A0DFB"/>
                </a:solidFill>
              </a:rPr>
              <a:t>// </a:t>
            </a:r>
            <a:r>
              <a:rPr lang="ko-KR" altLang="en-US">
                <a:solidFill>
                  <a:srgbClr val="3A0DFB"/>
                </a:solidFill>
              </a:rPr>
              <a:t>카메라 모듈 핀 정의</a:t>
            </a:r>
          </a:p>
        </p:txBody>
      </p:sp>
    </p:spTree>
    <p:extLst>
      <p:ext uri="{BB962C8B-B14F-4D97-AF65-F5344CB8AC3E}">
        <p14:creationId xmlns:p14="http://schemas.microsoft.com/office/powerpoint/2010/main" val="78777405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2/4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704393"/>
            <a:ext cx="11852604" cy="61300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Serial.setDebugOutput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true</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Serial.println</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en-US" altLang="ko-KR" sz="1600" b="0" i="0" u="none" strike="noStrike" cap="none" normalizeH="0" baseline="0" dirty="0">
                <a:ln>
                  <a:noFill/>
                </a:ln>
                <a:solidFill>
                  <a:srgbClr val="708090"/>
                </a:solidFill>
                <a:effectLst/>
                <a:latin typeface="Consolas" panose="020B0609020204030204" pitchFamily="49" charset="0"/>
              </a:rPr>
              <a:t> 1600x1200</a:t>
            </a:r>
            <a:r>
              <a:rPr kumimoji="0" lang="ko-KR" altLang="ko-KR" sz="1600" b="0" i="0" u="none" strike="noStrike" cap="none" normalizeH="0" baseline="0" dirty="0">
                <a:ln>
                  <a:noFill/>
                </a:ln>
                <a:solidFill>
                  <a:srgbClr val="708090"/>
                </a:solidFill>
                <a:effectLst/>
                <a:latin typeface="Consolas" panose="020B0609020204030204" pitchFamily="49" charset="0"/>
              </a:rPr>
              <a:t> FRAME</a:t>
            </a: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SIZE_ + QVGA|CIF|VGA|SVGA|XGA|SXGA|UXGA</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3A0DFB"/>
                </a:solidFill>
                <a:effectLst/>
                <a:latin typeface="Consolas" panose="020B0609020204030204" pitchFamily="49" charset="0"/>
              </a:rPr>
              <a:t>// </a:t>
            </a:r>
            <a:r>
              <a:rPr kumimoji="0" lang="ko-KR" altLang="en-US" sz="1600" b="0" i="0" u="none" strike="noStrike" cap="none" normalizeH="0" baseline="0" dirty="0">
                <a:ln>
                  <a:noFill/>
                </a:ln>
                <a:solidFill>
                  <a:srgbClr val="3A0DFB"/>
                </a:solidFill>
                <a:effectLst/>
                <a:latin typeface="Consolas" panose="020B0609020204030204" pitchFamily="49" charset="0"/>
              </a:rPr>
              <a:t>이미지 품질 </a:t>
            </a:r>
            <a:r>
              <a:rPr kumimoji="0" lang="en-US" altLang="ko-KR" sz="1600" b="0" i="0" u="none" strike="noStrike" cap="none" normalizeH="0" baseline="0" dirty="0">
                <a:ln>
                  <a:noFill/>
                </a:ln>
                <a:solidFill>
                  <a:srgbClr val="3A0DFB"/>
                </a:solidFill>
                <a:effectLst/>
                <a:latin typeface="Consolas" panose="020B0609020204030204" pitchFamily="49" charset="0"/>
              </a:rPr>
              <a:t>: 0~63.  0~10 = </a:t>
            </a:r>
            <a:r>
              <a:rPr kumimoji="0" lang="ko-KR" altLang="en-US" sz="1600" b="0" i="0" u="none" strike="noStrike" cap="none" normalizeH="0" baseline="0" dirty="0">
                <a:ln>
                  <a:noFill/>
                </a:ln>
                <a:solidFill>
                  <a:srgbClr val="3A0DFB"/>
                </a:solidFill>
                <a:effectLst/>
                <a:latin typeface="Consolas" panose="020B0609020204030204" pitchFamily="49" charset="0"/>
              </a:rPr>
              <a:t>높은 이미지 품질</a:t>
            </a:r>
            <a:r>
              <a:rPr kumimoji="0" lang="en-US" altLang="ko-KR" sz="1600" b="0" i="0" u="none" strike="noStrike" cap="none" normalizeH="0" baseline="0" dirty="0">
                <a:ln>
                  <a:noFill/>
                </a:ln>
                <a:solidFill>
                  <a:srgbClr val="3A0DFB"/>
                </a:solidFill>
                <a:effectLst/>
                <a:latin typeface="Consolas" panose="020B0609020204030204" pitchFamily="49" charset="0"/>
              </a:rPr>
              <a:t>(</a:t>
            </a:r>
            <a:r>
              <a:rPr kumimoji="0" lang="ko-KR" altLang="en-US" sz="1600" b="0" i="0" u="none" strike="noStrike" cap="none" normalizeH="0" baseline="0" dirty="0">
                <a:ln>
                  <a:noFill/>
                </a:ln>
                <a:solidFill>
                  <a:srgbClr val="3A0DFB"/>
                </a:solidFill>
                <a:effectLst/>
                <a:latin typeface="Consolas" panose="020B0609020204030204" pitchFamily="49" charset="0"/>
              </a:rPr>
              <a:t>압축 적음</a:t>
            </a:r>
            <a:r>
              <a:rPr kumimoji="0" lang="en-US" altLang="ko-KR" sz="1600" b="0" i="0" u="none" strike="noStrike" cap="none" normalizeH="0" baseline="0" dirty="0">
                <a:ln>
                  <a:noFill/>
                </a:ln>
                <a:solidFill>
                  <a:srgbClr val="3A0DFB"/>
                </a:solidFill>
                <a:effectLst/>
                <a:latin typeface="Consolas" panose="020B0609020204030204" pitchFamily="49" charset="0"/>
              </a:rPr>
              <a:t>)</a:t>
            </a: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3A0DFB"/>
                </a:solidFill>
                <a:effectLst/>
                <a:latin typeface="Consolas" panose="020B0609020204030204" pitchFamily="49" charset="0"/>
              </a:rPr>
              <a:t>// frame buffer 2</a:t>
            </a:r>
            <a:r>
              <a:rPr kumimoji="0" lang="ko-KR" altLang="en-US" sz="1600" b="0" i="0" u="none" strike="noStrike" cap="none" normalizeH="0" baseline="0" dirty="0">
                <a:ln>
                  <a:noFill/>
                </a:ln>
                <a:solidFill>
                  <a:srgbClr val="3A0DFB"/>
                </a:solidFill>
                <a:effectLst/>
                <a:latin typeface="Consolas" panose="020B0609020204030204" pitchFamily="49" charset="0"/>
              </a:rPr>
              <a:t>개</a:t>
            </a:r>
            <a:r>
              <a:rPr kumimoji="0" lang="en-US" altLang="ko-KR" sz="1600" b="0" i="0" u="none" strike="noStrike" cap="none" normalizeH="0" baseline="0" dirty="0">
                <a:ln>
                  <a:noFill/>
                </a:ln>
                <a:solidFill>
                  <a:srgbClr val="3A0DFB"/>
                </a:solidFill>
                <a:effectLst/>
                <a:latin typeface="Consolas" panose="020B0609020204030204" pitchFamily="49" charset="0"/>
              </a:rPr>
              <a:t>. </a:t>
            </a:r>
            <a:r>
              <a:rPr kumimoji="0" lang="ko-KR" altLang="en-US" sz="1600" b="0" i="0" u="none" strike="noStrike" cap="none" normalizeH="0" baseline="0" dirty="0">
                <a:ln>
                  <a:noFill/>
                </a:ln>
                <a:solidFill>
                  <a:srgbClr val="3A0DFB"/>
                </a:solidFill>
                <a:effectLst/>
                <a:latin typeface="Consolas" panose="020B0609020204030204" pitchFamily="49" charset="0"/>
              </a:rPr>
              <a:t>카메라 캡처 이미지 임시 저장</a:t>
            </a:r>
            <a:endParaRPr kumimoji="0" lang="en-US" altLang="ko-KR" sz="1600" b="0" i="0" u="none" strike="noStrike" cap="none" normalizeH="0" baseline="0" dirty="0">
              <a:ln>
                <a:noFill/>
              </a:ln>
              <a:solidFill>
                <a:srgbClr val="3A0DFB"/>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872206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3/4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752521"/>
            <a:ext cx="7364195"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3A0DFB"/>
                </a:solidFill>
                <a:effectLst/>
                <a:latin typeface="Consolas" panose="020B0609020204030204" pitchFamily="49" charset="0"/>
              </a:rPr>
              <a:t>// Init Camera </a:t>
            </a:r>
            <a:endParaRPr kumimoji="0" lang="en-US" altLang="ko-KR" sz="1600" b="0" i="0" u="none" strike="noStrike" cap="none" normalizeH="0" baseline="0">
              <a:ln>
                <a:noFill/>
              </a:ln>
              <a:solidFill>
                <a:srgbClr val="3A0DFB"/>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esp_err_t</a:t>
            </a:r>
            <a:r>
              <a:rPr kumimoji="0" lang="ko-KR" altLang="ko-KR" sz="1600" b="0" i="0" u="none" strike="noStrike" cap="none" normalizeH="0" baseline="0">
                <a:ln>
                  <a:noFill/>
                </a:ln>
                <a:solidFill>
                  <a:srgbClr val="000000"/>
                </a:solidFill>
                <a:effectLst/>
                <a:latin typeface="Consolas" panose="020B0609020204030204" pitchFamily="49" charset="0"/>
              </a:rPr>
              <a:t> err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esp_camera_init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err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ESP_OK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"Camera init failed with error 0x%x"</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err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//Serial.println("Starting SD Card");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SD_MMC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"SD Card Mount Failed"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uint8_t</a:t>
            </a:r>
            <a:r>
              <a:rPr kumimoji="0" lang="ko-KR" altLang="ko-KR" sz="1600" b="0" i="0" u="none" strike="noStrike" cap="none" normalizeH="0" baseline="0">
                <a:ln>
                  <a:noFill/>
                </a:ln>
                <a:solidFill>
                  <a:srgbClr val="000000"/>
                </a:solidFill>
                <a:effectLst/>
                <a:latin typeface="Consolas" panose="020B0609020204030204" pitchFamily="49" charset="0"/>
              </a:rPr>
              <a:t> cardType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SD_MMC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cardType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cardType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CARD_NONE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"No SD Card attached"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camera_fb_t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fb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NULL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Take Picture with Camera</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fb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esp_camera_fb_get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"Camera capture failed"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29651463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4/4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668297"/>
            <a:ext cx="9159559" cy="61873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initialize</a:t>
            </a:r>
            <a:r>
              <a:rPr kumimoji="0" lang="ko-KR" altLang="ko-KR" sz="1600" b="0" i="0" u="none" strike="noStrike" cap="none" normalizeH="0" baseline="0" dirty="0">
                <a:ln>
                  <a:noFill/>
                </a:ln>
                <a:solidFill>
                  <a:srgbClr val="708090"/>
                </a:solidFill>
                <a:effectLst/>
                <a:latin typeface="Consolas" panose="020B0609020204030204" pitchFamily="49" charset="0"/>
              </a:rPr>
              <a:t> EEPROM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predefined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size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EEPROM_SIZE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where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will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SD </a:t>
            </a:r>
            <a:r>
              <a:rPr kumimoji="0" lang="ko-KR" altLang="ko-KR" sz="1600" b="0" i="0" u="none" strike="noStrike" cap="none" normalizeH="0" baseline="0" dirty="0" err="1">
                <a:ln>
                  <a:noFill/>
                </a:ln>
                <a:solidFill>
                  <a:srgbClr val="708090"/>
                </a:solidFill>
                <a:effectLst/>
                <a:latin typeface="Consolas" panose="020B0609020204030204" pitchFamily="49" charset="0"/>
              </a:rPr>
              <a:t>Card</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FS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SD_MMC</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buf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len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image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length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path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commit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close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ESP32-CAM </a:t>
            </a:r>
            <a:r>
              <a:rPr kumimoji="0" lang="ko-KR" altLang="ko-KR" sz="1600" b="0" i="0" u="none" strike="noStrike" cap="none" normalizeH="0" baseline="0" dirty="0" err="1">
                <a:ln>
                  <a:noFill/>
                </a:ln>
                <a:solidFill>
                  <a:srgbClr val="708090"/>
                </a:solidFill>
                <a:effectLst/>
                <a:latin typeface="Consolas" panose="020B0609020204030204" pitchFamily="49" charset="0"/>
              </a:rPr>
              <a:t>white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on-board</a:t>
            </a:r>
            <a:r>
              <a:rPr kumimoji="0" lang="ko-KR" altLang="ko-KR" sz="1600" b="0" i="0" u="none" strike="noStrike" cap="none" normalizeH="0" baseline="0" dirty="0">
                <a:ln>
                  <a:noFill/>
                </a:ln>
                <a:solidFill>
                  <a:srgbClr val="708090"/>
                </a:solidFill>
                <a:effectLst/>
                <a:latin typeface="Consolas" panose="020B0609020204030204" pitchFamily="49" charset="0"/>
              </a:rPr>
              <a:t> LED (</a:t>
            </a:r>
            <a:r>
              <a:rPr kumimoji="0" lang="ko-KR" altLang="ko-KR" sz="1600" b="0" i="0" u="none" strike="noStrike" cap="none" normalizeH="0" baseline="0" dirty="0" err="1">
                <a:ln>
                  <a:noFill/>
                </a:ln>
                <a:solidFill>
                  <a:srgbClr val="708090"/>
                </a:solidFill>
                <a:effectLst/>
                <a:latin typeface="Consolas" panose="020B0609020204030204" pitchFamily="49" charset="0"/>
              </a:rPr>
              <a:t>flash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GPIO 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pinMode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OUTPUT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LOW</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rtc_gpio_hold_en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GPIO_NUM_4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Going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now</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This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will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never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printed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326774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결과</a:t>
            </a:r>
          </a:p>
        </p:txBody>
      </p:sp>
      <p:pic>
        <p:nvPicPr>
          <p:cNvPr id="2" name="그림 1">
            <a:extLst>
              <a:ext uri="{FF2B5EF4-FFF2-40B4-BE49-F238E27FC236}">
                <a16:creationId xmlns:a16="http://schemas.microsoft.com/office/drawing/2014/main" id="{F6D42B2C-B2D3-4741-B06A-99BA9F1723D2}"/>
              </a:ext>
            </a:extLst>
          </p:cNvPr>
          <p:cNvPicPr>
            <a:picLocks noChangeAspect="1"/>
          </p:cNvPicPr>
          <p:nvPr/>
        </p:nvPicPr>
        <p:blipFill>
          <a:blip r:embed="rId2"/>
          <a:stretch>
            <a:fillRect/>
          </a:stretch>
        </p:blipFill>
        <p:spPr>
          <a:xfrm>
            <a:off x="203326" y="856676"/>
            <a:ext cx="6563641" cy="4639322"/>
          </a:xfrm>
          <a:prstGeom prst="rect">
            <a:avLst/>
          </a:prstGeom>
          <a:ln>
            <a:solidFill>
              <a:schemeClr val="accent1">
                <a:shade val="50000"/>
              </a:schemeClr>
            </a:solidFill>
          </a:ln>
        </p:spPr>
      </p:pic>
      <p:sp>
        <p:nvSpPr>
          <p:cNvPr id="3" name="사각형: 둥근 모서리 2">
            <a:extLst>
              <a:ext uri="{FF2B5EF4-FFF2-40B4-BE49-F238E27FC236}">
                <a16:creationId xmlns:a16="http://schemas.microsoft.com/office/drawing/2014/main" id="{8A74DFF2-4C64-4F01-92B6-E60828F728B2}"/>
              </a:ext>
            </a:extLst>
          </p:cNvPr>
          <p:cNvSpPr/>
          <p:nvPr/>
        </p:nvSpPr>
        <p:spPr>
          <a:xfrm>
            <a:off x="203326" y="4150895"/>
            <a:ext cx="3550527" cy="517358"/>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그림 5">
            <a:extLst>
              <a:ext uri="{FF2B5EF4-FFF2-40B4-BE49-F238E27FC236}">
                <a16:creationId xmlns:a16="http://schemas.microsoft.com/office/drawing/2014/main" id="{6B22FEBA-2CF7-4C44-A6C8-D34D2440C29C}"/>
              </a:ext>
            </a:extLst>
          </p:cNvPr>
          <p:cNvPicPr>
            <a:picLocks noChangeAspect="1"/>
          </p:cNvPicPr>
          <p:nvPr/>
        </p:nvPicPr>
        <p:blipFill>
          <a:blip r:embed="rId3"/>
          <a:stretch>
            <a:fillRect/>
          </a:stretch>
        </p:blipFill>
        <p:spPr>
          <a:xfrm>
            <a:off x="7293181" y="1809859"/>
            <a:ext cx="3821435" cy="3556225"/>
          </a:xfrm>
          <a:prstGeom prst="rect">
            <a:avLst/>
          </a:prstGeom>
          <a:ln>
            <a:solidFill>
              <a:schemeClr val="tx1">
                <a:lumMod val="50000"/>
                <a:lumOff val="50000"/>
              </a:schemeClr>
            </a:solidFill>
          </a:ln>
        </p:spPr>
      </p:pic>
    </p:spTree>
    <p:extLst>
      <p:ext uri="{BB962C8B-B14F-4D97-AF65-F5344CB8AC3E}">
        <p14:creationId xmlns:p14="http://schemas.microsoft.com/office/powerpoint/2010/main" val="130576870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76167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Take Photo and</a:t>
            </a:r>
          </a:p>
          <a:p>
            <a:pPr marL="179387" algn="ctr"/>
            <a:r>
              <a:rPr lang="en-US" altLang="ko-KR" sz="4800" b="1">
                <a:solidFill>
                  <a:schemeClr val="tx1"/>
                </a:solidFill>
              </a:rPr>
              <a:t>Display in Web Server</a:t>
            </a:r>
            <a:endParaRPr lang="ko-KR" altLang="en-US" sz="4800" b="1">
              <a:solidFill>
                <a:schemeClr val="tx1"/>
              </a:solidFill>
            </a:endParaRPr>
          </a:p>
        </p:txBody>
      </p:sp>
      <p:pic>
        <p:nvPicPr>
          <p:cNvPr id="2" name="그림 1">
            <a:extLst>
              <a:ext uri="{FF2B5EF4-FFF2-40B4-BE49-F238E27FC236}">
                <a16:creationId xmlns:a16="http://schemas.microsoft.com/office/drawing/2014/main" id="{A2696D8E-5A6A-4558-A38D-D759C6DD711E}"/>
              </a:ext>
            </a:extLst>
          </p:cNvPr>
          <p:cNvPicPr>
            <a:picLocks noChangeAspect="1"/>
          </p:cNvPicPr>
          <p:nvPr/>
        </p:nvPicPr>
        <p:blipFill>
          <a:blip r:embed="rId2"/>
          <a:stretch>
            <a:fillRect/>
          </a:stretch>
        </p:blipFill>
        <p:spPr>
          <a:xfrm>
            <a:off x="3894567" y="2761678"/>
            <a:ext cx="8297433" cy="4096322"/>
          </a:xfrm>
          <a:prstGeom prst="rect">
            <a:avLst/>
          </a:prstGeom>
        </p:spPr>
      </p:pic>
      <p:sp>
        <p:nvSpPr>
          <p:cNvPr id="3" name="직사각형 2">
            <a:extLst>
              <a:ext uri="{FF2B5EF4-FFF2-40B4-BE49-F238E27FC236}">
                <a16:creationId xmlns:a16="http://schemas.microsoft.com/office/drawing/2014/main" id="{5D74276C-7864-415D-96C5-E015BA106716}"/>
              </a:ext>
            </a:extLst>
          </p:cNvPr>
          <p:cNvSpPr/>
          <p:nvPr/>
        </p:nvSpPr>
        <p:spPr>
          <a:xfrm>
            <a:off x="160421" y="2870810"/>
            <a:ext cx="3629526" cy="3362780"/>
          </a:xfrm>
          <a:prstGeom prst="rect">
            <a:avLst/>
          </a:prstGeom>
        </p:spPr>
        <p:txBody>
          <a:bodyPr wrap="square">
            <a:spAutoFit/>
          </a:bodyPr>
          <a:lstStyle/>
          <a:p>
            <a:pPr>
              <a:lnSpc>
                <a:spcPct val="150000"/>
              </a:lnSpc>
            </a:pPr>
            <a:r>
              <a:rPr lang="en-US" altLang="ko-KR"/>
              <a:t>ESP32-CAM </a:t>
            </a:r>
            <a:r>
              <a:rPr lang="ko-KR" altLang="en-US"/>
              <a:t>보드를 사용하여 웹 서버를 구축하는 방법을 배워보자</a:t>
            </a:r>
            <a:r>
              <a:rPr lang="en-US" altLang="ko-KR"/>
              <a:t>. </a:t>
            </a:r>
            <a:r>
              <a:rPr lang="ko-KR" altLang="en-US"/>
              <a:t>이 웹 서버를 통해 사진 촬영 명령을 보낼 수 있으며</a:t>
            </a:r>
            <a:r>
              <a:rPr lang="en-US" altLang="ko-KR"/>
              <a:t>, SPIFFS</a:t>
            </a:r>
            <a:r>
              <a:rPr lang="ko-KR" altLang="en-US"/>
              <a:t>에 저장된 가장 최근에 촬영된 사진을 브라우저에서 확인할 수 있다</a:t>
            </a:r>
            <a:r>
              <a:rPr lang="en-US" altLang="ko-KR"/>
              <a:t>. </a:t>
            </a:r>
            <a:br>
              <a:rPr lang="en-US" altLang="ko-KR"/>
            </a:br>
            <a:r>
              <a:rPr lang="ko-KR" altLang="en-US"/>
              <a:t>또한 필요에 따라 이미지를 회전하는 옵션도 추가했다</a:t>
            </a:r>
            <a:r>
              <a:rPr lang="en-US" altLang="ko-KR"/>
              <a:t>.</a:t>
            </a:r>
            <a:endParaRPr lang="ko-KR" altLang="en-US"/>
          </a:p>
        </p:txBody>
      </p:sp>
      <p:sp>
        <p:nvSpPr>
          <p:cNvPr id="7" name="직사각형 6">
            <a:extLst>
              <a:ext uri="{FF2B5EF4-FFF2-40B4-BE49-F238E27FC236}">
                <a16:creationId xmlns:a16="http://schemas.microsoft.com/office/drawing/2014/main" id="{CEE5DE0C-444A-4119-8D05-D7A0AB53039D}"/>
              </a:ext>
            </a:extLst>
          </p:cNvPr>
          <p:cNvSpPr/>
          <p:nvPr/>
        </p:nvSpPr>
        <p:spPr>
          <a:xfrm>
            <a:off x="2410327" y="2337780"/>
            <a:ext cx="8297432" cy="369332"/>
          </a:xfrm>
          <a:prstGeom prst="rect">
            <a:avLst/>
          </a:prstGeom>
        </p:spPr>
        <p:txBody>
          <a:bodyPr wrap="square">
            <a:spAutoFit/>
          </a:bodyPr>
          <a:lstStyle/>
          <a:p>
            <a:r>
              <a:rPr lang="en-US" altLang="ko-KR" dirty="0">
                <a:hlinkClick r:id="rId3"/>
              </a:rPr>
              <a:t>ESP32-CAM Take Photo and Display in Web Server | Random Nerd Tutorials</a:t>
            </a:r>
            <a:endParaRPr lang="ko-KR" altLang="en-US" dirty="0"/>
          </a:p>
        </p:txBody>
      </p:sp>
    </p:spTree>
    <p:extLst>
      <p:ext uri="{BB962C8B-B14F-4D97-AF65-F5344CB8AC3E}">
        <p14:creationId xmlns:p14="http://schemas.microsoft.com/office/powerpoint/2010/main" val="38589085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Project Overview</a:t>
            </a:r>
            <a:endParaRPr lang="ko-KR" altLang="en-US" sz="2000" b="1">
              <a:solidFill>
                <a:schemeClr val="tx1"/>
              </a:solidFill>
            </a:endParaRPr>
          </a:p>
        </p:txBody>
      </p:sp>
      <p:pic>
        <p:nvPicPr>
          <p:cNvPr id="3" name="그림 2">
            <a:extLst>
              <a:ext uri="{FF2B5EF4-FFF2-40B4-BE49-F238E27FC236}">
                <a16:creationId xmlns:a16="http://schemas.microsoft.com/office/drawing/2014/main" id="{6AA9631E-0DFD-2B8C-FBE8-2F2A817A5E73}"/>
              </a:ext>
            </a:extLst>
          </p:cNvPr>
          <p:cNvPicPr>
            <a:picLocks noChangeAspect="1"/>
          </p:cNvPicPr>
          <p:nvPr/>
        </p:nvPicPr>
        <p:blipFill>
          <a:blip r:embed="rId2"/>
          <a:stretch>
            <a:fillRect/>
          </a:stretch>
        </p:blipFill>
        <p:spPr>
          <a:xfrm>
            <a:off x="7184572" y="1084418"/>
            <a:ext cx="4910148" cy="5264831"/>
          </a:xfrm>
          <a:prstGeom prst="rect">
            <a:avLst/>
          </a:prstGeom>
        </p:spPr>
      </p:pic>
      <p:sp>
        <p:nvSpPr>
          <p:cNvPr id="6" name="TextBox 5">
            <a:extLst>
              <a:ext uri="{FF2B5EF4-FFF2-40B4-BE49-F238E27FC236}">
                <a16:creationId xmlns:a16="http://schemas.microsoft.com/office/drawing/2014/main" id="{84562722-D43B-DBAD-6BD9-539173827DBD}"/>
              </a:ext>
            </a:extLst>
          </p:cNvPr>
          <p:cNvSpPr txBox="1"/>
          <p:nvPr/>
        </p:nvSpPr>
        <p:spPr>
          <a:xfrm>
            <a:off x="408992" y="824636"/>
            <a:ext cx="7158136" cy="3362780"/>
          </a:xfrm>
          <a:prstGeom prst="rect">
            <a:avLst/>
          </a:prstGeom>
          <a:noFill/>
        </p:spPr>
        <p:txBody>
          <a:bodyPr wrap="square" anchor="t">
            <a:spAutoFit/>
          </a:bodyPr>
          <a:lstStyle/>
          <a:p>
            <a:pPr>
              <a:lnSpc>
                <a:spcPct val="150000"/>
              </a:lnSpc>
            </a:pPr>
            <a:r>
              <a:rPr lang="ko-KR" altLang="en-US" dirty="0">
                <a:latin typeface="+mn-ea"/>
              </a:rPr>
              <a:t>웹 서버에 접속하면 세 가지 버튼이 표시됩니다</a:t>
            </a:r>
            <a:r>
              <a:rPr lang="en-US" altLang="ko-KR" dirty="0">
                <a:latin typeface="+mn-ea"/>
              </a:rPr>
              <a:t>:</a:t>
            </a:r>
          </a:p>
          <a:p>
            <a:pPr>
              <a:lnSpc>
                <a:spcPct val="150000"/>
              </a:lnSpc>
              <a:buFont typeface="+mj-lt"/>
              <a:buAutoNum type="arabicPeriod"/>
            </a:pPr>
            <a:r>
              <a:rPr lang="en-US" altLang="ko-KR" b="1" dirty="0">
                <a:latin typeface="+mn-ea"/>
              </a:rPr>
              <a:t> ROTATE</a:t>
            </a:r>
            <a:r>
              <a:rPr lang="en-US" altLang="ko-KR" dirty="0">
                <a:latin typeface="+mn-ea"/>
              </a:rPr>
              <a:t>: ESP32-CAM</a:t>
            </a:r>
            <a:r>
              <a:rPr lang="ko-KR" altLang="en-US" dirty="0">
                <a:latin typeface="+mn-ea"/>
              </a:rPr>
              <a:t>의 방향에 따라 사진을 회전할 수 있다</a:t>
            </a:r>
            <a:r>
              <a:rPr lang="en-US" altLang="ko-KR" dirty="0">
                <a:latin typeface="+mn-ea"/>
              </a:rPr>
              <a:t>.</a:t>
            </a:r>
          </a:p>
          <a:p>
            <a:pPr>
              <a:lnSpc>
                <a:spcPct val="150000"/>
              </a:lnSpc>
              <a:buFont typeface="+mj-lt"/>
              <a:buAutoNum type="arabicPeriod"/>
            </a:pPr>
            <a:r>
              <a:rPr lang="en-US" altLang="ko-KR" b="1" dirty="0">
                <a:latin typeface="+mn-ea"/>
              </a:rPr>
              <a:t> CAPTURE PHOTO</a:t>
            </a:r>
            <a:r>
              <a:rPr lang="en-US" altLang="ko-KR" dirty="0">
                <a:latin typeface="+mn-ea"/>
              </a:rPr>
              <a:t>: </a:t>
            </a:r>
            <a:r>
              <a:rPr lang="ko-KR" altLang="en-US" dirty="0">
                <a:latin typeface="+mn-ea"/>
              </a:rPr>
              <a:t>이 버튼을 클릭하면 </a:t>
            </a:r>
            <a:r>
              <a:rPr lang="en-US" altLang="ko-KR" dirty="0">
                <a:latin typeface="+mn-ea"/>
              </a:rPr>
              <a:t>ESP32-CAM</a:t>
            </a:r>
            <a:r>
              <a:rPr lang="ko-KR" altLang="en-US" dirty="0">
                <a:latin typeface="+mn-ea"/>
              </a:rPr>
              <a:t>이 </a:t>
            </a:r>
            <a:br>
              <a:rPr lang="en-US" altLang="ko-KR" dirty="0">
                <a:latin typeface="+mn-ea"/>
              </a:rPr>
            </a:br>
            <a:r>
              <a:rPr lang="en-US" altLang="ko-KR" dirty="0">
                <a:latin typeface="+mn-ea"/>
              </a:rPr>
              <a:t>   </a:t>
            </a:r>
            <a:r>
              <a:rPr lang="ko-KR" altLang="en-US" dirty="0">
                <a:latin typeface="+mn-ea"/>
              </a:rPr>
              <a:t>새 사진을 촬영하고 </a:t>
            </a:r>
            <a:r>
              <a:rPr lang="en-US" altLang="ko-KR" dirty="0">
                <a:latin typeface="+mn-ea"/>
              </a:rPr>
              <a:t>ESP32</a:t>
            </a:r>
            <a:r>
              <a:rPr lang="ko-KR" altLang="en-US" dirty="0">
                <a:latin typeface="+mn-ea"/>
              </a:rPr>
              <a:t>의 </a:t>
            </a:r>
            <a:r>
              <a:rPr lang="en-US" altLang="ko-KR" dirty="0">
                <a:latin typeface="+mn-ea"/>
              </a:rPr>
              <a:t>SPIFFS</a:t>
            </a:r>
            <a:r>
              <a:rPr lang="ko-KR" altLang="en-US" dirty="0">
                <a:latin typeface="+mn-ea"/>
              </a:rPr>
              <a:t>에 저장한다</a:t>
            </a:r>
            <a:r>
              <a:rPr lang="en-US" altLang="ko-KR" dirty="0">
                <a:latin typeface="+mn-ea"/>
              </a:rPr>
              <a:t>. </a:t>
            </a:r>
            <a:br>
              <a:rPr lang="en-US" altLang="ko-KR" dirty="0">
                <a:latin typeface="+mn-ea"/>
              </a:rPr>
            </a:br>
            <a:r>
              <a:rPr lang="en-US" altLang="ko-KR" dirty="0">
                <a:latin typeface="+mn-ea"/>
              </a:rPr>
              <a:t>   </a:t>
            </a:r>
            <a:r>
              <a:rPr lang="ko-KR" altLang="en-US" dirty="0">
                <a:latin typeface="+mn-ea"/>
              </a:rPr>
              <a:t>사진을 촬영하고 저장하기 위해 최소 </a:t>
            </a:r>
            <a:r>
              <a:rPr lang="en-US" altLang="ko-KR" dirty="0">
                <a:latin typeface="+mn-ea"/>
              </a:rPr>
              <a:t>5</a:t>
            </a:r>
            <a:r>
              <a:rPr lang="ko-KR" altLang="en-US" dirty="0">
                <a:latin typeface="+mn-ea"/>
              </a:rPr>
              <a:t>초 동안 </a:t>
            </a:r>
            <a:br>
              <a:rPr lang="en-US" altLang="ko-KR" dirty="0">
                <a:latin typeface="+mn-ea"/>
              </a:rPr>
            </a:br>
            <a:r>
              <a:rPr lang="en-US" altLang="ko-KR" dirty="0">
                <a:latin typeface="+mn-ea"/>
              </a:rPr>
              <a:t>   </a:t>
            </a:r>
            <a:r>
              <a:rPr lang="ko-KR" altLang="en-US" dirty="0">
                <a:latin typeface="+mn-ea"/>
              </a:rPr>
              <a:t>웹 페이지를 새로 </a:t>
            </a:r>
            <a:r>
              <a:rPr lang="ko-KR" altLang="en-US" dirty="0" err="1">
                <a:latin typeface="+mn-ea"/>
              </a:rPr>
              <a:t>고침하지</a:t>
            </a:r>
            <a:r>
              <a:rPr lang="ko-KR" altLang="en-US" dirty="0">
                <a:latin typeface="+mn-ea"/>
              </a:rPr>
              <a:t> 말고 기다려야 한다</a:t>
            </a:r>
            <a:r>
              <a:rPr lang="en-US" altLang="ko-KR" dirty="0">
                <a:latin typeface="+mn-ea"/>
              </a:rPr>
              <a:t>.</a:t>
            </a:r>
          </a:p>
          <a:p>
            <a:pPr>
              <a:lnSpc>
                <a:spcPct val="150000"/>
              </a:lnSpc>
              <a:buFont typeface="+mj-lt"/>
              <a:buAutoNum type="arabicPeriod"/>
            </a:pPr>
            <a:r>
              <a:rPr lang="en-US" altLang="ko-KR" b="1" dirty="0">
                <a:latin typeface="+mn-ea"/>
              </a:rPr>
              <a:t> REFRESH PAGE</a:t>
            </a:r>
            <a:r>
              <a:rPr lang="en-US" altLang="ko-KR" dirty="0">
                <a:latin typeface="+mn-ea"/>
              </a:rPr>
              <a:t>: </a:t>
            </a:r>
            <a:r>
              <a:rPr lang="ko-KR" altLang="en-US" dirty="0">
                <a:latin typeface="+mn-ea"/>
              </a:rPr>
              <a:t>이 버튼을 클릭하면 웹 페이지가 </a:t>
            </a:r>
            <a:br>
              <a:rPr lang="en-US" altLang="ko-KR" dirty="0">
                <a:latin typeface="+mn-ea"/>
              </a:rPr>
            </a:br>
            <a:r>
              <a:rPr lang="en-US" altLang="ko-KR" dirty="0">
                <a:latin typeface="+mn-ea"/>
              </a:rPr>
              <a:t>  </a:t>
            </a:r>
            <a:r>
              <a:rPr lang="ko-KR" altLang="en-US" dirty="0" err="1">
                <a:latin typeface="+mn-ea"/>
              </a:rPr>
              <a:t>새로고침되며</a:t>
            </a:r>
            <a:r>
              <a:rPr lang="ko-KR" altLang="en-US" dirty="0">
                <a:latin typeface="+mn-ea"/>
              </a:rPr>
              <a:t> 최신 사진으로 업데이트된다</a:t>
            </a:r>
          </a:p>
        </p:txBody>
      </p:sp>
    </p:spTree>
    <p:extLst>
      <p:ext uri="{BB962C8B-B14F-4D97-AF65-F5344CB8AC3E}">
        <p14:creationId xmlns:p14="http://schemas.microsoft.com/office/powerpoint/2010/main" val="134819563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Installing the </a:t>
            </a:r>
            <a:r>
              <a:rPr lang="en-US" altLang="ko-KR" sz="2000" b="1" dirty="0" err="1">
                <a:solidFill>
                  <a:schemeClr val="tx1"/>
                </a:solidFill>
              </a:rPr>
              <a:t>ESPAsynbcWebServer</a:t>
            </a:r>
            <a:r>
              <a:rPr lang="en-US" altLang="ko-KR" sz="2000" b="1" dirty="0">
                <a:solidFill>
                  <a:schemeClr val="tx1"/>
                </a:solidFill>
              </a:rPr>
              <a:t> Library</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C3362BFA-10F6-5C6D-19CE-2681B5D21264}"/>
              </a:ext>
            </a:extLst>
          </p:cNvPr>
          <p:cNvSpPr>
            <a:spLocks noChangeArrowheads="1"/>
          </p:cNvSpPr>
          <p:nvPr/>
        </p:nvSpPr>
        <p:spPr bwMode="auto">
          <a:xfrm>
            <a:off x="175098" y="851570"/>
            <a:ext cx="10554749" cy="5217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웹 서버를 구축하기 위해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사용할 것</a:t>
            </a:r>
            <a:r>
              <a:rPr lang="ko-KR" altLang="en-US" sz="1600" dirty="0">
                <a:latin typeface="Arial" panose="020B0604020202020204" pitchFamily="34" charset="0"/>
              </a:rPr>
              <a:t>이</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이 라이브러리를 올바르게 작동시키려면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라이브러리가 필요</a:t>
            </a:r>
            <a:r>
              <a:rPr kumimoji="0" lang="ko-KR" altLang="en-US" sz="1600" b="0" i="0" u="none" strike="noStrike" cap="none" normalizeH="0" baseline="0" dirty="0">
                <a:ln>
                  <a:noFill/>
                </a:ln>
                <a:solidFill>
                  <a:schemeClr val="tx1"/>
                </a:solidFill>
                <a:effectLst/>
                <a:latin typeface="Arial" panose="020B0604020202020204" pitchFamily="34" charset="0"/>
              </a:rPr>
              <a:t>하</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다음 단계를 따라 라이브러리를 설치하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en-US"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 라이브러리 다운로드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여기를 클릭하여 </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다운로드</a:t>
            </a:r>
            <a:r>
              <a:rPr kumimoji="0" lang="ko-KR" altLang="en-US" sz="1600" b="0" i="0" u="none" strike="noStrike" cap="none" normalizeH="0" baseline="0" dirty="0">
                <a:ln>
                  <a:noFill/>
                </a:ln>
                <a:solidFill>
                  <a:schemeClr val="tx1"/>
                </a:solidFill>
                <a:effectLst/>
                <a:latin typeface="Arial" panose="020B0604020202020204" pitchFamily="34" charset="0"/>
              </a:rPr>
              <a:t>한다</a:t>
            </a: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 다운로드 폴더에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파일이 저장될 것</a:t>
            </a:r>
            <a:r>
              <a:rPr kumimoji="0" lang="ko-KR" altLang="en-US" sz="1600" b="0" i="0" u="none" strike="noStrike" cap="none" normalizeH="0" baseline="0" dirty="0">
                <a:ln>
                  <a:noFill/>
                </a:ln>
                <a:solidFill>
                  <a:schemeClr val="tx1"/>
                </a:solidFill>
                <a:effectLst/>
              </a:rPr>
              <a:t>이</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압축 해제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파일의 압축을 해제하면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1" i="0" u="none" strike="noStrike" cap="none" normalizeH="0" baseline="0" dirty="0" err="1">
                <a:ln>
                  <a:noFill/>
                </a:ln>
                <a:solidFill>
                  <a:schemeClr val="tx1"/>
                </a:solidFill>
                <a:effectLst/>
                <a:latin typeface="Arial" panose="020B0604020202020204" pitchFamily="34" charset="0"/>
              </a:rPr>
              <a:t>master</a:t>
            </a:r>
            <a:r>
              <a:rPr kumimoji="0" lang="ko-KR" altLang="ko-KR" sz="1600" b="0" i="0" u="none" strike="noStrike" cap="none" normalizeH="0" baseline="0" dirty="0">
                <a:ln>
                  <a:noFill/>
                </a:ln>
                <a:solidFill>
                  <a:schemeClr val="tx1"/>
                </a:solidFill>
                <a:effectLst/>
                <a:latin typeface="Arial" panose="020B0604020202020204" pitchFamily="34" charset="0"/>
              </a:rPr>
              <a:t> 폴더가 생성</a:t>
            </a:r>
            <a:r>
              <a:rPr kumimoji="0" lang="ko-KR" altLang="en-US" sz="1600" b="0" i="0" u="none" strike="noStrike" cap="none" normalizeH="0" baseline="0" dirty="0">
                <a:ln>
                  <a:noFill/>
                </a:ln>
                <a:solidFill>
                  <a:schemeClr val="tx1"/>
                </a:solidFill>
                <a:effectLst/>
                <a:latin typeface="Arial" panose="020B0604020202020204" pitchFamily="34" charset="0"/>
              </a:rPr>
              <a:t>된</a:t>
            </a:r>
            <a:r>
              <a:rPr kumimoji="0" lang="ko-KR" altLang="ko-KR" sz="1600" b="0" i="0" u="none" strike="noStrike" cap="none" normalizeH="0" baseline="0" dirty="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이름 변경</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폴더 이름을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1" i="0" u="none" strike="noStrike" cap="none" normalizeH="0" baseline="0" dirty="0" err="1">
                <a:ln>
                  <a:noFill/>
                </a:ln>
                <a:solidFill>
                  <a:schemeClr val="tx1"/>
                </a:solidFill>
                <a:effectLst/>
                <a:latin typeface="Arial" panose="020B0604020202020204" pitchFamily="34" charset="0"/>
              </a:rPr>
              <a:t>master</a:t>
            </a:r>
            <a:r>
              <a:rPr kumimoji="0" lang="ko-KR" altLang="ko-KR" sz="1600" b="0" i="0" u="none" strike="noStrike" cap="none" normalizeH="0" baseline="0" dirty="0" err="1">
                <a:ln>
                  <a:noFill/>
                </a:ln>
                <a:solidFill>
                  <a:schemeClr val="tx1"/>
                </a:solidFill>
                <a:effectLst/>
                <a:latin typeface="Arial" panose="020B0604020202020204" pitchFamily="34" charset="0"/>
              </a:rPr>
              <a:t>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ESPAsyncWebServer</a:t>
            </a:r>
            <a:r>
              <a:rPr kumimoji="0" lang="ko-KR" altLang="ko-KR" sz="1600" b="0" i="0" u="none" strike="noStrike" cap="none" normalizeH="0" baseline="0" dirty="0" err="1">
                <a:ln>
                  <a:noFill/>
                </a:ln>
                <a:solidFill>
                  <a:schemeClr val="tx1"/>
                </a:solidFill>
                <a:effectLst/>
                <a:latin typeface="Arial" panose="020B0604020202020204" pitchFamily="34" charset="0"/>
              </a:rPr>
              <a:t>로</a:t>
            </a:r>
            <a:r>
              <a:rPr kumimoji="0" lang="ko-KR" altLang="ko-KR" sz="1600" b="0" i="0" u="none" strike="noStrike" cap="none" normalizeH="0" baseline="0" dirty="0">
                <a:ln>
                  <a:noFill/>
                </a:ln>
                <a:solidFill>
                  <a:schemeClr val="tx1"/>
                </a:solidFill>
                <a:effectLst/>
                <a:latin typeface="Arial" panose="020B0604020202020204" pitchFamily="34" charset="0"/>
              </a:rPr>
              <a:t> 변경하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ko-KR" altLang="ko-KR" sz="1600" b="1" i="0" u="none" strike="noStrike" cap="none" normalizeH="0" baseline="0" dirty="0">
                <a:ln>
                  <a:noFill/>
                </a:ln>
                <a:solidFill>
                  <a:schemeClr val="tx1"/>
                </a:solidFill>
                <a:effectLst/>
                <a:latin typeface="Arial" panose="020B0604020202020204" pitchFamily="34" charset="0"/>
              </a:rPr>
              <a:t>폴더 이동</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폴더를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IDE 설치 디렉토리 내의 </a:t>
            </a:r>
            <a:r>
              <a:rPr kumimoji="0" lang="ko-KR" altLang="ko-KR" sz="1600" b="1" i="0" u="none" strike="noStrike" cap="none" normalizeH="0" baseline="0" dirty="0" err="1">
                <a:ln>
                  <a:noFill/>
                </a:ln>
                <a:solidFill>
                  <a:schemeClr val="tx1"/>
                </a:solidFill>
                <a:effectLst/>
                <a:latin typeface="Arial" panose="020B0604020202020204" pitchFamily="34" charset="0"/>
              </a:rPr>
              <a:t>libraries</a:t>
            </a:r>
            <a:r>
              <a:rPr kumimoji="0" lang="ko-KR" altLang="ko-KR" sz="1600" b="0" i="0" u="none" strike="noStrike" cap="none" normalizeH="0" baseline="0" dirty="0">
                <a:ln>
                  <a:noFill/>
                </a:ln>
                <a:solidFill>
                  <a:schemeClr val="tx1"/>
                </a:solidFill>
                <a:effectLst/>
                <a:latin typeface="Arial" panose="020B0604020202020204" pitchFamily="34" charset="0"/>
              </a:rPr>
              <a:t> 폴더로 이동</a:t>
            </a:r>
            <a:r>
              <a:rPr lang="ko-KR" altLang="en-US" sz="1600" dirty="0">
                <a:latin typeface="Arial" panose="020B0604020202020204" pitchFamily="34" charset="0"/>
              </a:rPr>
              <a:t>시키자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en-US"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lang="en-US" altLang="ko-KR" sz="1600" dirty="0">
                <a:latin typeface="Arial" panose="020B0604020202020204" pitchFamily="34" charset="0"/>
              </a:rPr>
              <a:t> </a:t>
            </a:r>
            <a:r>
              <a:rPr lang="ko-KR" altLang="en-US" sz="1600" dirty="0">
                <a:latin typeface="Arial" panose="020B0604020202020204" pitchFamily="34" charset="0"/>
              </a:rPr>
              <a:t>스케치 </a:t>
            </a:r>
            <a:r>
              <a:rPr lang="en-US" altLang="ko-KR" sz="1600" dirty="0">
                <a:latin typeface="Arial" panose="020B0604020202020204" pitchFamily="34" charset="0"/>
                <a:sym typeface="Wingdings" panose="05000000000000000000" pitchFamily="2" charset="2"/>
              </a:rPr>
              <a:t> </a:t>
            </a:r>
            <a:r>
              <a:rPr lang="ko-KR" altLang="en-US" sz="1600" dirty="0">
                <a:latin typeface="Arial" panose="020B0604020202020204" pitchFamily="34" charset="0"/>
                <a:sym typeface="Wingdings" panose="05000000000000000000" pitchFamily="2" charset="2"/>
              </a:rPr>
              <a:t>라이브러리 포함하기 </a:t>
            </a:r>
            <a:r>
              <a:rPr lang="en-US" altLang="ko-KR" sz="1600" dirty="0">
                <a:latin typeface="Arial" panose="020B0604020202020204" pitchFamily="34" charset="0"/>
                <a:sym typeface="Wingdings" panose="05000000000000000000" pitchFamily="2" charset="2"/>
              </a:rPr>
              <a:t> .zip </a:t>
            </a:r>
            <a:r>
              <a:rPr lang="ko-KR" altLang="en-US" sz="1600" dirty="0">
                <a:latin typeface="Arial" panose="020B0604020202020204" pitchFamily="34" charset="0"/>
                <a:sym typeface="Wingdings" panose="05000000000000000000" pitchFamily="2" charset="2"/>
              </a:rPr>
              <a:t>라이브러리추가 </a:t>
            </a:r>
            <a:r>
              <a:rPr lang="en-US" altLang="ko-KR" sz="1600" dirty="0">
                <a:latin typeface="Arial" panose="020B0604020202020204" pitchFamily="34" charset="0"/>
                <a:sym typeface="Wingdings" panose="05000000000000000000" pitchFamily="2" charset="2"/>
              </a:rPr>
              <a:t> </a:t>
            </a:r>
            <a:r>
              <a:rPr lang="ko-KR" altLang="en-US" sz="1600" dirty="0">
                <a:latin typeface="Arial" panose="020B0604020202020204" pitchFamily="34" charset="0"/>
                <a:sym typeface="Wingdings" panose="05000000000000000000" pitchFamily="2" charset="2"/>
              </a:rPr>
              <a:t>폴더 추가</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B289811-9123-B005-EFA0-3F646D5220EA}"/>
              </a:ext>
            </a:extLst>
          </p:cNvPr>
          <p:cNvSpPr txBox="1"/>
          <p:nvPr/>
        </p:nvSpPr>
        <p:spPr>
          <a:xfrm>
            <a:off x="175098" y="6380879"/>
            <a:ext cx="8472196" cy="369332"/>
          </a:xfrm>
          <a:prstGeom prst="rect">
            <a:avLst/>
          </a:prstGeom>
          <a:noFill/>
        </p:spPr>
        <p:txBody>
          <a:bodyPr wrap="square">
            <a:spAutoFit/>
          </a:bodyPr>
          <a:lstStyle/>
          <a:p>
            <a:r>
              <a:rPr lang="ko-KR" altLang="en-US" dirty="0">
                <a:hlinkClick r:id="rId2"/>
              </a:rPr>
              <a:t>https://github.com/me-no-dev/ESPAsyncWebServer/archive/master.zip</a:t>
            </a:r>
            <a:endParaRPr lang="ko-KR" altLang="en-US" dirty="0"/>
          </a:p>
        </p:txBody>
      </p:sp>
    </p:spTree>
    <p:extLst>
      <p:ext uri="{BB962C8B-B14F-4D97-AF65-F5344CB8AC3E}">
        <p14:creationId xmlns:p14="http://schemas.microsoft.com/office/powerpoint/2010/main" val="426079469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err="1">
                <a:solidFill>
                  <a:schemeClr val="tx1"/>
                </a:solidFill>
              </a:rPr>
              <a:t>Intalling</a:t>
            </a:r>
            <a:r>
              <a:rPr lang="en-US" altLang="ko-KR" sz="2000" b="1" dirty="0">
                <a:solidFill>
                  <a:schemeClr val="tx1"/>
                </a:solidFill>
              </a:rPr>
              <a:t> the Async TCP Library for ESP32</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C2BCC65A-9684-6A91-44BD-EDF2E1B71815}"/>
              </a:ext>
            </a:extLst>
          </p:cNvPr>
          <p:cNvSpPr>
            <a:spLocks noChangeArrowheads="1"/>
          </p:cNvSpPr>
          <p:nvPr/>
        </p:nvSpPr>
        <p:spPr bwMode="auto">
          <a:xfrm>
            <a:off x="170533" y="718882"/>
            <a:ext cx="11781981" cy="595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사용하려면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라이브러리가 필요</a:t>
            </a:r>
            <a:r>
              <a:rPr lang="ko-KR" altLang="en-US" sz="1600" dirty="0">
                <a:latin typeface="Arial" panose="020B0604020202020204" pitchFamily="34" charset="0"/>
              </a:rPr>
              <a:t>하</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아래 단계를 따라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설치하세요.</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1" i="0" u="none" strike="noStrike" cap="none" normalizeH="0" baseline="0" dirty="0">
                <a:ln>
                  <a:noFill/>
                </a:ln>
                <a:solidFill>
                  <a:schemeClr val="tx1"/>
                </a:solidFill>
                <a:effectLst/>
                <a:latin typeface="Arial" panose="020B0604020202020204" pitchFamily="34" charset="0"/>
              </a:rPr>
              <a:t> 라이브러리 다운로드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여기를 클릭하여 </a:t>
            </a:r>
            <a:r>
              <a:rPr kumimoji="0" lang="ko-KR" altLang="ko-KR" sz="1600" b="0" i="0" u="none" strike="noStrike" cap="none" normalizeH="0" baseline="0" dirty="0" err="1">
                <a:ln>
                  <a:noFill/>
                </a:ln>
                <a:solidFill>
                  <a:schemeClr val="tx1"/>
                </a:solidFill>
                <a:effectLst/>
                <a:latin typeface="Arial" panose="020B0604020202020204" pitchFamily="34" charset="0"/>
                <a:hlinkClick r:id="rId2"/>
              </a:rPr>
              <a:t>AsyncTCP</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 라이브러리</a:t>
            </a:r>
            <a:r>
              <a:rPr kumimoji="0" lang="ko-KR" altLang="ko-KR" sz="1600" b="0" i="0" u="none" strike="noStrike" cap="none" normalizeH="0" baseline="0" dirty="0">
                <a:ln>
                  <a:noFill/>
                </a:ln>
                <a:solidFill>
                  <a:schemeClr val="tx1"/>
                </a:solidFill>
                <a:effectLst/>
                <a:latin typeface="Arial" panose="020B0604020202020204" pitchFamily="34" charset="0"/>
              </a:rPr>
              <a:t>를 다운로드하세요. 다운로드 폴더에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파일이 저장</a:t>
            </a:r>
            <a:r>
              <a:rPr kumimoji="0" lang="ko-KR" altLang="en-US" sz="1600" b="0" i="0" u="none" strike="noStrike" cap="none" normalizeH="0" baseline="0" dirty="0">
                <a:ln>
                  <a:noFill/>
                </a:ln>
                <a:solidFill>
                  <a:schemeClr val="tx1"/>
                </a:solidFill>
                <a:effectLst/>
              </a:rPr>
              <a:t>된</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압축 해제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파일의 압축을 해제하면 </a:t>
            </a:r>
            <a:r>
              <a:rPr kumimoji="0" lang="ko-KR" altLang="ko-KR" sz="1600" b="1" i="0" u="none" strike="noStrike" cap="none" normalizeH="0" baseline="0" dirty="0" err="1">
                <a:ln>
                  <a:noFill/>
                </a:ln>
                <a:solidFill>
                  <a:schemeClr val="tx1"/>
                </a:solidFill>
                <a:effectLst/>
                <a:latin typeface="Arial" panose="020B0604020202020204" pitchFamily="34" charset="0"/>
              </a:rPr>
              <a:t>AsyncTCP-master</a:t>
            </a:r>
            <a:r>
              <a:rPr kumimoji="0" lang="ko-KR" altLang="ko-KR" sz="1600" b="0" i="0" u="none" strike="noStrike" cap="none" normalizeH="0" baseline="0" dirty="0">
                <a:ln>
                  <a:noFill/>
                </a:ln>
                <a:solidFill>
                  <a:schemeClr val="tx1"/>
                </a:solidFill>
                <a:effectLst/>
                <a:latin typeface="Arial" panose="020B0604020202020204" pitchFamily="34" charset="0"/>
              </a:rPr>
              <a:t> 폴더가 생성</a:t>
            </a:r>
            <a:r>
              <a:rPr kumimoji="0" lang="ko-KR" altLang="en-US" sz="1600" b="0" i="0" u="none" strike="noStrike" cap="none" normalizeH="0" baseline="0" dirty="0">
                <a:ln>
                  <a:noFill/>
                </a:ln>
                <a:solidFill>
                  <a:schemeClr val="tx1"/>
                </a:solidFill>
                <a:effectLst/>
                <a:latin typeface="Arial" panose="020B0604020202020204" pitchFamily="34" charset="0"/>
              </a:rPr>
              <a:t>된</a:t>
            </a:r>
            <a:r>
              <a:rPr kumimoji="0" lang="ko-KR" altLang="ko-KR" sz="1600" b="0" i="0" u="none" strike="noStrike" cap="none" normalizeH="0" baseline="0" dirty="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이름 변경</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폴더 이름을 </a:t>
            </a:r>
            <a:r>
              <a:rPr kumimoji="0" lang="ko-KR" altLang="ko-KR" sz="1600" b="1" i="0" u="none" strike="noStrike" cap="none" normalizeH="0" baseline="0" dirty="0" err="1">
                <a:ln>
                  <a:noFill/>
                </a:ln>
                <a:solidFill>
                  <a:schemeClr val="tx1"/>
                </a:solidFill>
                <a:effectLst/>
                <a:latin typeface="Arial" panose="020B0604020202020204" pitchFamily="34" charset="0"/>
              </a:rPr>
              <a:t>AsyncTCP-master</a:t>
            </a:r>
            <a:r>
              <a:rPr kumimoji="0" lang="ko-KR" altLang="ko-KR" sz="1600" b="0" i="0" u="none" strike="noStrike" cap="none" normalizeH="0" baseline="0" dirty="0" err="1">
                <a:ln>
                  <a:noFill/>
                </a:ln>
                <a:solidFill>
                  <a:schemeClr val="tx1"/>
                </a:solidFill>
                <a:effectLst/>
                <a:latin typeface="Arial" panose="020B0604020202020204" pitchFamily="34" charset="0"/>
              </a:rPr>
              <a:t>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err="1">
                <a:ln>
                  <a:noFill/>
                </a:ln>
                <a:solidFill>
                  <a:schemeClr val="tx1"/>
                </a:solidFill>
                <a:effectLst/>
                <a:latin typeface="Arial" panose="020B0604020202020204" pitchFamily="34" charset="0"/>
              </a:rPr>
              <a:t>로</a:t>
            </a:r>
            <a:r>
              <a:rPr kumimoji="0" lang="ko-KR" altLang="ko-KR" sz="1600" b="0" i="0" u="none" strike="noStrike" cap="none" normalizeH="0" baseline="0" dirty="0">
                <a:ln>
                  <a:noFill/>
                </a:ln>
                <a:solidFill>
                  <a:schemeClr val="tx1"/>
                </a:solidFill>
                <a:effectLst/>
                <a:latin typeface="Arial" panose="020B0604020202020204" pitchFamily="34" charset="0"/>
              </a:rPr>
              <a:t> 변경하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이동</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폴더를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IDE 설치 디렉토리 내 </a:t>
            </a:r>
            <a:r>
              <a:rPr kumimoji="0" lang="ko-KR" altLang="ko-KR" sz="1600" b="1" i="0" u="none" strike="noStrike" cap="none" normalizeH="0" baseline="0" dirty="0" err="1">
                <a:ln>
                  <a:noFill/>
                </a:ln>
                <a:solidFill>
                  <a:schemeClr val="tx1"/>
                </a:solidFill>
                <a:effectLst/>
                <a:latin typeface="Arial" panose="020B0604020202020204" pitchFamily="34" charset="0"/>
              </a:rPr>
              <a:t>libraries</a:t>
            </a:r>
            <a:r>
              <a:rPr kumimoji="0" lang="ko-KR" altLang="ko-KR" sz="1600" b="0" i="0" u="none" strike="noStrike" cap="none" normalizeH="0" baseline="0" dirty="0">
                <a:ln>
                  <a:noFill/>
                </a:ln>
                <a:solidFill>
                  <a:schemeClr val="tx1"/>
                </a:solidFill>
                <a:effectLst/>
                <a:latin typeface="Arial" panose="020B0604020202020204" pitchFamily="34" charset="0"/>
              </a:rPr>
              <a:t> 폴더로 이동</a:t>
            </a:r>
            <a:r>
              <a:rPr kumimoji="0" lang="ko-KR" altLang="en-US" sz="1600" b="0" i="0" u="none" strike="noStrike" cap="none" normalizeH="0" baseline="0" dirty="0">
                <a:ln>
                  <a:noFill/>
                </a:ln>
                <a:solidFill>
                  <a:schemeClr val="tx1"/>
                </a:solidFill>
                <a:effectLst/>
                <a:latin typeface="Arial" panose="020B0604020202020204" pitchFamily="34" charset="0"/>
              </a:rPr>
              <a:t>하자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Arduino</a:t>
            </a:r>
            <a:r>
              <a:rPr kumimoji="0" lang="ko-KR" altLang="ko-KR" sz="1600" b="1" i="0" u="none" strike="noStrike" cap="none" normalizeH="0" baseline="0" dirty="0">
                <a:ln>
                  <a:noFill/>
                </a:ln>
                <a:solidFill>
                  <a:schemeClr val="tx1"/>
                </a:solidFill>
                <a:effectLst/>
                <a:latin typeface="Arial" panose="020B0604020202020204" pitchFamily="34" charset="0"/>
              </a:rPr>
              <a:t> IDE 다시 열기</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모든 설정을 완료한 후,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IDE를</a:t>
            </a:r>
            <a:r>
              <a:rPr kumimoji="0" lang="ko-KR" altLang="ko-KR" sz="1600" b="0" i="0" u="none" strike="noStrike" cap="none" normalizeH="0" baseline="0" dirty="0">
                <a:ln>
                  <a:noFill/>
                </a:ln>
                <a:solidFill>
                  <a:schemeClr val="tx1"/>
                </a:solidFill>
                <a:effectLst/>
                <a:latin typeface="Arial" panose="020B0604020202020204" pitchFamily="34" charset="0"/>
              </a:rPr>
              <a:t> 다시 실행하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ko-KR" altLang="ko-K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1" i="0" u="none" strike="noStrike" cap="none" normalizeH="0" baseline="0" dirty="0">
                <a:ln>
                  <a:noFill/>
                </a:ln>
                <a:solidFill>
                  <a:srgbClr val="3A0DFB"/>
                </a:solidFill>
                <a:effectLst/>
                <a:latin typeface="Arial" panose="020B0604020202020204" pitchFamily="34" charset="0"/>
              </a:rPr>
              <a:t>대체 방법</a:t>
            </a:r>
            <a:r>
              <a:rPr kumimoji="0" lang="en-US" altLang="ko-KR" sz="1600" b="1" i="0" u="none" strike="noStrike" cap="none" normalizeH="0" baseline="0" dirty="0">
                <a:ln>
                  <a:noFill/>
                </a:ln>
                <a:solidFill>
                  <a:srgbClr val="3A0DFB"/>
                </a:solidFill>
                <a:effectLst/>
                <a:latin typeface="Arial" panose="020B0604020202020204" pitchFamily="34" charset="0"/>
              </a:rPr>
              <a:t>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 </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압축을 풀지 않고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.zip</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을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libraries </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폴더로 그냥 이동</a:t>
            </a:r>
            <a:endParaRPr kumimoji="0" lang="ko-KR" altLang="ko-KR" sz="1600" b="1" i="0" u="none" strike="noStrike" cap="none" normalizeH="0" baseline="0" dirty="0">
              <a:ln>
                <a:noFill/>
              </a:ln>
              <a:solidFill>
                <a:srgbClr val="3A0DFB"/>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chemeClr val="tx1"/>
                </a:solidFill>
                <a:effectLst/>
                <a:latin typeface="Arial" panose="020B0604020202020204" pitchFamily="34" charset="0"/>
              </a:rPr>
              <a:t>라이브러리를 다운로드한 후, 아래 방법으로 설치할 수도 있다:</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IDE에서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Sketch</a:t>
            </a:r>
            <a:r>
              <a:rPr kumimoji="0" lang="ko-KR" altLang="ko-KR" sz="1600" b="0" i="0" u="none" strike="noStrike" cap="none" normalizeH="0" baseline="0" dirty="0">
                <a:ln>
                  <a:noFill/>
                </a:ln>
                <a:solidFill>
                  <a:schemeClr val="tx1"/>
                </a:solidFill>
                <a:effectLst/>
                <a:latin typeface="Arial" panose="020B0604020202020204" pitchFamily="34" charset="0"/>
              </a:rPr>
              <a:t> &gt; </a:t>
            </a:r>
            <a:r>
              <a:rPr kumimoji="0" lang="ko-KR" altLang="ko-KR" sz="1600" b="0" i="0" u="none" strike="noStrike" cap="none" normalizeH="0" baseline="0" dirty="0" err="1">
                <a:ln>
                  <a:noFill/>
                </a:ln>
                <a:solidFill>
                  <a:schemeClr val="tx1"/>
                </a:solidFill>
                <a:effectLst/>
                <a:latin typeface="Arial" panose="020B0604020202020204" pitchFamily="34" charset="0"/>
              </a:rPr>
              <a:t>Include</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Library</a:t>
            </a:r>
            <a:r>
              <a:rPr kumimoji="0" lang="ko-KR" altLang="ko-KR" sz="1600" b="0" i="0" u="none" strike="noStrike" cap="none" normalizeH="0" baseline="0" dirty="0">
                <a:ln>
                  <a:noFill/>
                </a:ln>
                <a:solidFill>
                  <a:schemeClr val="tx1"/>
                </a:solidFill>
                <a:effectLst/>
                <a:latin typeface="Arial" panose="020B0604020202020204" pitchFamily="34" charset="0"/>
              </a:rPr>
              <a:t> &gt; </a:t>
            </a:r>
            <a:r>
              <a:rPr kumimoji="0" lang="ko-KR" altLang="ko-KR" sz="1600" b="0" i="0" u="none" strike="noStrike" cap="none" normalizeH="0" baseline="0" dirty="0" err="1">
                <a:ln>
                  <a:noFill/>
                </a:ln>
                <a:solidFill>
                  <a:schemeClr val="tx1"/>
                </a:solidFill>
                <a:effectLst/>
                <a:latin typeface="Arial" panose="020B0604020202020204" pitchFamily="34" charset="0"/>
              </a:rPr>
              <a:t>Add</a:t>
            </a:r>
            <a:r>
              <a:rPr kumimoji="0" lang="ko-KR" altLang="ko-KR" sz="1600" b="0" i="0" u="none" strike="noStrike" cap="none" normalizeH="0" baseline="0" dirty="0">
                <a:ln>
                  <a:noFill/>
                </a:ln>
                <a:solidFill>
                  <a:schemeClr val="tx1"/>
                </a:solidFill>
                <a:effectLst/>
                <a:latin typeface="Arial" panose="020B0604020202020204" pitchFamily="34" charset="0"/>
              </a:rPr>
              <a:t> .ZIP </a:t>
            </a:r>
            <a:r>
              <a:rPr kumimoji="0" lang="ko-KR" altLang="ko-KR" sz="1600" b="0" i="0" u="none" strike="noStrike" cap="none" normalizeH="0" baseline="0" dirty="0" err="1">
                <a:ln>
                  <a:noFill/>
                </a:ln>
                <a:solidFill>
                  <a:schemeClr val="tx1"/>
                </a:solidFill>
                <a:effectLst/>
                <a:latin typeface="Arial" panose="020B0604020202020204" pitchFamily="34" charset="0"/>
              </a:rPr>
              <a:t>Library</a:t>
            </a:r>
            <a:r>
              <a:rPr kumimoji="0" lang="ko-KR" altLang="ko-KR" sz="1600" b="0" i="0" u="none" strike="noStrike" cap="none" normalizeH="0" baseline="0" dirty="0">
                <a:ln>
                  <a:noFill/>
                </a:ln>
                <a:solidFill>
                  <a:schemeClr val="tx1"/>
                </a:solidFill>
                <a:effectLst/>
                <a:latin typeface="Arial" panose="020B0604020202020204" pitchFamily="34" charset="0"/>
              </a:rPr>
              <a:t>…**로 이동</a:t>
            </a:r>
            <a:r>
              <a:rPr kumimoji="0" lang="ko-KR" altLang="en-US" sz="1600" b="0" i="0" u="none" strike="noStrike" cap="none" normalizeH="0" baseline="0" dirty="0">
                <a:ln>
                  <a:noFill/>
                </a:ln>
                <a:solidFill>
                  <a:schemeClr val="tx1"/>
                </a:solidFill>
                <a:effectLst/>
                <a:latin typeface="Arial" panose="020B0604020202020204" pitchFamily="34" charset="0"/>
              </a:rPr>
              <a:t>한다</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방금 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파일을 선택하여 추가</a:t>
            </a:r>
            <a:r>
              <a:rPr kumimoji="0" lang="ko-KR" altLang="en-US" sz="1600" b="0" i="0" u="none" strike="noStrike" cap="none" normalizeH="0" baseline="0" dirty="0">
                <a:ln>
                  <a:noFill/>
                </a:ln>
                <a:solidFill>
                  <a:schemeClr val="tx1"/>
                </a:solidFill>
                <a:effectLst/>
              </a:rPr>
              <a:t>한</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82813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981B3-E2F8-DFB6-CA4B-23E8439B2A64}"/>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3C59F4B-3FE7-28B4-01C7-58F37A5728AF}"/>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1/8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EE1CAD7C-726C-1C90-AA2C-172E0A8830F2}"/>
              </a:ext>
            </a:extLst>
          </p:cNvPr>
          <p:cNvSpPr>
            <a:spLocks noChangeArrowheads="1"/>
          </p:cNvSpPr>
          <p:nvPr/>
        </p:nvSpPr>
        <p:spPr bwMode="auto">
          <a:xfrm>
            <a:off x="69286" y="759625"/>
            <a:ext cx="7694414" cy="590693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esp_camera.h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esp_timer.h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img_converters.h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Arduino.h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rtc_cntl_reg.h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driver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rtc_io.h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SPIFFS.h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FS.h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Replace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your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network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credentials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C00000"/>
                </a:solidFill>
                <a:effectLst/>
                <a:latin typeface="Consolas" panose="020B0609020204030204" pitchFamily="49" charset="0"/>
              </a:rPr>
              <a:t>"REPLACE_WITH_YOUR_SSID"; </a:t>
            </a:r>
            <a:endParaRPr kumimoji="0" lang="en-US" altLang="ko-KR" sz="1600" b="0" i="0" u="none" strike="noStrike" cap="none" normalizeH="0" baseline="0" dirty="0">
              <a:ln>
                <a:noFill/>
              </a:ln>
              <a:solidFill>
                <a:srgbClr val="C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C00000"/>
                </a:solidFill>
                <a:effectLst/>
                <a:latin typeface="Consolas" panose="020B0609020204030204" pitchFamily="49" charset="0"/>
              </a:rPr>
              <a:t>"REPLACE_WITH_YOUR_PASSWORD"; </a:t>
            </a:r>
            <a:endParaRPr kumimoji="0" lang="en-US" altLang="ko-KR" sz="1600" b="0" i="0" u="none" strike="noStrike" cap="none" normalizeH="0" baseline="0" dirty="0">
              <a:ln>
                <a:noFill/>
              </a:ln>
              <a:solidFill>
                <a:srgbClr val="C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AsyncWebServer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80</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boolean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FILE_PHOTO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p:txBody>
      </p:sp>
      <p:cxnSp>
        <p:nvCxnSpPr>
          <p:cNvPr id="5" name="직선 화살표 연결선 4">
            <a:extLst>
              <a:ext uri="{FF2B5EF4-FFF2-40B4-BE49-F238E27FC236}">
                <a16:creationId xmlns:a16="http://schemas.microsoft.com/office/drawing/2014/main" id="{F24D51AC-02C7-494E-A1E6-887D1E44B72E}"/>
              </a:ext>
            </a:extLst>
          </p:cNvPr>
          <p:cNvCxnSpPr/>
          <p:nvPr/>
        </p:nvCxnSpPr>
        <p:spPr>
          <a:xfrm>
            <a:off x="5784980" y="4469363"/>
            <a:ext cx="2202024" cy="0"/>
          </a:xfrm>
          <a:prstGeom prst="straightConnector1">
            <a:avLst/>
          </a:prstGeom>
          <a:ln w="25400">
            <a:solidFill>
              <a:srgbClr val="3A0DFB"/>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C2D0EB-DB8A-C3A2-011A-A98CE7E2EF1E}"/>
              </a:ext>
            </a:extLst>
          </p:cNvPr>
          <p:cNvSpPr txBox="1"/>
          <p:nvPr/>
        </p:nvSpPr>
        <p:spPr>
          <a:xfrm>
            <a:off x="8073957" y="4284697"/>
            <a:ext cx="2475742" cy="369332"/>
          </a:xfrm>
          <a:prstGeom prst="rect">
            <a:avLst/>
          </a:prstGeom>
          <a:noFill/>
        </p:spPr>
        <p:txBody>
          <a:bodyPr wrap="none" rtlCol="0">
            <a:spAutoFit/>
          </a:bodyPr>
          <a:lstStyle/>
          <a:p>
            <a:r>
              <a:rPr lang="ko-KR" altLang="en-US" dirty="0"/>
              <a:t>공유기 </a:t>
            </a:r>
            <a:r>
              <a:rPr lang="en-US" altLang="ko-KR" dirty="0" err="1"/>
              <a:t>ssid</a:t>
            </a:r>
            <a:r>
              <a:rPr lang="en-US" altLang="ko-KR" dirty="0"/>
              <a:t>, </a:t>
            </a:r>
            <a:r>
              <a:rPr lang="en-US" altLang="ko-KR" dirty="0" err="1"/>
              <a:t>pwd</a:t>
            </a:r>
            <a:r>
              <a:rPr lang="en-US" altLang="ko-KR" dirty="0"/>
              <a:t> </a:t>
            </a:r>
            <a:r>
              <a:rPr lang="ko-KR" altLang="en-US" dirty="0"/>
              <a:t>입력</a:t>
            </a:r>
          </a:p>
        </p:txBody>
      </p:sp>
    </p:spTree>
    <p:extLst>
      <p:ext uri="{BB962C8B-B14F-4D97-AF65-F5344CB8AC3E}">
        <p14:creationId xmlns:p14="http://schemas.microsoft.com/office/powerpoint/2010/main" val="140744083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14CC8-3698-02C4-9FE2-BB47740A605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FC9DCA3-EAD3-4206-0B02-46A2675B50FF}"/>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2/8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F16F6B1C-9403-EA67-EA69-435FA661FEBC}"/>
              </a:ext>
            </a:extLst>
          </p:cNvPr>
          <p:cNvSpPr>
            <a:spLocks noChangeArrowheads="1"/>
          </p:cNvSpPr>
          <p:nvPr/>
        </p:nvSpPr>
        <p:spPr bwMode="auto">
          <a:xfrm>
            <a:off x="0" y="702469"/>
            <a:ext cx="11397351" cy="615553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pins</a:t>
            </a:r>
            <a:r>
              <a:rPr kumimoji="0" lang="ko-KR" altLang="ko-KR" sz="1600" b="0" i="0" u="none" strike="noStrike" cap="none" normalizeH="0" baseline="0" dirty="0">
                <a:ln>
                  <a:noFill/>
                </a:ln>
                <a:solidFill>
                  <a:srgbClr val="708090"/>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32</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PROGMEM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a:t>
            </a:r>
            <a:r>
              <a:rPr kumimoji="0" lang="ko-KR" altLang="ko-KR" sz="1600" b="0" i="0" u="none" strike="noStrike" cap="none" normalizeH="0" baseline="0" dirty="0" err="1">
                <a:ln>
                  <a:noFill/>
                </a:ln>
                <a:solidFill>
                  <a:srgbClr val="DD4A68"/>
                </a:solidFill>
                <a:effectLst/>
                <a:latin typeface="Consolas" panose="020B0609020204030204" pitchFamily="49" charset="0"/>
              </a:rPr>
              <a:t>rawliteral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DOCTYPE HTML</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viewport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content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width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device-width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initial-scale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vert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hori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ESP32</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CAM </a:t>
            </a:r>
            <a:r>
              <a:rPr kumimoji="0" lang="ko-KR" altLang="ko-KR" sz="1600" b="0" i="0" u="none" strike="noStrike" cap="none" normalizeH="0" baseline="0" dirty="0" err="1">
                <a:ln>
                  <a:noFill/>
                </a:ln>
                <a:solidFill>
                  <a:srgbClr val="000000"/>
                </a:solidFill>
                <a:effectLst/>
                <a:latin typeface="Consolas" panose="020B0609020204030204" pitchFamily="49" charset="0"/>
              </a:rPr>
              <a:t>Last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Photo</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It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might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more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than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seconds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capture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rotatePhoto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ROTATE</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CAPTURE PHOTO</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location.reload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REFRESH PAGE</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D59D951-5BFB-A7D2-13B4-BF0DD62111AC}"/>
              </a:ext>
            </a:extLst>
          </p:cNvPr>
          <p:cNvSpPr txBox="1"/>
          <p:nvPr/>
        </p:nvSpPr>
        <p:spPr>
          <a:xfrm>
            <a:off x="5698675" y="2071991"/>
            <a:ext cx="2689839" cy="338554"/>
          </a:xfrm>
          <a:prstGeom prst="rect">
            <a:avLst/>
          </a:prstGeom>
          <a:noFill/>
        </p:spPr>
        <p:txBody>
          <a:bodyPr wrap="none" rtlCol="0">
            <a:spAutoFit/>
          </a:bodyPr>
          <a:lstStyle/>
          <a:p>
            <a:r>
              <a:rPr lang="en-US" altLang="ko-KR" sz="1600" b="1" dirty="0">
                <a:solidFill>
                  <a:srgbClr val="3A0DFB"/>
                </a:solidFill>
              </a:rPr>
              <a:t>// Building the Web Page</a:t>
            </a:r>
            <a:endParaRPr lang="ko-KR" altLang="en-US" sz="1600" b="1" dirty="0">
              <a:solidFill>
                <a:srgbClr val="3A0DFB"/>
              </a:solidFill>
            </a:endParaRPr>
          </a:p>
        </p:txBody>
      </p:sp>
      <p:cxnSp>
        <p:nvCxnSpPr>
          <p:cNvPr id="5" name="직선 화살표 연결선 4">
            <a:extLst>
              <a:ext uri="{FF2B5EF4-FFF2-40B4-BE49-F238E27FC236}">
                <a16:creationId xmlns:a16="http://schemas.microsoft.com/office/drawing/2014/main" id="{FDDB4158-DB66-94E9-31DD-50E370F61A37}"/>
              </a:ext>
            </a:extLst>
          </p:cNvPr>
          <p:cNvCxnSpPr>
            <a:cxnSpLocks/>
          </p:cNvCxnSpPr>
          <p:nvPr/>
        </p:nvCxnSpPr>
        <p:spPr>
          <a:xfrm>
            <a:off x="7527268" y="5743686"/>
            <a:ext cx="1023345" cy="0"/>
          </a:xfrm>
          <a:prstGeom prst="straightConnector1">
            <a:avLst/>
          </a:prstGeom>
          <a:ln w="25400">
            <a:solidFill>
              <a:srgbClr val="3A0DFB"/>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69FF39-969E-3E5C-CF19-4397611A7507}"/>
              </a:ext>
            </a:extLst>
          </p:cNvPr>
          <p:cNvSpPr txBox="1"/>
          <p:nvPr/>
        </p:nvSpPr>
        <p:spPr>
          <a:xfrm>
            <a:off x="8628433" y="5451298"/>
            <a:ext cx="3345788" cy="584775"/>
          </a:xfrm>
          <a:prstGeom prst="rect">
            <a:avLst/>
          </a:prstGeom>
          <a:noFill/>
        </p:spPr>
        <p:txBody>
          <a:bodyPr wrap="none" rtlCol="0">
            <a:spAutoFit/>
          </a:bodyPr>
          <a:lstStyle/>
          <a:p>
            <a:r>
              <a:rPr lang="ko-KR" altLang="en-US" sz="1600" dirty="0"/>
              <a:t>버튼 </a:t>
            </a:r>
            <a:r>
              <a:rPr lang="en-US" altLang="ko-KR" sz="1600" dirty="0"/>
              <a:t>3</a:t>
            </a:r>
            <a:r>
              <a:rPr lang="ko-KR" altLang="en-US" sz="1600" dirty="0"/>
              <a:t>개 생성</a:t>
            </a:r>
            <a:endParaRPr lang="en-US" altLang="ko-KR" sz="1600" dirty="0"/>
          </a:p>
          <a:p>
            <a:r>
              <a:rPr lang="ko-KR" altLang="en-US" sz="1600" dirty="0"/>
              <a:t>버튼이 눌러지면 실행될 함수 지정</a:t>
            </a:r>
          </a:p>
        </p:txBody>
      </p:sp>
    </p:spTree>
    <p:extLst>
      <p:ext uri="{BB962C8B-B14F-4D97-AF65-F5344CB8AC3E}">
        <p14:creationId xmlns:p14="http://schemas.microsoft.com/office/powerpoint/2010/main" val="269349910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F769-34CE-C7D2-B22F-3A6E54087F55}"/>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5FBCB6D-C285-5EEC-695E-E58F0AAB8F8C}"/>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3/8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E0670513-FE35-0639-4236-B6110A1D4A19}"/>
              </a:ext>
            </a:extLst>
          </p:cNvPr>
          <p:cNvSpPr>
            <a:spLocks noChangeArrowheads="1"/>
          </p:cNvSpPr>
          <p:nvPr/>
        </p:nvSpPr>
        <p:spPr bwMode="auto">
          <a:xfrm>
            <a:off x="38912" y="702469"/>
            <a:ext cx="7245573"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9A6E3A"/>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src</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"70%"</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new</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XMLHttpRequest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rotatePhoto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90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isOdd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90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className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vert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className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hori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transform</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rotate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isOdd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abs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rawliteral</a:t>
            </a:r>
            <a:r>
              <a:rPr kumimoji="0" lang="ko-KR" altLang="ko-KR" sz="1600" b="0" i="0" u="none" strike="noStrike" cap="none" normalizeH="0" baseline="0" dirty="0">
                <a:ln>
                  <a:noFill/>
                </a:ln>
                <a:solidFill>
                  <a:srgbClr val="0000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E73D8F41-30B4-07B8-F180-D8B27FD4BD0D}"/>
              </a:ext>
            </a:extLst>
          </p:cNvPr>
          <p:cNvSpPr txBox="1"/>
          <p:nvPr/>
        </p:nvSpPr>
        <p:spPr>
          <a:xfrm>
            <a:off x="5650036" y="1673157"/>
            <a:ext cx="2016899" cy="338554"/>
          </a:xfrm>
          <a:prstGeom prst="rect">
            <a:avLst/>
          </a:prstGeom>
          <a:noFill/>
        </p:spPr>
        <p:txBody>
          <a:bodyPr wrap="none" rtlCol="0">
            <a:spAutoFit/>
          </a:bodyPr>
          <a:lstStyle/>
          <a:p>
            <a:r>
              <a:rPr lang="en-US" altLang="ko-KR" sz="1600" i="1" dirty="0">
                <a:solidFill>
                  <a:srgbClr val="3A0DFB"/>
                </a:solidFill>
              </a:rPr>
              <a:t>// </a:t>
            </a:r>
            <a:r>
              <a:rPr lang="ko-KR" altLang="en-US" sz="1600" i="1" dirty="0">
                <a:solidFill>
                  <a:srgbClr val="3A0DFB"/>
                </a:solidFill>
              </a:rPr>
              <a:t>새로운 사진 찍기</a:t>
            </a:r>
          </a:p>
        </p:txBody>
      </p:sp>
      <p:sp>
        <p:nvSpPr>
          <p:cNvPr id="5" name="TextBox 4">
            <a:extLst>
              <a:ext uri="{FF2B5EF4-FFF2-40B4-BE49-F238E27FC236}">
                <a16:creationId xmlns:a16="http://schemas.microsoft.com/office/drawing/2014/main" id="{389B078A-3448-AF37-D2B9-5043929E03BE}"/>
              </a:ext>
            </a:extLst>
          </p:cNvPr>
          <p:cNvSpPr txBox="1"/>
          <p:nvPr/>
        </p:nvSpPr>
        <p:spPr>
          <a:xfrm>
            <a:off x="6096000" y="2813122"/>
            <a:ext cx="1313180" cy="338554"/>
          </a:xfrm>
          <a:prstGeom prst="rect">
            <a:avLst/>
          </a:prstGeom>
          <a:noFill/>
        </p:spPr>
        <p:txBody>
          <a:bodyPr wrap="none" rtlCol="0">
            <a:spAutoFit/>
          </a:bodyPr>
          <a:lstStyle/>
          <a:p>
            <a:r>
              <a:rPr lang="en-US" altLang="ko-KR" sz="1600" i="1">
                <a:solidFill>
                  <a:srgbClr val="3A0DFB"/>
                </a:solidFill>
              </a:rPr>
              <a:t>// </a:t>
            </a:r>
            <a:r>
              <a:rPr lang="ko-KR" altLang="en-US" sz="1600" i="1" dirty="0">
                <a:solidFill>
                  <a:srgbClr val="3A0DFB"/>
                </a:solidFill>
              </a:rPr>
              <a:t>사진 회전</a:t>
            </a:r>
          </a:p>
        </p:txBody>
      </p:sp>
    </p:spTree>
    <p:extLst>
      <p:ext uri="{BB962C8B-B14F-4D97-AF65-F5344CB8AC3E}">
        <p14:creationId xmlns:p14="http://schemas.microsoft.com/office/powerpoint/2010/main" val="190788559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07FF-C9F8-51CC-2DB5-302C073C3F9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9E4A0CDA-2A20-09A9-89B0-DF4AD71A9C2C}"/>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4/8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D9D89D7-80A2-532C-ECDF-C471F70E4B28}"/>
              </a:ext>
            </a:extLst>
          </p:cNvPr>
          <p:cNvSpPr>
            <a:spLocks noChangeArrowheads="1"/>
          </p:cNvSpPr>
          <p:nvPr/>
        </p:nvSpPr>
        <p:spPr bwMode="auto">
          <a:xfrm>
            <a:off x="74645" y="787636"/>
            <a:ext cx="7694414" cy="590161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debugging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purposes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Wi-Fi</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SPIFFS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An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has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occurred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while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mounting</a:t>
            </a:r>
            <a:r>
              <a:rPr kumimoji="0" lang="ko-KR" altLang="ko-KR" sz="1600" b="0" i="0" u="none" strike="noStrike" cap="none" normalizeH="0" baseline="0" dirty="0">
                <a:ln>
                  <a:noFill/>
                </a:ln>
                <a:solidFill>
                  <a:srgbClr val="669900"/>
                </a:solidFill>
                <a:effectLst/>
                <a:latin typeface="Consolas" panose="020B0609020204030204" pitchFamily="49" charset="0"/>
              </a:rPr>
              <a:t> 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500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"SPIFFS </a:t>
            </a:r>
            <a:r>
              <a:rPr kumimoji="0" lang="ko-KR" altLang="ko-KR" sz="1600" b="0" i="0" u="none" strike="noStrike" cap="none" normalizeH="0" baseline="0" dirty="0" err="1">
                <a:ln>
                  <a:noFill/>
                </a:ln>
                <a:solidFill>
                  <a:srgbClr val="669900"/>
                </a:solidFill>
                <a:effectLst/>
                <a:latin typeface="Consolas" panose="020B0609020204030204" pitchFamily="49" charset="0"/>
              </a:rPr>
              <a:t>mounted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successfully</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ESP32 </a:t>
            </a:r>
            <a:r>
              <a:rPr kumimoji="0" lang="ko-KR" altLang="ko-KR" sz="1600" b="0" i="0" u="none" strike="noStrike" cap="none" normalizeH="0" baseline="0" dirty="0" err="1">
                <a:ln>
                  <a:noFill/>
                </a:ln>
                <a:solidFill>
                  <a:srgbClr val="708090"/>
                </a:solidFill>
                <a:effectLst/>
                <a:latin typeface="Consolas" panose="020B0609020204030204" pitchFamily="49" charset="0"/>
              </a:rPr>
              <a:t>Local</a:t>
            </a:r>
            <a:r>
              <a:rPr kumimoji="0" lang="ko-KR" altLang="ko-KR" sz="1600" b="0" i="0" u="none" strike="noStrike" cap="none" normalizeH="0" baseline="0" dirty="0">
                <a:ln>
                  <a:noFill/>
                </a:ln>
                <a:solidFill>
                  <a:srgbClr val="708090"/>
                </a:solidFill>
                <a:effectLst/>
                <a:latin typeface="Consolas" panose="020B0609020204030204" pitchFamily="49" charset="0"/>
              </a:rPr>
              <a:t> IP </a:t>
            </a:r>
            <a:r>
              <a:rPr kumimoji="0" lang="ko-KR" altLang="ko-KR" sz="1600" b="0" i="0" u="none" strike="noStrike" cap="none" normalizeH="0" baseline="0" dirty="0" err="1">
                <a:ln>
                  <a:noFill/>
                </a:ln>
                <a:solidFill>
                  <a:srgbClr val="708090"/>
                </a:solidFill>
                <a:effectLst/>
                <a:latin typeface="Consolas" panose="020B0609020204030204" pitchFamily="49" charset="0"/>
              </a:rPr>
              <a:t>Address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"IP </a:t>
            </a:r>
            <a:r>
              <a:rPr kumimoji="0" lang="ko-KR" altLang="ko-KR" sz="1600" b="0" i="0" u="none" strike="noStrike" cap="none" normalizeH="0" baseline="0" dirty="0" err="1">
                <a:ln>
                  <a:noFill/>
                </a:ln>
                <a:solidFill>
                  <a:srgbClr val="669900"/>
                </a:solidFill>
                <a:effectLst/>
                <a:latin typeface="Consolas" panose="020B0609020204030204" pitchFamily="49" charset="0"/>
              </a:rPr>
              <a:t>Address</a:t>
            </a:r>
            <a:r>
              <a:rPr kumimoji="0" lang="ko-KR" altLang="ko-KR" sz="1600" b="0" i="0" u="none" strike="noStrike" cap="none" normalizeH="0" baseline="0" dirty="0">
                <a:ln>
                  <a:noFill/>
                </a:ln>
                <a:solidFill>
                  <a:srgbClr val="669900"/>
                </a:solidFill>
                <a:effectLst/>
                <a:latin typeface="Consolas" panose="020B0609020204030204" pitchFamily="49" charset="0"/>
              </a:rPr>
              <a:t>: http://"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702FE0D5-82DD-4EE1-9A62-E5120498E1E2}"/>
              </a:ext>
            </a:extLst>
          </p:cNvPr>
          <p:cNvSpPr txBox="1"/>
          <p:nvPr/>
        </p:nvSpPr>
        <p:spPr>
          <a:xfrm>
            <a:off x="5682343" y="2024743"/>
            <a:ext cx="1439818" cy="369332"/>
          </a:xfrm>
          <a:prstGeom prst="rect">
            <a:avLst/>
          </a:prstGeom>
          <a:noFill/>
        </p:spPr>
        <p:txBody>
          <a:bodyPr wrap="none" rtlCol="0">
            <a:spAutoFit/>
          </a:bodyPr>
          <a:lstStyle/>
          <a:p>
            <a:r>
              <a:rPr lang="en-US" altLang="ko-KR">
                <a:solidFill>
                  <a:srgbClr val="3A0DFB"/>
                </a:solidFill>
              </a:rPr>
              <a:t>//WiFi </a:t>
            </a:r>
            <a:r>
              <a:rPr lang="ko-KR" altLang="en-US">
                <a:solidFill>
                  <a:srgbClr val="3A0DFB"/>
                </a:solidFill>
              </a:rPr>
              <a:t>연결 </a:t>
            </a:r>
          </a:p>
        </p:txBody>
      </p:sp>
      <p:sp>
        <p:nvSpPr>
          <p:cNvPr id="5" name="TextBox 4">
            <a:extLst>
              <a:ext uri="{FF2B5EF4-FFF2-40B4-BE49-F238E27FC236}">
                <a16:creationId xmlns:a16="http://schemas.microsoft.com/office/drawing/2014/main" id="{F19346A9-48B5-4BA3-B8EA-9BEFF319D29F}"/>
              </a:ext>
            </a:extLst>
          </p:cNvPr>
          <p:cNvSpPr txBox="1"/>
          <p:nvPr/>
        </p:nvSpPr>
        <p:spPr>
          <a:xfrm>
            <a:off x="5682343" y="3059668"/>
            <a:ext cx="1760354" cy="369332"/>
          </a:xfrm>
          <a:prstGeom prst="rect">
            <a:avLst/>
          </a:prstGeom>
          <a:noFill/>
        </p:spPr>
        <p:txBody>
          <a:bodyPr wrap="none" rtlCol="0">
            <a:spAutoFit/>
          </a:bodyPr>
          <a:lstStyle/>
          <a:p>
            <a:r>
              <a:rPr lang="en-US" altLang="ko-KR">
                <a:solidFill>
                  <a:srgbClr val="3A0DFB"/>
                </a:solidFill>
              </a:rPr>
              <a:t>// sd card </a:t>
            </a:r>
            <a:r>
              <a:rPr lang="ko-KR" altLang="en-US">
                <a:solidFill>
                  <a:srgbClr val="3A0DFB"/>
                </a:solidFill>
              </a:rPr>
              <a:t>연결</a:t>
            </a:r>
          </a:p>
        </p:txBody>
      </p:sp>
    </p:spTree>
    <p:extLst>
      <p:ext uri="{BB962C8B-B14F-4D97-AF65-F5344CB8AC3E}">
        <p14:creationId xmlns:p14="http://schemas.microsoft.com/office/powerpoint/2010/main" val="119602940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23134-54B8-CFCE-1F05-9195DFF73A8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302BA4D-BAE4-0531-6F15-45E0F7B92F76}"/>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5/8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72E0ACA3-EFBE-BED4-F098-D8EC0EF75B29}"/>
              </a:ext>
            </a:extLst>
          </p:cNvPr>
          <p:cNvSpPr>
            <a:spLocks noChangeArrowheads="1"/>
          </p:cNvSpPr>
          <p:nvPr/>
        </p:nvSpPr>
        <p:spPr bwMode="auto">
          <a:xfrm>
            <a:off x="68094" y="731652"/>
            <a:ext cx="11733981" cy="591014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1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4854245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3A34-EDB7-9A71-8115-21C1D879AD7D}"/>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455147C-2FB9-8EE9-2524-2E9640AE12F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6/8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4E5CEE08-4672-CD28-AB88-22F383C64265}"/>
              </a:ext>
            </a:extLst>
          </p:cNvPr>
          <p:cNvSpPr>
            <a:spLocks noChangeArrowheads="1"/>
          </p:cNvSpPr>
          <p:nvPr/>
        </p:nvSpPr>
        <p:spPr bwMode="auto">
          <a:xfrm>
            <a:off x="68094" y="731652"/>
            <a:ext cx="8704306" cy="560666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DD4A68"/>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esp_err_t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0x%x"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Route</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for</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root</a:t>
            </a:r>
            <a:r>
              <a:rPr kumimoji="0" lang="ko-KR" altLang="ko-KR" sz="1600" b="0" i="0" u="none" strike="noStrike" cap="none" normalizeH="0" baseline="0" dirty="0">
                <a:ln>
                  <a:noFill/>
                </a:ln>
                <a:solidFill>
                  <a:srgbClr val="3A0DFB"/>
                </a:solidFill>
                <a:effectLst/>
                <a:latin typeface="Consolas" panose="020B0609020204030204" pitchFamily="49" charset="0"/>
              </a:rPr>
              <a:t> / </a:t>
            </a:r>
            <a:r>
              <a:rPr kumimoji="0" lang="ko-KR" altLang="ko-KR" sz="1600" b="0" i="0" u="none" strike="noStrike" cap="none" normalizeH="0" baseline="0" dirty="0" err="1">
                <a:ln>
                  <a:noFill/>
                </a:ln>
                <a:solidFill>
                  <a:srgbClr val="3A0DFB"/>
                </a:solidFill>
                <a:effectLst/>
                <a:latin typeface="Consolas" panose="020B0609020204030204" pitchFamily="49" charset="0"/>
              </a:rPr>
              <a:t>web</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err="1">
                <a:ln>
                  <a:noFill/>
                </a:ln>
                <a:solidFill>
                  <a:srgbClr val="3A0DFB"/>
                </a:solidFill>
                <a:effectLst/>
                <a:latin typeface="Consolas" panose="020B0609020204030204" pitchFamily="49" charset="0"/>
              </a:rPr>
              <a:t>page</a:t>
            </a:r>
            <a:r>
              <a:rPr kumimoji="0" lang="ko-KR" altLang="ko-KR" sz="1600" b="0" i="0" u="none" strike="noStrike" cap="none" normalizeH="0" baseline="0">
                <a:ln>
                  <a:noFill/>
                </a:ln>
                <a:solidFill>
                  <a:srgbClr val="3A0DFB"/>
                </a:solidFill>
                <a:effectLst/>
                <a:latin typeface="Consolas" panose="020B0609020204030204" pitchFamily="49" charset="0"/>
              </a:rPr>
              <a:t> </a:t>
            </a:r>
            <a:r>
              <a:rPr kumimoji="0" lang="en-US" altLang="ko-KR" sz="1600" b="0" i="0" u="none" strike="noStrike" cap="none" normalizeH="0" baseline="0">
                <a:ln>
                  <a:noFill/>
                </a:ln>
                <a:solidFill>
                  <a:srgbClr val="3A0DFB"/>
                </a:solidFill>
                <a:effectLst/>
                <a:latin typeface="Consolas" panose="020B0609020204030204" pitchFamily="49" charset="0"/>
              </a:rPr>
              <a:t>, </a:t>
            </a:r>
            <a:r>
              <a:rPr kumimoji="0" lang="ko-KR" altLang="en-US" sz="1600" b="0" i="0" u="none" strike="noStrike" cap="none" normalizeH="0" baseline="0">
                <a:ln>
                  <a:noFill/>
                </a:ln>
                <a:solidFill>
                  <a:srgbClr val="3A0DFB"/>
                </a:solidFill>
                <a:effectLst/>
                <a:latin typeface="Consolas" panose="020B0609020204030204" pitchFamily="49" charset="0"/>
              </a:rPr>
              <a:t>클라이언트 접근하면 아래 </a:t>
            </a:r>
            <a:r>
              <a:rPr lang="ko-KR" altLang="en-US" sz="1600">
                <a:solidFill>
                  <a:srgbClr val="3A0DFB"/>
                </a:solidFill>
                <a:latin typeface="Consolas" panose="020B0609020204030204" pitchFamily="49" charset="0"/>
              </a:rPr>
              <a:t>동작을 함</a:t>
            </a:r>
            <a:endParaRPr lang="en-US" altLang="ko-KR" sz="1600">
              <a:solidFill>
                <a:srgbClr val="3A0DFB"/>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a:solidFill>
                  <a:srgbClr val="3A0DFB"/>
                </a:solidFill>
                <a:latin typeface="Consolas" panose="020B0609020204030204" pitchFamily="49" charset="0"/>
              </a:rPr>
              <a:t>  </a:t>
            </a:r>
            <a:r>
              <a:rPr lang="en-US" altLang="ko-KR" sz="160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text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html</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text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plain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Taking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image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Start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A880F8B1-1DE5-4C80-BB59-CCBD4560219F}"/>
              </a:ext>
            </a:extLst>
          </p:cNvPr>
          <p:cNvSpPr txBox="1"/>
          <p:nvPr/>
        </p:nvSpPr>
        <p:spPr>
          <a:xfrm>
            <a:off x="7819054" y="2967135"/>
            <a:ext cx="3377848" cy="338554"/>
          </a:xfrm>
          <a:prstGeom prst="rect">
            <a:avLst/>
          </a:prstGeom>
          <a:noFill/>
        </p:spPr>
        <p:txBody>
          <a:bodyPr wrap="none" rtlCol="0">
            <a:spAutoFit/>
          </a:bodyPr>
          <a:lstStyle/>
          <a:p>
            <a:r>
              <a:rPr lang="en-US" altLang="ko-KR" sz="1600">
                <a:solidFill>
                  <a:srgbClr val="3A0DFB"/>
                </a:solidFill>
              </a:rPr>
              <a:t>// client </a:t>
            </a:r>
            <a:r>
              <a:rPr lang="ko-KR" altLang="en-US" sz="1600">
                <a:solidFill>
                  <a:srgbClr val="3A0DFB"/>
                </a:solidFill>
              </a:rPr>
              <a:t>접속하면 </a:t>
            </a:r>
            <a:r>
              <a:rPr lang="en-US" altLang="ko-KR" sz="1600">
                <a:solidFill>
                  <a:srgbClr val="3A0DFB"/>
                </a:solidFill>
              </a:rPr>
              <a:t>index_html </a:t>
            </a:r>
            <a:r>
              <a:rPr lang="ko-KR" altLang="en-US" sz="1600">
                <a:solidFill>
                  <a:srgbClr val="3A0DFB"/>
                </a:solidFill>
              </a:rPr>
              <a:t>전송</a:t>
            </a:r>
          </a:p>
        </p:txBody>
      </p:sp>
      <p:sp>
        <p:nvSpPr>
          <p:cNvPr id="5" name="Rectangle 1">
            <a:extLst>
              <a:ext uri="{FF2B5EF4-FFF2-40B4-BE49-F238E27FC236}">
                <a16:creationId xmlns:a16="http://schemas.microsoft.com/office/drawing/2014/main" id="{2CB8B44D-0354-4CAF-8937-37290E1ED618}"/>
              </a:ext>
            </a:extLst>
          </p:cNvPr>
          <p:cNvSpPr>
            <a:spLocks noChangeArrowheads="1"/>
          </p:cNvSpPr>
          <p:nvPr/>
        </p:nvSpPr>
        <p:spPr bwMode="auto">
          <a:xfrm>
            <a:off x="8593156" y="4343400"/>
            <a:ext cx="324856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3A0DFB"/>
                </a:solidFill>
                <a:effectLst/>
                <a:latin typeface="Arial Unicode MS"/>
              </a:rPr>
              <a:t>/saved-photo</a:t>
            </a:r>
            <a:r>
              <a:rPr kumimoji="0" lang="ko-KR" altLang="ko-KR" sz="1400" b="0" i="0" u="none" strike="noStrike" cap="none" normalizeH="0" baseline="0">
                <a:ln>
                  <a:noFill/>
                </a:ln>
                <a:solidFill>
                  <a:srgbClr val="3A0DFB"/>
                </a:solidFill>
                <a:effectLst/>
              </a:rPr>
              <a:t> URL로 요청이 들어올 경우, SPIFFS에 저장된 사진을 연결된 클라이언트로 전송 </a:t>
            </a:r>
            <a:endParaRPr kumimoji="0" lang="ko-KR" altLang="ko-KR" sz="1400" b="0" i="0" u="none" strike="noStrike" cap="none" normalizeH="0" baseline="0">
              <a:ln>
                <a:noFill/>
              </a:ln>
              <a:solidFill>
                <a:srgbClr val="3A0DFB"/>
              </a:solidFill>
              <a:effectLst/>
              <a:latin typeface="Arial" panose="020B0604020202020204" pitchFamily="34" charset="0"/>
            </a:endParaRPr>
          </a:p>
        </p:txBody>
      </p:sp>
    </p:spTree>
    <p:extLst>
      <p:ext uri="{BB962C8B-B14F-4D97-AF65-F5344CB8AC3E}">
        <p14:creationId xmlns:p14="http://schemas.microsoft.com/office/powerpoint/2010/main" val="151954783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0780-7C96-7327-D524-EACBAEED022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9D390CE-2D0C-A84E-4E91-34BAD6E71900}"/>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7/8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C1A8B46-C207-DAA1-C00C-95A2A2224F9A}"/>
              </a:ext>
            </a:extLst>
          </p:cNvPr>
          <p:cNvSpPr>
            <a:spLocks noChangeArrowheads="1"/>
          </p:cNvSpPr>
          <p:nvPr/>
        </p:nvSpPr>
        <p:spPr bwMode="auto">
          <a:xfrm>
            <a:off x="68094" y="731652"/>
            <a:ext cx="4776949" cy="437555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Check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successful</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checkPhoto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FS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f_pic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pic_sz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f_pic</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pic_sz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368C3F9-5505-4602-843B-00513853E9FB}"/>
              </a:ext>
            </a:extLst>
          </p:cNvPr>
          <p:cNvSpPr txBox="1"/>
          <p:nvPr/>
        </p:nvSpPr>
        <p:spPr>
          <a:xfrm>
            <a:off x="4407076" y="1127319"/>
            <a:ext cx="3145733" cy="584775"/>
          </a:xfrm>
          <a:prstGeom prst="rect">
            <a:avLst/>
          </a:prstGeom>
          <a:noFill/>
        </p:spPr>
        <p:txBody>
          <a:bodyPr wrap="none" rtlCol="0">
            <a:spAutoFit/>
          </a:bodyPr>
          <a:lstStyle/>
          <a:p>
            <a:r>
              <a:rPr lang="en-US" altLang="ko-KR" sz="1600">
                <a:solidFill>
                  <a:srgbClr val="3A0DFB"/>
                </a:solidFill>
              </a:rPr>
              <a:t>// takeNewPhoto </a:t>
            </a:r>
            <a:r>
              <a:rPr lang="ko-KR" altLang="en-US" sz="1600">
                <a:solidFill>
                  <a:srgbClr val="3A0DFB"/>
                </a:solidFill>
              </a:rPr>
              <a:t>요청이 오면</a:t>
            </a:r>
            <a:r>
              <a:rPr lang="en-US" altLang="ko-KR" sz="1600">
                <a:solidFill>
                  <a:srgbClr val="3A0DFB"/>
                </a:solidFill>
              </a:rPr>
              <a:t>, </a:t>
            </a:r>
            <a:br>
              <a:rPr lang="en-US" altLang="ko-KR" sz="1600">
                <a:solidFill>
                  <a:srgbClr val="3A0DFB"/>
                </a:solidFill>
              </a:rPr>
            </a:br>
            <a:r>
              <a:rPr lang="en-US" altLang="ko-KR" sz="1600">
                <a:solidFill>
                  <a:srgbClr val="3A0DFB"/>
                </a:solidFill>
              </a:rPr>
              <a:t>   </a:t>
            </a:r>
            <a:r>
              <a:rPr lang="ko-KR" altLang="en-US" sz="1600">
                <a:solidFill>
                  <a:srgbClr val="3A0DFB"/>
                </a:solidFill>
              </a:rPr>
              <a:t>사진을 찍어서 </a:t>
            </a:r>
            <a:r>
              <a:rPr lang="en-US" altLang="ko-KR" sz="1600">
                <a:solidFill>
                  <a:srgbClr val="3A0DFB"/>
                </a:solidFill>
              </a:rPr>
              <a:t>sd card</a:t>
            </a:r>
            <a:r>
              <a:rPr lang="ko-KR" altLang="en-US" sz="1600">
                <a:solidFill>
                  <a:srgbClr val="3A0DFB"/>
                </a:solidFill>
              </a:rPr>
              <a:t>에 저장</a:t>
            </a:r>
          </a:p>
        </p:txBody>
      </p:sp>
    </p:spTree>
    <p:extLst>
      <p:ext uri="{BB962C8B-B14F-4D97-AF65-F5344CB8AC3E}">
        <p14:creationId xmlns:p14="http://schemas.microsoft.com/office/powerpoint/2010/main" val="59373659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14F9-3CB9-12B1-B126-746EC5233D6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49C9D86-6C3D-86BF-E800-1133640BA259}"/>
              </a:ext>
            </a:extLst>
          </p:cNvPr>
          <p:cNvSpPr/>
          <p:nvPr/>
        </p:nvSpPr>
        <p:spPr>
          <a:xfrm>
            <a:off x="0" y="1"/>
            <a:ext cx="12192000" cy="38910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8/8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DE71A877-C47A-4D02-607E-3EA951D018E3}"/>
              </a:ext>
            </a:extLst>
          </p:cNvPr>
          <p:cNvSpPr>
            <a:spLocks noChangeArrowheads="1"/>
          </p:cNvSpPr>
          <p:nvPr/>
        </p:nvSpPr>
        <p:spPr bwMode="auto">
          <a:xfrm>
            <a:off x="77822" y="446352"/>
            <a:ext cx="10275249" cy="64017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indent="174625" eaLnBrk="0" fontAlgn="base" latinLnBrk="0" hangingPunct="0">
              <a:spcBef>
                <a:spcPct val="0"/>
              </a:spcBef>
              <a:spcAft>
                <a:spcPct val="0"/>
              </a:spcAf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en-US" altLang="ko-KR" sz="1600" b="0" i="0" u="none" strike="noStrike" cap="none" normalizeH="0" baseline="0" dirty="0">
                <a:ln>
                  <a:noFill/>
                </a:ln>
                <a:solidFill>
                  <a:srgbClr val="999999"/>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camera_fb_t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pointer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Boolean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indicating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correctly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do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Taking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SPIFFS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Insert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buf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len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image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length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"The </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has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saved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 - </a:t>
            </a:r>
            <a:r>
              <a:rPr kumimoji="0" lang="ko-KR" altLang="ko-KR" sz="1600" b="0" i="0" u="none" strike="noStrike" cap="none" normalizeH="0" baseline="0" dirty="0" err="1">
                <a:ln>
                  <a:noFill/>
                </a:ln>
                <a:solidFill>
                  <a:srgbClr val="669900"/>
                </a:solidFill>
                <a:effectLst/>
                <a:latin typeface="Consolas" panose="020B0609020204030204" pitchFamily="49" charset="0"/>
              </a:rPr>
              <a:t>Size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bytes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Close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close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check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correctly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checkPhoto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9694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결과 </a:t>
            </a:r>
            <a:r>
              <a:rPr lang="en-US" altLang="ko-KR" sz="2000" b="1">
                <a:solidFill>
                  <a:schemeClr val="tx1"/>
                </a:solidFill>
              </a:rPr>
              <a:t>. ESP32-CAM Take Photo and Display in Web Server</a:t>
            </a:r>
            <a:endParaRPr lang="ko-KR" altLang="en-US" sz="2000" b="1" dirty="0">
              <a:solidFill>
                <a:schemeClr val="tx1"/>
              </a:solidFill>
            </a:endParaRPr>
          </a:p>
        </p:txBody>
      </p:sp>
      <p:pic>
        <p:nvPicPr>
          <p:cNvPr id="3" name="그림 2">
            <a:extLst>
              <a:ext uri="{FF2B5EF4-FFF2-40B4-BE49-F238E27FC236}">
                <a16:creationId xmlns:a16="http://schemas.microsoft.com/office/drawing/2014/main" id="{F7A53576-7C01-43B1-BD86-2E80A91B9019}"/>
              </a:ext>
            </a:extLst>
          </p:cNvPr>
          <p:cNvPicPr>
            <a:picLocks noChangeAspect="1"/>
          </p:cNvPicPr>
          <p:nvPr/>
        </p:nvPicPr>
        <p:blipFill>
          <a:blip r:embed="rId2"/>
          <a:stretch>
            <a:fillRect/>
          </a:stretch>
        </p:blipFill>
        <p:spPr>
          <a:xfrm>
            <a:off x="219545" y="913692"/>
            <a:ext cx="6420746" cy="4391638"/>
          </a:xfrm>
          <a:prstGeom prst="rect">
            <a:avLst/>
          </a:prstGeom>
          <a:ln>
            <a:solidFill>
              <a:schemeClr val="accent1">
                <a:shade val="50000"/>
              </a:schemeClr>
            </a:solidFill>
          </a:ln>
        </p:spPr>
      </p:pic>
      <p:pic>
        <p:nvPicPr>
          <p:cNvPr id="5" name="그림 4">
            <a:extLst>
              <a:ext uri="{FF2B5EF4-FFF2-40B4-BE49-F238E27FC236}">
                <a16:creationId xmlns:a16="http://schemas.microsoft.com/office/drawing/2014/main" id="{D1F70A05-4A15-479F-B442-DB9E13A97F19}"/>
              </a:ext>
            </a:extLst>
          </p:cNvPr>
          <p:cNvPicPr>
            <a:picLocks noChangeAspect="1"/>
          </p:cNvPicPr>
          <p:nvPr/>
        </p:nvPicPr>
        <p:blipFill>
          <a:blip r:embed="rId3"/>
          <a:stretch>
            <a:fillRect/>
          </a:stretch>
        </p:blipFill>
        <p:spPr>
          <a:xfrm>
            <a:off x="5562459" y="2005069"/>
            <a:ext cx="6629541" cy="4665643"/>
          </a:xfrm>
          <a:prstGeom prst="rect">
            <a:avLst/>
          </a:prstGeom>
          <a:ln>
            <a:solidFill>
              <a:schemeClr val="accent1">
                <a:shade val="50000"/>
              </a:schemeClr>
            </a:solidFill>
          </a:ln>
        </p:spPr>
      </p:pic>
    </p:spTree>
    <p:extLst>
      <p:ext uri="{BB962C8B-B14F-4D97-AF65-F5344CB8AC3E}">
        <p14:creationId xmlns:p14="http://schemas.microsoft.com/office/powerpoint/2010/main" val="335431922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Save Picture</a:t>
            </a:r>
          </a:p>
          <a:p>
            <a:pPr marL="179387" algn="ctr"/>
            <a:r>
              <a:rPr lang="en-US" altLang="ko-KR" sz="4800" b="1">
                <a:solidFill>
                  <a:schemeClr val="tx1"/>
                </a:solidFill>
              </a:rPr>
              <a:t>in Firebase Storage</a:t>
            </a:r>
            <a:endParaRPr lang="ko-KR" altLang="en-US" sz="4800" b="1">
              <a:solidFill>
                <a:schemeClr val="tx1"/>
              </a:solidFill>
            </a:endParaRPr>
          </a:p>
        </p:txBody>
      </p:sp>
      <p:pic>
        <p:nvPicPr>
          <p:cNvPr id="5" name="그림 4">
            <a:extLst>
              <a:ext uri="{FF2B5EF4-FFF2-40B4-BE49-F238E27FC236}">
                <a16:creationId xmlns:a16="http://schemas.microsoft.com/office/drawing/2014/main" id="{FA1DCD85-B905-4D70-85B4-E40FC76B5281}"/>
              </a:ext>
            </a:extLst>
          </p:cNvPr>
          <p:cNvPicPr>
            <a:picLocks noChangeAspect="1"/>
          </p:cNvPicPr>
          <p:nvPr/>
        </p:nvPicPr>
        <p:blipFill>
          <a:blip r:embed="rId2"/>
          <a:stretch>
            <a:fillRect/>
          </a:stretch>
        </p:blipFill>
        <p:spPr>
          <a:xfrm>
            <a:off x="-1" y="2892489"/>
            <a:ext cx="12192001" cy="3998949"/>
          </a:xfrm>
          <a:prstGeom prst="rect">
            <a:avLst/>
          </a:prstGeom>
        </p:spPr>
      </p:pic>
      <p:sp>
        <p:nvSpPr>
          <p:cNvPr id="6" name="직사각형 5">
            <a:extLst>
              <a:ext uri="{FF2B5EF4-FFF2-40B4-BE49-F238E27FC236}">
                <a16:creationId xmlns:a16="http://schemas.microsoft.com/office/drawing/2014/main" id="{61B6BE2B-FAD3-4AB9-AFE1-2DFC97353E33}"/>
              </a:ext>
            </a:extLst>
          </p:cNvPr>
          <p:cNvSpPr/>
          <p:nvPr/>
        </p:nvSpPr>
        <p:spPr>
          <a:xfrm>
            <a:off x="2306781" y="2523157"/>
            <a:ext cx="7578436" cy="369332"/>
          </a:xfrm>
          <a:prstGeom prst="rect">
            <a:avLst/>
          </a:prstGeom>
        </p:spPr>
        <p:txBody>
          <a:bodyPr wrap="square">
            <a:spAutoFit/>
          </a:bodyPr>
          <a:lstStyle/>
          <a:p>
            <a:r>
              <a:rPr lang="en-US" altLang="ko-KR">
                <a:hlinkClick r:id="rId3"/>
              </a:rPr>
              <a:t>ESP32-CAM Save Picture in Firebase Storage | Random Nerd Tutorials</a:t>
            </a:r>
            <a:endParaRPr lang="ko-KR" altLang="en-US"/>
          </a:p>
        </p:txBody>
      </p:sp>
    </p:spTree>
    <p:extLst>
      <p:ext uri="{BB962C8B-B14F-4D97-AF65-F5344CB8AC3E}">
        <p14:creationId xmlns:p14="http://schemas.microsoft.com/office/powerpoint/2010/main" val="57910497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학습 개요</a:t>
            </a:r>
          </a:p>
        </p:txBody>
      </p:sp>
      <p:sp>
        <p:nvSpPr>
          <p:cNvPr id="6" name="직사각형 5">
            <a:extLst>
              <a:ext uri="{FF2B5EF4-FFF2-40B4-BE49-F238E27FC236}">
                <a16:creationId xmlns:a16="http://schemas.microsoft.com/office/drawing/2014/main" id="{971E71FC-4731-475B-8777-42E095F43730}"/>
              </a:ext>
            </a:extLst>
          </p:cNvPr>
          <p:cNvSpPr/>
          <p:nvPr/>
        </p:nvSpPr>
        <p:spPr>
          <a:xfrm>
            <a:off x="415636" y="889338"/>
            <a:ext cx="11222182" cy="2802819"/>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2000"/>
              <a:t>이 수업에서는 </a:t>
            </a:r>
            <a:r>
              <a:rPr lang="en-US" altLang="ko-KR" sz="2000"/>
              <a:t>ESP32-CAM</a:t>
            </a:r>
            <a:r>
              <a:rPr lang="ko-KR" altLang="en-US" sz="2000"/>
              <a:t>을 사용하여 사진을 찍고 </a:t>
            </a:r>
            <a:br>
              <a:rPr lang="en-US" altLang="ko-KR" sz="2000"/>
            </a:br>
            <a:r>
              <a:rPr lang="en-US" altLang="ko-KR" sz="2000"/>
              <a:t>Firebase Storage</a:t>
            </a:r>
            <a:r>
              <a:rPr lang="ko-KR" altLang="en-US" sz="2000"/>
              <a:t>에 업로드하는 방법을 배울 수 있다</a:t>
            </a:r>
            <a:r>
              <a:rPr lang="en-US" altLang="ko-KR" sz="2000"/>
              <a:t>. </a:t>
            </a:r>
          </a:p>
          <a:p>
            <a:pPr marL="285750" indent="-285750">
              <a:lnSpc>
                <a:spcPct val="150000"/>
              </a:lnSpc>
              <a:buFont typeface="Arial" panose="020B0604020202020204" pitchFamily="34" charset="0"/>
              <a:buChar char="•"/>
            </a:pPr>
            <a:r>
              <a:rPr lang="ko-KR" altLang="en-US" sz="2000"/>
              <a:t>먼저 파일을 저장할 수 있는 </a:t>
            </a:r>
            <a:r>
              <a:rPr lang="en-US" altLang="ko-KR" sz="2000"/>
              <a:t>Storage</a:t>
            </a:r>
            <a:r>
              <a:rPr lang="ko-KR" altLang="en-US" sz="2000"/>
              <a:t>가 포함된 </a:t>
            </a:r>
            <a:r>
              <a:rPr lang="en-US" altLang="ko-KR" sz="2000"/>
              <a:t>Firebase </a:t>
            </a:r>
            <a:r>
              <a:rPr lang="ko-KR" altLang="en-US" sz="2000"/>
              <a:t>프로젝트를 생성한다</a:t>
            </a:r>
            <a:r>
              <a:rPr lang="en-US" altLang="ko-KR" sz="2000"/>
              <a:t>. </a:t>
            </a:r>
          </a:p>
          <a:p>
            <a:pPr marL="285750" indent="-285750">
              <a:lnSpc>
                <a:spcPct val="150000"/>
              </a:lnSpc>
              <a:buFont typeface="Arial" panose="020B0604020202020204" pitchFamily="34" charset="0"/>
              <a:buChar char="•"/>
            </a:pPr>
            <a:r>
              <a:rPr lang="ko-KR" altLang="en-US" sz="2000"/>
              <a:t>그런 다음 </a:t>
            </a:r>
            <a:r>
              <a:rPr lang="en-US" altLang="ko-KR" sz="2000"/>
              <a:t>Firebase </a:t>
            </a:r>
            <a:r>
              <a:rPr lang="ko-KR" altLang="en-US" sz="2000"/>
              <a:t>콘솔에 액세스하여 사진을 시각화하거나 </a:t>
            </a:r>
            <a:br>
              <a:rPr lang="en-US" altLang="ko-KR" sz="2000"/>
            </a:br>
            <a:r>
              <a:rPr lang="ko-KR" altLang="en-US" sz="2000"/>
              <a:t>이를 표시하는 웹 앱을 만들 수 있다</a:t>
            </a:r>
            <a:r>
              <a:rPr lang="en-US" altLang="ko-KR" sz="2000"/>
              <a:t>. </a:t>
            </a:r>
          </a:p>
          <a:p>
            <a:pPr marL="285750" indent="-285750">
              <a:lnSpc>
                <a:spcPct val="150000"/>
              </a:lnSpc>
              <a:buFont typeface="Arial" panose="020B0604020202020204" pitchFamily="34" charset="0"/>
              <a:buChar char="•"/>
            </a:pPr>
            <a:r>
              <a:rPr lang="en-US" altLang="ko-KR" sz="2000"/>
              <a:t>ESP32-CAM</a:t>
            </a:r>
            <a:r>
              <a:rPr lang="ko-KR" altLang="en-US" sz="2000"/>
              <a:t>은 </a:t>
            </a:r>
            <a:r>
              <a:rPr lang="en-US" altLang="ko-KR" sz="2000"/>
              <a:t>Arduino IDE</a:t>
            </a:r>
            <a:r>
              <a:rPr lang="ko-KR" altLang="en-US" sz="2000"/>
              <a:t>를 사용하여 프로그래밍한다</a:t>
            </a:r>
            <a:r>
              <a:rPr lang="en-US" altLang="ko-KR" sz="2000"/>
              <a:t>.</a:t>
            </a:r>
            <a:endParaRPr lang="ko-KR" altLang="en-US" sz="2000"/>
          </a:p>
        </p:txBody>
      </p:sp>
      <p:sp>
        <p:nvSpPr>
          <p:cNvPr id="3" name="직사각형 2">
            <a:extLst>
              <a:ext uri="{FF2B5EF4-FFF2-40B4-BE49-F238E27FC236}">
                <a16:creationId xmlns:a16="http://schemas.microsoft.com/office/drawing/2014/main" id="{4396FD43-384B-451F-A0C8-DE435F09271F}"/>
              </a:ext>
            </a:extLst>
          </p:cNvPr>
          <p:cNvSpPr/>
          <p:nvPr/>
        </p:nvSpPr>
        <p:spPr>
          <a:xfrm>
            <a:off x="0" y="6488668"/>
            <a:ext cx="8537864" cy="369332"/>
          </a:xfrm>
          <a:prstGeom prst="rect">
            <a:avLst/>
          </a:prstGeom>
        </p:spPr>
        <p:txBody>
          <a:bodyPr wrap="square">
            <a:spAutoFit/>
          </a:bodyPr>
          <a:lstStyle/>
          <a:p>
            <a:r>
              <a:rPr lang="ko-KR" altLang="en-US"/>
              <a:t>https://randomnerdtutorials.com/esp32-cam-save-picture-firebase-storage/</a:t>
            </a:r>
          </a:p>
        </p:txBody>
      </p:sp>
      <p:sp>
        <p:nvSpPr>
          <p:cNvPr id="4" name="직사각형 3">
            <a:extLst>
              <a:ext uri="{FF2B5EF4-FFF2-40B4-BE49-F238E27FC236}">
                <a16:creationId xmlns:a16="http://schemas.microsoft.com/office/drawing/2014/main" id="{985F5619-E550-415C-8F58-D2F24BEA4434}"/>
              </a:ext>
            </a:extLst>
          </p:cNvPr>
          <p:cNvSpPr/>
          <p:nvPr/>
        </p:nvSpPr>
        <p:spPr>
          <a:xfrm>
            <a:off x="0" y="6138609"/>
            <a:ext cx="8194963" cy="369332"/>
          </a:xfrm>
          <a:prstGeom prst="rect">
            <a:avLst/>
          </a:prstGeom>
        </p:spPr>
        <p:txBody>
          <a:bodyPr wrap="square">
            <a:spAutoFit/>
          </a:bodyPr>
          <a:lstStyle/>
          <a:p>
            <a:r>
              <a:rPr lang="en-US" altLang="ko-KR">
                <a:hlinkClick r:id="rId2"/>
              </a:rPr>
              <a:t>ESP32-CAM Save Picture in Firebase Storage | Random Nerd Tutorials</a:t>
            </a:r>
            <a:endParaRPr lang="ko-KR" altLang="en-US"/>
          </a:p>
        </p:txBody>
      </p:sp>
    </p:spTree>
    <p:extLst>
      <p:ext uri="{BB962C8B-B14F-4D97-AF65-F5344CB8AC3E}">
        <p14:creationId xmlns:p14="http://schemas.microsoft.com/office/powerpoint/2010/main" val="120949416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What is Firebase ? </a:t>
            </a:r>
            <a:endParaRPr lang="ko-KR" altLang="en-US" b="1">
              <a:solidFill>
                <a:schemeClr val="tx1"/>
              </a:solidFill>
            </a:endParaRPr>
          </a:p>
        </p:txBody>
      </p:sp>
      <p:pic>
        <p:nvPicPr>
          <p:cNvPr id="3" name="그림 2">
            <a:extLst>
              <a:ext uri="{FF2B5EF4-FFF2-40B4-BE49-F238E27FC236}">
                <a16:creationId xmlns:a16="http://schemas.microsoft.com/office/drawing/2014/main" id="{AFFBB9C5-7D34-41CB-9825-099A8625526C}"/>
              </a:ext>
            </a:extLst>
          </p:cNvPr>
          <p:cNvPicPr>
            <a:picLocks noChangeAspect="1"/>
          </p:cNvPicPr>
          <p:nvPr/>
        </p:nvPicPr>
        <p:blipFill>
          <a:blip r:embed="rId2"/>
          <a:stretch>
            <a:fillRect/>
          </a:stretch>
        </p:blipFill>
        <p:spPr>
          <a:xfrm>
            <a:off x="7103022" y="1415790"/>
            <a:ext cx="4770325" cy="1344426"/>
          </a:xfrm>
          <a:prstGeom prst="rect">
            <a:avLst/>
          </a:prstGeom>
        </p:spPr>
      </p:pic>
      <p:sp>
        <p:nvSpPr>
          <p:cNvPr id="4" name="직사각형 3">
            <a:extLst>
              <a:ext uri="{FF2B5EF4-FFF2-40B4-BE49-F238E27FC236}">
                <a16:creationId xmlns:a16="http://schemas.microsoft.com/office/drawing/2014/main" id="{DCC51708-5887-4C80-AE16-CFEF11F6F405}"/>
              </a:ext>
            </a:extLst>
          </p:cNvPr>
          <p:cNvSpPr/>
          <p:nvPr/>
        </p:nvSpPr>
        <p:spPr>
          <a:xfrm>
            <a:off x="318653" y="881106"/>
            <a:ext cx="6470073"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앱을 빌드</a:t>
            </a:r>
            <a:r>
              <a:rPr lang="en-US" altLang="ko-KR"/>
              <a:t>, </a:t>
            </a:r>
            <a:r>
              <a:rPr lang="ko-KR" altLang="en-US"/>
              <a:t>개선 및 성장시키는 데 도움을 주는 </a:t>
            </a:r>
            <a:r>
              <a:rPr lang="en-US" altLang="ko-KR"/>
              <a:t>Google</a:t>
            </a:r>
            <a:r>
              <a:rPr lang="ko-KR" altLang="en-US"/>
              <a:t>의 모바일 애플리케이션 개발 플랫폼이다</a:t>
            </a:r>
            <a:r>
              <a:rPr lang="en-US" altLang="ko-KR"/>
              <a:t>. </a:t>
            </a:r>
          </a:p>
          <a:p>
            <a:pPr marL="285750" indent="-285750">
              <a:lnSpc>
                <a:spcPct val="150000"/>
              </a:lnSpc>
              <a:buFont typeface="Arial" panose="020B0604020202020204" pitchFamily="34" charset="0"/>
              <a:buChar char="•"/>
            </a:pPr>
            <a:r>
              <a:rPr lang="en-US" altLang="ko-KR"/>
              <a:t>Firebase</a:t>
            </a:r>
            <a:r>
              <a:rPr lang="ko-KR" altLang="en-US"/>
              <a:t>는 인증</a:t>
            </a:r>
            <a:r>
              <a:rPr lang="en-US" altLang="ko-KR"/>
              <a:t>, </a:t>
            </a:r>
            <a:r>
              <a:rPr lang="ko-KR" altLang="en-US"/>
              <a:t>실시간 데이터베이스</a:t>
            </a:r>
            <a:r>
              <a:rPr lang="en-US" altLang="ko-KR"/>
              <a:t>, </a:t>
            </a:r>
            <a:r>
              <a:rPr lang="ko-KR" altLang="en-US"/>
              <a:t>호스팅</a:t>
            </a:r>
            <a:r>
              <a:rPr lang="en-US" altLang="ko-KR"/>
              <a:t>, </a:t>
            </a:r>
            <a:r>
              <a:rPr lang="ko-KR" altLang="en-US"/>
              <a:t>스토리지 등과 같은 다양한 서비스를 제공하여 </a:t>
            </a:r>
            <a:r>
              <a:rPr lang="en-US" altLang="ko-KR"/>
              <a:t>Android, iOS </a:t>
            </a:r>
            <a:r>
              <a:rPr lang="ko-KR" altLang="en-US"/>
              <a:t>또는 웹 애플리케이션의 데이터를 관리하는 데 사용된다</a:t>
            </a:r>
            <a:r>
              <a:rPr lang="en-US" altLang="ko-KR"/>
              <a:t>.</a:t>
            </a:r>
            <a:endParaRPr lang="ko-KR" altLang="en-US"/>
          </a:p>
        </p:txBody>
      </p:sp>
    </p:spTree>
    <p:extLst>
      <p:ext uri="{BB962C8B-B14F-4D97-AF65-F5344CB8AC3E}">
        <p14:creationId xmlns:p14="http://schemas.microsoft.com/office/powerpoint/2010/main" val="83748167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Project Overview</a:t>
            </a:r>
            <a:endParaRPr lang="ko-KR" altLang="en-US" b="1">
              <a:solidFill>
                <a:schemeClr val="tx1"/>
              </a:solidFill>
            </a:endParaRPr>
          </a:p>
        </p:txBody>
      </p:sp>
      <p:pic>
        <p:nvPicPr>
          <p:cNvPr id="5" name="그림 4">
            <a:extLst>
              <a:ext uri="{FF2B5EF4-FFF2-40B4-BE49-F238E27FC236}">
                <a16:creationId xmlns:a16="http://schemas.microsoft.com/office/drawing/2014/main" id="{9A14566B-DF6A-473E-8A65-79D3164AA83A}"/>
              </a:ext>
            </a:extLst>
          </p:cNvPr>
          <p:cNvPicPr>
            <a:picLocks noChangeAspect="1"/>
          </p:cNvPicPr>
          <p:nvPr/>
        </p:nvPicPr>
        <p:blipFill>
          <a:blip r:embed="rId2"/>
          <a:stretch>
            <a:fillRect/>
          </a:stretch>
        </p:blipFill>
        <p:spPr>
          <a:xfrm>
            <a:off x="1791531" y="4399402"/>
            <a:ext cx="8068804" cy="2444744"/>
          </a:xfrm>
          <a:prstGeom prst="rect">
            <a:avLst/>
          </a:prstGeom>
        </p:spPr>
      </p:pic>
      <p:sp>
        <p:nvSpPr>
          <p:cNvPr id="6" name="직사각형 5">
            <a:extLst>
              <a:ext uri="{FF2B5EF4-FFF2-40B4-BE49-F238E27FC236}">
                <a16:creationId xmlns:a16="http://schemas.microsoft.com/office/drawing/2014/main" id="{7C2E013A-8ABD-4C09-8076-8E70C86AD8F3}"/>
              </a:ext>
            </a:extLst>
          </p:cNvPr>
          <p:cNvSpPr/>
          <p:nvPr/>
        </p:nvSpPr>
        <p:spPr>
          <a:xfrm>
            <a:off x="290945" y="777883"/>
            <a:ext cx="11734800" cy="12852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이번 실습에서는 </a:t>
            </a:r>
            <a:r>
              <a:rPr lang="en-US" altLang="ko-KR"/>
              <a:t>ESP32-CAM</a:t>
            </a:r>
            <a:r>
              <a:rPr lang="ko-KR" altLang="en-US"/>
              <a:t>으로 찍은 사진을 </a:t>
            </a:r>
            <a:r>
              <a:rPr lang="en-US" altLang="ko-KR"/>
              <a:t>Firebase Storage</a:t>
            </a:r>
            <a:r>
              <a:rPr lang="ko-KR" altLang="en-US"/>
              <a:t>로 전송하는 방법을 배운다</a:t>
            </a:r>
            <a:r>
              <a:rPr lang="en-US" altLang="ko-KR"/>
              <a:t>. </a:t>
            </a:r>
          </a:p>
          <a:p>
            <a:pPr marL="285750" indent="-285750">
              <a:lnSpc>
                <a:spcPct val="150000"/>
              </a:lnSpc>
              <a:buFont typeface="Arial" panose="020B0604020202020204" pitchFamily="34" charset="0"/>
              <a:buChar char="•"/>
            </a:pPr>
            <a:r>
              <a:rPr lang="en-US" altLang="ko-KR"/>
              <a:t>ESP32-CAM</a:t>
            </a:r>
            <a:r>
              <a:rPr lang="ko-KR" altLang="en-US"/>
              <a:t>은 리셋할 때마다</a:t>
            </a:r>
            <a:r>
              <a:rPr lang="en-US" altLang="ko-KR"/>
              <a:t>(RESET </a:t>
            </a:r>
            <a:r>
              <a:rPr lang="ko-KR" altLang="en-US"/>
              <a:t>버튼을 누를 때마다</a:t>
            </a:r>
            <a:r>
              <a:rPr lang="en-US" altLang="ko-KR"/>
              <a:t>) </a:t>
            </a:r>
            <a:r>
              <a:rPr lang="ko-KR" altLang="en-US"/>
              <a:t>사진을 찍고 </a:t>
            </a:r>
            <a:r>
              <a:rPr lang="en-US" altLang="ko-KR"/>
              <a:t>Firebase</a:t>
            </a:r>
            <a:r>
              <a:rPr lang="ko-KR" altLang="en-US"/>
              <a:t>로 전송한다</a:t>
            </a:r>
            <a:r>
              <a:rPr lang="en-US" altLang="ko-KR"/>
              <a:t>. </a:t>
            </a:r>
          </a:p>
          <a:p>
            <a:pPr marL="285750" indent="-285750">
              <a:lnSpc>
                <a:spcPct val="150000"/>
              </a:lnSpc>
              <a:buFont typeface="Arial" panose="020B0604020202020204" pitchFamily="34" charset="0"/>
              <a:buChar char="•"/>
            </a:pPr>
            <a:r>
              <a:rPr lang="ko-KR" altLang="en-US"/>
              <a:t>이 아이디어는 </a:t>
            </a:r>
            <a:r>
              <a:rPr lang="en-US" altLang="ko-KR"/>
              <a:t>PIR </a:t>
            </a:r>
            <a:r>
              <a:rPr lang="ko-KR" altLang="en-US"/>
              <a:t>모션 센서나 푸시 버튼과 같은 프로젝트에 유용한 트리거를 추가하는 것이다</a:t>
            </a:r>
            <a:r>
              <a:rPr lang="en-US" altLang="ko-KR"/>
              <a:t>.</a:t>
            </a:r>
            <a:endParaRPr lang="ko-KR" altLang="en-US"/>
          </a:p>
        </p:txBody>
      </p:sp>
      <p:sp>
        <p:nvSpPr>
          <p:cNvPr id="7" name="Rectangle 1">
            <a:extLst>
              <a:ext uri="{FF2B5EF4-FFF2-40B4-BE49-F238E27FC236}">
                <a16:creationId xmlns:a16="http://schemas.microsoft.com/office/drawing/2014/main" id="{B872973C-5A20-4440-A47F-8D5EC04AA176}"/>
              </a:ext>
            </a:extLst>
          </p:cNvPr>
          <p:cNvSpPr>
            <a:spLocks noChangeArrowheads="1"/>
          </p:cNvSpPr>
          <p:nvPr/>
        </p:nvSpPr>
        <p:spPr bwMode="auto">
          <a:xfrm>
            <a:off x="290945" y="2054771"/>
            <a:ext cx="8522205" cy="226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ESP32가 처음 실행되면 새 사진을 찍어 파일 시스템(LittleFS)에 저장합니다.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ESP32-CAM은 이메일과 비밀번호를 사용하여 Firebase에 사용자로 연결합니다.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ESP32-CAM은 사진을 Firebase Storage로 전송합니다.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이후 Firebase 콘솔에서 사진을 확인할 수 있습니다.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나중에 어디서든 ESP32-CAM 사진을 표시할 수 있는 웹 애플리케이션을 만들 수 있습니다</a:t>
            </a:r>
            <a:br>
              <a:rPr kumimoji="0" lang="en-US" altLang="ko-KR" sz="1600" b="0" i="0" u="none" strike="noStrike" cap="none" normalizeH="0" baseline="0">
                <a:ln>
                  <a:noFill/>
                </a:ln>
                <a:solidFill>
                  <a:schemeClr val="tx1"/>
                </a:solidFill>
                <a:effectLst/>
                <a:latin typeface="Arial" panose="020B0604020202020204" pitchFamily="34" charset="0"/>
              </a:rPr>
            </a:br>
            <a:r>
              <a:rPr kumimoji="0" lang="en-US"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panose="020B0604020202020204" pitchFamily="34" charset="0"/>
              </a:rPr>
              <a:t>(이 웹 앱은 이후 튜토리얼에서 생성할 예정입니다). </a:t>
            </a:r>
          </a:p>
        </p:txBody>
      </p:sp>
    </p:spTree>
    <p:extLst>
      <p:ext uri="{BB962C8B-B14F-4D97-AF65-F5344CB8AC3E}">
        <p14:creationId xmlns:p14="http://schemas.microsoft.com/office/powerpoint/2010/main" val="115359780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400" b="1">
                <a:solidFill>
                  <a:schemeClr val="tx1"/>
                </a:solidFill>
              </a:rPr>
              <a:t>Contents</a:t>
            </a:r>
            <a:endParaRPr lang="ko-KR" altLang="en-US" sz="2400" b="1">
              <a:solidFill>
                <a:schemeClr val="tx1"/>
              </a:solidFill>
            </a:endParaRPr>
          </a:p>
        </p:txBody>
      </p:sp>
      <p:sp>
        <p:nvSpPr>
          <p:cNvPr id="3" name="직사각형 2">
            <a:extLst>
              <a:ext uri="{FF2B5EF4-FFF2-40B4-BE49-F238E27FC236}">
                <a16:creationId xmlns:a16="http://schemas.microsoft.com/office/drawing/2014/main" id="{9FF3D010-10E2-4071-B944-503643A4AFFB}"/>
              </a:ext>
            </a:extLst>
          </p:cNvPr>
          <p:cNvSpPr/>
          <p:nvPr/>
        </p:nvSpPr>
        <p:spPr>
          <a:xfrm>
            <a:off x="595745" y="889245"/>
            <a:ext cx="8077200" cy="3671005"/>
          </a:xfrm>
          <a:prstGeom prst="rect">
            <a:avLst/>
          </a:prstGeom>
        </p:spPr>
        <p:txBody>
          <a:bodyPr wrap="square">
            <a:spAutoFit/>
          </a:bodyPr>
          <a:lstStyle/>
          <a:p>
            <a:pPr>
              <a:lnSpc>
                <a:spcPct val="200000"/>
              </a:lnSpc>
              <a:buFont typeface="+mj-lt"/>
              <a:buAutoNum type="arabicPeriod"/>
            </a:pPr>
            <a:r>
              <a:rPr lang="en-US" altLang="ko-KR" sz="2400">
                <a:latin typeface="Helvetica" panose="020B0604020202020204" pitchFamily="34" charset="0"/>
                <a:hlinkClick r:id="rId2">
                  <a:extLst>
                    <a:ext uri="{A12FA001-AC4F-418D-AE19-62706E023703}">
                      <ahyp:hlinkClr xmlns:ahyp="http://schemas.microsoft.com/office/drawing/2018/hyperlinkcolor" val="tx"/>
                    </a:ext>
                  </a:extLst>
                </a:hlinkClick>
              </a:rPr>
              <a:t>Create a Firebase Project</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3">
                  <a:extLst>
                    <a:ext uri="{A12FA001-AC4F-418D-AE19-62706E023703}">
                      <ahyp:hlinkClr xmlns:ahyp="http://schemas.microsoft.com/office/drawing/2018/hyperlinkcolor" val="tx"/>
                    </a:ext>
                  </a:extLst>
                </a:hlinkClick>
              </a:rPr>
              <a:t>Set Authentication Methods</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4">
                  <a:extLst>
                    <a:ext uri="{A12FA001-AC4F-418D-AE19-62706E023703}">
                      <ahyp:hlinkClr xmlns:ahyp="http://schemas.microsoft.com/office/drawing/2018/hyperlinkcolor" val="tx"/>
                    </a:ext>
                  </a:extLst>
                </a:hlinkClick>
              </a:rPr>
              <a:t>Create Storage Bucket</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5">
                  <a:extLst>
                    <a:ext uri="{A12FA001-AC4F-418D-AE19-62706E023703}">
                      <ahyp:hlinkClr xmlns:ahyp="http://schemas.microsoft.com/office/drawing/2018/hyperlinkcolor" val="tx"/>
                    </a:ext>
                  </a:extLst>
                </a:hlinkClick>
              </a:rPr>
              <a:t>Get Project API Key</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6">
                  <a:extLst>
                    <a:ext uri="{A12FA001-AC4F-418D-AE19-62706E023703}">
                      <ahyp:hlinkClr xmlns:ahyp="http://schemas.microsoft.com/office/drawing/2018/hyperlinkcolor" val="tx"/>
                    </a:ext>
                  </a:extLst>
                </a:hlinkClick>
              </a:rPr>
              <a:t>ESP32-CAM Send Pictures to Firebase Storage</a:t>
            </a:r>
            <a:endParaRPr lang="en-US" altLang="ko-KR" sz="2400" b="0" i="0">
              <a:effectLst/>
              <a:latin typeface="Helvetica" panose="020B0604020202020204" pitchFamily="34" charset="0"/>
            </a:endParaRPr>
          </a:p>
        </p:txBody>
      </p:sp>
    </p:spTree>
    <p:extLst>
      <p:ext uri="{BB962C8B-B14F-4D97-AF65-F5344CB8AC3E}">
        <p14:creationId xmlns:p14="http://schemas.microsoft.com/office/powerpoint/2010/main" val="184012348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1. Create a Firebase Project</a:t>
            </a:r>
            <a:endParaRPr lang="ko-KR" altLang="en-US" sz="2000" b="1">
              <a:solidFill>
                <a:schemeClr val="tx1"/>
              </a:solidFill>
            </a:endParaRPr>
          </a:p>
        </p:txBody>
      </p:sp>
      <p:sp>
        <p:nvSpPr>
          <p:cNvPr id="3" name="직사각형 2">
            <a:extLst>
              <a:ext uri="{FF2B5EF4-FFF2-40B4-BE49-F238E27FC236}">
                <a16:creationId xmlns:a16="http://schemas.microsoft.com/office/drawing/2014/main" id="{C2057CD7-4F42-42C9-BAA8-80E5A11D93DA}"/>
              </a:ext>
            </a:extLst>
          </p:cNvPr>
          <p:cNvSpPr/>
          <p:nvPr/>
        </p:nvSpPr>
        <p:spPr>
          <a:xfrm>
            <a:off x="471054" y="682540"/>
            <a:ext cx="11720946" cy="1881990"/>
          </a:xfrm>
          <a:prstGeom prst="rect">
            <a:avLst/>
          </a:prstGeom>
        </p:spPr>
        <p:txBody>
          <a:bodyPr wrap="square">
            <a:spAutoFit/>
          </a:bodyPr>
          <a:lstStyle/>
          <a:p>
            <a:pPr>
              <a:lnSpc>
                <a:spcPct val="150000"/>
              </a:lnSpc>
            </a:pPr>
            <a:r>
              <a:rPr lang="en-US" altLang="ko-KR" sz="2000" b="1">
                <a:solidFill>
                  <a:srgbClr val="3A3A3A"/>
                </a:solidFill>
                <a:latin typeface="Helvetica" panose="020B0604020202020204" pitchFamily="34" charset="0"/>
              </a:rPr>
              <a:t>1)</a:t>
            </a:r>
            <a:r>
              <a:rPr lang="en-US" altLang="ko-KR" sz="2000">
                <a:solidFill>
                  <a:srgbClr val="3A3A3A"/>
                </a:solidFill>
                <a:latin typeface="Helvetica" panose="020B0604020202020204" pitchFamily="34" charset="0"/>
              </a:rPr>
              <a:t> Go to </a:t>
            </a:r>
            <a:r>
              <a:rPr lang="en-US" altLang="ko-KR" sz="2000">
                <a:solidFill>
                  <a:srgbClr val="1B78E2"/>
                </a:solidFill>
                <a:latin typeface="Helvetica" panose="020B0604020202020204" pitchFamily="34" charset="0"/>
                <a:hlinkClick r:id="rId2"/>
              </a:rPr>
              <a:t>Firebase </a:t>
            </a:r>
            <a:r>
              <a:rPr lang="en-US" altLang="ko-KR" sz="2000">
                <a:solidFill>
                  <a:srgbClr val="3A3A3A"/>
                </a:solidFill>
                <a:latin typeface="Helvetica" panose="020B0604020202020204" pitchFamily="34" charset="0"/>
              </a:rPr>
              <a:t>and sign in using a Google Account.</a:t>
            </a:r>
          </a:p>
          <a:p>
            <a:pPr>
              <a:lnSpc>
                <a:spcPct val="150000"/>
              </a:lnSpc>
            </a:pPr>
            <a:r>
              <a:rPr lang="en-US" altLang="ko-KR" sz="2000" b="1">
                <a:solidFill>
                  <a:srgbClr val="3A3A3A"/>
                </a:solidFill>
                <a:latin typeface="Helvetica" panose="020B0604020202020204" pitchFamily="34" charset="0"/>
              </a:rPr>
              <a:t>2)</a:t>
            </a:r>
            <a:r>
              <a:rPr lang="en-US" altLang="ko-KR" sz="2000">
                <a:solidFill>
                  <a:srgbClr val="3A3A3A"/>
                </a:solidFill>
                <a:latin typeface="Helvetica" panose="020B0604020202020204" pitchFamily="34" charset="0"/>
              </a:rPr>
              <a:t> Click </a:t>
            </a:r>
            <a:r>
              <a:rPr lang="en-US" altLang="ko-KR" sz="2000" b="1">
                <a:solidFill>
                  <a:srgbClr val="3A3A3A"/>
                </a:solidFill>
                <a:latin typeface="Helvetica" panose="020B0604020202020204" pitchFamily="34" charset="0"/>
              </a:rPr>
              <a:t>Get Started(</a:t>
            </a:r>
            <a:r>
              <a:rPr lang="ko-KR" altLang="en-US" sz="2000" b="1">
                <a:solidFill>
                  <a:srgbClr val="3A3A3A"/>
                </a:solidFill>
                <a:latin typeface="Helvetica" panose="020B0604020202020204" pitchFamily="34" charset="0"/>
              </a:rPr>
              <a:t>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and then </a:t>
            </a:r>
            <a:r>
              <a:rPr lang="en-US" altLang="ko-KR" sz="2000" b="1">
                <a:solidFill>
                  <a:srgbClr val="3A3A3A"/>
                </a:solidFill>
                <a:latin typeface="Helvetica" panose="020B0604020202020204" pitchFamily="34" charset="0"/>
              </a:rPr>
              <a:t>Add project(</a:t>
            </a:r>
            <a:r>
              <a:rPr lang="ko-KR" altLang="en-US" sz="2000" b="1">
                <a:solidFill>
                  <a:srgbClr val="3A3A3A"/>
                </a:solidFill>
                <a:latin typeface="Helvetica" panose="020B0604020202020204" pitchFamily="34" charset="0"/>
              </a:rPr>
              <a:t>프로젝트 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to create a new project.</a:t>
            </a:r>
          </a:p>
          <a:p>
            <a:pPr>
              <a:lnSpc>
                <a:spcPct val="150000"/>
              </a:lnSpc>
            </a:pPr>
            <a:r>
              <a:rPr lang="en-US" altLang="ko-KR" sz="2000" b="1">
                <a:solidFill>
                  <a:srgbClr val="3A3A3A"/>
                </a:solidFill>
                <a:latin typeface="Helvetica" panose="020B0604020202020204" pitchFamily="34" charset="0"/>
              </a:rPr>
              <a:t>3)</a:t>
            </a:r>
            <a:r>
              <a:rPr lang="en-US" altLang="ko-KR" sz="2000">
                <a:solidFill>
                  <a:srgbClr val="3A3A3A"/>
                </a:solidFill>
                <a:latin typeface="Helvetica" panose="020B0604020202020204" pitchFamily="34" charset="0"/>
              </a:rPr>
              <a:t> Give a name to your project, for example: </a:t>
            </a:r>
            <a:r>
              <a:rPr lang="en-US" altLang="ko-KR" sz="2000" i="1">
                <a:solidFill>
                  <a:srgbClr val="3A3A3A"/>
                </a:solidFill>
                <a:latin typeface="Helvetica" panose="020B0604020202020204" pitchFamily="34" charset="0"/>
              </a:rPr>
              <a:t>ESP Firebase Demo</a:t>
            </a:r>
            <a:r>
              <a:rPr lang="en-US" altLang="ko-KR" sz="2000">
                <a:solidFill>
                  <a:srgbClr val="3A3A3A"/>
                </a:solidFill>
                <a:latin typeface="Helvetica" panose="020B0604020202020204" pitchFamily="34" charset="0"/>
              </a:rPr>
              <a:t>.</a:t>
            </a:r>
          </a:p>
          <a:p>
            <a:pPr>
              <a:lnSpc>
                <a:spcPct val="150000"/>
              </a:lnSpc>
            </a:pPr>
            <a:r>
              <a:rPr lang="en-US" altLang="ko-KR" sz="2000" b="0" i="0">
                <a:solidFill>
                  <a:srgbClr val="3A3A3A"/>
                </a:solidFill>
                <a:effectLst/>
                <a:latin typeface="Helvetica" panose="020B0604020202020204" pitchFamily="34" charset="0"/>
              </a:rPr>
              <a:t> </a:t>
            </a:r>
            <a:r>
              <a:rPr lang="en-US" altLang="ko-KR" b="1"/>
              <a:t>4)</a:t>
            </a:r>
            <a:r>
              <a:rPr lang="en-US" altLang="ko-KR"/>
              <a:t> Disable the option </a:t>
            </a:r>
            <a:r>
              <a:rPr lang="en-US" altLang="ko-KR" i="1"/>
              <a:t>Enable Google Analytics</a:t>
            </a:r>
            <a:r>
              <a:rPr lang="en-US" altLang="ko-KR"/>
              <a:t> for this project as it is not needed and click </a:t>
            </a:r>
            <a:r>
              <a:rPr lang="en-US" altLang="ko-KR" b="1"/>
              <a:t>Create project</a:t>
            </a:r>
            <a:r>
              <a:rPr lang="en-US" altLang="ko-KR"/>
              <a:t>.</a:t>
            </a:r>
            <a:endParaRPr lang="en-US" altLang="ko-KR" sz="2000" b="0" i="0">
              <a:solidFill>
                <a:srgbClr val="3A3A3A"/>
              </a:solidFill>
              <a:effectLst/>
              <a:latin typeface="Helvetica" panose="020B0604020202020204" pitchFamily="34" charset="0"/>
            </a:endParaRPr>
          </a:p>
        </p:txBody>
      </p:sp>
      <p:pic>
        <p:nvPicPr>
          <p:cNvPr id="4" name="그림 3">
            <a:extLst>
              <a:ext uri="{FF2B5EF4-FFF2-40B4-BE49-F238E27FC236}">
                <a16:creationId xmlns:a16="http://schemas.microsoft.com/office/drawing/2014/main" id="{16C5A1DD-F3B9-4CFF-8AF7-25E05FD89B47}"/>
              </a:ext>
            </a:extLst>
          </p:cNvPr>
          <p:cNvPicPr>
            <a:picLocks noChangeAspect="1"/>
          </p:cNvPicPr>
          <p:nvPr/>
        </p:nvPicPr>
        <p:blipFill>
          <a:blip r:embed="rId3"/>
          <a:stretch>
            <a:fillRect/>
          </a:stretch>
        </p:blipFill>
        <p:spPr>
          <a:xfrm>
            <a:off x="906559" y="2687782"/>
            <a:ext cx="6887536" cy="4170217"/>
          </a:xfrm>
          <a:prstGeom prst="rect">
            <a:avLst/>
          </a:prstGeom>
        </p:spPr>
      </p:pic>
    </p:spTree>
    <p:extLst>
      <p:ext uri="{BB962C8B-B14F-4D97-AF65-F5344CB8AC3E}">
        <p14:creationId xmlns:p14="http://schemas.microsoft.com/office/powerpoint/2010/main" val="94690030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457201" y="783990"/>
            <a:ext cx="10418618"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Authentication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4" name="그림 3">
            <a:extLst>
              <a:ext uri="{FF2B5EF4-FFF2-40B4-BE49-F238E27FC236}">
                <a16:creationId xmlns:a16="http://schemas.microsoft.com/office/drawing/2014/main" id="{1F63EEE0-E530-4606-AB1A-7583EC1F1DC5}"/>
              </a:ext>
            </a:extLst>
          </p:cNvPr>
          <p:cNvPicPr>
            <a:picLocks noChangeAspect="1"/>
          </p:cNvPicPr>
          <p:nvPr/>
        </p:nvPicPr>
        <p:blipFill>
          <a:blip r:embed="rId2"/>
          <a:stretch>
            <a:fillRect/>
          </a:stretch>
        </p:blipFill>
        <p:spPr>
          <a:xfrm>
            <a:off x="641327" y="1272295"/>
            <a:ext cx="10659963" cy="5483500"/>
          </a:xfrm>
          <a:prstGeom prst="rect">
            <a:avLst/>
          </a:prstGeom>
        </p:spPr>
      </p:pic>
      <p:sp>
        <p:nvSpPr>
          <p:cNvPr id="5" name="사각형: 둥근 모서리 4">
            <a:extLst>
              <a:ext uri="{FF2B5EF4-FFF2-40B4-BE49-F238E27FC236}">
                <a16:creationId xmlns:a16="http://schemas.microsoft.com/office/drawing/2014/main" id="{52A39994-34E3-45C8-A581-82721C46FE66}"/>
              </a:ext>
            </a:extLst>
          </p:cNvPr>
          <p:cNvSpPr/>
          <p:nvPr/>
        </p:nvSpPr>
        <p:spPr>
          <a:xfrm>
            <a:off x="762000" y="4114799"/>
            <a:ext cx="1648691" cy="2909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1166815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2)</a:t>
            </a:r>
            <a:r>
              <a:rPr lang="en-US" altLang="ko-KR"/>
              <a:t> Select the Option </a:t>
            </a:r>
            <a:r>
              <a:rPr lang="en-US" altLang="ko-KR" b="1"/>
              <a:t>Email/Password</a:t>
            </a:r>
            <a:r>
              <a:rPr lang="en-US" altLang="ko-KR"/>
              <a:t>.</a:t>
            </a:r>
            <a:endParaRPr lang="ko-KR" altLang="en-US"/>
          </a:p>
        </p:txBody>
      </p:sp>
      <p:pic>
        <p:nvPicPr>
          <p:cNvPr id="6" name="그림 5">
            <a:extLst>
              <a:ext uri="{FF2B5EF4-FFF2-40B4-BE49-F238E27FC236}">
                <a16:creationId xmlns:a16="http://schemas.microsoft.com/office/drawing/2014/main" id="{B644E378-CEDC-4172-BAE7-A741FAEE083F}"/>
              </a:ext>
            </a:extLst>
          </p:cNvPr>
          <p:cNvPicPr>
            <a:picLocks noChangeAspect="1"/>
          </p:cNvPicPr>
          <p:nvPr/>
        </p:nvPicPr>
        <p:blipFill>
          <a:blip r:embed="rId2"/>
          <a:stretch>
            <a:fillRect/>
          </a:stretch>
        </p:blipFill>
        <p:spPr>
          <a:xfrm>
            <a:off x="623123" y="1399413"/>
            <a:ext cx="10945753" cy="5458587"/>
          </a:xfrm>
          <a:prstGeom prst="rect">
            <a:avLst/>
          </a:prstGeom>
        </p:spPr>
      </p:pic>
      <p:sp>
        <p:nvSpPr>
          <p:cNvPr id="7" name="사각형: 둥근 모서리 6">
            <a:extLst>
              <a:ext uri="{FF2B5EF4-FFF2-40B4-BE49-F238E27FC236}">
                <a16:creationId xmlns:a16="http://schemas.microsoft.com/office/drawing/2014/main" id="{AEF58A17-28EA-4AB2-A52A-E6CA923FADC9}"/>
              </a:ext>
            </a:extLst>
          </p:cNvPr>
          <p:cNvSpPr/>
          <p:nvPr/>
        </p:nvSpPr>
        <p:spPr>
          <a:xfrm>
            <a:off x="3477492" y="4281054"/>
            <a:ext cx="1620982" cy="56803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63120742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3)</a:t>
            </a:r>
            <a:r>
              <a:rPr lang="en-US" altLang="ko-KR"/>
              <a:t> Enable that authentication method and click </a:t>
            </a:r>
            <a:r>
              <a:rPr lang="en-US" altLang="ko-KR" b="1"/>
              <a:t>Save</a:t>
            </a:r>
            <a:r>
              <a:rPr lang="en-US" altLang="ko-KR"/>
              <a:t>.</a:t>
            </a:r>
            <a:endParaRPr lang="ko-KR" altLang="en-US"/>
          </a:p>
        </p:txBody>
      </p:sp>
      <p:pic>
        <p:nvPicPr>
          <p:cNvPr id="4" name="그림 3">
            <a:extLst>
              <a:ext uri="{FF2B5EF4-FFF2-40B4-BE49-F238E27FC236}">
                <a16:creationId xmlns:a16="http://schemas.microsoft.com/office/drawing/2014/main" id="{6554A4DD-F183-4B12-8B31-B761CD24656D}"/>
              </a:ext>
            </a:extLst>
          </p:cNvPr>
          <p:cNvPicPr>
            <a:picLocks noChangeAspect="1"/>
          </p:cNvPicPr>
          <p:nvPr/>
        </p:nvPicPr>
        <p:blipFill>
          <a:blip r:embed="rId2"/>
          <a:stretch>
            <a:fillRect/>
          </a:stretch>
        </p:blipFill>
        <p:spPr>
          <a:xfrm>
            <a:off x="277092" y="1244585"/>
            <a:ext cx="11679280" cy="5239481"/>
          </a:xfrm>
          <a:prstGeom prst="rect">
            <a:avLst/>
          </a:prstGeom>
        </p:spPr>
      </p:pic>
      <p:sp>
        <p:nvSpPr>
          <p:cNvPr id="8" name="사각형: 둥근 모서리 7">
            <a:extLst>
              <a:ext uri="{FF2B5EF4-FFF2-40B4-BE49-F238E27FC236}">
                <a16:creationId xmlns:a16="http://schemas.microsoft.com/office/drawing/2014/main" id="{7A04D035-7A89-4CE1-8724-7064692CB122}"/>
              </a:ext>
            </a:extLst>
          </p:cNvPr>
          <p:cNvSpPr/>
          <p:nvPr/>
        </p:nvSpPr>
        <p:spPr>
          <a:xfrm>
            <a:off x="8922327" y="4045527"/>
            <a:ext cx="1149928" cy="38683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5257F0D8-1923-42F1-89EB-E1C866D62388}"/>
              </a:ext>
            </a:extLst>
          </p:cNvPr>
          <p:cNvSpPr/>
          <p:nvPr/>
        </p:nvSpPr>
        <p:spPr>
          <a:xfrm>
            <a:off x="11166761" y="5832762"/>
            <a:ext cx="734191" cy="5264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5634598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pic>
        <p:nvPicPr>
          <p:cNvPr id="3" name="그림 2">
            <a:extLst>
              <a:ext uri="{FF2B5EF4-FFF2-40B4-BE49-F238E27FC236}">
                <a16:creationId xmlns:a16="http://schemas.microsoft.com/office/drawing/2014/main" id="{1ED7E15C-6CB4-4139-8C6C-B500A97423BF}"/>
              </a:ext>
            </a:extLst>
          </p:cNvPr>
          <p:cNvPicPr>
            <a:picLocks noChangeAspect="1"/>
          </p:cNvPicPr>
          <p:nvPr/>
        </p:nvPicPr>
        <p:blipFill>
          <a:blip r:embed="rId2"/>
          <a:stretch>
            <a:fillRect/>
          </a:stretch>
        </p:blipFill>
        <p:spPr>
          <a:xfrm>
            <a:off x="1118514" y="1179931"/>
            <a:ext cx="9650172" cy="4248743"/>
          </a:xfrm>
          <a:prstGeom prst="rect">
            <a:avLst/>
          </a:prstGeom>
          <a:ln>
            <a:solidFill>
              <a:schemeClr val="tx1">
                <a:lumMod val="50000"/>
                <a:lumOff val="50000"/>
              </a:schemeClr>
            </a:solidFill>
          </a:ln>
        </p:spPr>
      </p:pic>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4)</a:t>
            </a:r>
            <a:r>
              <a:rPr lang="en-US" altLang="ko-KR"/>
              <a:t> </a:t>
            </a:r>
            <a:r>
              <a:rPr lang="ko-KR" altLang="en-US"/>
              <a:t>사용자 추가 클릭</a:t>
            </a:r>
            <a:r>
              <a:rPr lang="en-US" altLang="ko-KR"/>
              <a:t>, </a:t>
            </a:r>
            <a:r>
              <a:rPr lang="ko-KR" altLang="en-US"/>
              <a:t>이메일 입력</a:t>
            </a:r>
            <a:r>
              <a:rPr lang="en-US" altLang="ko-KR"/>
              <a:t>, </a:t>
            </a:r>
            <a:r>
              <a:rPr lang="ko-KR" altLang="en-US"/>
              <a:t>접근 비밀번호 입력</a:t>
            </a:r>
            <a:r>
              <a:rPr lang="en-US" altLang="ko-KR"/>
              <a:t>(</a:t>
            </a:r>
            <a:r>
              <a:rPr lang="ko-KR" altLang="en-US"/>
              <a:t>이메일 비밀번호 아님</a:t>
            </a:r>
            <a:r>
              <a:rPr lang="en-US" altLang="ko-KR"/>
              <a:t>)</a:t>
            </a:r>
            <a:endParaRPr lang="ko-KR" altLang="en-US"/>
          </a:p>
        </p:txBody>
      </p:sp>
      <p:sp>
        <p:nvSpPr>
          <p:cNvPr id="5" name="사각형: 둥근 모서리 4">
            <a:extLst>
              <a:ext uri="{FF2B5EF4-FFF2-40B4-BE49-F238E27FC236}">
                <a16:creationId xmlns:a16="http://schemas.microsoft.com/office/drawing/2014/main" id="{4AC8C8C7-DA29-42D9-A411-C8133D047BA3}"/>
              </a:ext>
            </a:extLst>
          </p:cNvPr>
          <p:cNvSpPr/>
          <p:nvPr/>
        </p:nvSpPr>
        <p:spPr>
          <a:xfrm>
            <a:off x="8465127" y="2355266"/>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73ECFB21-ECBA-40BD-AB09-577D4CD8B079}"/>
              </a:ext>
            </a:extLst>
          </p:cNvPr>
          <p:cNvSpPr/>
          <p:nvPr/>
        </p:nvSpPr>
        <p:spPr>
          <a:xfrm>
            <a:off x="1620982" y="3699159"/>
            <a:ext cx="5735782" cy="824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48CEB187-A1E8-4967-81C1-BF884D8A6387}"/>
              </a:ext>
            </a:extLst>
          </p:cNvPr>
          <p:cNvSpPr/>
          <p:nvPr/>
        </p:nvSpPr>
        <p:spPr>
          <a:xfrm>
            <a:off x="9199418" y="4565070"/>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3"/>
          <a:stretch>
            <a:fillRect/>
          </a:stretch>
        </p:blipFill>
        <p:spPr>
          <a:xfrm>
            <a:off x="1118514" y="5463313"/>
            <a:ext cx="7476460" cy="1394688"/>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6095999" y="5866248"/>
            <a:ext cx="1648691" cy="50684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4372634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5)</a:t>
            </a:r>
            <a:r>
              <a:rPr lang="en-US" altLang="ko-KR"/>
              <a:t> UUID </a:t>
            </a:r>
            <a:r>
              <a:rPr lang="ko-KR" altLang="en-US"/>
              <a:t>확인</a:t>
            </a:r>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2"/>
          <a:stretch>
            <a:fillRect/>
          </a:stretch>
        </p:blipFill>
        <p:spPr>
          <a:xfrm>
            <a:off x="564331" y="1214458"/>
            <a:ext cx="10126083" cy="1888959"/>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7412181" y="1652094"/>
            <a:ext cx="2161310" cy="6893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F63484C-6419-45CF-9D73-E5C5C2E437CA}"/>
              </a:ext>
            </a:extLst>
          </p:cNvPr>
          <p:cNvSpPr/>
          <p:nvPr/>
        </p:nvSpPr>
        <p:spPr>
          <a:xfrm>
            <a:off x="282165" y="3286128"/>
            <a:ext cx="11627670"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각 등록된 사용자에 대해 고유한 </a:t>
            </a:r>
            <a:r>
              <a:rPr lang="en-US" altLang="ko-KR"/>
              <a:t>UID</a:t>
            </a:r>
            <a:r>
              <a:rPr lang="ko-KR" altLang="en-US"/>
              <a:t>를 생성한다</a:t>
            </a:r>
            <a:r>
              <a:rPr lang="en-US" altLang="ko-KR"/>
              <a:t>. </a:t>
            </a:r>
          </a:p>
          <a:p>
            <a:pPr marL="285750" indent="-285750">
              <a:lnSpc>
                <a:spcPct val="150000"/>
              </a:lnSpc>
              <a:buFont typeface="Arial" panose="020B0604020202020204" pitchFamily="34" charset="0"/>
              <a:buChar char="•"/>
            </a:pPr>
            <a:r>
              <a:rPr lang="ko-KR" altLang="en-US"/>
              <a:t>이 </a:t>
            </a:r>
            <a:r>
              <a:rPr lang="en-US" altLang="ko-KR"/>
              <a:t>UID</a:t>
            </a:r>
            <a:r>
              <a:rPr lang="ko-KR" altLang="en-US"/>
              <a:t>를 통해 사용자를 식별하고</a:t>
            </a:r>
            <a:r>
              <a:rPr lang="en-US" altLang="ko-KR"/>
              <a:t>, </a:t>
            </a:r>
            <a:r>
              <a:rPr lang="ko-KR" altLang="en-US"/>
              <a:t>프로젝트나 데이터베이스에 대한 접근 권한을 부여하거나 제한할 수 있다</a:t>
            </a:r>
            <a:r>
              <a:rPr lang="en-US" altLang="ko-KR"/>
              <a:t>. </a:t>
            </a:r>
            <a:r>
              <a:rPr lang="ko-KR" altLang="en-US"/>
              <a:t>또한</a:t>
            </a:r>
            <a:r>
              <a:rPr lang="en-US" altLang="ko-KR"/>
              <a:t>, </a:t>
            </a:r>
            <a:r>
              <a:rPr lang="ko-KR" altLang="en-US"/>
              <a:t>마지막 로그인 날짜를 기록하는 열이 있다</a:t>
            </a:r>
            <a:r>
              <a:rPr lang="en-US" altLang="ko-KR"/>
              <a:t>. </a:t>
            </a:r>
          </a:p>
          <a:p>
            <a:pPr marL="285750" indent="-285750">
              <a:lnSpc>
                <a:spcPct val="150000"/>
              </a:lnSpc>
              <a:buFont typeface="Arial" panose="020B0604020202020204" pitchFamily="34" charset="0"/>
              <a:buChar char="•"/>
            </a:pPr>
            <a:r>
              <a:rPr lang="ko-KR" altLang="en-US"/>
              <a:t>현재는 해당 사용자로 로그인한 적이 없기 때문에 이 열이 비어 있다</a:t>
            </a:r>
            <a:r>
              <a:rPr lang="en-US" altLang="ko-KR"/>
              <a:t>.</a:t>
            </a:r>
            <a:endParaRPr lang="ko-KR" altLang="en-US"/>
          </a:p>
        </p:txBody>
      </p:sp>
    </p:spTree>
    <p:extLst>
      <p:ext uri="{BB962C8B-B14F-4D97-AF65-F5344CB8AC3E}">
        <p14:creationId xmlns:p14="http://schemas.microsoft.com/office/powerpoint/2010/main" val="283967577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38544" y="1231101"/>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sp>
        <p:nvSpPr>
          <p:cNvPr id="5" name="TextBox 4">
            <a:extLst>
              <a:ext uri="{FF2B5EF4-FFF2-40B4-BE49-F238E27FC236}">
                <a16:creationId xmlns:a16="http://schemas.microsoft.com/office/drawing/2014/main" id="{61E25197-0983-4993-B887-626ECA837762}"/>
              </a:ext>
            </a:extLst>
          </p:cNvPr>
          <p:cNvSpPr txBox="1"/>
          <p:nvPr/>
        </p:nvSpPr>
        <p:spPr>
          <a:xfrm>
            <a:off x="277090" y="763393"/>
            <a:ext cx="613937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Firebase storage </a:t>
            </a:r>
            <a:r>
              <a:rPr lang="ko-KR" altLang="en-US"/>
              <a:t>가 기본 사용 무료에서 유료로 전환됨</a:t>
            </a:r>
            <a:r>
              <a:rPr lang="en-US" altLang="ko-KR"/>
              <a:t>.</a:t>
            </a:r>
            <a:endParaRPr lang="ko-KR" altLang="en-US"/>
          </a:p>
        </p:txBody>
      </p:sp>
      <p:pic>
        <p:nvPicPr>
          <p:cNvPr id="6" name="그림 5">
            <a:extLst>
              <a:ext uri="{FF2B5EF4-FFF2-40B4-BE49-F238E27FC236}">
                <a16:creationId xmlns:a16="http://schemas.microsoft.com/office/drawing/2014/main" id="{89221D88-06DC-4887-AFA2-01829D529CD8}"/>
              </a:ext>
            </a:extLst>
          </p:cNvPr>
          <p:cNvPicPr>
            <a:picLocks noChangeAspect="1"/>
          </p:cNvPicPr>
          <p:nvPr/>
        </p:nvPicPr>
        <p:blipFill>
          <a:blip r:embed="rId2"/>
          <a:stretch>
            <a:fillRect/>
          </a:stretch>
        </p:blipFill>
        <p:spPr>
          <a:xfrm>
            <a:off x="568745" y="1698809"/>
            <a:ext cx="8449854" cy="4909809"/>
          </a:xfrm>
          <a:prstGeom prst="rect">
            <a:avLst/>
          </a:prstGeom>
          <a:ln>
            <a:solidFill>
              <a:schemeClr val="tx1">
                <a:lumMod val="65000"/>
                <a:lumOff val="35000"/>
              </a:schemeClr>
            </a:solidFill>
          </a:ln>
        </p:spPr>
      </p:pic>
      <p:sp>
        <p:nvSpPr>
          <p:cNvPr id="7" name="사각형: 둥근 모서리 6">
            <a:extLst>
              <a:ext uri="{FF2B5EF4-FFF2-40B4-BE49-F238E27FC236}">
                <a16:creationId xmlns:a16="http://schemas.microsoft.com/office/drawing/2014/main" id="{61B00746-6CED-4E77-B0D3-5A8EABF7F50B}"/>
              </a:ext>
            </a:extLst>
          </p:cNvPr>
          <p:cNvSpPr/>
          <p:nvPr/>
        </p:nvSpPr>
        <p:spPr>
          <a:xfrm>
            <a:off x="6096000" y="2634225"/>
            <a:ext cx="1551708" cy="386066"/>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818441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5" name="TextBox 4">
            <a:extLst>
              <a:ext uri="{FF2B5EF4-FFF2-40B4-BE49-F238E27FC236}">
                <a16:creationId xmlns:a16="http://schemas.microsoft.com/office/drawing/2014/main" id="{61E25197-0983-4993-B887-626ECA837762}"/>
              </a:ext>
            </a:extLst>
          </p:cNvPr>
          <p:cNvSpPr txBox="1"/>
          <p:nvPr/>
        </p:nvSpPr>
        <p:spPr>
          <a:xfrm>
            <a:off x="612069" y="996967"/>
            <a:ext cx="5240537"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300</a:t>
            </a:r>
            <a:r>
              <a:rPr lang="ko-KR" altLang="en-US"/>
              <a:t>달러 무료 크레딧 받기  </a:t>
            </a:r>
            <a:r>
              <a:rPr lang="en-US" altLang="ko-KR">
                <a:sym typeface="Wingdings" panose="05000000000000000000" pitchFamily="2" charset="2"/>
              </a:rPr>
              <a:t> </a:t>
            </a:r>
            <a:r>
              <a:rPr lang="ko-KR" altLang="en-US">
                <a:sym typeface="Wingdings" panose="05000000000000000000" pitchFamily="2" charset="2"/>
              </a:rPr>
              <a:t>사용기한 </a:t>
            </a:r>
            <a:r>
              <a:rPr lang="en-US" altLang="ko-KR">
                <a:sym typeface="Wingdings" panose="05000000000000000000" pitchFamily="2" charset="2"/>
              </a:rPr>
              <a:t>3</a:t>
            </a:r>
            <a:r>
              <a:rPr lang="ko-KR" altLang="en-US">
                <a:sym typeface="Wingdings" panose="05000000000000000000" pitchFamily="2" charset="2"/>
              </a:rPr>
              <a:t>개월</a:t>
            </a:r>
            <a:endParaRPr lang="ko-KR" altLang="en-US"/>
          </a:p>
        </p:txBody>
      </p:sp>
      <p:pic>
        <p:nvPicPr>
          <p:cNvPr id="3" name="그림 2">
            <a:extLst>
              <a:ext uri="{FF2B5EF4-FFF2-40B4-BE49-F238E27FC236}">
                <a16:creationId xmlns:a16="http://schemas.microsoft.com/office/drawing/2014/main" id="{35A72F28-6E0E-433D-969D-EB7C6A757424}"/>
              </a:ext>
            </a:extLst>
          </p:cNvPr>
          <p:cNvPicPr>
            <a:picLocks noChangeAspect="1"/>
          </p:cNvPicPr>
          <p:nvPr/>
        </p:nvPicPr>
        <p:blipFill>
          <a:blip r:embed="rId2"/>
          <a:stretch>
            <a:fillRect/>
          </a:stretch>
        </p:blipFill>
        <p:spPr>
          <a:xfrm>
            <a:off x="566157" y="1698809"/>
            <a:ext cx="10572898" cy="5050284"/>
          </a:xfrm>
          <a:prstGeom prst="rect">
            <a:avLst/>
          </a:prstGeom>
        </p:spPr>
      </p:pic>
    </p:spTree>
    <p:extLst>
      <p:ext uri="{BB962C8B-B14F-4D97-AF65-F5344CB8AC3E}">
        <p14:creationId xmlns:p14="http://schemas.microsoft.com/office/powerpoint/2010/main" val="19054681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66253" y="912446"/>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3" name="그림 2">
            <a:extLst>
              <a:ext uri="{FF2B5EF4-FFF2-40B4-BE49-F238E27FC236}">
                <a16:creationId xmlns:a16="http://schemas.microsoft.com/office/drawing/2014/main" id="{EF92198F-5566-402E-B3A2-A58339BE1054}"/>
              </a:ext>
            </a:extLst>
          </p:cNvPr>
          <p:cNvPicPr>
            <a:picLocks noChangeAspect="1"/>
          </p:cNvPicPr>
          <p:nvPr/>
        </p:nvPicPr>
        <p:blipFill>
          <a:blip r:embed="rId2"/>
          <a:stretch>
            <a:fillRect/>
          </a:stretch>
        </p:blipFill>
        <p:spPr>
          <a:xfrm>
            <a:off x="791681" y="1529207"/>
            <a:ext cx="8973802" cy="4686954"/>
          </a:xfrm>
          <a:prstGeom prst="rect">
            <a:avLst/>
          </a:prstGeom>
        </p:spPr>
      </p:pic>
      <p:sp>
        <p:nvSpPr>
          <p:cNvPr id="8" name="사각형: 둥근 모서리 7">
            <a:extLst>
              <a:ext uri="{FF2B5EF4-FFF2-40B4-BE49-F238E27FC236}">
                <a16:creationId xmlns:a16="http://schemas.microsoft.com/office/drawing/2014/main" id="{B512B0D3-D712-4560-AF39-C737BEA90D8D}"/>
              </a:ext>
            </a:extLst>
          </p:cNvPr>
          <p:cNvSpPr/>
          <p:nvPr/>
        </p:nvSpPr>
        <p:spPr>
          <a:xfrm>
            <a:off x="3560618" y="4587715"/>
            <a:ext cx="1136073" cy="510757"/>
          </a:xfrm>
          <a:prstGeom prst="roundRect">
            <a:avLst/>
          </a:prstGeom>
          <a:noFill/>
          <a:ln w="444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8339002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369332"/>
          </a:xfrm>
          <a:prstGeom prst="rect">
            <a:avLst/>
          </a:prstGeom>
        </p:spPr>
        <p:txBody>
          <a:bodyPr wrap="square">
            <a:spAutoFit/>
          </a:bodyPr>
          <a:lstStyle/>
          <a:p>
            <a:r>
              <a:rPr lang="en-US" altLang="ko-KR" b="1">
                <a:solidFill>
                  <a:srgbClr val="3A3A3A"/>
                </a:solidFill>
                <a:latin typeface="Helvetica" panose="020B0604020202020204" pitchFamily="34" charset="0"/>
              </a:rPr>
              <a:t>2) </a:t>
            </a:r>
            <a:r>
              <a:rPr lang="en-US" altLang="ko-KR">
                <a:solidFill>
                  <a:srgbClr val="3A3A3A"/>
                </a:solidFill>
                <a:latin typeface="Helvetica" panose="020B0604020202020204" pitchFamily="34" charset="0"/>
              </a:rPr>
              <a:t> </a:t>
            </a:r>
            <a:r>
              <a:rPr lang="ko-KR" altLang="en-US">
                <a:solidFill>
                  <a:srgbClr val="3A3A3A"/>
                </a:solidFill>
                <a:latin typeface="Helvetica" panose="020B0604020202020204" pitchFamily="34" charset="0"/>
              </a:rPr>
              <a:t>스토리지 위치 선택</a:t>
            </a:r>
            <a:endParaRPr lang="ko-KR" altLang="en-US"/>
          </a:p>
        </p:txBody>
      </p:sp>
      <p:pic>
        <p:nvPicPr>
          <p:cNvPr id="4" name="그림 3">
            <a:extLst>
              <a:ext uri="{FF2B5EF4-FFF2-40B4-BE49-F238E27FC236}">
                <a16:creationId xmlns:a16="http://schemas.microsoft.com/office/drawing/2014/main" id="{59E7E577-89AE-40A4-9178-70F422D4A0B0}"/>
              </a:ext>
            </a:extLst>
          </p:cNvPr>
          <p:cNvPicPr>
            <a:picLocks noChangeAspect="1"/>
          </p:cNvPicPr>
          <p:nvPr/>
        </p:nvPicPr>
        <p:blipFill>
          <a:blip r:embed="rId2"/>
          <a:stretch>
            <a:fillRect/>
          </a:stretch>
        </p:blipFill>
        <p:spPr>
          <a:xfrm>
            <a:off x="884896" y="1286149"/>
            <a:ext cx="7097115" cy="4305901"/>
          </a:xfrm>
          <a:prstGeom prst="rect">
            <a:avLst/>
          </a:prstGeom>
          <a:ln w="28575">
            <a:solidFill>
              <a:schemeClr val="tx1">
                <a:lumMod val="50000"/>
                <a:lumOff val="50000"/>
              </a:schemeClr>
            </a:solidFill>
          </a:ln>
        </p:spPr>
      </p:pic>
    </p:spTree>
    <p:extLst>
      <p:ext uri="{BB962C8B-B14F-4D97-AF65-F5344CB8AC3E}">
        <p14:creationId xmlns:p14="http://schemas.microsoft.com/office/powerpoint/2010/main" val="188998699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369332"/>
          </a:xfrm>
          <a:prstGeom prst="rect">
            <a:avLst/>
          </a:prstGeom>
        </p:spPr>
        <p:txBody>
          <a:bodyPr wrap="square">
            <a:spAutoFit/>
          </a:bodyPr>
          <a:lstStyle/>
          <a:p>
            <a:r>
              <a:rPr lang="en-US" altLang="ko-KR" b="1">
                <a:solidFill>
                  <a:srgbClr val="3A3A3A"/>
                </a:solidFill>
                <a:latin typeface="Helvetica" panose="020B0604020202020204" pitchFamily="34" charset="0"/>
              </a:rPr>
              <a:t>3) </a:t>
            </a:r>
            <a:r>
              <a:rPr lang="ko-KR" altLang="en-US">
                <a:solidFill>
                  <a:srgbClr val="3A3A3A"/>
                </a:solidFill>
                <a:latin typeface="Helvetica" panose="020B0604020202020204" pitchFamily="34" charset="0"/>
              </a:rPr>
              <a:t>테스트모드에서 시작 </a:t>
            </a:r>
            <a:r>
              <a:rPr lang="en-US" altLang="ko-KR">
                <a:solidFill>
                  <a:srgbClr val="3A3A3A"/>
                </a:solidFill>
                <a:latin typeface="Helvetica" panose="020B0604020202020204" pitchFamily="34" charset="0"/>
                <a:sym typeface="Wingdings" panose="05000000000000000000" pitchFamily="2" charset="2"/>
              </a:rPr>
              <a:t> </a:t>
            </a:r>
            <a:r>
              <a:rPr lang="ko-KR" altLang="en-US">
                <a:solidFill>
                  <a:srgbClr val="3A3A3A"/>
                </a:solidFill>
                <a:latin typeface="Helvetica" panose="020B0604020202020204" pitchFamily="34" charset="0"/>
                <a:sym typeface="Wingdings" panose="05000000000000000000" pitchFamily="2" charset="2"/>
              </a:rPr>
              <a:t>만들기</a:t>
            </a:r>
            <a:endParaRPr lang="ko-KR" altLang="en-US"/>
          </a:p>
        </p:txBody>
      </p:sp>
      <p:pic>
        <p:nvPicPr>
          <p:cNvPr id="5" name="그림 4">
            <a:extLst>
              <a:ext uri="{FF2B5EF4-FFF2-40B4-BE49-F238E27FC236}">
                <a16:creationId xmlns:a16="http://schemas.microsoft.com/office/drawing/2014/main" id="{5228AA4E-8A66-486D-8819-4D9E5AB06F27}"/>
              </a:ext>
            </a:extLst>
          </p:cNvPr>
          <p:cNvPicPr>
            <a:picLocks noChangeAspect="1"/>
          </p:cNvPicPr>
          <p:nvPr/>
        </p:nvPicPr>
        <p:blipFill>
          <a:blip r:embed="rId2"/>
          <a:stretch>
            <a:fillRect/>
          </a:stretch>
        </p:blipFill>
        <p:spPr>
          <a:xfrm>
            <a:off x="926896" y="1537949"/>
            <a:ext cx="7474274" cy="4724306"/>
          </a:xfrm>
          <a:prstGeom prst="rect">
            <a:avLst/>
          </a:prstGeom>
          <a:ln w="28575">
            <a:solidFill>
              <a:schemeClr val="tx1">
                <a:lumMod val="50000"/>
                <a:lumOff val="50000"/>
              </a:schemeClr>
            </a:solidFill>
          </a:ln>
        </p:spPr>
      </p:pic>
    </p:spTree>
    <p:extLst>
      <p:ext uri="{BB962C8B-B14F-4D97-AF65-F5344CB8AC3E}">
        <p14:creationId xmlns:p14="http://schemas.microsoft.com/office/powerpoint/2010/main" val="231156882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646331"/>
          </a:xfrm>
          <a:prstGeom prst="rect">
            <a:avLst/>
          </a:prstGeom>
        </p:spPr>
        <p:txBody>
          <a:bodyPr wrap="square">
            <a:spAutoFit/>
          </a:bodyPr>
          <a:lstStyle/>
          <a:p>
            <a:r>
              <a:rPr lang="en-US" altLang="ko-KR" b="1">
                <a:solidFill>
                  <a:srgbClr val="3A3A3A"/>
                </a:solidFill>
                <a:latin typeface="+mn-ea"/>
              </a:rPr>
              <a:t>4)  </a:t>
            </a:r>
            <a:r>
              <a:rPr lang="ko-KR" altLang="en-US" b="1">
                <a:solidFill>
                  <a:srgbClr val="3A3A3A"/>
                </a:solidFill>
                <a:latin typeface="+mn-ea"/>
              </a:rPr>
              <a:t>스</a:t>
            </a:r>
            <a:r>
              <a:rPr lang="ko-KR" altLang="en-US">
                <a:latin typeface="+mn-ea"/>
              </a:rPr>
              <a:t>토리지 버킷이 이제 설정되었다</a:t>
            </a:r>
            <a:r>
              <a:rPr lang="en-US" altLang="ko-KR">
                <a:latin typeface="+mn-ea"/>
              </a:rPr>
              <a:t>. </a:t>
            </a:r>
            <a:r>
              <a:rPr lang="ko-KR" altLang="en-US">
                <a:latin typeface="+mn-ea"/>
              </a:rPr>
              <a:t>나중에 필요하므로 스토리지 버킷 </a:t>
            </a:r>
            <a:r>
              <a:rPr lang="en-US" altLang="ko-KR">
                <a:latin typeface="+mn-ea"/>
              </a:rPr>
              <a:t>ID</a:t>
            </a:r>
            <a:r>
              <a:rPr lang="ko-KR" altLang="en-US">
                <a:latin typeface="+mn-ea"/>
              </a:rPr>
              <a:t>를 복사하자</a:t>
            </a:r>
            <a:r>
              <a:rPr lang="en-US" altLang="ko-KR">
                <a:latin typeface="+mn-ea"/>
              </a:rPr>
              <a:t>.</a:t>
            </a:r>
            <a:br>
              <a:rPr lang="en-US" altLang="ko-KR">
                <a:latin typeface="+mn-ea"/>
              </a:rPr>
            </a:br>
            <a:r>
              <a:rPr lang="en-US" altLang="ko-KR">
                <a:latin typeface="+mn-ea"/>
              </a:rPr>
              <a:t>    (</a:t>
            </a:r>
            <a:r>
              <a:rPr lang="ko-KR" altLang="en-US">
                <a:latin typeface="+mn-ea"/>
              </a:rPr>
              <a:t>아래 그림에서 빨간색 사각형으로 강조된 부분만 복사하면 된다</a:t>
            </a:r>
            <a:r>
              <a:rPr lang="en-US" altLang="ko-KR">
                <a:latin typeface="+mn-ea"/>
              </a:rPr>
              <a:t>).</a:t>
            </a:r>
            <a:endParaRPr lang="ko-KR" altLang="en-US">
              <a:latin typeface="+mn-ea"/>
            </a:endParaRPr>
          </a:p>
        </p:txBody>
      </p:sp>
      <p:pic>
        <p:nvPicPr>
          <p:cNvPr id="4" name="그림 3">
            <a:extLst>
              <a:ext uri="{FF2B5EF4-FFF2-40B4-BE49-F238E27FC236}">
                <a16:creationId xmlns:a16="http://schemas.microsoft.com/office/drawing/2014/main" id="{972586E5-7596-446D-B6A4-DD0C72AD67DE}"/>
              </a:ext>
            </a:extLst>
          </p:cNvPr>
          <p:cNvPicPr>
            <a:picLocks noChangeAspect="1"/>
          </p:cNvPicPr>
          <p:nvPr/>
        </p:nvPicPr>
        <p:blipFill>
          <a:blip r:embed="rId2"/>
          <a:stretch>
            <a:fillRect/>
          </a:stretch>
        </p:blipFill>
        <p:spPr>
          <a:xfrm>
            <a:off x="959164" y="1563148"/>
            <a:ext cx="9955014" cy="1895740"/>
          </a:xfrm>
          <a:prstGeom prst="rect">
            <a:avLst/>
          </a:prstGeom>
        </p:spPr>
      </p:pic>
      <p:sp>
        <p:nvSpPr>
          <p:cNvPr id="6" name="사각형: 둥근 모서리 5">
            <a:extLst>
              <a:ext uri="{FF2B5EF4-FFF2-40B4-BE49-F238E27FC236}">
                <a16:creationId xmlns:a16="http://schemas.microsoft.com/office/drawing/2014/main" id="{2A26F2C7-2A11-46F3-9D96-B87597C1F35E}"/>
              </a:ext>
            </a:extLst>
          </p:cNvPr>
          <p:cNvSpPr/>
          <p:nvPr/>
        </p:nvSpPr>
        <p:spPr>
          <a:xfrm>
            <a:off x="1814945" y="1814948"/>
            <a:ext cx="2881746" cy="37407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629809F4-886D-4894-8391-AD1B4088E6BC}"/>
              </a:ext>
            </a:extLst>
          </p:cNvPr>
          <p:cNvSpPr/>
          <p:nvPr/>
        </p:nvSpPr>
        <p:spPr>
          <a:xfrm>
            <a:off x="1211088" y="3710688"/>
            <a:ext cx="5419497" cy="369332"/>
          </a:xfrm>
          <a:prstGeom prst="rect">
            <a:avLst/>
          </a:prstGeom>
        </p:spPr>
        <p:txBody>
          <a:bodyPr wrap="none">
            <a:spAutoFit/>
          </a:bodyPr>
          <a:lstStyle/>
          <a:p>
            <a:r>
              <a:rPr lang="ko-KR" altLang="en-US"/>
              <a:t>gs://esp-firebase-demo-ddfde.firebasestorage.app</a:t>
            </a:r>
          </a:p>
        </p:txBody>
      </p:sp>
    </p:spTree>
    <p:extLst>
      <p:ext uri="{BB962C8B-B14F-4D97-AF65-F5344CB8AC3E}">
        <p14:creationId xmlns:p14="http://schemas.microsoft.com/office/powerpoint/2010/main" val="129173535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FCC22C3B-EB53-4128-924C-60B566315592}"/>
              </a:ext>
            </a:extLst>
          </p:cNvPr>
          <p:cNvSpPr/>
          <p:nvPr/>
        </p:nvSpPr>
        <p:spPr>
          <a:xfrm>
            <a:off x="249381" y="889153"/>
            <a:ext cx="11457709" cy="646331"/>
          </a:xfrm>
          <a:prstGeom prst="rect">
            <a:avLst/>
          </a:prstGeom>
        </p:spPr>
        <p:txBody>
          <a:bodyPr wrap="square">
            <a:spAutoFit/>
          </a:bodyPr>
          <a:lstStyle/>
          <a:p>
            <a:pPr marL="285750" indent="-285750">
              <a:buFont typeface="Arial" panose="020B0604020202020204" pitchFamily="34" charset="0"/>
              <a:buChar char="•"/>
            </a:pPr>
            <a:r>
              <a:rPr lang="ko-KR" altLang="en-US"/>
              <a:t>스토리지 규칙을 변경하여 인증된 사용자만 스토리지 버킷에 파일을 업로드할 수 있도록 설정하자</a:t>
            </a:r>
            <a:r>
              <a:rPr lang="en-US" altLang="ko-KR"/>
              <a:t>. </a:t>
            </a:r>
            <a:br>
              <a:rPr lang="en-US" altLang="ko-KR"/>
            </a:br>
            <a:r>
              <a:rPr lang="en-US" altLang="ko-KR" b="1"/>
              <a:t>Rules(</a:t>
            </a:r>
            <a:r>
              <a:rPr lang="ko-KR" altLang="en-US" b="1"/>
              <a:t>규칙</a:t>
            </a:r>
            <a:r>
              <a:rPr lang="en-US" altLang="ko-KR" b="1"/>
              <a:t>)</a:t>
            </a:r>
            <a:r>
              <a:rPr lang="ko-KR" altLang="en-US"/>
              <a:t> 탭을 선택한다</a:t>
            </a:r>
            <a:r>
              <a:rPr lang="en-US" altLang="ko-KR"/>
              <a:t>.</a:t>
            </a:r>
            <a:endParaRPr lang="ko-KR" altLang="en-US"/>
          </a:p>
        </p:txBody>
      </p:sp>
      <p:pic>
        <p:nvPicPr>
          <p:cNvPr id="4" name="그림 3">
            <a:extLst>
              <a:ext uri="{FF2B5EF4-FFF2-40B4-BE49-F238E27FC236}">
                <a16:creationId xmlns:a16="http://schemas.microsoft.com/office/drawing/2014/main" id="{71848BB5-CB81-4828-A43E-CC5BE57A3766}"/>
              </a:ext>
            </a:extLst>
          </p:cNvPr>
          <p:cNvPicPr>
            <a:picLocks noChangeAspect="1"/>
          </p:cNvPicPr>
          <p:nvPr/>
        </p:nvPicPr>
        <p:blipFill>
          <a:blip r:embed="rId2"/>
          <a:stretch>
            <a:fillRect/>
          </a:stretch>
        </p:blipFill>
        <p:spPr>
          <a:xfrm>
            <a:off x="360990" y="1759620"/>
            <a:ext cx="7134999" cy="4619633"/>
          </a:xfrm>
          <a:prstGeom prst="rect">
            <a:avLst/>
          </a:prstGeom>
          <a:ln>
            <a:solidFill>
              <a:schemeClr val="tx1">
                <a:lumMod val="50000"/>
                <a:lumOff val="50000"/>
              </a:schemeClr>
            </a:solidFill>
          </a:ln>
        </p:spPr>
      </p:pic>
      <p:sp>
        <p:nvSpPr>
          <p:cNvPr id="5" name="사각형: 둥근 모서리 4">
            <a:extLst>
              <a:ext uri="{FF2B5EF4-FFF2-40B4-BE49-F238E27FC236}">
                <a16:creationId xmlns:a16="http://schemas.microsoft.com/office/drawing/2014/main" id="{C3831A41-34EC-4F25-8ABE-F517D1EC6A87}"/>
              </a:ext>
            </a:extLst>
          </p:cNvPr>
          <p:cNvSpPr/>
          <p:nvPr/>
        </p:nvSpPr>
        <p:spPr>
          <a:xfrm>
            <a:off x="720436" y="2036621"/>
            <a:ext cx="554182" cy="37407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5E0B4760-6888-4934-BEF9-AD98A64BB6D4}"/>
              </a:ext>
            </a:extLst>
          </p:cNvPr>
          <p:cNvSpPr/>
          <p:nvPr/>
        </p:nvSpPr>
        <p:spPr>
          <a:xfrm>
            <a:off x="7675417" y="2939672"/>
            <a:ext cx="4516583" cy="1477328"/>
          </a:xfrm>
          <a:prstGeom prst="rect">
            <a:avLst/>
          </a:prstGeom>
        </p:spPr>
        <p:txBody>
          <a:bodyPr wrap="square">
            <a:spAutoFit/>
          </a:bodyPr>
          <a:lstStyle/>
          <a:p>
            <a:r>
              <a:rPr lang="en-US" altLang="ko-KR">
                <a:solidFill>
                  <a:srgbClr val="3A3A3A"/>
                </a:solidFill>
                <a:latin typeface="Consolas" panose="020B0609020204030204" pitchFamily="49" charset="0"/>
              </a:rPr>
              <a:t>rules_version = '2'; service firebase.storage { match /b/{bucket}/o { match /{allPaths=**} { allow read, write: if request.auth !=null; } } }</a:t>
            </a:r>
            <a:endParaRPr lang="ko-KR" altLang="en-US"/>
          </a:p>
        </p:txBody>
      </p:sp>
      <p:sp>
        <p:nvSpPr>
          <p:cNvPr id="7" name="TextBox 6">
            <a:extLst>
              <a:ext uri="{FF2B5EF4-FFF2-40B4-BE49-F238E27FC236}">
                <a16:creationId xmlns:a16="http://schemas.microsoft.com/office/drawing/2014/main" id="{2FE59087-63F6-4F6C-B732-578C73DD085E}"/>
              </a:ext>
            </a:extLst>
          </p:cNvPr>
          <p:cNvSpPr txBox="1"/>
          <p:nvPr/>
        </p:nvSpPr>
        <p:spPr>
          <a:xfrm>
            <a:off x="7772400" y="2410691"/>
            <a:ext cx="2476960" cy="369332"/>
          </a:xfrm>
          <a:prstGeom prst="rect">
            <a:avLst/>
          </a:prstGeom>
          <a:noFill/>
        </p:spPr>
        <p:txBody>
          <a:bodyPr wrap="none" rtlCol="0">
            <a:spAutoFit/>
          </a:bodyPr>
          <a:lstStyle/>
          <a:p>
            <a:r>
              <a:rPr lang="ko-KR" altLang="en-US">
                <a:solidFill>
                  <a:srgbClr val="3A0DFB"/>
                </a:solidFill>
              </a:rPr>
              <a:t>아래와 같이 수정한다</a:t>
            </a:r>
            <a:r>
              <a:rPr lang="en-US" altLang="ko-KR">
                <a:solidFill>
                  <a:srgbClr val="3A0DFB"/>
                </a:solidFill>
              </a:rPr>
              <a:t>.</a:t>
            </a:r>
            <a:endParaRPr lang="ko-KR" altLang="en-US">
              <a:solidFill>
                <a:srgbClr val="3A0DFB"/>
              </a:solidFill>
            </a:endParaRPr>
          </a:p>
        </p:txBody>
      </p:sp>
    </p:spTree>
    <p:extLst>
      <p:ext uri="{BB962C8B-B14F-4D97-AF65-F5344CB8AC3E}">
        <p14:creationId xmlns:p14="http://schemas.microsoft.com/office/powerpoint/2010/main" val="370648570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pic>
        <p:nvPicPr>
          <p:cNvPr id="8" name="그림 7">
            <a:extLst>
              <a:ext uri="{FF2B5EF4-FFF2-40B4-BE49-F238E27FC236}">
                <a16:creationId xmlns:a16="http://schemas.microsoft.com/office/drawing/2014/main" id="{56989B1A-9430-4540-A061-A1BE23672C1B}"/>
              </a:ext>
            </a:extLst>
          </p:cNvPr>
          <p:cNvPicPr>
            <a:picLocks noChangeAspect="1"/>
          </p:cNvPicPr>
          <p:nvPr/>
        </p:nvPicPr>
        <p:blipFill>
          <a:blip r:embed="rId2"/>
          <a:stretch>
            <a:fillRect/>
          </a:stretch>
        </p:blipFill>
        <p:spPr>
          <a:xfrm>
            <a:off x="561436" y="964333"/>
            <a:ext cx="7716327" cy="4153480"/>
          </a:xfrm>
          <a:prstGeom prst="rect">
            <a:avLst/>
          </a:prstGeom>
          <a:ln>
            <a:solidFill>
              <a:schemeClr val="tx1">
                <a:lumMod val="50000"/>
                <a:lumOff val="50000"/>
              </a:schemeClr>
            </a:solidFill>
          </a:ln>
        </p:spPr>
      </p:pic>
      <p:sp>
        <p:nvSpPr>
          <p:cNvPr id="9" name="사각형: 둥근 모서리 8">
            <a:extLst>
              <a:ext uri="{FF2B5EF4-FFF2-40B4-BE49-F238E27FC236}">
                <a16:creationId xmlns:a16="http://schemas.microsoft.com/office/drawing/2014/main" id="{B6ABA3DE-5933-43F1-A570-B24A9B1A809C}"/>
              </a:ext>
            </a:extLst>
          </p:cNvPr>
          <p:cNvSpPr/>
          <p:nvPr/>
        </p:nvSpPr>
        <p:spPr>
          <a:xfrm>
            <a:off x="5396017" y="1177638"/>
            <a:ext cx="699983" cy="498761"/>
          </a:xfrm>
          <a:prstGeom prst="round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8536882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4. Get Project API Key</a:t>
            </a:r>
            <a:endParaRPr lang="ko-KR" altLang="en-US" b="1">
              <a:solidFill>
                <a:schemeClr val="tx1"/>
              </a:solidFill>
            </a:endParaRPr>
          </a:p>
        </p:txBody>
      </p:sp>
      <p:sp>
        <p:nvSpPr>
          <p:cNvPr id="3" name="직사각형 2">
            <a:extLst>
              <a:ext uri="{FF2B5EF4-FFF2-40B4-BE49-F238E27FC236}">
                <a16:creationId xmlns:a16="http://schemas.microsoft.com/office/drawing/2014/main" id="{B56C5F20-6C07-495B-BCFA-9C7DA3356AC2}"/>
              </a:ext>
            </a:extLst>
          </p:cNvPr>
          <p:cNvSpPr/>
          <p:nvPr/>
        </p:nvSpPr>
        <p:spPr>
          <a:xfrm>
            <a:off x="221671" y="847590"/>
            <a:ext cx="1183178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ESP32-CAM</a:t>
            </a:r>
            <a:r>
              <a:rPr lang="ko-KR" altLang="en-US"/>
              <a:t>을 사용하여 </a:t>
            </a:r>
            <a:r>
              <a:rPr lang="en-US" altLang="ko-KR"/>
              <a:t>Firebase </a:t>
            </a:r>
            <a:r>
              <a:rPr lang="ko-KR" altLang="en-US"/>
              <a:t>프로젝트와 연동하려면 프로젝트 </a:t>
            </a:r>
            <a:r>
              <a:rPr lang="en-US" altLang="ko-KR"/>
              <a:t>API </a:t>
            </a:r>
            <a:r>
              <a:rPr lang="ko-KR" altLang="en-US"/>
              <a:t>키를 가져와야 한다</a:t>
            </a:r>
            <a:r>
              <a:rPr lang="en-US" altLang="ko-KR"/>
              <a:t>. </a:t>
            </a:r>
            <a:br>
              <a:rPr lang="en-US" altLang="ko-KR"/>
            </a:br>
            <a:r>
              <a:rPr lang="ko-KR" altLang="en-US"/>
              <a:t>다음 단계를 따라 프로젝트 </a:t>
            </a:r>
            <a:r>
              <a:rPr lang="en-US" altLang="ko-KR"/>
              <a:t>API </a:t>
            </a:r>
            <a:r>
              <a:rPr lang="ko-KR" altLang="en-US"/>
              <a:t>키를 가져오자</a:t>
            </a:r>
            <a:r>
              <a:rPr lang="en-US" altLang="ko-KR"/>
              <a:t>.</a:t>
            </a:r>
            <a:endParaRPr lang="ko-KR" altLang="en-US"/>
          </a:p>
        </p:txBody>
      </p:sp>
      <p:sp>
        <p:nvSpPr>
          <p:cNvPr id="4" name="직사각형 3">
            <a:extLst>
              <a:ext uri="{FF2B5EF4-FFF2-40B4-BE49-F238E27FC236}">
                <a16:creationId xmlns:a16="http://schemas.microsoft.com/office/drawing/2014/main" id="{2CC4A2E3-20EA-4F13-8440-835DF11D19A9}"/>
              </a:ext>
            </a:extLst>
          </p:cNvPr>
          <p:cNvSpPr/>
          <p:nvPr/>
        </p:nvSpPr>
        <p:spPr>
          <a:xfrm>
            <a:off x="221671" y="1899953"/>
            <a:ext cx="5109156" cy="369332"/>
          </a:xfrm>
          <a:prstGeom prst="rect">
            <a:avLst/>
          </a:prstGeom>
        </p:spPr>
        <p:txBody>
          <a:bodyPr wrap="non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Project Settings</a:t>
            </a:r>
            <a:r>
              <a:rPr lang="en-US" altLang="ko-KR">
                <a:solidFill>
                  <a:srgbClr val="3A3A3A"/>
                </a:solidFill>
                <a:latin typeface="Helvetica" panose="020B0604020202020204" pitchFamily="34" charset="0"/>
              </a:rPr>
              <a:t>.</a:t>
            </a:r>
            <a:endParaRPr lang="ko-KR" altLang="en-US"/>
          </a:p>
        </p:txBody>
      </p:sp>
      <p:pic>
        <p:nvPicPr>
          <p:cNvPr id="5" name="그림 4">
            <a:extLst>
              <a:ext uri="{FF2B5EF4-FFF2-40B4-BE49-F238E27FC236}">
                <a16:creationId xmlns:a16="http://schemas.microsoft.com/office/drawing/2014/main" id="{6941DF32-F0F2-46CF-B832-640F71064676}"/>
              </a:ext>
            </a:extLst>
          </p:cNvPr>
          <p:cNvPicPr>
            <a:picLocks noChangeAspect="1"/>
          </p:cNvPicPr>
          <p:nvPr/>
        </p:nvPicPr>
        <p:blipFill>
          <a:blip r:embed="rId2"/>
          <a:stretch>
            <a:fillRect/>
          </a:stretch>
        </p:blipFill>
        <p:spPr>
          <a:xfrm>
            <a:off x="606129" y="2451858"/>
            <a:ext cx="8260779" cy="4074151"/>
          </a:xfrm>
          <a:prstGeom prst="rect">
            <a:avLst/>
          </a:prstGeom>
          <a:ln>
            <a:solidFill>
              <a:schemeClr val="accent1">
                <a:shade val="50000"/>
              </a:schemeClr>
            </a:solidFill>
          </a:ln>
        </p:spPr>
      </p:pic>
      <p:sp>
        <p:nvSpPr>
          <p:cNvPr id="6" name="사각형: 둥근 모서리 5">
            <a:extLst>
              <a:ext uri="{FF2B5EF4-FFF2-40B4-BE49-F238E27FC236}">
                <a16:creationId xmlns:a16="http://schemas.microsoft.com/office/drawing/2014/main" id="{277618AC-B543-479F-A597-95393F3E06B6}"/>
              </a:ext>
            </a:extLst>
          </p:cNvPr>
          <p:cNvSpPr/>
          <p:nvPr/>
        </p:nvSpPr>
        <p:spPr>
          <a:xfrm>
            <a:off x="3047998" y="3091756"/>
            <a:ext cx="2175165" cy="62126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3039163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4. Get Project API Key</a:t>
            </a:r>
            <a:endParaRPr lang="ko-KR" altLang="en-US" b="1">
              <a:solidFill>
                <a:schemeClr val="tx1"/>
              </a:solidFill>
            </a:endParaRPr>
          </a:p>
        </p:txBody>
      </p:sp>
      <p:sp>
        <p:nvSpPr>
          <p:cNvPr id="7" name="직사각형 6">
            <a:extLst>
              <a:ext uri="{FF2B5EF4-FFF2-40B4-BE49-F238E27FC236}">
                <a16:creationId xmlns:a16="http://schemas.microsoft.com/office/drawing/2014/main" id="{DC6CFE21-F46C-4117-A833-A706A57C2EF5}"/>
              </a:ext>
            </a:extLst>
          </p:cNvPr>
          <p:cNvSpPr/>
          <p:nvPr/>
        </p:nvSpPr>
        <p:spPr>
          <a:xfrm>
            <a:off x="387926" y="889107"/>
            <a:ext cx="9310255" cy="369332"/>
          </a:xfrm>
          <a:prstGeom prst="rect">
            <a:avLst/>
          </a:prstGeom>
        </p:spPr>
        <p:txBody>
          <a:bodyPr wrap="square">
            <a:spAutoFit/>
          </a:bodyPr>
          <a:lstStyle/>
          <a:p>
            <a:r>
              <a:rPr lang="en-US" altLang="ko-KR" b="1">
                <a:solidFill>
                  <a:srgbClr val="3A3A3A"/>
                </a:solidFill>
                <a:latin typeface="Helvetica" panose="020B0604020202020204" pitchFamily="34" charset="0"/>
              </a:rPr>
              <a:t>2)</a:t>
            </a:r>
            <a:r>
              <a:rPr lang="en-US" altLang="ko-KR">
                <a:solidFill>
                  <a:srgbClr val="3A3A3A"/>
                </a:solidFill>
                <a:latin typeface="Helvetica" panose="020B0604020202020204" pitchFamily="34" charset="0"/>
              </a:rPr>
              <a:t> Copy the Web API Key to a safe place because you’ll need it later.</a:t>
            </a:r>
            <a:endParaRPr lang="ko-KR" altLang="en-US"/>
          </a:p>
        </p:txBody>
      </p:sp>
      <p:pic>
        <p:nvPicPr>
          <p:cNvPr id="8" name="그림 7">
            <a:extLst>
              <a:ext uri="{FF2B5EF4-FFF2-40B4-BE49-F238E27FC236}">
                <a16:creationId xmlns:a16="http://schemas.microsoft.com/office/drawing/2014/main" id="{96AC19D4-B7FE-4269-8EA1-095DD6A6FD98}"/>
              </a:ext>
            </a:extLst>
          </p:cNvPr>
          <p:cNvPicPr>
            <a:picLocks noChangeAspect="1"/>
          </p:cNvPicPr>
          <p:nvPr/>
        </p:nvPicPr>
        <p:blipFill>
          <a:blip r:embed="rId2"/>
          <a:stretch>
            <a:fillRect/>
          </a:stretch>
        </p:blipFill>
        <p:spPr>
          <a:xfrm>
            <a:off x="784689" y="1418846"/>
            <a:ext cx="8876947" cy="4588344"/>
          </a:xfrm>
          <a:prstGeom prst="rect">
            <a:avLst/>
          </a:prstGeom>
          <a:ln>
            <a:solidFill>
              <a:schemeClr val="accent1">
                <a:shade val="50000"/>
              </a:schemeClr>
            </a:solidFill>
          </a:ln>
        </p:spPr>
      </p:pic>
      <p:sp>
        <p:nvSpPr>
          <p:cNvPr id="9" name="사각형: 둥근 모서리 8">
            <a:extLst>
              <a:ext uri="{FF2B5EF4-FFF2-40B4-BE49-F238E27FC236}">
                <a16:creationId xmlns:a16="http://schemas.microsoft.com/office/drawing/2014/main" id="{385FF42B-A1F2-4854-8A7C-05304096A3C4}"/>
              </a:ext>
            </a:extLst>
          </p:cNvPr>
          <p:cNvSpPr/>
          <p:nvPr/>
        </p:nvSpPr>
        <p:spPr>
          <a:xfrm>
            <a:off x="1442781" y="5375340"/>
            <a:ext cx="6246492" cy="45742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9C5311D-34DA-486F-B27A-E5D0BFA546E9}"/>
              </a:ext>
            </a:extLst>
          </p:cNvPr>
          <p:cNvSpPr/>
          <p:nvPr/>
        </p:nvSpPr>
        <p:spPr>
          <a:xfrm>
            <a:off x="3543859" y="6151915"/>
            <a:ext cx="5104282" cy="369332"/>
          </a:xfrm>
          <a:prstGeom prst="rect">
            <a:avLst/>
          </a:prstGeom>
        </p:spPr>
        <p:txBody>
          <a:bodyPr wrap="none">
            <a:spAutoFit/>
          </a:bodyPr>
          <a:lstStyle/>
          <a:p>
            <a:r>
              <a:rPr lang="en-US" altLang="ko-KR">
                <a:latin typeface="Roboto" panose="02000000000000000000" pitchFamily="2" charset="0"/>
              </a:rPr>
              <a:t>AIzaSyDcqzjUPhuIUXzIH5zHU3J7OkR4c7tDpOU</a:t>
            </a:r>
            <a:endParaRPr lang="ko-KR" altLang="en-US"/>
          </a:p>
        </p:txBody>
      </p:sp>
    </p:spTree>
    <p:extLst>
      <p:ext uri="{BB962C8B-B14F-4D97-AF65-F5344CB8AC3E}">
        <p14:creationId xmlns:p14="http://schemas.microsoft.com/office/powerpoint/2010/main" val="136166461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5. ESP32-CAM . Send Pictures to Firebase Storage</a:t>
            </a:r>
            <a:endParaRPr lang="ko-KR" altLang="en-US" b="1">
              <a:solidFill>
                <a:schemeClr val="tx1"/>
              </a:solidFill>
            </a:endParaRPr>
          </a:p>
        </p:txBody>
      </p:sp>
      <p:sp>
        <p:nvSpPr>
          <p:cNvPr id="3" name="TextBox 2">
            <a:extLst>
              <a:ext uri="{FF2B5EF4-FFF2-40B4-BE49-F238E27FC236}">
                <a16:creationId xmlns:a16="http://schemas.microsoft.com/office/drawing/2014/main" id="{99257BE9-82C5-4101-B907-D7F56816849B}"/>
              </a:ext>
            </a:extLst>
          </p:cNvPr>
          <p:cNvSpPr txBox="1"/>
          <p:nvPr/>
        </p:nvSpPr>
        <p:spPr>
          <a:xfrm>
            <a:off x="235527" y="886691"/>
            <a:ext cx="295305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ESP32 add-on </a:t>
            </a:r>
            <a:r>
              <a:rPr lang="ko-KR" altLang="en-US"/>
              <a:t>설치하기</a:t>
            </a:r>
          </a:p>
        </p:txBody>
      </p:sp>
      <p:sp>
        <p:nvSpPr>
          <p:cNvPr id="4" name="직사각형 3">
            <a:extLst>
              <a:ext uri="{FF2B5EF4-FFF2-40B4-BE49-F238E27FC236}">
                <a16:creationId xmlns:a16="http://schemas.microsoft.com/office/drawing/2014/main" id="{8665C315-E109-427A-9D97-569722481F7C}"/>
              </a:ext>
            </a:extLst>
          </p:cNvPr>
          <p:cNvSpPr/>
          <p:nvPr/>
        </p:nvSpPr>
        <p:spPr>
          <a:xfrm>
            <a:off x="235527" y="1411012"/>
            <a:ext cx="11956473" cy="872034"/>
          </a:xfrm>
          <a:prstGeom prst="rect">
            <a:avLst/>
          </a:prstGeom>
        </p:spPr>
        <p:txBody>
          <a:bodyPr wrap="square">
            <a:spAutoFit/>
          </a:bodyPr>
          <a:lstStyle/>
          <a:p>
            <a:pPr>
              <a:lnSpc>
                <a:spcPct val="150000"/>
              </a:lnSpc>
            </a:pPr>
            <a:r>
              <a:rPr lang="en-US" altLang="ko-KR">
                <a:solidFill>
                  <a:srgbClr val="3A3A3A"/>
                </a:solidFill>
                <a:latin typeface="Helvetica" panose="020B0604020202020204" pitchFamily="34" charset="0"/>
              </a:rPr>
              <a:t>1) Go to </a:t>
            </a:r>
            <a:r>
              <a:rPr lang="en-US" altLang="ko-KR" b="1">
                <a:solidFill>
                  <a:srgbClr val="3A3A3A"/>
                </a:solidFill>
                <a:latin typeface="Helvetica" panose="020B0604020202020204" pitchFamily="34" charset="0"/>
              </a:rPr>
              <a:t>Sketch </a:t>
            </a:r>
            <a:r>
              <a:rPr lang="en-US" altLang="ko-KR">
                <a:solidFill>
                  <a:srgbClr val="3A3A3A"/>
                </a:solidFill>
                <a:latin typeface="Helvetica" panose="020B0604020202020204" pitchFamily="34" charset="0"/>
              </a:rPr>
              <a:t>&gt; </a:t>
            </a:r>
            <a:r>
              <a:rPr lang="en-US" altLang="ko-KR" b="1">
                <a:solidFill>
                  <a:srgbClr val="3A3A3A"/>
                </a:solidFill>
                <a:latin typeface="Helvetica" panose="020B0604020202020204" pitchFamily="34" charset="0"/>
              </a:rPr>
              <a:t>Include Library</a:t>
            </a:r>
            <a:r>
              <a:rPr lang="en-US" altLang="ko-KR">
                <a:solidFill>
                  <a:srgbClr val="3A3A3A"/>
                </a:solidFill>
                <a:latin typeface="Helvetica" panose="020B0604020202020204" pitchFamily="34" charset="0"/>
              </a:rPr>
              <a:t> &gt; </a:t>
            </a:r>
            <a:r>
              <a:rPr lang="en-US" altLang="ko-KR" b="1">
                <a:solidFill>
                  <a:srgbClr val="3A3A3A"/>
                </a:solidFill>
                <a:latin typeface="Helvetica" panose="020B0604020202020204" pitchFamily="34" charset="0"/>
              </a:rPr>
              <a:t>Manage Libraries</a:t>
            </a:r>
            <a:br>
              <a:rPr lang="en-US" altLang="ko-KR" b="1">
                <a:solidFill>
                  <a:srgbClr val="3A3A3A"/>
                </a:solidFill>
                <a:latin typeface="Helvetica" panose="020B0604020202020204" pitchFamily="34" charset="0"/>
              </a:rPr>
            </a:br>
            <a:r>
              <a:rPr lang="en-US" altLang="ko-KR" b="1">
                <a:solidFill>
                  <a:srgbClr val="3A3A3A"/>
                </a:solidFill>
                <a:latin typeface="Helvetica" panose="020B0604020202020204" pitchFamily="34" charset="0"/>
              </a:rPr>
              <a:t>2) </a:t>
            </a:r>
            <a:r>
              <a:rPr lang="en-US" altLang="ko-KR">
                <a:solidFill>
                  <a:srgbClr val="3A3A3A"/>
                </a:solidFill>
                <a:latin typeface="Helvetica" panose="020B0604020202020204" pitchFamily="34" charset="0"/>
              </a:rPr>
              <a:t>Search for </a:t>
            </a:r>
            <a:r>
              <a:rPr lang="en-US" altLang="ko-KR" i="1">
                <a:solidFill>
                  <a:srgbClr val="3A3A3A"/>
                </a:solidFill>
                <a:latin typeface="Helvetica" panose="020B0604020202020204" pitchFamily="34" charset="0"/>
              </a:rPr>
              <a:t>Firebase ESP Client</a:t>
            </a:r>
            <a:r>
              <a:rPr lang="en-US" altLang="ko-KR">
                <a:solidFill>
                  <a:srgbClr val="3A3A3A"/>
                </a:solidFill>
                <a:latin typeface="Helvetica" panose="020B0604020202020204" pitchFamily="34" charset="0"/>
              </a:rPr>
              <a:t> and install the </a:t>
            </a:r>
            <a:r>
              <a:rPr lang="en-US" altLang="ko-KR" i="1">
                <a:solidFill>
                  <a:srgbClr val="3A3A3A"/>
                </a:solidFill>
                <a:latin typeface="Helvetica" panose="020B0604020202020204" pitchFamily="34" charset="0"/>
              </a:rPr>
              <a:t>Firebase Arduino Client Library for ESP8266 and ESP32</a:t>
            </a:r>
            <a:r>
              <a:rPr lang="en-US" altLang="ko-KR">
                <a:solidFill>
                  <a:srgbClr val="3A3A3A"/>
                </a:solidFill>
                <a:latin typeface="Helvetica" panose="020B0604020202020204" pitchFamily="34" charset="0"/>
              </a:rPr>
              <a:t> by Mobizt.</a:t>
            </a:r>
            <a:endParaRPr lang="en-US" altLang="ko-KR" b="0" i="0">
              <a:solidFill>
                <a:srgbClr val="3A3A3A"/>
              </a:solidFill>
              <a:effectLst/>
              <a:latin typeface="Helvetica" panose="020B0604020202020204" pitchFamily="34" charset="0"/>
            </a:endParaRPr>
          </a:p>
        </p:txBody>
      </p:sp>
      <p:pic>
        <p:nvPicPr>
          <p:cNvPr id="6" name="그림 5">
            <a:extLst>
              <a:ext uri="{FF2B5EF4-FFF2-40B4-BE49-F238E27FC236}">
                <a16:creationId xmlns:a16="http://schemas.microsoft.com/office/drawing/2014/main" id="{117964C7-F572-4EE6-AE81-0222A61A026C}"/>
              </a:ext>
            </a:extLst>
          </p:cNvPr>
          <p:cNvPicPr>
            <a:picLocks noChangeAspect="1"/>
          </p:cNvPicPr>
          <p:nvPr/>
        </p:nvPicPr>
        <p:blipFill>
          <a:blip r:embed="rId2"/>
          <a:stretch>
            <a:fillRect/>
          </a:stretch>
        </p:blipFill>
        <p:spPr>
          <a:xfrm>
            <a:off x="731606" y="2438035"/>
            <a:ext cx="7594976" cy="4248530"/>
          </a:xfrm>
          <a:prstGeom prst="rect">
            <a:avLst/>
          </a:prstGeom>
        </p:spPr>
      </p:pic>
      <p:sp>
        <p:nvSpPr>
          <p:cNvPr id="7" name="사각형: 둥근 모서리 6">
            <a:extLst>
              <a:ext uri="{FF2B5EF4-FFF2-40B4-BE49-F238E27FC236}">
                <a16:creationId xmlns:a16="http://schemas.microsoft.com/office/drawing/2014/main" id="{5F22E72C-3E72-425B-9C5E-04A94FECBDDB}"/>
              </a:ext>
            </a:extLst>
          </p:cNvPr>
          <p:cNvSpPr/>
          <p:nvPr/>
        </p:nvSpPr>
        <p:spPr>
          <a:xfrm>
            <a:off x="833181" y="2971576"/>
            <a:ext cx="7313292" cy="160042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E1A00E55-54B5-49CC-BE0F-A743DC07E0AF}"/>
              </a:ext>
            </a:extLst>
          </p:cNvPr>
          <p:cNvSpPr/>
          <p:nvPr/>
        </p:nvSpPr>
        <p:spPr>
          <a:xfrm>
            <a:off x="7197433" y="4087090"/>
            <a:ext cx="748146" cy="33250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175454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- 1/9</a:t>
            </a:r>
            <a:endParaRPr lang="ko-KR" altLang="en-US" b="1">
              <a:solidFill>
                <a:schemeClr val="tx1"/>
              </a:solidFill>
            </a:endParaRPr>
          </a:p>
        </p:txBody>
      </p:sp>
      <p:sp>
        <p:nvSpPr>
          <p:cNvPr id="4" name="Rectangle 1">
            <a:extLst>
              <a:ext uri="{FF2B5EF4-FFF2-40B4-BE49-F238E27FC236}">
                <a16:creationId xmlns:a16="http://schemas.microsoft.com/office/drawing/2014/main" id="{2641A0E0-05E2-49C4-BD75-D586AB643C43}"/>
              </a:ext>
            </a:extLst>
          </p:cNvPr>
          <p:cNvSpPr>
            <a:spLocks noChangeArrowheads="1"/>
          </p:cNvSpPr>
          <p:nvPr/>
        </p:nvSpPr>
        <p:spPr bwMode="auto">
          <a:xfrm>
            <a:off x="203200" y="753917"/>
            <a:ext cx="10464800" cy="58764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"Arduino.h"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"WiFi.h"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"esp_camera.h"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"soc/soc.h"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"soc/rtc_cntl_reg.h"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"driver/rtc_io.h"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&lt;LittleFS.h&gt;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&lt;FS.h&gt;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&lt;addons/TokenHelper.h&gt;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//Replace with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ssid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password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USER_EMAIL </a:t>
            </a:r>
            <a:r>
              <a:rPr kumimoji="0" lang="ko-KR" altLang="ko-KR" sz="1600" b="0" i="0" u="none" strike="noStrike" cap="none" normalizeH="0" baseline="0">
                <a:ln>
                  <a:noFill/>
                </a:ln>
                <a:solidFill>
                  <a:srgbClr val="669900"/>
                </a:solidFill>
                <a:effectLst/>
                <a:latin typeface="Consolas" panose="020B0609020204030204" pitchFamily="49" charset="0"/>
              </a:rPr>
              <a:t>"REPLACE_WITH_THE_AUTHORIZED_USER_EMAIL"</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USER_PASSWORD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"REPLACE_WITH_THE_AUTHORIZED_USER_PASSWORD"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STORAGE_BUCKET_ID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"REPLACE_WITH_YOUR_STORAGE_BUCKET_ID"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For example: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//#define STORAGE_BUCKET_ID "esp-iot-app.appspot.com"</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Photo File Name to save in LittleFS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FILE_PHOTO_PATH </a:t>
            </a:r>
            <a:r>
              <a:rPr kumimoji="0" lang="ko-KR" altLang="ko-KR" sz="1600" b="0" i="0" u="none" strike="noStrike" cap="none" normalizeH="0" baseline="0">
                <a:ln>
                  <a:noFill/>
                </a:ln>
                <a:solidFill>
                  <a:srgbClr val="669900"/>
                </a:solidFill>
                <a:effectLst/>
                <a:latin typeface="Consolas" panose="020B0609020204030204" pitchFamily="49" charset="0"/>
              </a:rPr>
              <a:t>"/photo.jpg"</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BUCKET_PHOTO </a:t>
            </a:r>
            <a:r>
              <a:rPr kumimoji="0" lang="ko-KR" altLang="ko-KR" sz="1600" b="0" i="0" u="none" strike="noStrike" cap="none" normalizeH="0" baseline="0">
                <a:ln>
                  <a:noFill/>
                </a:ln>
                <a:solidFill>
                  <a:srgbClr val="669900"/>
                </a:solidFill>
                <a:effectLst/>
                <a:latin typeface="Consolas" panose="020B0609020204030204" pitchFamily="49" charset="0"/>
              </a:rPr>
              <a:t>"/data/photo.jpg"</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261887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2/9</a:t>
            </a:r>
            <a:endParaRPr lang="ko-KR" altLang="en-US" b="1">
              <a:solidFill>
                <a:schemeClr val="tx1"/>
              </a:solidFill>
            </a:endParaRPr>
          </a:p>
        </p:txBody>
      </p:sp>
      <p:sp>
        <p:nvSpPr>
          <p:cNvPr id="3" name="Rectangle 1">
            <a:extLst>
              <a:ext uri="{FF2B5EF4-FFF2-40B4-BE49-F238E27FC236}">
                <a16:creationId xmlns:a16="http://schemas.microsoft.com/office/drawing/2014/main" id="{FFA13434-C993-4CF6-97BB-00CD02BE546C}"/>
              </a:ext>
            </a:extLst>
          </p:cNvPr>
          <p:cNvSpPr>
            <a:spLocks noChangeArrowheads="1"/>
          </p:cNvSpPr>
          <p:nvPr/>
        </p:nvSpPr>
        <p:spPr bwMode="auto">
          <a:xfrm>
            <a:off x="215900" y="757079"/>
            <a:ext cx="7226337" cy="590886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pins</a:t>
            </a:r>
            <a:r>
              <a:rPr kumimoji="0" lang="ko-KR" altLang="ko-KR" sz="1600" b="0" i="0" u="none" strike="noStrike" cap="none" normalizeH="0" baseline="0" dirty="0">
                <a:ln>
                  <a:noFill/>
                </a:ln>
                <a:solidFill>
                  <a:srgbClr val="708090"/>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32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0</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boolean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FCS_UploadStatusInfo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26599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- 3/9</a:t>
            </a:r>
            <a:endParaRPr lang="ko-KR" altLang="en-US" b="1">
              <a:solidFill>
                <a:schemeClr val="tx1"/>
              </a:solidFill>
            </a:endParaRPr>
          </a:p>
        </p:txBody>
      </p:sp>
      <p:sp>
        <p:nvSpPr>
          <p:cNvPr id="3" name="Rectangle 1">
            <a:extLst>
              <a:ext uri="{FF2B5EF4-FFF2-40B4-BE49-F238E27FC236}">
                <a16:creationId xmlns:a16="http://schemas.microsoft.com/office/drawing/2014/main" id="{CAB18417-E690-40D2-8660-99454EBA8E12}"/>
              </a:ext>
            </a:extLst>
          </p:cNvPr>
          <p:cNvSpPr>
            <a:spLocks noChangeArrowheads="1"/>
          </p:cNvSpPr>
          <p:nvPr/>
        </p:nvSpPr>
        <p:spPr bwMode="auto">
          <a:xfrm>
            <a:off x="12700" y="695166"/>
            <a:ext cx="7518084" cy="617816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LittleFS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Dispose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first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because</a:t>
            </a:r>
            <a:r>
              <a:rPr kumimoji="0" lang="ko-KR" altLang="ko-KR" sz="1600" b="0" i="0" u="none" strike="noStrike" cap="none" normalizeH="0" baseline="0" dirty="0">
                <a:ln>
                  <a:noFill/>
                </a:ln>
                <a:solidFill>
                  <a:srgbClr val="708090"/>
                </a:solidFill>
                <a:effectLst/>
                <a:latin typeface="Consolas" panose="020B0609020204030204" pitchFamily="49" charset="0"/>
              </a:rPr>
              <a:t> of </a:t>
            </a:r>
            <a:r>
              <a:rPr kumimoji="0" lang="ko-KR" altLang="ko-KR" sz="1600" b="0" i="0" u="none" strike="noStrike" cap="none" normalizeH="0" baseline="0" dirty="0" err="1">
                <a:ln>
                  <a:noFill/>
                </a:ln>
                <a:solidFill>
                  <a:srgbClr val="708090"/>
                </a:solidFill>
                <a:effectLst/>
                <a:latin typeface="Consolas" panose="020B0609020204030204" pitchFamily="49" charset="0"/>
              </a:rPr>
              <a:t>bad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camera_fb_t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Skip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first</a:t>
            </a:r>
            <a:r>
              <a:rPr kumimoji="0" lang="ko-KR" altLang="ko-KR" sz="1600" b="0" i="0" u="none" strike="noStrike" cap="none" normalizeH="0" baseline="0" dirty="0">
                <a:ln>
                  <a:noFill/>
                </a:ln>
                <a:solidFill>
                  <a:srgbClr val="708090"/>
                </a:solidFill>
                <a:effectLst/>
                <a:latin typeface="Consolas" panose="020B0609020204030204" pitchFamily="49" charset="0"/>
              </a:rPr>
              <a:t> 3 </a:t>
            </a:r>
            <a:r>
              <a:rPr kumimoji="0" lang="ko-KR" altLang="ko-KR" sz="1600" b="0" i="0" u="none" strike="noStrike" cap="none" normalizeH="0" baseline="0" dirty="0" err="1">
                <a:ln>
                  <a:noFill/>
                </a:ln>
                <a:solidFill>
                  <a:srgbClr val="708090"/>
                </a:solidFill>
                <a:effectLst/>
                <a:latin typeface="Consolas" panose="020B0609020204030204" pitchFamily="49" charset="0"/>
              </a:rPr>
              <a:t>frames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increase</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decrease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needed</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for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FILE_PHOTO_PATH</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LittleFS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FILE_PHOTO_PATH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Insert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250043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- 4/9</a:t>
            </a:r>
            <a:endParaRPr lang="ko-KR" altLang="en-US" b="1">
              <a:solidFill>
                <a:schemeClr val="tx1"/>
              </a:solidFill>
            </a:endParaRPr>
          </a:p>
        </p:txBody>
      </p:sp>
      <p:sp>
        <p:nvSpPr>
          <p:cNvPr id="3" name="Rectangle 1">
            <a:extLst>
              <a:ext uri="{FF2B5EF4-FFF2-40B4-BE49-F238E27FC236}">
                <a16:creationId xmlns:a16="http://schemas.microsoft.com/office/drawing/2014/main" id="{CAB18417-E690-40D2-8660-99454EBA8E12}"/>
              </a:ext>
            </a:extLst>
          </p:cNvPr>
          <p:cNvSpPr>
            <a:spLocks noChangeArrowheads="1"/>
          </p:cNvSpPr>
          <p:nvPr/>
        </p:nvSpPr>
        <p:spPr bwMode="auto">
          <a:xfrm>
            <a:off x="177800" y="974566"/>
            <a:ext cx="8091959" cy="270843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a:ln>
                  <a:noFill/>
                </a:ln>
                <a:solidFill>
                  <a:srgbClr val="0077AA"/>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file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write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buf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len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payload (image), payload length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"The picture has been saved in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FILE_PHOTO_PATH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 - Size: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len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 bytes"</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Close the file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000000"/>
                </a:solidFill>
                <a:effectLst/>
                <a:latin typeface="Consolas" panose="020B0609020204030204" pitchFamily="49" charset="0"/>
              </a:rPr>
              <a:t>file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close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DD4A68"/>
                </a:solidFill>
                <a:effectLst/>
                <a:latin typeface="Consolas" panose="020B0609020204030204" pitchFamily="49" charset="0"/>
              </a:rPr>
              <a:t>esp_camera_fb_return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450845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- 5/9</a:t>
            </a:r>
            <a:endParaRPr lang="ko-KR" altLang="en-US" b="1">
              <a:solidFill>
                <a:schemeClr val="tx1"/>
              </a:solidFill>
            </a:endParaRPr>
          </a:p>
        </p:txBody>
      </p:sp>
      <p:sp>
        <p:nvSpPr>
          <p:cNvPr id="3" name="Rectangle 1">
            <a:extLst>
              <a:ext uri="{FF2B5EF4-FFF2-40B4-BE49-F238E27FC236}">
                <a16:creationId xmlns:a16="http://schemas.microsoft.com/office/drawing/2014/main" id="{D368D19C-58C0-4C7C-8AE8-D077D973506E}"/>
              </a:ext>
            </a:extLst>
          </p:cNvPr>
          <p:cNvSpPr>
            <a:spLocks noChangeArrowheads="1"/>
          </p:cNvSpPr>
          <p:nvPr/>
        </p:nvSpPr>
        <p:spPr bwMode="auto">
          <a:xfrm>
            <a:off x="139700" y="824468"/>
            <a:ext cx="8991244" cy="47089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initWiFi</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WL_CONNECTED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1000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WiFi</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ko-KR"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initLittleFS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LittleFS</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true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An</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Error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has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occurred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while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mounting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LittleFS</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ESP</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restart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else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500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LittleFS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mounted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successfully</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127121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- 6/9</a:t>
            </a:r>
            <a:endParaRPr lang="ko-KR" altLang="en-US" b="1">
              <a:solidFill>
                <a:schemeClr val="tx1"/>
              </a:solidFill>
            </a:endParaRPr>
          </a:p>
        </p:txBody>
      </p:sp>
      <p:sp>
        <p:nvSpPr>
          <p:cNvPr id="3" name="Rectangle 1">
            <a:extLst>
              <a:ext uri="{FF2B5EF4-FFF2-40B4-BE49-F238E27FC236}">
                <a16:creationId xmlns:a16="http://schemas.microsoft.com/office/drawing/2014/main" id="{91854E5A-7BBE-4D18-AB31-025FF98F286F}"/>
              </a:ext>
            </a:extLst>
          </p:cNvPr>
          <p:cNvSpPr>
            <a:spLocks noChangeArrowheads="1"/>
          </p:cNvSpPr>
          <p:nvPr/>
        </p:nvSpPr>
        <p:spPr bwMode="auto">
          <a:xfrm>
            <a:off x="190500" y="856734"/>
            <a:ext cx="8953500" cy="560153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initCamera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LEDC_CHANNEL_0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ledc_timer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LEDC_TIMER_0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pin_d0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Y2_GPIO_NUM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Y3_GPIO_NUM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Y4_GPIO_NUM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pin_d3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Y5_GPIO_NUM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pin_d4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Y6_GPIO_NUM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pin_d5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Y7_GPIO_NUM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pin_d6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Y8_GPIO_NUM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pin_d7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Y9_GPIO_NUM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pin_xclk</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XCLK_GPIO_NUM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pin_pclk</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PCLK_GPIO_NUM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pin_vsync</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VSYNC_GPIO_NUM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pin_href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HREF_GPIO_NUM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SIOD_GPIO_NUM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SIOC_GPIO_NUM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pin_pwdn</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PWDN_GPIO_NUM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pin_reset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RESET_GPIO_NUM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20000000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PIXFORMAT_JPEG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grab_mode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CAMERA_GRAB_LATEST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psramFound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frame_size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FRAMESIZE_UXGA</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fb_count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else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frame_size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FRAMESIZE_SVGA</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fb_count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Camera</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init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esp_err_t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&amp;</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ESP_OK</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printf</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Camera</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init</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failed</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with</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error</a:t>
            </a:r>
            <a:r>
              <a:rPr kumimoji="0" lang="ko-KR" altLang="ko-KR" sz="1200" b="0" i="0" u="none" strike="noStrike" cap="none" normalizeH="0" baseline="0" dirty="0">
                <a:ln>
                  <a:noFill/>
                </a:ln>
                <a:solidFill>
                  <a:srgbClr val="669900"/>
                </a:solidFill>
                <a:effectLst/>
                <a:latin typeface="Consolas" panose="020B0609020204030204" pitchFamily="49" charset="0"/>
              </a:rPr>
              <a:t> 0x%x"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ESP</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restart</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050" b="0" i="0" u="none" strike="noStrike" cap="none" normalizeH="0" baseline="0" dirty="0">
                <a:ln>
                  <a:noFill/>
                </a:ln>
                <a:solidFill>
                  <a:schemeClr val="tx1"/>
                </a:solidFill>
                <a:effectLst/>
              </a:rPr>
              <a:t> </a:t>
            </a:r>
            <a:endParaRPr kumimoji="0" lang="ko-KR" altLang="ko-KR"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767051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- 7/9</a:t>
            </a:r>
            <a:endParaRPr lang="ko-KR" altLang="en-US" b="1">
              <a:solidFill>
                <a:schemeClr val="tx1"/>
              </a:solidFill>
            </a:endParaRPr>
          </a:p>
        </p:txBody>
      </p:sp>
      <p:sp>
        <p:nvSpPr>
          <p:cNvPr id="3" name="Rectangle 1">
            <a:extLst>
              <a:ext uri="{FF2B5EF4-FFF2-40B4-BE49-F238E27FC236}">
                <a16:creationId xmlns:a16="http://schemas.microsoft.com/office/drawing/2014/main" id="{6C7978E5-AC00-4E88-87C4-9B0C983B1B91}"/>
              </a:ext>
            </a:extLst>
          </p:cNvPr>
          <p:cNvSpPr>
            <a:spLocks noChangeArrowheads="1"/>
          </p:cNvSpPr>
          <p:nvPr/>
        </p:nvSpPr>
        <p:spPr bwMode="auto">
          <a:xfrm>
            <a:off x="101600" y="828358"/>
            <a:ext cx="9313447" cy="542116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debugging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purposes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initWiFi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en-US"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initCamera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api</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key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api_key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API_KEY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user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credentials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email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USER_EMAIL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USER_PASSWORD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callback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function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long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running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generation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task</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token_status_callback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tokenStatusCallback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addons</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TokenHelper.h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reconnectWiFi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823507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- 8/9</a:t>
            </a:r>
            <a:endParaRPr lang="ko-KR" altLang="en-US" b="1">
              <a:solidFill>
                <a:schemeClr val="tx1"/>
              </a:solidFill>
            </a:endParaRPr>
          </a:p>
        </p:txBody>
      </p:sp>
      <p:sp>
        <p:nvSpPr>
          <p:cNvPr id="4" name="Rectangle 2">
            <a:extLst>
              <a:ext uri="{FF2B5EF4-FFF2-40B4-BE49-F238E27FC236}">
                <a16:creationId xmlns:a16="http://schemas.microsoft.com/office/drawing/2014/main" id="{F5931EB0-C434-4E08-AF98-72C09383DA78}"/>
              </a:ext>
            </a:extLst>
          </p:cNvPr>
          <p:cNvSpPr>
            <a:spLocks noChangeArrowheads="1"/>
          </p:cNvSpPr>
          <p:nvPr/>
        </p:nvSpPr>
        <p:spPr bwMode="auto">
          <a:xfrm>
            <a:off x="0" y="816689"/>
            <a:ext cx="12343123" cy="541686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//MIME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should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valid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avoid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download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//The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systems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flash</a:t>
            </a:r>
            <a:r>
              <a:rPr kumimoji="0" lang="ko-KR" altLang="ko-KR" sz="1600" b="0" i="0" u="none" strike="noStrike" cap="none" normalizeH="0" baseline="0" dirty="0">
                <a:ln>
                  <a:noFill/>
                </a:ln>
                <a:solidFill>
                  <a:srgbClr val="708090"/>
                </a:solidFill>
                <a:effectLst/>
                <a:latin typeface="Consolas" panose="020B0609020204030204" pitchFamily="49" charset="0"/>
              </a:rPr>
              <a:t> and SD/SDMMC </a:t>
            </a:r>
            <a:r>
              <a:rPr kumimoji="0" lang="ko-KR" altLang="ko-KR" sz="1600" b="0" i="0" u="none" strike="noStrike" cap="none" normalizeH="0" baseline="0" dirty="0" err="1">
                <a:ln>
                  <a:noFill/>
                </a:ln>
                <a:solidFill>
                  <a:srgbClr val="708090"/>
                </a:solidFill>
                <a:effectLst/>
                <a:latin typeface="Consolas" panose="020B0609020204030204" pitchFamily="49" charset="0"/>
              </a:rPr>
              <a:t>can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changed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FirebaseFS.h</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Storage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upload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STORAGE_BUCKET_ID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bucket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FILE_PHOTO_PATH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local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mem_storage_type_flash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memory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mem_storage_type_flash</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mem_storage_type_sd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BUCKET_PHOTO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of </a:t>
            </a:r>
            <a:r>
              <a:rPr kumimoji="0" lang="ko-KR" altLang="ko-KR" sz="1600" b="0" i="0" u="none" strike="noStrike" cap="none" normalizeH="0" baseline="0" dirty="0" err="1">
                <a:ln>
                  <a:noFill/>
                </a:ln>
                <a:solidFill>
                  <a:srgbClr val="708090"/>
                </a:solidFill>
                <a:effectLst/>
                <a:latin typeface="Consolas" panose="020B0609020204030204" pitchFamily="49" charset="0"/>
              </a:rPr>
              <a:t>remote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bucket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image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jpeg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mime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nDownload</a:t>
            </a:r>
            <a:r>
              <a:rPr kumimoji="0" lang="ko-KR" altLang="ko-KR" sz="1600" b="0" i="0" u="none" strike="noStrike" cap="none" normalizeH="0" baseline="0" dirty="0">
                <a:ln>
                  <a:noFill/>
                </a:ln>
                <a:solidFill>
                  <a:srgbClr val="669900"/>
                </a:solidFill>
                <a:effectLst/>
                <a:latin typeface="Consolas" panose="020B0609020204030204" pitchFamily="49" charset="0"/>
              </a:rPr>
              <a:t> URL: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downloadURL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999999"/>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997861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- 9/9</a:t>
            </a:r>
            <a:endParaRPr lang="ko-KR" altLang="en-US" b="1">
              <a:solidFill>
                <a:schemeClr val="tx1"/>
              </a:solidFill>
            </a:endParaRPr>
          </a:p>
        </p:txBody>
      </p:sp>
      <p:sp>
        <p:nvSpPr>
          <p:cNvPr id="3" name="Rectangle 1">
            <a:extLst>
              <a:ext uri="{FF2B5EF4-FFF2-40B4-BE49-F238E27FC236}">
                <a16:creationId xmlns:a16="http://schemas.microsoft.com/office/drawing/2014/main" id="{61D13251-0874-49D8-AF89-81F40116447D}"/>
              </a:ext>
            </a:extLst>
          </p:cNvPr>
          <p:cNvSpPr>
            <a:spLocks noChangeArrowheads="1"/>
          </p:cNvSpPr>
          <p:nvPr/>
        </p:nvSpPr>
        <p:spPr bwMode="auto">
          <a:xfrm>
            <a:off x="101600" y="820578"/>
            <a:ext cx="11557651"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The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callback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FCS_UploadStatusInfo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localFileName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remoteFileName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firebase_fcs_upload_status_upload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Elapsed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time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progress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elapsedTime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firebase_fcs_upload_status_complete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completed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FileMetaInfo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metaData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Bucket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bucket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contentType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contentType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Size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Generation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lu</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generation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Metageneration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lu</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metageneration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ETag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etag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"CRC32: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meta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crc32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Tokens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downloadTokens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Download</a:t>
            </a:r>
            <a:r>
              <a:rPr kumimoji="0" lang="ko-KR" altLang="ko-KR" sz="1600" b="0" i="0" u="none" strike="noStrike" cap="none" normalizeH="0" baseline="0" dirty="0">
                <a:ln>
                  <a:noFill/>
                </a:ln>
                <a:solidFill>
                  <a:srgbClr val="669900"/>
                </a:solidFill>
                <a:effectLst/>
                <a:latin typeface="Consolas" panose="020B0609020204030204" pitchFamily="49" charset="0"/>
              </a:rPr>
              <a:t> URL: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downloadURL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firebase_fcs_upload_status_error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errorMsg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009514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자기 정보 입력</a:t>
            </a:r>
            <a:endParaRPr lang="ko-KR" altLang="en-US" b="1">
              <a:solidFill>
                <a:schemeClr val="tx1"/>
              </a:solidFill>
            </a:endParaRPr>
          </a:p>
        </p:txBody>
      </p:sp>
      <p:pic>
        <p:nvPicPr>
          <p:cNvPr id="3" name="그림 2">
            <a:extLst>
              <a:ext uri="{FF2B5EF4-FFF2-40B4-BE49-F238E27FC236}">
                <a16:creationId xmlns:a16="http://schemas.microsoft.com/office/drawing/2014/main" id="{C02831CF-CDF9-4BAA-B160-9AC3439BA7A9}"/>
              </a:ext>
            </a:extLst>
          </p:cNvPr>
          <p:cNvPicPr>
            <a:picLocks noChangeAspect="1"/>
          </p:cNvPicPr>
          <p:nvPr/>
        </p:nvPicPr>
        <p:blipFill>
          <a:blip r:embed="rId2"/>
          <a:stretch>
            <a:fillRect/>
          </a:stretch>
        </p:blipFill>
        <p:spPr>
          <a:xfrm>
            <a:off x="386463" y="942213"/>
            <a:ext cx="10101429" cy="5521069"/>
          </a:xfrm>
          <a:prstGeom prst="rect">
            <a:avLst/>
          </a:prstGeom>
          <a:solidFill>
            <a:schemeClr val="bg1"/>
          </a:solidFill>
          <a:ln>
            <a:solidFill>
              <a:schemeClr val="accent1">
                <a:shade val="50000"/>
              </a:schemeClr>
            </a:solidFill>
          </a:ln>
        </p:spPr>
      </p:pic>
      <p:sp>
        <p:nvSpPr>
          <p:cNvPr id="4" name="사각형: 둥근 모서리 3">
            <a:extLst>
              <a:ext uri="{FF2B5EF4-FFF2-40B4-BE49-F238E27FC236}">
                <a16:creationId xmlns:a16="http://schemas.microsoft.com/office/drawing/2014/main" id="{757D1BE2-5A86-4E71-BEB4-FD89DF063D13}"/>
              </a:ext>
            </a:extLst>
          </p:cNvPr>
          <p:cNvSpPr/>
          <p:nvPr/>
        </p:nvSpPr>
        <p:spPr>
          <a:xfrm>
            <a:off x="386463" y="1260764"/>
            <a:ext cx="4573464"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CCA75D4F-691B-4ECB-886D-C86C23CD17E8}"/>
              </a:ext>
            </a:extLst>
          </p:cNvPr>
          <p:cNvSpPr/>
          <p:nvPr/>
        </p:nvSpPr>
        <p:spPr>
          <a:xfrm>
            <a:off x="386462" y="2050473"/>
            <a:ext cx="7385937"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B927C0CB-15EA-4354-B29F-A9B1061A285D}"/>
              </a:ext>
            </a:extLst>
          </p:cNvPr>
          <p:cNvSpPr/>
          <p:nvPr/>
        </p:nvSpPr>
        <p:spPr>
          <a:xfrm>
            <a:off x="386462" y="3144879"/>
            <a:ext cx="7385937"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537912F1-7EB9-4879-A3E0-4DFAF709F331}"/>
              </a:ext>
            </a:extLst>
          </p:cNvPr>
          <p:cNvSpPr/>
          <p:nvPr/>
        </p:nvSpPr>
        <p:spPr>
          <a:xfrm>
            <a:off x="386462" y="4280851"/>
            <a:ext cx="9020774" cy="37427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66604361"/>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Upload</a:t>
            </a:r>
            <a:endParaRPr lang="ko-KR" altLang="en-US" b="1">
              <a:solidFill>
                <a:schemeClr val="tx1"/>
              </a:solidFill>
            </a:endParaRPr>
          </a:p>
        </p:txBody>
      </p:sp>
      <p:pic>
        <p:nvPicPr>
          <p:cNvPr id="3" name="그림 2">
            <a:extLst>
              <a:ext uri="{FF2B5EF4-FFF2-40B4-BE49-F238E27FC236}">
                <a16:creationId xmlns:a16="http://schemas.microsoft.com/office/drawing/2014/main" id="{36D566F5-D95E-4603-A2A4-3A91977783F6}"/>
              </a:ext>
            </a:extLst>
          </p:cNvPr>
          <p:cNvPicPr>
            <a:picLocks noChangeAspect="1"/>
          </p:cNvPicPr>
          <p:nvPr/>
        </p:nvPicPr>
        <p:blipFill>
          <a:blip r:embed="rId2"/>
          <a:stretch>
            <a:fillRect/>
          </a:stretch>
        </p:blipFill>
        <p:spPr>
          <a:xfrm>
            <a:off x="277087" y="801322"/>
            <a:ext cx="11228512" cy="5650278"/>
          </a:xfrm>
          <a:prstGeom prst="rect">
            <a:avLst/>
          </a:prstGeom>
        </p:spPr>
      </p:pic>
    </p:spTree>
    <p:extLst>
      <p:ext uri="{BB962C8B-B14F-4D97-AF65-F5344CB8AC3E}">
        <p14:creationId xmlns:p14="http://schemas.microsoft.com/office/powerpoint/2010/main" val="4035526196"/>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a:solidFill>
                  <a:schemeClr val="tx1"/>
                </a:solidFill>
              </a:rPr>
              <a:t>실행</a:t>
            </a:r>
          </a:p>
        </p:txBody>
      </p:sp>
      <p:pic>
        <p:nvPicPr>
          <p:cNvPr id="4" name="그림 3">
            <a:extLst>
              <a:ext uri="{FF2B5EF4-FFF2-40B4-BE49-F238E27FC236}">
                <a16:creationId xmlns:a16="http://schemas.microsoft.com/office/drawing/2014/main" id="{980BD659-7480-4FCD-B686-0BFB3848074D}"/>
              </a:ext>
            </a:extLst>
          </p:cNvPr>
          <p:cNvPicPr>
            <a:picLocks noChangeAspect="1"/>
          </p:cNvPicPr>
          <p:nvPr/>
        </p:nvPicPr>
        <p:blipFill>
          <a:blip r:embed="rId2"/>
          <a:stretch>
            <a:fillRect/>
          </a:stretch>
        </p:blipFill>
        <p:spPr>
          <a:xfrm>
            <a:off x="204343" y="780664"/>
            <a:ext cx="7725853" cy="5525271"/>
          </a:xfrm>
          <a:prstGeom prst="rect">
            <a:avLst/>
          </a:prstGeom>
          <a:ln>
            <a:solidFill>
              <a:schemeClr val="accent1">
                <a:shade val="50000"/>
              </a:schemeClr>
            </a:solidFill>
          </a:ln>
        </p:spPr>
      </p:pic>
      <p:pic>
        <p:nvPicPr>
          <p:cNvPr id="5" name="그림 4">
            <a:extLst>
              <a:ext uri="{FF2B5EF4-FFF2-40B4-BE49-F238E27FC236}">
                <a16:creationId xmlns:a16="http://schemas.microsoft.com/office/drawing/2014/main" id="{D29B9DAC-687F-4E30-8FBD-B2EB656F5D81}"/>
              </a:ext>
            </a:extLst>
          </p:cNvPr>
          <p:cNvPicPr>
            <a:picLocks noChangeAspect="1"/>
          </p:cNvPicPr>
          <p:nvPr/>
        </p:nvPicPr>
        <p:blipFill>
          <a:blip r:embed="rId3"/>
          <a:stretch>
            <a:fillRect/>
          </a:stretch>
        </p:blipFill>
        <p:spPr>
          <a:xfrm>
            <a:off x="5614543" y="3333258"/>
            <a:ext cx="6373114" cy="3524742"/>
          </a:xfrm>
          <a:prstGeom prst="rect">
            <a:avLst/>
          </a:prstGeom>
          <a:ln>
            <a:solidFill>
              <a:schemeClr val="accent1">
                <a:shade val="50000"/>
              </a:schemeClr>
            </a:solidFill>
          </a:ln>
        </p:spPr>
      </p:pic>
    </p:spTree>
    <p:extLst>
      <p:ext uri="{BB962C8B-B14F-4D97-AF65-F5344CB8AC3E}">
        <p14:creationId xmlns:p14="http://schemas.microsoft.com/office/powerpoint/2010/main" val="357879145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1205-80C6-2D2A-F846-D3365B18FED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E577D620-2A16-3086-70A0-AE588F0DD79A}"/>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dirty="0">
                <a:solidFill>
                  <a:schemeClr val="tx1"/>
                </a:solidFill>
              </a:rPr>
              <a:t>ESP32-CAM Take and Send</a:t>
            </a:r>
          </a:p>
          <a:p>
            <a:pPr marL="179387" algn="ctr"/>
            <a:r>
              <a:rPr lang="en-US" altLang="ko-KR" sz="4800" b="1" dirty="0">
                <a:solidFill>
                  <a:schemeClr val="tx1"/>
                </a:solidFill>
              </a:rPr>
              <a:t>Photos via Email using an SMTP Server</a:t>
            </a:r>
            <a:endParaRPr lang="ko-KR" altLang="en-US" sz="4800" b="1" dirty="0">
              <a:solidFill>
                <a:schemeClr val="tx1"/>
              </a:solidFill>
            </a:endParaRPr>
          </a:p>
        </p:txBody>
      </p:sp>
      <p:pic>
        <p:nvPicPr>
          <p:cNvPr id="3" name="그림 2">
            <a:extLst>
              <a:ext uri="{FF2B5EF4-FFF2-40B4-BE49-F238E27FC236}">
                <a16:creationId xmlns:a16="http://schemas.microsoft.com/office/drawing/2014/main" id="{B8DDEDB7-F9CE-0871-8D96-DBDE25ADAA56}"/>
              </a:ext>
            </a:extLst>
          </p:cNvPr>
          <p:cNvPicPr>
            <a:picLocks noChangeAspect="1"/>
          </p:cNvPicPr>
          <p:nvPr/>
        </p:nvPicPr>
        <p:blipFill>
          <a:blip r:embed="rId2"/>
          <a:stretch>
            <a:fillRect/>
          </a:stretch>
        </p:blipFill>
        <p:spPr>
          <a:xfrm>
            <a:off x="0" y="2892490"/>
            <a:ext cx="12192000" cy="3965510"/>
          </a:xfrm>
          <a:prstGeom prst="rect">
            <a:avLst/>
          </a:prstGeom>
        </p:spPr>
      </p:pic>
      <p:sp>
        <p:nvSpPr>
          <p:cNvPr id="8" name="TextBox 7">
            <a:extLst>
              <a:ext uri="{FF2B5EF4-FFF2-40B4-BE49-F238E27FC236}">
                <a16:creationId xmlns:a16="http://schemas.microsoft.com/office/drawing/2014/main" id="{CABB92E0-8BC9-2F76-A61F-9F286303D19B}"/>
              </a:ext>
            </a:extLst>
          </p:cNvPr>
          <p:cNvSpPr txBox="1"/>
          <p:nvPr/>
        </p:nvSpPr>
        <p:spPr>
          <a:xfrm>
            <a:off x="2509684" y="2523158"/>
            <a:ext cx="8561438" cy="369332"/>
          </a:xfrm>
          <a:prstGeom prst="rect">
            <a:avLst/>
          </a:prstGeom>
          <a:noFill/>
        </p:spPr>
        <p:txBody>
          <a:bodyPr wrap="square">
            <a:spAutoFit/>
          </a:bodyPr>
          <a:lstStyle/>
          <a:p>
            <a:r>
              <a:rPr lang="ko-KR" altLang="en-US" dirty="0">
                <a:hlinkClick r:id="rId3"/>
              </a:rPr>
              <a:t>https://randomnerdtutorials.com/esp32-cam-send-photos-email/</a:t>
            </a:r>
            <a:endParaRPr lang="ko-KR" altLang="en-US" dirty="0"/>
          </a:p>
        </p:txBody>
      </p:sp>
    </p:spTree>
    <p:extLst>
      <p:ext uri="{BB962C8B-B14F-4D97-AF65-F5344CB8AC3E}">
        <p14:creationId xmlns:p14="http://schemas.microsoft.com/office/powerpoint/2010/main" val="89237459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329A7-0C37-76A7-00BB-53D86C5661F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D8DC756-71C7-9DF1-A2A2-A47F90E24ED5}"/>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CAM take and send photos via Email using an SMTP Server</a:t>
            </a:r>
            <a:endParaRPr lang="ko-KR" altLang="en-US" b="1" dirty="0">
              <a:solidFill>
                <a:schemeClr val="tx1"/>
              </a:solidFill>
            </a:endParaRPr>
          </a:p>
        </p:txBody>
      </p:sp>
      <p:sp>
        <p:nvSpPr>
          <p:cNvPr id="3" name="TextBox 2">
            <a:extLst>
              <a:ext uri="{FF2B5EF4-FFF2-40B4-BE49-F238E27FC236}">
                <a16:creationId xmlns:a16="http://schemas.microsoft.com/office/drawing/2014/main" id="{CC0150D5-7132-0BD1-F3CB-3488411F3C66}"/>
              </a:ext>
            </a:extLst>
          </p:cNvPr>
          <p:cNvSpPr txBox="1"/>
          <p:nvPr/>
        </p:nvSpPr>
        <p:spPr>
          <a:xfrm>
            <a:off x="480060" y="902970"/>
            <a:ext cx="8839279" cy="2133597"/>
          </a:xfrm>
          <a:prstGeom prst="rect">
            <a:avLst/>
          </a:prstGeom>
          <a:noFill/>
        </p:spPr>
        <p:txBody>
          <a:bodyPr wrap="none" rtlCol="0">
            <a:spAutoFit/>
          </a:bodyPr>
          <a:lstStyle/>
          <a:p>
            <a:pPr marL="285750" indent="-285750">
              <a:lnSpc>
                <a:spcPts val="2700"/>
              </a:lnSpc>
              <a:buFont typeface="Arial" panose="020B0604020202020204" pitchFamily="34" charset="0"/>
              <a:buChar char="•"/>
            </a:pPr>
            <a:r>
              <a:rPr lang="en-US" altLang="ko-KR" dirty="0"/>
              <a:t>ESP32-CAM </a:t>
            </a:r>
            <a:r>
              <a:rPr lang="ko-KR" altLang="en-US" dirty="0"/>
              <a:t>으로 사진을 찍어  </a:t>
            </a:r>
            <a:r>
              <a:rPr lang="en-US" altLang="ko-KR" dirty="0"/>
              <a:t>SMTP Server</a:t>
            </a:r>
            <a:r>
              <a:rPr lang="ko-KR" altLang="en-US" dirty="0"/>
              <a:t>를 통해 이메일을 보내자</a:t>
            </a:r>
            <a:r>
              <a:rPr lang="en-US" altLang="ko-KR" dirty="0"/>
              <a:t>.</a:t>
            </a:r>
          </a:p>
          <a:p>
            <a:pPr marL="285750" indent="-285750">
              <a:lnSpc>
                <a:spcPts val="2700"/>
              </a:lnSpc>
              <a:buFont typeface="Arial" panose="020B0604020202020204" pitchFamily="34" charset="0"/>
              <a:buChar char="•"/>
            </a:pPr>
            <a:r>
              <a:rPr lang="en-US" altLang="ko-KR" dirty="0"/>
              <a:t>SMTP = Simple Mail Transfer Protocol</a:t>
            </a:r>
          </a:p>
          <a:p>
            <a:pPr marL="285750" indent="-285750">
              <a:lnSpc>
                <a:spcPts val="2700"/>
              </a:lnSpc>
              <a:buFont typeface="Arial" panose="020B0604020202020204" pitchFamily="34" charset="0"/>
              <a:buChar char="•"/>
            </a:pPr>
            <a:r>
              <a:rPr lang="en-US" altLang="ko-KR" dirty="0"/>
              <a:t>SMTPS = SMTP Server</a:t>
            </a:r>
            <a:br>
              <a:rPr lang="en-US" altLang="ko-KR" dirty="0"/>
            </a:br>
            <a:r>
              <a:rPr lang="en-US" altLang="ko-KR" dirty="0"/>
              <a:t>- </a:t>
            </a:r>
            <a:r>
              <a:rPr lang="ko-KR" altLang="en-US" dirty="0"/>
              <a:t>전송 계층 보안을 사용하여 </a:t>
            </a:r>
            <a:r>
              <a:rPr lang="en-US" altLang="ko-KR" dirty="0"/>
              <a:t>SMTP</a:t>
            </a:r>
            <a:r>
              <a:rPr lang="ko-KR" altLang="en-US" dirty="0"/>
              <a:t>를 보호하는 방법</a:t>
            </a:r>
            <a:endParaRPr lang="en-US" altLang="ko-KR" dirty="0"/>
          </a:p>
          <a:p>
            <a:pPr marL="285750" indent="-285750">
              <a:lnSpc>
                <a:spcPts val="2700"/>
              </a:lnSpc>
              <a:buFont typeface="Arial" panose="020B0604020202020204" pitchFamily="34" charset="0"/>
              <a:buChar char="•"/>
            </a:pPr>
            <a:endParaRPr lang="en-US" altLang="ko-KR" dirty="0"/>
          </a:p>
          <a:p>
            <a:pPr marL="285750" indent="-285750">
              <a:lnSpc>
                <a:spcPts val="2700"/>
              </a:lnSpc>
              <a:buFont typeface="Arial" panose="020B0604020202020204" pitchFamily="34" charset="0"/>
              <a:buChar char="•"/>
            </a:pPr>
            <a:r>
              <a:rPr lang="ko-KR" altLang="en-US" dirty="0"/>
              <a:t>이 프로젝트를 수행하기 위하여 </a:t>
            </a:r>
            <a:r>
              <a:rPr lang="en-US" altLang="ko-KR" dirty="0"/>
              <a:t>ESP320CAM </a:t>
            </a:r>
            <a:r>
              <a:rPr lang="ko-KR" altLang="en-US" dirty="0"/>
              <a:t>은 인터넷에 연결되어 있어야 한다</a:t>
            </a:r>
            <a:r>
              <a:rPr lang="en-US" altLang="ko-KR" dirty="0"/>
              <a:t>. </a:t>
            </a:r>
            <a:endParaRPr lang="ko-KR" altLang="en-US" dirty="0"/>
          </a:p>
        </p:txBody>
      </p:sp>
    </p:spTree>
    <p:extLst>
      <p:ext uri="{BB962C8B-B14F-4D97-AF65-F5344CB8AC3E}">
        <p14:creationId xmlns:p14="http://schemas.microsoft.com/office/powerpoint/2010/main" val="651834420"/>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1F79FD-3D7E-6CD9-484A-7A6F59162B5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DB10D2C-C123-342A-E4AE-61B91E875E3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ESP Mail Client Library</a:t>
            </a:r>
            <a:endParaRPr lang="ko-KR" altLang="en-US" b="1" dirty="0">
              <a:solidFill>
                <a:schemeClr val="tx1"/>
              </a:solidFill>
            </a:endParaRPr>
          </a:p>
        </p:txBody>
      </p:sp>
      <p:sp>
        <p:nvSpPr>
          <p:cNvPr id="3" name="TextBox 2">
            <a:extLst>
              <a:ext uri="{FF2B5EF4-FFF2-40B4-BE49-F238E27FC236}">
                <a16:creationId xmlns:a16="http://schemas.microsoft.com/office/drawing/2014/main" id="{E9AC2B1F-49BA-042F-7678-682A0A0F0CDE}"/>
              </a:ext>
            </a:extLst>
          </p:cNvPr>
          <p:cNvSpPr txBox="1"/>
          <p:nvPr/>
        </p:nvSpPr>
        <p:spPr>
          <a:xfrm>
            <a:off x="250489" y="857250"/>
            <a:ext cx="11742317" cy="793487"/>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en-US" altLang="ko-KR" dirty="0"/>
              <a:t>ESP32-CAM </a:t>
            </a:r>
            <a:r>
              <a:rPr lang="ko-KR" altLang="en-US" dirty="0"/>
              <a:t>으로 사진 전송을 위해서 </a:t>
            </a:r>
            <a:r>
              <a:rPr lang="en-US" altLang="ko-KR" dirty="0"/>
              <a:t>ESP-Mail-Client library</a:t>
            </a:r>
            <a:r>
              <a:rPr lang="ko-KR" altLang="en-US" dirty="0"/>
              <a:t>를 사용한다</a:t>
            </a:r>
            <a:r>
              <a:rPr lang="en-US" altLang="ko-KR" dirty="0"/>
              <a:t>. </a:t>
            </a:r>
          </a:p>
          <a:p>
            <a:pPr marL="285750" indent="-285750">
              <a:lnSpc>
                <a:spcPts val="2900"/>
              </a:lnSpc>
              <a:buFont typeface="Arial" panose="020B0604020202020204" pitchFamily="34" charset="0"/>
              <a:buChar char="•"/>
            </a:pPr>
            <a:r>
              <a:rPr lang="ko-KR" altLang="en-US" dirty="0"/>
              <a:t>이 라이브러리는 </a:t>
            </a:r>
            <a:r>
              <a:rPr lang="en-US" altLang="ko-KR" dirty="0"/>
              <a:t>ESP32</a:t>
            </a:r>
            <a:r>
              <a:rPr lang="ko-KR" altLang="en-US" dirty="0"/>
              <a:t>가 </a:t>
            </a:r>
            <a:r>
              <a:rPr lang="en-US" altLang="ko-KR" dirty="0"/>
              <a:t>SMTP</a:t>
            </a:r>
            <a:r>
              <a:rPr lang="ko-KR" altLang="en-US" dirty="0"/>
              <a:t> 서버를 통해 첨부 파일이 있는 혹은 없는 이메일을 송수신할 수 있도록 한다</a:t>
            </a:r>
            <a:r>
              <a:rPr lang="en-US" altLang="ko-KR" dirty="0"/>
              <a:t>.</a:t>
            </a:r>
            <a:endParaRPr lang="ko-KR" altLang="en-US" dirty="0"/>
          </a:p>
        </p:txBody>
      </p:sp>
      <p:grpSp>
        <p:nvGrpSpPr>
          <p:cNvPr id="9" name="그룹 8">
            <a:extLst>
              <a:ext uri="{FF2B5EF4-FFF2-40B4-BE49-F238E27FC236}">
                <a16:creationId xmlns:a16="http://schemas.microsoft.com/office/drawing/2014/main" id="{280F6A8A-96C1-B2B9-9A71-49ACAF215CC3}"/>
              </a:ext>
            </a:extLst>
          </p:cNvPr>
          <p:cNvGrpSpPr/>
          <p:nvPr/>
        </p:nvGrpSpPr>
        <p:grpSpPr>
          <a:xfrm>
            <a:off x="662543" y="1707887"/>
            <a:ext cx="6799051" cy="2475493"/>
            <a:chOff x="662543" y="1707887"/>
            <a:chExt cx="6799051" cy="2475493"/>
          </a:xfrm>
        </p:grpSpPr>
        <p:pic>
          <p:nvPicPr>
            <p:cNvPr id="5" name="그림 4">
              <a:extLst>
                <a:ext uri="{FF2B5EF4-FFF2-40B4-BE49-F238E27FC236}">
                  <a16:creationId xmlns:a16="http://schemas.microsoft.com/office/drawing/2014/main" id="{9A4F62A8-E527-BDDE-0060-0D2B79A28AAD}"/>
                </a:ext>
              </a:extLst>
            </p:cNvPr>
            <p:cNvPicPr>
              <a:picLocks noChangeAspect="1"/>
            </p:cNvPicPr>
            <p:nvPr/>
          </p:nvPicPr>
          <p:blipFill>
            <a:blip r:embed="rId2"/>
            <a:stretch>
              <a:fillRect/>
            </a:stretch>
          </p:blipFill>
          <p:spPr>
            <a:xfrm>
              <a:off x="662543" y="1707887"/>
              <a:ext cx="6799051" cy="2475493"/>
            </a:xfrm>
            <a:prstGeom prst="rect">
              <a:avLst/>
            </a:prstGeom>
          </p:spPr>
        </p:pic>
        <p:sp>
          <p:nvSpPr>
            <p:cNvPr id="6" name="사각형: 둥근 모서리 5">
              <a:extLst>
                <a:ext uri="{FF2B5EF4-FFF2-40B4-BE49-F238E27FC236}">
                  <a16:creationId xmlns:a16="http://schemas.microsoft.com/office/drawing/2014/main" id="{00F00FF9-0D80-0666-CE6C-FFCC89393611}"/>
                </a:ext>
              </a:extLst>
            </p:cNvPr>
            <p:cNvSpPr/>
            <p:nvPr/>
          </p:nvSpPr>
          <p:spPr>
            <a:xfrm>
              <a:off x="1268730" y="1828902"/>
              <a:ext cx="685800" cy="511610"/>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5EBFCBD4-30A7-0201-CDE4-F3D170F57516}"/>
                </a:ext>
              </a:extLst>
            </p:cNvPr>
            <p:cNvSpPr/>
            <p:nvPr/>
          </p:nvSpPr>
          <p:spPr>
            <a:xfrm>
              <a:off x="1611630" y="3581504"/>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EF6AD668-38DA-C338-148B-4ABC7A0EDF27}"/>
                </a:ext>
              </a:extLst>
            </p:cNvPr>
            <p:cNvSpPr/>
            <p:nvPr/>
          </p:nvSpPr>
          <p:spPr>
            <a:xfrm>
              <a:off x="4550680" y="3292477"/>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CFD66D75-EE8E-EC13-197F-335DABF045BD}"/>
              </a:ext>
            </a:extLst>
          </p:cNvPr>
          <p:cNvPicPr>
            <a:picLocks noChangeAspect="1"/>
          </p:cNvPicPr>
          <p:nvPr/>
        </p:nvPicPr>
        <p:blipFill>
          <a:blip r:embed="rId3"/>
          <a:stretch>
            <a:fillRect/>
          </a:stretch>
        </p:blipFill>
        <p:spPr>
          <a:xfrm>
            <a:off x="662542" y="4576528"/>
            <a:ext cx="8209475" cy="1922746"/>
          </a:xfrm>
          <a:prstGeom prst="rect">
            <a:avLst/>
          </a:prstGeom>
          <a:ln>
            <a:solidFill>
              <a:schemeClr val="tx1">
                <a:lumMod val="50000"/>
                <a:lumOff val="50000"/>
              </a:schemeClr>
            </a:solidFill>
          </a:ln>
        </p:spPr>
      </p:pic>
      <p:sp>
        <p:nvSpPr>
          <p:cNvPr id="12" name="사각형: 둥근 모서리 11">
            <a:extLst>
              <a:ext uri="{FF2B5EF4-FFF2-40B4-BE49-F238E27FC236}">
                <a16:creationId xmlns:a16="http://schemas.microsoft.com/office/drawing/2014/main" id="{13F5AEFC-C81E-4EE5-F6CA-9F354CEA7F05}"/>
              </a:ext>
            </a:extLst>
          </p:cNvPr>
          <p:cNvSpPr/>
          <p:nvPr/>
        </p:nvSpPr>
        <p:spPr>
          <a:xfrm>
            <a:off x="3722298" y="4867052"/>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9330419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E9526B-D4D8-FE46-B2FA-69CE0C49935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14E44CF-371B-0E52-3779-68DB3E3C230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Sender Email (New Account)</a:t>
            </a:r>
            <a:endParaRPr lang="ko-KR" altLang="en-US" b="1" dirty="0">
              <a:solidFill>
                <a:schemeClr val="tx1"/>
              </a:solidFill>
            </a:endParaRPr>
          </a:p>
        </p:txBody>
      </p:sp>
      <p:sp>
        <p:nvSpPr>
          <p:cNvPr id="4" name="TextBox 3">
            <a:extLst>
              <a:ext uri="{FF2B5EF4-FFF2-40B4-BE49-F238E27FC236}">
                <a16:creationId xmlns:a16="http://schemas.microsoft.com/office/drawing/2014/main" id="{043E3D38-2ABB-5639-29FF-03FCBA3D5CFC}"/>
              </a:ext>
            </a:extLst>
          </p:cNvPr>
          <p:cNvSpPr txBox="1"/>
          <p:nvPr/>
        </p:nvSpPr>
        <p:spPr>
          <a:xfrm>
            <a:off x="239150" y="886264"/>
            <a:ext cx="11840101" cy="923330"/>
          </a:xfrm>
          <a:prstGeom prst="rect">
            <a:avLst/>
          </a:prstGeom>
          <a:noFill/>
        </p:spPr>
        <p:txBody>
          <a:bodyPr wrap="none" rtlCol="0">
            <a:spAutoFit/>
          </a:bodyPr>
          <a:lstStyle/>
          <a:p>
            <a:pPr marL="285750" indent="-285750">
              <a:buFont typeface="Arial" panose="020B0604020202020204" pitchFamily="34" charset="0"/>
              <a:buChar char="•"/>
            </a:pPr>
            <a:r>
              <a:rPr lang="ko-KR" altLang="en-US" dirty="0"/>
              <a:t>기존 이메일을 사용하지 말고</a:t>
            </a:r>
            <a:r>
              <a:rPr lang="en-US" altLang="ko-KR" dirty="0"/>
              <a:t>, </a:t>
            </a:r>
            <a:r>
              <a:rPr lang="ko-KR" altLang="en-US" dirty="0"/>
              <a:t>새로운 이메일 계정을 만들어 시험하자</a:t>
            </a:r>
            <a:r>
              <a:rPr lang="en-US" altLang="ko-KR" dirty="0"/>
              <a:t>.</a:t>
            </a:r>
          </a:p>
          <a:p>
            <a:pPr marL="285750" indent="-285750">
              <a:buFont typeface="Arial" panose="020B0604020202020204" pitchFamily="34" charset="0"/>
              <a:buChar char="•"/>
            </a:pPr>
            <a:r>
              <a:rPr lang="ko-KR" altLang="en-US" dirty="0"/>
              <a:t>데이터 전송 과정에서 실수로 기존 메일 계정에 잘못된 요청을 보내는 경우 메일 계정이 정지 당할 수도 있다</a:t>
            </a:r>
            <a:r>
              <a:rPr lang="en-US" altLang="ko-KR" dirty="0"/>
              <a:t>. </a:t>
            </a:r>
          </a:p>
          <a:p>
            <a:pPr marL="285750" indent="-285750">
              <a:buFont typeface="Arial" panose="020B0604020202020204" pitchFamily="34" charset="0"/>
              <a:buChar char="•"/>
            </a:pPr>
            <a:r>
              <a:rPr lang="en-US" altLang="ko-KR" dirty="0"/>
              <a:t>Gmail </a:t>
            </a:r>
            <a:r>
              <a:rPr lang="ko-KR" altLang="en-US" dirty="0"/>
              <a:t>계정을 다시 만들자</a:t>
            </a:r>
          </a:p>
        </p:txBody>
      </p:sp>
    </p:spTree>
    <p:extLst>
      <p:ext uri="{BB962C8B-B14F-4D97-AF65-F5344CB8AC3E}">
        <p14:creationId xmlns:p14="http://schemas.microsoft.com/office/powerpoint/2010/main" val="3343044210"/>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C42871-AAF2-7B6A-E863-1D4304777B1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51A8C3D-510A-0706-E27F-DE75B0373B5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F69CF68B-8F56-794B-31BD-8E8AFF0226DC}"/>
              </a:ext>
            </a:extLst>
          </p:cNvPr>
          <p:cNvSpPr txBox="1"/>
          <p:nvPr/>
        </p:nvSpPr>
        <p:spPr>
          <a:xfrm>
            <a:off x="239150" y="886264"/>
            <a:ext cx="10481524" cy="1477328"/>
          </a:xfrm>
          <a:prstGeom prst="rect">
            <a:avLst/>
          </a:prstGeom>
          <a:noFill/>
        </p:spPr>
        <p:txBody>
          <a:bodyPr wrap="none" rtlCol="0">
            <a:spAutoFit/>
          </a:bodyPr>
          <a:lstStyle/>
          <a:p>
            <a:pPr marL="285750" indent="-285750">
              <a:buFont typeface="Arial" panose="020B0604020202020204" pitchFamily="34" charset="0"/>
              <a:buChar char="•"/>
            </a:pPr>
            <a:r>
              <a:rPr lang="en-US" altLang="ko-KR" dirty="0"/>
              <a:t>ESP32</a:t>
            </a:r>
            <a:r>
              <a:rPr lang="ko-KR" altLang="en-US" dirty="0"/>
              <a:t>에서 </a:t>
            </a:r>
            <a:r>
              <a:rPr lang="en-US" altLang="ko-KR" dirty="0"/>
              <a:t>Gmail </a:t>
            </a:r>
            <a:r>
              <a:rPr lang="ko-KR" altLang="en-US" dirty="0"/>
              <a:t>계정으로 메일을 보내기 위해서 </a:t>
            </a:r>
            <a:r>
              <a:rPr lang="en-US" altLang="ko-KR" dirty="0"/>
              <a:t>app password</a:t>
            </a:r>
            <a:r>
              <a:rPr lang="ko-KR" altLang="en-US" dirty="0"/>
              <a:t>를 만들어야 한다</a:t>
            </a:r>
            <a:r>
              <a:rPr lang="en-US" altLang="ko-KR" dirty="0"/>
              <a:t>. </a:t>
            </a:r>
          </a:p>
          <a:p>
            <a:pPr marL="285750" indent="-285750">
              <a:buFont typeface="Arial" panose="020B0604020202020204" pitchFamily="34" charset="0"/>
              <a:buChar char="•"/>
            </a:pPr>
            <a:r>
              <a:rPr lang="en-US" altLang="ko-KR" dirty="0"/>
              <a:t>App password</a:t>
            </a:r>
            <a:r>
              <a:rPr lang="ko-KR" altLang="en-US" dirty="0"/>
              <a:t>는 보안 수준이 낮은 </a:t>
            </a:r>
            <a:r>
              <a:rPr lang="en-US" altLang="ko-KR" dirty="0"/>
              <a:t>App</a:t>
            </a:r>
            <a:r>
              <a:rPr lang="ko-KR" altLang="en-US" dirty="0"/>
              <a:t>이나 장치가 </a:t>
            </a:r>
            <a:r>
              <a:rPr lang="en-US" altLang="ko-KR" dirty="0"/>
              <a:t>Google </a:t>
            </a:r>
            <a:r>
              <a:rPr lang="ko-KR" altLang="en-US" dirty="0" err="1"/>
              <a:t>게정에</a:t>
            </a:r>
            <a:r>
              <a:rPr lang="ko-KR" altLang="en-US" dirty="0"/>
              <a:t> </a:t>
            </a:r>
            <a:r>
              <a:rPr lang="en-US" altLang="ko-KR" dirty="0" err="1"/>
              <a:t>Acess</a:t>
            </a:r>
            <a:r>
              <a:rPr lang="ko-KR" altLang="en-US" dirty="0"/>
              <a:t>할 수 있도록 허용하는 </a:t>
            </a:r>
            <a:br>
              <a:rPr lang="en-US" altLang="ko-KR" dirty="0"/>
            </a:br>
            <a:r>
              <a:rPr lang="en-US" altLang="ko-KR" dirty="0"/>
              <a:t>16</a:t>
            </a:r>
            <a:r>
              <a:rPr lang="ko-KR" altLang="en-US" dirty="0"/>
              <a:t>자리 비밀번호이다</a:t>
            </a:r>
            <a:r>
              <a:rPr lang="en-US" altLang="ko-KR" dirty="0"/>
              <a:t>. </a:t>
            </a:r>
          </a:p>
          <a:p>
            <a:pPr marL="285750" indent="-285750">
              <a:buFont typeface="Arial" panose="020B0604020202020204" pitchFamily="34" charset="0"/>
              <a:buChar char="•"/>
            </a:pPr>
            <a:endParaRPr lang="en-US" altLang="ko-KR" dirty="0"/>
          </a:p>
          <a:p>
            <a:r>
              <a:rPr lang="en-US" altLang="ko-KR" dirty="0"/>
              <a:t>    1) Google Account </a:t>
            </a:r>
            <a:r>
              <a:rPr lang="ko-KR" altLang="en-US" dirty="0"/>
              <a:t>열고</a:t>
            </a:r>
            <a:r>
              <a:rPr lang="en-US" altLang="ko-KR" dirty="0"/>
              <a:t>, </a:t>
            </a:r>
            <a:r>
              <a:rPr lang="ko-KR" altLang="en-US" dirty="0"/>
              <a:t> </a:t>
            </a:r>
            <a:r>
              <a:rPr lang="en-US" altLang="ko-KR" dirty="0"/>
              <a:t>Security </a:t>
            </a:r>
            <a:r>
              <a:rPr lang="ko-KR" altLang="en-US" dirty="0"/>
              <a:t>선택</a:t>
            </a:r>
          </a:p>
        </p:txBody>
      </p:sp>
      <p:pic>
        <p:nvPicPr>
          <p:cNvPr id="9" name="그림 8">
            <a:extLst>
              <a:ext uri="{FF2B5EF4-FFF2-40B4-BE49-F238E27FC236}">
                <a16:creationId xmlns:a16="http://schemas.microsoft.com/office/drawing/2014/main" id="{808AB37B-7335-BF13-A552-49454DF55F07}"/>
              </a:ext>
            </a:extLst>
          </p:cNvPr>
          <p:cNvPicPr>
            <a:picLocks noChangeAspect="1"/>
          </p:cNvPicPr>
          <p:nvPr/>
        </p:nvPicPr>
        <p:blipFill>
          <a:blip r:embed="rId2"/>
          <a:stretch>
            <a:fillRect/>
          </a:stretch>
        </p:blipFill>
        <p:spPr>
          <a:xfrm>
            <a:off x="1042010" y="2471639"/>
            <a:ext cx="6525536" cy="3267531"/>
          </a:xfrm>
          <a:prstGeom prst="rect">
            <a:avLst/>
          </a:prstGeom>
        </p:spPr>
      </p:pic>
      <p:sp>
        <p:nvSpPr>
          <p:cNvPr id="10" name="사각형: 둥근 모서리 9">
            <a:extLst>
              <a:ext uri="{FF2B5EF4-FFF2-40B4-BE49-F238E27FC236}">
                <a16:creationId xmlns:a16="http://schemas.microsoft.com/office/drawing/2014/main" id="{150CBB70-8669-EFE6-1A87-8D92DFE0417A}"/>
              </a:ext>
            </a:extLst>
          </p:cNvPr>
          <p:cNvSpPr/>
          <p:nvPr/>
        </p:nvSpPr>
        <p:spPr>
          <a:xfrm>
            <a:off x="1042010" y="4384110"/>
            <a:ext cx="2765902" cy="513567"/>
          </a:xfrm>
          <a:prstGeom prst="roundRect">
            <a:avLst/>
          </a:pr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7FF0AAEA-D23A-97C6-1092-7FD166250898}"/>
              </a:ext>
            </a:extLst>
          </p:cNvPr>
          <p:cNvSpPr/>
          <p:nvPr/>
        </p:nvSpPr>
        <p:spPr>
          <a:xfrm>
            <a:off x="4304778" y="4672208"/>
            <a:ext cx="1791222" cy="327765"/>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564727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3D3C9D-FBF4-E502-5EE9-52742CBC834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F155C12-3C2F-A23F-3B65-783EE8F14A65}"/>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5F32A9B4-56BB-4FD7-FB49-08BFB19B2A7E}"/>
              </a:ext>
            </a:extLst>
          </p:cNvPr>
          <p:cNvSpPr txBox="1"/>
          <p:nvPr/>
        </p:nvSpPr>
        <p:spPr>
          <a:xfrm>
            <a:off x="239150" y="886264"/>
            <a:ext cx="2465740" cy="369332"/>
          </a:xfrm>
          <a:prstGeom prst="rect">
            <a:avLst/>
          </a:prstGeom>
          <a:noFill/>
        </p:spPr>
        <p:txBody>
          <a:bodyPr wrap="none" rtlCol="0">
            <a:spAutoFit/>
          </a:bodyPr>
          <a:lstStyle/>
          <a:p>
            <a:r>
              <a:rPr lang="en-US" altLang="ko-KR" dirty="0"/>
              <a:t>    2) 2</a:t>
            </a:r>
            <a:r>
              <a:rPr lang="ko-KR" altLang="en-US" dirty="0"/>
              <a:t>단계 인증 설정</a:t>
            </a:r>
          </a:p>
        </p:txBody>
      </p:sp>
      <p:pic>
        <p:nvPicPr>
          <p:cNvPr id="5" name="그림 4">
            <a:extLst>
              <a:ext uri="{FF2B5EF4-FFF2-40B4-BE49-F238E27FC236}">
                <a16:creationId xmlns:a16="http://schemas.microsoft.com/office/drawing/2014/main" id="{854332C2-0860-025B-68F9-A387CD40F7E3}"/>
              </a:ext>
            </a:extLst>
          </p:cNvPr>
          <p:cNvPicPr>
            <a:picLocks noChangeAspect="1"/>
          </p:cNvPicPr>
          <p:nvPr/>
        </p:nvPicPr>
        <p:blipFill>
          <a:blip r:embed="rId2"/>
          <a:stretch>
            <a:fillRect/>
          </a:stretch>
        </p:blipFill>
        <p:spPr>
          <a:xfrm>
            <a:off x="816287" y="1476843"/>
            <a:ext cx="8903910" cy="4472778"/>
          </a:xfrm>
          <a:prstGeom prst="rect">
            <a:avLst/>
          </a:prstGeom>
          <a:ln>
            <a:solidFill>
              <a:schemeClr val="tx1">
                <a:lumMod val="50000"/>
                <a:lumOff val="50000"/>
              </a:schemeClr>
            </a:solidFill>
          </a:ln>
        </p:spPr>
      </p:pic>
      <p:sp>
        <p:nvSpPr>
          <p:cNvPr id="6" name="사각형: 둥근 모서리 5">
            <a:extLst>
              <a:ext uri="{FF2B5EF4-FFF2-40B4-BE49-F238E27FC236}">
                <a16:creationId xmlns:a16="http://schemas.microsoft.com/office/drawing/2014/main" id="{544F5A30-74E6-8402-4F8F-CCA1E42FBE4F}"/>
              </a:ext>
            </a:extLst>
          </p:cNvPr>
          <p:cNvSpPr/>
          <p:nvPr/>
        </p:nvSpPr>
        <p:spPr>
          <a:xfrm>
            <a:off x="8500997" y="2855934"/>
            <a:ext cx="1244252" cy="535488"/>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8B0C5B1A-C797-3868-98F7-AA0A87070BBF}"/>
              </a:ext>
            </a:extLst>
          </p:cNvPr>
          <p:cNvSpPr/>
          <p:nvPr/>
        </p:nvSpPr>
        <p:spPr>
          <a:xfrm>
            <a:off x="2841320" y="5476763"/>
            <a:ext cx="1655524" cy="535488"/>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3964187"/>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2D74D2-5BC8-97B2-E592-A425F8F24CD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513558F-6E5A-EA57-F837-2716DA67C47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D06FA5C3-0DA3-4914-C27D-AFE4153CBD88}"/>
              </a:ext>
            </a:extLst>
          </p:cNvPr>
          <p:cNvSpPr txBox="1"/>
          <p:nvPr/>
        </p:nvSpPr>
        <p:spPr>
          <a:xfrm>
            <a:off x="239150" y="886264"/>
            <a:ext cx="6316153" cy="369332"/>
          </a:xfrm>
          <a:prstGeom prst="rect">
            <a:avLst/>
          </a:prstGeom>
          <a:noFill/>
        </p:spPr>
        <p:txBody>
          <a:bodyPr wrap="none" rtlCol="0">
            <a:spAutoFit/>
          </a:bodyPr>
          <a:lstStyle/>
          <a:p>
            <a:r>
              <a:rPr lang="en-US" altLang="ko-KR" dirty="0"/>
              <a:t>    2) 2</a:t>
            </a:r>
            <a:r>
              <a:rPr lang="ko-KR" altLang="en-US" dirty="0"/>
              <a:t>단계 인증 설정  </a:t>
            </a:r>
            <a:r>
              <a:rPr lang="en-US" altLang="ko-KR" dirty="0">
                <a:sym typeface="Wingdings" panose="05000000000000000000" pitchFamily="2" charset="2"/>
              </a:rPr>
              <a:t> </a:t>
            </a:r>
            <a:r>
              <a:rPr lang="ko-KR" altLang="en-US" dirty="0">
                <a:sym typeface="Wingdings" panose="05000000000000000000" pitchFamily="2" charset="2"/>
              </a:rPr>
              <a:t>전화번호 입력</a:t>
            </a:r>
            <a:r>
              <a:rPr lang="en-US" altLang="ko-KR" dirty="0">
                <a:sym typeface="Wingdings" panose="05000000000000000000" pitchFamily="2" charset="2"/>
              </a:rPr>
              <a:t>, </a:t>
            </a:r>
            <a:r>
              <a:rPr lang="ko-KR" altLang="en-US" dirty="0">
                <a:sym typeface="Wingdings" panose="05000000000000000000" pitchFamily="2" charset="2"/>
              </a:rPr>
              <a:t>휴대폰 문자 입력</a:t>
            </a:r>
            <a:endParaRPr lang="ko-KR" altLang="en-US" dirty="0"/>
          </a:p>
        </p:txBody>
      </p:sp>
      <p:pic>
        <p:nvPicPr>
          <p:cNvPr id="8" name="그림 7">
            <a:extLst>
              <a:ext uri="{FF2B5EF4-FFF2-40B4-BE49-F238E27FC236}">
                <a16:creationId xmlns:a16="http://schemas.microsoft.com/office/drawing/2014/main" id="{EDD6106E-1988-81A2-CFEF-C5DB8B821ABF}"/>
              </a:ext>
            </a:extLst>
          </p:cNvPr>
          <p:cNvPicPr>
            <a:picLocks noChangeAspect="1"/>
          </p:cNvPicPr>
          <p:nvPr/>
        </p:nvPicPr>
        <p:blipFill>
          <a:blip r:embed="rId2"/>
          <a:stretch>
            <a:fillRect/>
          </a:stretch>
        </p:blipFill>
        <p:spPr>
          <a:xfrm>
            <a:off x="803270" y="1380045"/>
            <a:ext cx="5048955" cy="4591691"/>
          </a:xfrm>
          <a:prstGeom prst="rect">
            <a:avLst/>
          </a:prstGeom>
        </p:spPr>
      </p:pic>
      <p:pic>
        <p:nvPicPr>
          <p:cNvPr id="10" name="그림 9">
            <a:extLst>
              <a:ext uri="{FF2B5EF4-FFF2-40B4-BE49-F238E27FC236}">
                <a16:creationId xmlns:a16="http://schemas.microsoft.com/office/drawing/2014/main" id="{CE6B87EA-0A91-0DE3-3326-A01D84B10FBB}"/>
              </a:ext>
            </a:extLst>
          </p:cNvPr>
          <p:cNvPicPr>
            <a:picLocks noChangeAspect="1"/>
          </p:cNvPicPr>
          <p:nvPr/>
        </p:nvPicPr>
        <p:blipFill>
          <a:blip r:embed="rId3"/>
          <a:stretch>
            <a:fillRect/>
          </a:stretch>
        </p:blipFill>
        <p:spPr>
          <a:xfrm>
            <a:off x="6744643" y="1949074"/>
            <a:ext cx="4239217" cy="3210373"/>
          </a:xfrm>
          <a:prstGeom prst="rect">
            <a:avLst/>
          </a:prstGeom>
          <a:ln>
            <a:solidFill>
              <a:schemeClr val="tx1">
                <a:lumMod val="50000"/>
                <a:lumOff val="50000"/>
              </a:schemeClr>
            </a:solidFill>
          </a:ln>
        </p:spPr>
      </p:pic>
    </p:spTree>
    <p:extLst>
      <p:ext uri="{BB962C8B-B14F-4D97-AF65-F5344CB8AC3E}">
        <p14:creationId xmlns:p14="http://schemas.microsoft.com/office/powerpoint/2010/main" val="255057356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BE59F2-82D4-2425-B2BC-6814CF12C63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4D8727A-696A-D42B-6CB5-90D3CAA09684}"/>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FC3B9775-2D3C-DCCD-612D-84FA7D1D9E4A}"/>
              </a:ext>
            </a:extLst>
          </p:cNvPr>
          <p:cNvSpPr txBox="1"/>
          <p:nvPr/>
        </p:nvSpPr>
        <p:spPr>
          <a:xfrm>
            <a:off x="13682" y="886264"/>
            <a:ext cx="6486840" cy="923330"/>
          </a:xfrm>
          <a:prstGeom prst="rect">
            <a:avLst/>
          </a:prstGeom>
          <a:noFill/>
        </p:spPr>
        <p:txBody>
          <a:bodyPr wrap="none" rtlCol="0">
            <a:spAutoFit/>
          </a:bodyPr>
          <a:lstStyle/>
          <a:p>
            <a:pPr marL="285750" indent="-285750">
              <a:buFont typeface="Arial" panose="020B0604020202020204" pitchFamily="34" charset="0"/>
              <a:buChar char="•"/>
            </a:pPr>
            <a:r>
              <a:rPr lang="en-US" altLang="ko-KR" dirty="0"/>
              <a:t>2</a:t>
            </a:r>
            <a:r>
              <a:rPr lang="ko-KR" altLang="en-US" dirty="0"/>
              <a:t>단계 보안 인증을 마쳐야 </a:t>
            </a:r>
            <a:r>
              <a:rPr lang="en-US" altLang="ko-KR" dirty="0"/>
              <a:t>App password</a:t>
            </a:r>
            <a:r>
              <a:rPr lang="ko-KR" altLang="en-US" dirty="0"/>
              <a:t>를 만들 수 있다</a:t>
            </a:r>
            <a:r>
              <a:rPr lang="en-US" altLang="ko-KR" dirty="0"/>
              <a:t>. </a:t>
            </a:r>
          </a:p>
          <a:p>
            <a:pPr marL="285750" indent="-285750">
              <a:buFont typeface="Arial" panose="020B0604020202020204" pitchFamily="34" charset="0"/>
              <a:buChar char="•"/>
            </a:pPr>
            <a:endParaRPr lang="en-US" altLang="ko-KR" dirty="0"/>
          </a:p>
          <a:p>
            <a:r>
              <a:rPr lang="en-US" altLang="ko-KR" dirty="0"/>
              <a:t>    1) Google Account </a:t>
            </a:r>
            <a:r>
              <a:rPr lang="ko-KR" altLang="en-US" dirty="0"/>
              <a:t>열고</a:t>
            </a:r>
            <a:r>
              <a:rPr lang="en-US" altLang="ko-KR" dirty="0"/>
              <a:t>, </a:t>
            </a:r>
            <a:r>
              <a:rPr lang="ko-KR" altLang="en-US" dirty="0"/>
              <a:t> </a:t>
            </a:r>
            <a:r>
              <a:rPr lang="en-US" altLang="ko-KR" dirty="0"/>
              <a:t>Security </a:t>
            </a:r>
            <a:r>
              <a:rPr lang="ko-KR" altLang="en-US" dirty="0"/>
              <a:t>선택</a:t>
            </a:r>
          </a:p>
        </p:txBody>
      </p:sp>
      <p:pic>
        <p:nvPicPr>
          <p:cNvPr id="7" name="그림 6">
            <a:extLst>
              <a:ext uri="{FF2B5EF4-FFF2-40B4-BE49-F238E27FC236}">
                <a16:creationId xmlns:a16="http://schemas.microsoft.com/office/drawing/2014/main" id="{144B3BAD-FFFB-80CE-399C-CE81634D9EC8}"/>
              </a:ext>
            </a:extLst>
          </p:cNvPr>
          <p:cNvPicPr>
            <a:picLocks noChangeAspect="1"/>
          </p:cNvPicPr>
          <p:nvPr/>
        </p:nvPicPr>
        <p:blipFill>
          <a:blip r:embed="rId2"/>
          <a:stretch>
            <a:fillRect/>
          </a:stretch>
        </p:blipFill>
        <p:spPr>
          <a:xfrm>
            <a:off x="718526" y="1988746"/>
            <a:ext cx="5077151" cy="2880507"/>
          </a:xfrm>
          <a:prstGeom prst="rect">
            <a:avLst/>
          </a:prstGeom>
          <a:ln>
            <a:solidFill>
              <a:schemeClr val="tx1">
                <a:lumMod val="50000"/>
                <a:lumOff val="50000"/>
              </a:schemeClr>
            </a:solidFill>
          </a:ln>
        </p:spPr>
      </p:pic>
      <p:sp>
        <p:nvSpPr>
          <p:cNvPr id="3" name="사각형: 둥근 모서리 2">
            <a:extLst>
              <a:ext uri="{FF2B5EF4-FFF2-40B4-BE49-F238E27FC236}">
                <a16:creationId xmlns:a16="http://schemas.microsoft.com/office/drawing/2014/main" id="{147FE522-16B6-ACE0-2F89-3CF8F886C36A}"/>
              </a:ext>
            </a:extLst>
          </p:cNvPr>
          <p:cNvSpPr/>
          <p:nvPr/>
        </p:nvSpPr>
        <p:spPr>
          <a:xfrm>
            <a:off x="3392466" y="2530258"/>
            <a:ext cx="1405003" cy="363012"/>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711E76B5-7C7E-38C5-AAA9-8045C34AF2D1}"/>
              </a:ext>
            </a:extLst>
          </p:cNvPr>
          <p:cNvSpPr txBox="1"/>
          <p:nvPr/>
        </p:nvSpPr>
        <p:spPr>
          <a:xfrm>
            <a:off x="4973407" y="2530258"/>
            <a:ext cx="646331" cy="369332"/>
          </a:xfrm>
          <a:prstGeom prst="rect">
            <a:avLst/>
          </a:prstGeom>
          <a:noFill/>
        </p:spPr>
        <p:txBody>
          <a:bodyPr wrap="none" rtlCol="0">
            <a:spAutoFit/>
          </a:bodyPr>
          <a:lstStyle/>
          <a:p>
            <a:r>
              <a:rPr lang="ko-KR" altLang="en-US" b="1" dirty="0">
                <a:solidFill>
                  <a:srgbClr val="3A0DFB"/>
                </a:solidFill>
              </a:rPr>
              <a:t>입력</a:t>
            </a:r>
          </a:p>
        </p:txBody>
      </p:sp>
      <p:sp>
        <p:nvSpPr>
          <p:cNvPr id="6" name="사각형: 둥근 모서리 5">
            <a:extLst>
              <a:ext uri="{FF2B5EF4-FFF2-40B4-BE49-F238E27FC236}">
                <a16:creationId xmlns:a16="http://schemas.microsoft.com/office/drawing/2014/main" id="{18B6B471-D98E-FE4D-9506-CC8F66104A16}"/>
              </a:ext>
            </a:extLst>
          </p:cNvPr>
          <p:cNvSpPr/>
          <p:nvPr/>
        </p:nvSpPr>
        <p:spPr>
          <a:xfrm>
            <a:off x="3081403" y="4361145"/>
            <a:ext cx="1628384" cy="495582"/>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8F0FB93-8E4B-5C3A-10B6-33CEB05AD3D0}"/>
              </a:ext>
            </a:extLst>
          </p:cNvPr>
          <p:cNvPicPr>
            <a:picLocks noChangeAspect="1"/>
          </p:cNvPicPr>
          <p:nvPr/>
        </p:nvPicPr>
        <p:blipFill>
          <a:blip r:embed="rId3"/>
          <a:stretch>
            <a:fillRect/>
          </a:stretch>
        </p:blipFill>
        <p:spPr>
          <a:xfrm>
            <a:off x="6096000" y="1988746"/>
            <a:ext cx="5273998" cy="4404750"/>
          </a:xfrm>
          <a:prstGeom prst="rect">
            <a:avLst/>
          </a:prstGeom>
          <a:ln>
            <a:solidFill>
              <a:schemeClr val="tx1">
                <a:lumMod val="50000"/>
                <a:lumOff val="50000"/>
              </a:schemeClr>
            </a:solidFill>
          </a:ln>
        </p:spPr>
      </p:pic>
      <p:pic>
        <p:nvPicPr>
          <p:cNvPr id="11" name="그림 10">
            <a:extLst>
              <a:ext uri="{FF2B5EF4-FFF2-40B4-BE49-F238E27FC236}">
                <a16:creationId xmlns:a16="http://schemas.microsoft.com/office/drawing/2014/main" id="{214CDFCE-7B4B-B1D5-4267-75F851552EA2}"/>
              </a:ext>
            </a:extLst>
          </p:cNvPr>
          <p:cNvPicPr>
            <a:picLocks noChangeAspect="1"/>
          </p:cNvPicPr>
          <p:nvPr/>
        </p:nvPicPr>
        <p:blipFill>
          <a:blip r:embed="rId4"/>
          <a:stretch>
            <a:fillRect/>
          </a:stretch>
        </p:blipFill>
        <p:spPr>
          <a:xfrm>
            <a:off x="780524" y="5095377"/>
            <a:ext cx="5029902" cy="1562318"/>
          </a:xfrm>
          <a:prstGeom prst="rect">
            <a:avLst/>
          </a:prstGeom>
        </p:spPr>
      </p:pic>
      <p:sp>
        <p:nvSpPr>
          <p:cNvPr id="12" name="사각형: 둥근 모서리 11">
            <a:extLst>
              <a:ext uri="{FF2B5EF4-FFF2-40B4-BE49-F238E27FC236}">
                <a16:creationId xmlns:a16="http://schemas.microsoft.com/office/drawing/2014/main" id="{6C58161E-ACB1-1C97-3C49-A7EBECE93CE2}"/>
              </a:ext>
            </a:extLst>
          </p:cNvPr>
          <p:cNvSpPr/>
          <p:nvPr/>
        </p:nvSpPr>
        <p:spPr>
          <a:xfrm>
            <a:off x="6375749" y="5070324"/>
            <a:ext cx="1405003" cy="391023"/>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FB392580-40AD-4F22-8A2C-CF1534088F69}"/>
              </a:ext>
            </a:extLst>
          </p:cNvPr>
          <p:cNvSpPr txBox="1"/>
          <p:nvPr/>
        </p:nvSpPr>
        <p:spPr>
          <a:xfrm>
            <a:off x="7881533" y="5070324"/>
            <a:ext cx="646331" cy="369332"/>
          </a:xfrm>
          <a:prstGeom prst="rect">
            <a:avLst/>
          </a:prstGeom>
          <a:noFill/>
        </p:spPr>
        <p:txBody>
          <a:bodyPr wrap="none" rtlCol="0">
            <a:spAutoFit/>
          </a:bodyPr>
          <a:lstStyle/>
          <a:p>
            <a:r>
              <a:rPr lang="ko-KR" altLang="en-US" b="1" dirty="0">
                <a:solidFill>
                  <a:srgbClr val="3A0DFB"/>
                </a:solidFill>
              </a:rPr>
              <a:t>입력</a:t>
            </a:r>
          </a:p>
        </p:txBody>
      </p:sp>
      <p:sp>
        <p:nvSpPr>
          <p:cNvPr id="14" name="사각형: 둥근 모서리 13">
            <a:extLst>
              <a:ext uri="{FF2B5EF4-FFF2-40B4-BE49-F238E27FC236}">
                <a16:creationId xmlns:a16="http://schemas.microsoft.com/office/drawing/2014/main" id="{D6CAFB87-CA60-CC81-B375-FE99B6A7C2B3}"/>
              </a:ext>
            </a:extLst>
          </p:cNvPr>
          <p:cNvSpPr/>
          <p:nvPr/>
        </p:nvSpPr>
        <p:spPr>
          <a:xfrm>
            <a:off x="10240267" y="5946314"/>
            <a:ext cx="907898" cy="472234"/>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83171907"/>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E060B-DA81-89A1-46C8-9D9730CC21A2}"/>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CE765EB-17B2-F6B2-45F4-319D95AA487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Gmail SMTP Server Settings</a:t>
            </a:r>
            <a:endParaRPr lang="ko-KR" altLang="en-US" b="1" dirty="0">
              <a:solidFill>
                <a:schemeClr val="tx1"/>
              </a:solidFill>
            </a:endParaRPr>
          </a:p>
        </p:txBody>
      </p:sp>
      <p:sp>
        <p:nvSpPr>
          <p:cNvPr id="10" name="TextBox 9">
            <a:extLst>
              <a:ext uri="{FF2B5EF4-FFF2-40B4-BE49-F238E27FC236}">
                <a16:creationId xmlns:a16="http://schemas.microsoft.com/office/drawing/2014/main" id="{1D53EAB7-75AF-211B-2138-957843DA2843}"/>
              </a:ext>
            </a:extLst>
          </p:cNvPr>
          <p:cNvSpPr txBox="1"/>
          <p:nvPr/>
        </p:nvSpPr>
        <p:spPr>
          <a:xfrm>
            <a:off x="432148" y="901532"/>
            <a:ext cx="6100174" cy="2215415"/>
          </a:xfrm>
          <a:prstGeom prst="rect">
            <a:avLst/>
          </a:prstGeom>
          <a:noFill/>
        </p:spPr>
        <p:txBody>
          <a:bodyPr wrap="square">
            <a:spAutoFit/>
          </a:bodyPr>
          <a:lstStyle/>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Server: </a:t>
            </a:r>
            <a:r>
              <a:rPr lang="en-US" altLang="ko-KR" sz="2000" b="1" i="0" dirty="0">
                <a:solidFill>
                  <a:srgbClr val="3A3A3A"/>
                </a:solidFill>
                <a:effectLst/>
                <a:latin typeface="Helvetica" panose="020B0604020202020204" pitchFamily="34" charset="0"/>
              </a:rPr>
              <a:t>smtp.gmail.com</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username: Complete Gmail address</a:t>
            </a: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password: Your Gmail password</a:t>
            </a: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port (TLS): </a:t>
            </a:r>
            <a:r>
              <a:rPr lang="en-US" altLang="ko-KR" sz="2000" b="1" i="0" dirty="0">
                <a:solidFill>
                  <a:srgbClr val="3A3A3A"/>
                </a:solidFill>
                <a:effectLst/>
                <a:latin typeface="Helvetica" panose="020B0604020202020204" pitchFamily="34" charset="0"/>
              </a:rPr>
              <a:t>587</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port (SSL): </a:t>
            </a:r>
            <a:r>
              <a:rPr lang="en-US" altLang="ko-KR" sz="2000" b="1" i="0" dirty="0">
                <a:solidFill>
                  <a:srgbClr val="3A3A3A"/>
                </a:solidFill>
                <a:effectLst/>
                <a:latin typeface="Helvetica" panose="020B0604020202020204" pitchFamily="34" charset="0"/>
              </a:rPr>
              <a:t>465</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TLS/SSL required: </a:t>
            </a:r>
            <a:r>
              <a:rPr lang="en-US" altLang="ko-KR" sz="2000" b="1" i="0" dirty="0">
                <a:solidFill>
                  <a:srgbClr val="3A3A3A"/>
                </a:solidFill>
                <a:effectLst/>
                <a:latin typeface="Helvetica" panose="020B0604020202020204" pitchFamily="34" charset="0"/>
              </a:rPr>
              <a:t>yes</a:t>
            </a:r>
            <a:endParaRPr lang="en-US" altLang="ko-KR" sz="2000" b="0" i="0" dirty="0">
              <a:solidFill>
                <a:srgbClr val="3A3A3A"/>
              </a:solidFill>
              <a:effectLst/>
              <a:latin typeface="Helvetica" panose="020B0604020202020204" pitchFamily="34" charset="0"/>
            </a:endParaRPr>
          </a:p>
        </p:txBody>
      </p:sp>
      <p:sp>
        <p:nvSpPr>
          <p:cNvPr id="15" name="TextBox 14">
            <a:extLst>
              <a:ext uri="{FF2B5EF4-FFF2-40B4-BE49-F238E27FC236}">
                <a16:creationId xmlns:a16="http://schemas.microsoft.com/office/drawing/2014/main" id="{E45B678A-9988-9CF7-12E5-EC4C5BF94E3A}"/>
              </a:ext>
            </a:extLst>
          </p:cNvPr>
          <p:cNvSpPr txBox="1"/>
          <p:nvPr/>
        </p:nvSpPr>
        <p:spPr>
          <a:xfrm>
            <a:off x="951978" y="4045907"/>
            <a:ext cx="7991606" cy="2301079"/>
          </a:xfrm>
          <a:prstGeom prst="rect">
            <a:avLst/>
          </a:prstGeom>
          <a:solidFill>
            <a:schemeClr val="bg1">
              <a:lumMod val="95000"/>
            </a:schemeClr>
          </a:solidFill>
        </p:spPr>
        <p:txBody>
          <a:bodyPr wrap="square" rtlCol="0">
            <a:spAutoFit/>
          </a:bodyPr>
          <a:lstStyle/>
          <a:p>
            <a:pPr marL="285750" indent="-285750">
              <a:lnSpc>
                <a:spcPts val="2500"/>
              </a:lnSpc>
              <a:buFont typeface="Arial" panose="020B0604020202020204" pitchFamily="34" charset="0"/>
              <a:buChar char="•"/>
            </a:pPr>
            <a:r>
              <a:rPr lang="en-US" altLang="ko-KR" dirty="0"/>
              <a:t>SMTP : Simple Mail Transfer Protocol</a:t>
            </a:r>
          </a:p>
          <a:p>
            <a:pPr marL="285750" indent="-285750">
              <a:lnSpc>
                <a:spcPts val="2500"/>
              </a:lnSpc>
              <a:buFont typeface="Arial" panose="020B0604020202020204" pitchFamily="34" charset="0"/>
              <a:buChar char="•"/>
            </a:pPr>
            <a:r>
              <a:rPr lang="en-US" altLang="ko-KR" dirty="0"/>
              <a:t>SSL : Secure Sockets Layer</a:t>
            </a:r>
            <a:br>
              <a:rPr lang="en-US" altLang="ko-KR" dirty="0"/>
            </a:br>
            <a:r>
              <a:rPr lang="en-US" altLang="ko-KR" sz="1600" dirty="0"/>
              <a:t>- 1990</a:t>
            </a:r>
            <a:r>
              <a:rPr lang="ko-KR" altLang="en-US" sz="1600" dirty="0"/>
              <a:t>년대 </a:t>
            </a:r>
            <a:r>
              <a:rPr lang="en-US" altLang="ko-KR" sz="1600" dirty="0"/>
              <a:t>Netscape</a:t>
            </a:r>
            <a:r>
              <a:rPr lang="ko-KR" altLang="en-US" sz="1600" dirty="0"/>
              <a:t>에서 개발</a:t>
            </a:r>
            <a:r>
              <a:rPr lang="en-US" altLang="ko-KR" sz="1600" dirty="0"/>
              <a:t>, </a:t>
            </a:r>
            <a:r>
              <a:rPr lang="ko-KR" altLang="en-US" sz="1600" dirty="0"/>
              <a:t>초기 버전의 보안 프로토콜</a:t>
            </a:r>
            <a:br>
              <a:rPr lang="en-US" altLang="ko-KR" sz="1600" dirty="0"/>
            </a:br>
            <a:r>
              <a:rPr lang="en-US" altLang="ko-KR" sz="1600" dirty="0"/>
              <a:t>- </a:t>
            </a:r>
            <a:r>
              <a:rPr lang="ko-KR" altLang="en-US" sz="1600" dirty="0"/>
              <a:t>보안이 취약하여 현재 사용하지 않음</a:t>
            </a:r>
            <a:endParaRPr lang="en-US" altLang="ko-KR" sz="1600" dirty="0"/>
          </a:p>
          <a:p>
            <a:pPr marL="285750" indent="-285750">
              <a:lnSpc>
                <a:spcPts val="2500"/>
              </a:lnSpc>
              <a:buFont typeface="Arial" panose="020B0604020202020204" pitchFamily="34" charset="0"/>
              <a:buChar char="•"/>
            </a:pPr>
            <a:r>
              <a:rPr lang="en-US" altLang="ko-KR" dirty="0"/>
              <a:t>TLS : Transport Layer Security</a:t>
            </a:r>
            <a:br>
              <a:rPr lang="en-US" altLang="ko-KR" dirty="0"/>
            </a:br>
            <a:r>
              <a:rPr lang="en-US" altLang="ko-KR" sz="1600" dirty="0"/>
              <a:t>- SSL </a:t>
            </a:r>
            <a:r>
              <a:rPr lang="ko-KR" altLang="en-US" sz="1600" dirty="0"/>
              <a:t>후속 버전으로 더 강력한 보안 제공</a:t>
            </a:r>
            <a:br>
              <a:rPr lang="en-US" altLang="ko-KR" sz="1600" dirty="0"/>
            </a:br>
            <a:r>
              <a:rPr lang="en-US" altLang="ko-KR" sz="1600" dirty="0"/>
              <a:t>- </a:t>
            </a:r>
            <a:r>
              <a:rPr lang="ko-KR" altLang="en-US" sz="1600" dirty="0"/>
              <a:t>현재 사용 권장 버전은 </a:t>
            </a:r>
            <a:r>
              <a:rPr lang="en-US" altLang="ko-KR" sz="1600" dirty="0"/>
              <a:t>TLS 1.2, TLS 1.3</a:t>
            </a:r>
            <a:endParaRPr lang="ko-KR" altLang="en-US" dirty="0"/>
          </a:p>
        </p:txBody>
      </p:sp>
    </p:spTree>
    <p:extLst>
      <p:ext uri="{BB962C8B-B14F-4D97-AF65-F5344CB8AC3E}">
        <p14:creationId xmlns:p14="http://schemas.microsoft.com/office/powerpoint/2010/main" val="1990780107"/>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E0EFF6-FA1B-12CB-DAC2-847D4C3ADF0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F483BBA-F678-AF08-79CB-047C172ED7E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1/13 – </a:t>
            </a:r>
            <a:r>
              <a:rPr lang="en-US" altLang="ko-KR" b="1" dirty="0" err="1">
                <a:solidFill>
                  <a:schemeClr val="tx1"/>
                </a:solidFill>
              </a:rPr>
              <a:t>wifi</a:t>
            </a:r>
            <a:r>
              <a:rPr lang="en-US" altLang="ko-KR" b="1" dirty="0">
                <a:solidFill>
                  <a:schemeClr val="tx1"/>
                </a:solidFill>
              </a:rPr>
              <a:t>, smtp server </a:t>
            </a:r>
            <a:r>
              <a:rPr lang="ko-KR" altLang="en-US" b="1" dirty="0">
                <a:solidFill>
                  <a:schemeClr val="tx1"/>
                </a:solidFill>
              </a:rPr>
              <a:t>설정</a:t>
            </a:r>
          </a:p>
        </p:txBody>
      </p:sp>
      <p:sp>
        <p:nvSpPr>
          <p:cNvPr id="6" name="Rectangle 2">
            <a:extLst>
              <a:ext uri="{FF2B5EF4-FFF2-40B4-BE49-F238E27FC236}">
                <a16:creationId xmlns:a16="http://schemas.microsoft.com/office/drawing/2014/main" id="{8E49C98A-FA56-FEF0-1AB6-B7D5F4E69B59}"/>
              </a:ext>
            </a:extLst>
          </p:cNvPr>
          <p:cNvSpPr>
            <a:spLocks noChangeArrowheads="1"/>
          </p:cNvSpPr>
          <p:nvPr/>
        </p:nvSpPr>
        <p:spPr bwMode="auto">
          <a:xfrm>
            <a:off x="0" y="665017"/>
            <a:ext cx="12088566" cy="622907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esp_camera.h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SPI.h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driver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rtc_io.h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ESP_Mail_Client.h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FS.h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WiFi.h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err="1">
                <a:ln>
                  <a:noFill/>
                </a:ln>
                <a:solidFill>
                  <a:srgbClr val="0077AA"/>
                </a:solidFill>
                <a:effectLst/>
                <a:latin typeface="Consolas" panose="020B0609020204030204" pitchFamily="49" charset="0"/>
              </a:rPr>
              <a:t>const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err="1">
                <a:ln>
                  <a:noFill/>
                </a:ln>
                <a:solidFill>
                  <a:srgbClr val="0077AA"/>
                </a:solidFill>
                <a:effectLst/>
                <a:latin typeface="Consolas" panose="020B0609020204030204" pitchFamily="49" charset="0"/>
              </a:rPr>
              <a:t>const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send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using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use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port</a:t>
            </a:r>
            <a:r>
              <a:rPr kumimoji="0" lang="ko-KR" altLang="ko-KR" b="0" i="0" u="none" strike="noStrike" cap="none" normalizeH="0" baseline="0" dirty="0">
                <a:ln>
                  <a:noFill/>
                </a:ln>
                <a:solidFill>
                  <a:srgbClr val="708090"/>
                </a:solidFill>
                <a:effectLst/>
                <a:latin typeface="Consolas" panose="020B0609020204030204" pitchFamily="49" charset="0"/>
              </a:rPr>
              <a:t> 465 (SSL) and SMTP Server smtp.gmail.com</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You</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need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create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app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emailSenderAccount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hlinkClick r:id="rId2"/>
              </a:rPr>
              <a:t>SENDER_EMAIL@gmail.com</a:t>
            </a:r>
            <a:r>
              <a:rPr kumimoji="0" lang="en-US" altLang="ko-KR" b="0" i="0" u="none" strike="noStrike" cap="none" normalizeH="0" baseline="0" dirty="0">
                <a:ln>
                  <a:noFill/>
                </a:ln>
                <a:solidFill>
                  <a:srgbClr val="6699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a:t>
            </a:r>
            <a:r>
              <a:rPr kumimoji="0" lang="ko-KR" altLang="ko-KR" sz="1400" b="1" i="0" u="none" strike="noStrike" cap="none" normalizeH="0" baseline="0" dirty="0">
                <a:ln>
                  <a:noFill/>
                </a:ln>
                <a:solidFill>
                  <a:srgbClr val="3A0DFB"/>
                </a:solidFill>
                <a:effectLst/>
                <a:latin typeface="Consolas" panose="020B0609020204030204" pitchFamily="49" charset="0"/>
              </a:rPr>
              <a:t> </a:t>
            </a:r>
            <a:r>
              <a:rPr lang="ko-KR" altLang="en-US" sz="1400" b="1" dirty="0">
                <a:solidFill>
                  <a:srgbClr val="3A0DFB"/>
                </a:solidFill>
                <a:latin typeface="Consolas" panose="020B0609020204030204" pitchFamily="49" charset="0"/>
              </a:rPr>
              <a:t>보내는 사람 이메일 주소</a:t>
            </a:r>
            <a:r>
              <a:rPr lang="en-US" altLang="ko-KR" sz="1400" b="1" dirty="0">
                <a:solidFill>
                  <a:srgbClr val="3A0DFB"/>
                </a:solidFill>
                <a:latin typeface="Consolas" panose="020B0609020204030204" pitchFamily="49" charset="0"/>
              </a:rPr>
              <a:t> </a:t>
            </a:r>
            <a:r>
              <a:rPr lang="ko-KR" altLang="en-US" sz="1400" b="1" dirty="0">
                <a:solidFill>
                  <a:srgbClr val="3A0DFB"/>
                </a:solidFill>
                <a:latin typeface="Consolas" panose="020B0609020204030204" pitchFamily="49" charset="0"/>
              </a:rPr>
              <a:t>입력                        </a:t>
            </a:r>
            <a:endParaRPr kumimoji="0" lang="en-US" altLang="ko-KR" b="1" i="0" u="none" strike="noStrike" cap="none" normalizeH="0" baseline="0" dirty="0">
              <a:ln>
                <a:noFill/>
              </a:ln>
              <a:solidFill>
                <a:srgbClr val="3A0DFB"/>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emailSenderPassword</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“YOUR_EMAIL_APP_PASSWORD”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a:t>
            </a:r>
            <a:r>
              <a:rPr kumimoji="0" lang="ko-KR" altLang="ko-KR" sz="1400" b="1" i="0" u="none" strike="noStrike" cap="none" normalizeH="0" baseline="0" dirty="0">
                <a:ln>
                  <a:noFill/>
                </a:ln>
                <a:solidFill>
                  <a:srgbClr val="3A0DFB"/>
                </a:solidFill>
                <a:effectLst/>
                <a:latin typeface="Consolas" panose="020B0609020204030204" pitchFamily="49" charset="0"/>
              </a:rPr>
              <a:t> </a:t>
            </a:r>
            <a:r>
              <a:rPr lang="en-US" altLang="ko-KR" sz="1400" b="1" dirty="0">
                <a:solidFill>
                  <a:srgbClr val="3A0DFB"/>
                </a:solidFill>
                <a:latin typeface="Consolas" panose="020B0609020204030204" pitchFamily="49" charset="0"/>
              </a:rPr>
              <a:t>16</a:t>
            </a:r>
            <a:r>
              <a:rPr lang="ko-KR" altLang="en-US" sz="1400" b="1" dirty="0">
                <a:solidFill>
                  <a:srgbClr val="3A0DFB"/>
                </a:solidFill>
                <a:latin typeface="Consolas" panose="020B0609020204030204" pitchFamily="49" charset="0"/>
              </a:rPr>
              <a:t>자리 </a:t>
            </a:r>
            <a:r>
              <a:rPr lang="en-US" altLang="ko-KR" sz="1400" b="1" dirty="0" err="1">
                <a:solidFill>
                  <a:srgbClr val="3A0DFB"/>
                </a:solidFill>
                <a:latin typeface="Consolas" panose="020B0609020204030204" pitchFamily="49" charset="0"/>
              </a:rPr>
              <a:t>api</a:t>
            </a:r>
            <a:r>
              <a:rPr lang="en-US" altLang="ko-KR" sz="1400" b="1" dirty="0">
                <a:solidFill>
                  <a:srgbClr val="3A0DFB"/>
                </a:solidFill>
                <a:latin typeface="Consolas" panose="020B0609020204030204" pitchFamily="49" charset="0"/>
              </a:rPr>
              <a:t> password </a:t>
            </a:r>
            <a:r>
              <a:rPr lang="ko-KR" altLang="en-US" sz="1400" b="1" dirty="0">
                <a:solidFill>
                  <a:srgbClr val="3A0DFB"/>
                </a:solidFill>
                <a:latin typeface="Consolas" panose="020B0609020204030204" pitchFamily="49" charset="0"/>
              </a:rPr>
              <a:t>입력</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smtpServer</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smtp.gmail.com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smtpServerPort</a:t>
            </a:r>
            <a:r>
              <a:rPr kumimoji="0" lang="ko-KR" altLang="ko-KR" b="0" i="0" u="none" strike="noStrike" cap="none" normalizeH="0" baseline="0" dirty="0">
                <a:ln>
                  <a:noFill/>
                </a:ln>
                <a:solidFill>
                  <a:srgbClr val="990055"/>
                </a:solidFill>
                <a:effectLst/>
                <a:latin typeface="Consolas" panose="020B0609020204030204" pitchFamily="49" charset="0"/>
              </a:rPr>
              <a:t> 465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emailSubject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"ESP32-CAM </a:t>
            </a:r>
            <a:r>
              <a:rPr kumimoji="0" lang="ko-KR" altLang="ko-KR" b="0" i="0" u="none" strike="noStrike" cap="none" normalizeH="0" baseline="0" dirty="0" err="1">
                <a:ln>
                  <a:noFill/>
                </a:ln>
                <a:solidFill>
                  <a:srgbClr val="669900"/>
                </a:solidFill>
                <a:effectLst/>
                <a:latin typeface="Consolas" panose="020B0609020204030204" pitchFamily="49" charset="0"/>
              </a:rPr>
              <a:t>Photo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Captured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 </a:t>
            </a:r>
            <a:r>
              <a:rPr kumimoji="0" lang="ko-KR" altLang="en-US" sz="1400" b="1" i="0" u="none" strike="noStrike" cap="none" normalizeH="0" baseline="0" dirty="0">
                <a:ln>
                  <a:noFill/>
                </a:ln>
                <a:solidFill>
                  <a:srgbClr val="3A0DFB"/>
                </a:solidFill>
                <a:effectLst/>
                <a:latin typeface="Consolas" panose="020B0609020204030204" pitchFamily="49" charset="0"/>
              </a:rPr>
              <a:t>메일 제목 입력</a:t>
            </a:r>
            <a:endParaRPr kumimoji="0" lang="en-US" altLang="ko-KR" b="1" i="0" u="none" strike="noStrike" cap="none" normalizeH="0" baseline="0" dirty="0">
              <a:ln>
                <a:noFill/>
              </a:ln>
              <a:solidFill>
                <a:srgbClr val="3A0DFB"/>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emailRecipient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YOUR_EMAIL_RECIPIENT@example.com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r>
              <a:rPr kumimoji="0" lang="en-US" altLang="ko-KR" b="0" i="0" u="none" strike="noStrike" cap="none" normalizeH="0" baseline="0" dirty="0">
                <a:ln>
                  <a:noFill/>
                </a:ln>
                <a:solidFill>
                  <a:schemeClr val="tx1"/>
                </a:solidFill>
                <a:effectLst/>
              </a:rPr>
              <a:t>   </a:t>
            </a:r>
            <a:r>
              <a:rPr kumimoji="0" lang="en-US" altLang="ko-KR" sz="1400" b="1" i="0" u="none" strike="noStrike" cap="none" normalizeH="0" baseline="0" dirty="0">
                <a:ln>
                  <a:noFill/>
                </a:ln>
                <a:solidFill>
                  <a:srgbClr val="3A0DFB"/>
                </a:solidFill>
                <a:effectLst/>
              </a:rPr>
              <a:t>// </a:t>
            </a:r>
            <a:r>
              <a:rPr kumimoji="0" lang="ko-KR" altLang="en-US" sz="1400" b="1" i="0" u="none" strike="noStrike" cap="none" normalizeH="0" baseline="0" dirty="0">
                <a:ln>
                  <a:noFill/>
                </a:ln>
                <a:solidFill>
                  <a:srgbClr val="3A0DFB"/>
                </a:solidFill>
                <a:effectLst/>
              </a:rPr>
              <a:t>받은 메일 주소 입력</a:t>
            </a:r>
            <a:endParaRPr kumimoji="0" lang="ko-KR" altLang="ko-KR" b="1" i="0" u="none" strike="noStrike" cap="none" normalizeH="0" baseline="0" dirty="0">
              <a:ln>
                <a:noFill/>
              </a:ln>
              <a:solidFill>
                <a:srgbClr val="3A0DFB"/>
              </a:solidFill>
              <a:effectLst/>
              <a:latin typeface="Arial" panose="020B0604020202020204" pitchFamily="34" charset="0"/>
            </a:endParaRPr>
          </a:p>
        </p:txBody>
      </p:sp>
    </p:spTree>
    <p:extLst>
      <p:ext uri="{BB962C8B-B14F-4D97-AF65-F5344CB8AC3E}">
        <p14:creationId xmlns:p14="http://schemas.microsoft.com/office/powerpoint/2010/main" val="335814591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0F44-4133-1389-81CD-4C815F78765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2C2DB81-F9F4-E9A9-C115-8C0B68A93C21}"/>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(2/13) – </a:t>
            </a:r>
            <a:r>
              <a:rPr lang="ko-KR" altLang="en-US" b="1" dirty="0">
                <a:solidFill>
                  <a:schemeClr val="tx1"/>
                </a:solidFill>
              </a:rPr>
              <a:t>카메라 핀 설정</a:t>
            </a:r>
          </a:p>
        </p:txBody>
      </p:sp>
      <p:sp>
        <p:nvSpPr>
          <p:cNvPr id="5" name="Rectangle 1">
            <a:extLst>
              <a:ext uri="{FF2B5EF4-FFF2-40B4-BE49-F238E27FC236}">
                <a16:creationId xmlns:a16="http://schemas.microsoft.com/office/drawing/2014/main" id="{0919B89F-AB30-C202-4A28-FF07AEBA92B0}"/>
              </a:ext>
            </a:extLst>
          </p:cNvPr>
          <p:cNvSpPr>
            <a:spLocks noChangeArrowheads="1"/>
          </p:cNvSpPr>
          <p:nvPr/>
        </p:nvSpPr>
        <p:spPr bwMode="auto">
          <a:xfrm>
            <a:off x="237993" y="777751"/>
            <a:ext cx="4812215" cy="58169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b="0" i="0" u="none" strike="noStrike" cap="none" normalizeH="0" baseline="0" dirty="0">
                <a:ln>
                  <a:noFill/>
                </a:ln>
                <a:solidFill>
                  <a:srgbClr val="990055"/>
                </a:solidFill>
                <a:effectLst/>
                <a:latin typeface="Consolas" panose="020B0609020204030204" pitchFamily="49" charset="0"/>
              </a:rPr>
            </a:b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defined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CAMERA_MODEL_AI_THINKER</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PWDN_GPIO_NUM 32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RESET_GPIO_NUM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XCLK_GPIO_NUM 0</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SIOD_GPIO_NUM 26</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SIOC_GPIO_NUM 27</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Y9_GPIO_NUM 35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Y8_GPIO_NUM 34</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Y7_GPIO_NUM 39</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Y6_GPIO_NUM 36</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Y5_GPIO_NUM 21</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Y4_GPIO_NUM 19</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Y3_GPIO_NUM 18</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Y2_GPIO_NUM 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VSYNC_GPIO_NUM 25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HREF_GPIO_NUM 23</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PCLK_GPIO_NUM 22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else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error</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Camera</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model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selected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endif</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121849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78C43-F688-B781-E4A6-4EB77E06321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335790A-546D-D3AD-794A-8FBCF6EC5F2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 3/13  - smtp session </a:t>
            </a:r>
            <a:r>
              <a:rPr lang="ko-KR" altLang="en-US" b="1" dirty="0">
                <a:solidFill>
                  <a:schemeClr val="tx1"/>
                </a:solidFill>
              </a:rPr>
              <a:t>생성</a:t>
            </a:r>
          </a:p>
        </p:txBody>
      </p:sp>
      <p:pic>
        <p:nvPicPr>
          <p:cNvPr id="5" name="그림 4">
            <a:extLst>
              <a:ext uri="{FF2B5EF4-FFF2-40B4-BE49-F238E27FC236}">
                <a16:creationId xmlns:a16="http://schemas.microsoft.com/office/drawing/2014/main" id="{9748CC33-0198-565D-5EE5-19A230C7D176}"/>
              </a:ext>
            </a:extLst>
          </p:cNvPr>
          <p:cNvPicPr>
            <a:picLocks noChangeAspect="1"/>
          </p:cNvPicPr>
          <p:nvPr/>
        </p:nvPicPr>
        <p:blipFill>
          <a:blip r:embed="rId2"/>
          <a:stretch>
            <a:fillRect/>
          </a:stretch>
        </p:blipFill>
        <p:spPr>
          <a:xfrm>
            <a:off x="161097" y="855055"/>
            <a:ext cx="6711127" cy="2790019"/>
          </a:xfrm>
          <a:prstGeom prst="rect">
            <a:avLst/>
          </a:prstGeom>
        </p:spPr>
      </p:pic>
      <p:sp>
        <p:nvSpPr>
          <p:cNvPr id="6" name="TextBox 5">
            <a:extLst>
              <a:ext uri="{FF2B5EF4-FFF2-40B4-BE49-F238E27FC236}">
                <a16:creationId xmlns:a16="http://schemas.microsoft.com/office/drawing/2014/main" id="{00970F11-B2B0-67A0-6B4D-28F65AEB8BE3}"/>
              </a:ext>
            </a:extLst>
          </p:cNvPr>
          <p:cNvSpPr txBox="1"/>
          <p:nvPr/>
        </p:nvSpPr>
        <p:spPr>
          <a:xfrm>
            <a:off x="325677" y="3770334"/>
            <a:ext cx="10298204" cy="1077218"/>
          </a:xfrm>
          <a:prstGeom prst="rect">
            <a:avLst/>
          </a:prstGeom>
          <a:noFill/>
        </p:spPr>
        <p:txBody>
          <a:bodyPr wrap="none" rtlCol="0">
            <a:spAutoFit/>
          </a:bodyPr>
          <a:lstStyle/>
          <a:p>
            <a:pPr marL="285750" indent="-285750">
              <a:buFont typeface="Arial" panose="020B0604020202020204" pitchFamily="34" charset="0"/>
              <a:buChar char="•"/>
            </a:pPr>
            <a:r>
              <a:rPr lang="en-US" altLang="ko-KR" sz="1600" dirty="0" err="1">
                <a:latin typeface="+mn-ea"/>
              </a:rPr>
              <a:t>SMTPSession</a:t>
            </a:r>
            <a:r>
              <a:rPr lang="en-US" altLang="ko-KR" sz="1600" dirty="0">
                <a:latin typeface="+mn-ea"/>
              </a:rPr>
              <a:t> : ESP32</a:t>
            </a:r>
            <a:r>
              <a:rPr lang="ko-KR" altLang="en-US" sz="1600" dirty="0">
                <a:latin typeface="+mn-ea"/>
              </a:rPr>
              <a:t>에서 </a:t>
            </a:r>
            <a:r>
              <a:rPr lang="en-US" altLang="ko-KR" sz="1600" dirty="0">
                <a:latin typeface="+mn-ea"/>
              </a:rPr>
              <a:t>SMTP </a:t>
            </a:r>
            <a:r>
              <a:rPr lang="ko-KR" altLang="en-US" sz="1600" dirty="0">
                <a:latin typeface="+mn-ea"/>
              </a:rPr>
              <a:t>프로토콜을 통해 이메일을 전송하기 위한 세션을 설정하는 객체</a:t>
            </a:r>
            <a:br>
              <a:rPr lang="en-US" altLang="ko-KR" sz="1600" dirty="0">
                <a:latin typeface="+mn-ea"/>
              </a:rPr>
            </a:br>
            <a:r>
              <a:rPr lang="en-US" altLang="ko-KR" sz="1600" dirty="0">
                <a:latin typeface="+mn-ea"/>
              </a:rPr>
              <a:t>                   SMTP </a:t>
            </a:r>
            <a:r>
              <a:rPr lang="ko-KR" altLang="en-US" sz="1600" dirty="0">
                <a:latin typeface="+mn-ea"/>
              </a:rPr>
              <a:t>서버에 연결하고</a:t>
            </a:r>
            <a:r>
              <a:rPr lang="en-US" altLang="ko-KR" sz="1600" dirty="0">
                <a:latin typeface="+mn-ea"/>
              </a:rPr>
              <a:t>, </a:t>
            </a:r>
            <a:r>
              <a:rPr lang="ko-KR" altLang="en-US" sz="1600" dirty="0">
                <a:latin typeface="+mn-ea"/>
              </a:rPr>
              <a:t>이메일 전송을 위한 준비와 인증</a:t>
            </a:r>
            <a:r>
              <a:rPr lang="en-US" altLang="ko-KR" sz="1600" dirty="0">
                <a:latin typeface="+mn-ea"/>
              </a:rPr>
              <a:t>, </a:t>
            </a:r>
            <a:r>
              <a:rPr lang="ko-KR" altLang="en-US" sz="1600" dirty="0">
                <a:latin typeface="+mn-ea"/>
              </a:rPr>
              <a:t>전송을 담당한다</a:t>
            </a:r>
            <a:r>
              <a:rPr lang="en-US" altLang="ko-KR" sz="1600" dirty="0">
                <a:latin typeface="+mn-ea"/>
              </a:rPr>
              <a:t>.</a:t>
            </a:r>
          </a:p>
          <a:p>
            <a:pPr marL="285750" indent="-285750">
              <a:buFont typeface="Arial" panose="020B0604020202020204" pitchFamily="34" charset="0"/>
              <a:buChar char="•"/>
            </a:pPr>
            <a:endParaRPr lang="en-US" altLang="ko-KR" sz="1600" dirty="0">
              <a:latin typeface="+mn-ea"/>
            </a:endParaRPr>
          </a:p>
          <a:p>
            <a:pPr marL="285750" indent="-285750">
              <a:buFont typeface="Arial" panose="020B0604020202020204" pitchFamily="34" charset="0"/>
              <a:buChar char="•"/>
            </a:pPr>
            <a:r>
              <a:rPr lang="en-US" altLang="ko-KR" sz="1600" dirty="0" err="1">
                <a:latin typeface="+mn-ea"/>
              </a:rPr>
              <a:t>LittleFS</a:t>
            </a:r>
            <a:r>
              <a:rPr lang="en-US" altLang="ko-KR" sz="1600" dirty="0">
                <a:latin typeface="+mn-ea"/>
              </a:rPr>
              <a:t> : File </a:t>
            </a:r>
            <a:r>
              <a:rPr lang="en-US" altLang="ko-KR" sz="1600" dirty="0" err="1">
                <a:latin typeface="+mn-ea"/>
              </a:rPr>
              <a:t>syste</a:t>
            </a:r>
            <a:r>
              <a:rPr lang="ko-KR" altLang="en-US" sz="1600" dirty="0">
                <a:latin typeface="+mn-ea"/>
              </a:rPr>
              <a:t>으로 </a:t>
            </a:r>
            <a:r>
              <a:rPr lang="en-US" altLang="ko-KR" sz="1600" dirty="0">
                <a:latin typeface="+mn-ea"/>
              </a:rPr>
              <a:t>ESP32 </a:t>
            </a:r>
            <a:r>
              <a:rPr lang="ko-KR" altLang="en-US" sz="1600" dirty="0">
                <a:latin typeface="+mn-ea"/>
              </a:rPr>
              <a:t>내부 플래쉬 메모리에 파일 시스템을 구축하여 캡처한 사진을 임시 저장한다</a:t>
            </a:r>
            <a:r>
              <a:rPr lang="en-US" altLang="ko-KR" sz="1600" dirty="0">
                <a:latin typeface="+mn-ea"/>
              </a:rPr>
              <a:t>.</a:t>
            </a:r>
            <a:endParaRPr lang="ko-KR" altLang="en-US" sz="1600" dirty="0">
              <a:latin typeface="+mn-ea"/>
            </a:endParaRPr>
          </a:p>
        </p:txBody>
      </p:sp>
    </p:spTree>
    <p:extLst>
      <p:ext uri="{BB962C8B-B14F-4D97-AF65-F5344CB8AC3E}">
        <p14:creationId xmlns:p14="http://schemas.microsoft.com/office/powerpoint/2010/main" val="53230666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EDAF0-8A5F-C6FB-E1A7-9CAB337DC2E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D536EE5-DF6B-1349-BB90-0AC7887190C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4/13 -  Serial, </a:t>
            </a:r>
            <a:r>
              <a:rPr lang="en-US" altLang="ko-KR" b="1" dirty="0" err="1">
                <a:solidFill>
                  <a:schemeClr val="tx1"/>
                </a:solidFill>
              </a:rPr>
              <a:t>WiFi</a:t>
            </a:r>
            <a:r>
              <a:rPr lang="en-US" altLang="ko-KR" b="1" dirty="0">
                <a:solidFill>
                  <a:schemeClr val="tx1"/>
                </a:solidFill>
              </a:rPr>
              <a:t> </a:t>
            </a:r>
            <a:r>
              <a:rPr lang="ko-KR" altLang="en-US" b="1" dirty="0">
                <a:solidFill>
                  <a:schemeClr val="tx1"/>
                </a:solidFill>
              </a:rPr>
              <a:t>설정</a:t>
            </a:r>
          </a:p>
        </p:txBody>
      </p:sp>
      <p:pic>
        <p:nvPicPr>
          <p:cNvPr id="4" name="그림 3">
            <a:extLst>
              <a:ext uri="{FF2B5EF4-FFF2-40B4-BE49-F238E27FC236}">
                <a16:creationId xmlns:a16="http://schemas.microsoft.com/office/drawing/2014/main" id="{58F9F5A5-5E3B-D6BD-46A3-117FD06E24E3}"/>
              </a:ext>
            </a:extLst>
          </p:cNvPr>
          <p:cNvPicPr>
            <a:picLocks noChangeAspect="1"/>
          </p:cNvPicPr>
          <p:nvPr/>
        </p:nvPicPr>
        <p:blipFill>
          <a:blip r:embed="rId2"/>
          <a:stretch>
            <a:fillRect/>
          </a:stretch>
        </p:blipFill>
        <p:spPr>
          <a:xfrm>
            <a:off x="0" y="665016"/>
            <a:ext cx="7747070" cy="6192983"/>
          </a:xfrm>
          <a:prstGeom prst="rect">
            <a:avLst/>
          </a:prstGeom>
        </p:spPr>
      </p:pic>
      <p:sp>
        <p:nvSpPr>
          <p:cNvPr id="5" name="사각형: 둥근 모서리 4">
            <a:extLst>
              <a:ext uri="{FF2B5EF4-FFF2-40B4-BE49-F238E27FC236}">
                <a16:creationId xmlns:a16="http://schemas.microsoft.com/office/drawing/2014/main" id="{05519369-46D3-318B-CFE9-D787C0382A5B}"/>
              </a:ext>
            </a:extLst>
          </p:cNvPr>
          <p:cNvSpPr/>
          <p:nvPr/>
        </p:nvSpPr>
        <p:spPr>
          <a:xfrm>
            <a:off x="137786" y="1002082"/>
            <a:ext cx="7747070" cy="425885"/>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CE704A7-9E38-537B-328C-BA6CD9267145}"/>
              </a:ext>
            </a:extLst>
          </p:cNvPr>
          <p:cNvSpPr txBox="1"/>
          <p:nvPr/>
        </p:nvSpPr>
        <p:spPr>
          <a:xfrm>
            <a:off x="8022642" y="1002082"/>
            <a:ext cx="2929585" cy="338554"/>
          </a:xfrm>
          <a:prstGeom prst="rect">
            <a:avLst/>
          </a:prstGeom>
          <a:noFill/>
        </p:spPr>
        <p:txBody>
          <a:bodyPr wrap="none" rtlCol="0">
            <a:spAutoFit/>
          </a:bodyPr>
          <a:lstStyle/>
          <a:p>
            <a:r>
              <a:rPr lang="en-US" altLang="ko-KR" sz="1600" b="1" dirty="0">
                <a:solidFill>
                  <a:srgbClr val="C00000"/>
                </a:solidFill>
              </a:rPr>
              <a:t>Error </a:t>
            </a:r>
            <a:r>
              <a:rPr lang="ko-KR" altLang="en-US" sz="1600" b="1" dirty="0">
                <a:solidFill>
                  <a:srgbClr val="C00000"/>
                </a:solidFill>
              </a:rPr>
              <a:t>발생하여 주석 처리했음</a:t>
            </a:r>
          </a:p>
        </p:txBody>
      </p:sp>
    </p:spTree>
    <p:extLst>
      <p:ext uri="{BB962C8B-B14F-4D97-AF65-F5344CB8AC3E}">
        <p14:creationId xmlns:p14="http://schemas.microsoft.com/office/powerpoint/2010/main" val="121316408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03DA-BEC8-017C-62E6-B75D667EB66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CE412BB-9F49-C707-EB87-9EE0E064F3E8}"/>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5/13  - </a:t>
            </a:r>
            <a:r>
              <a:rPr lang="ko-KR" altLang="en-US" b="1" dirty="0">
                <a:solidFill>
                  <a:schemeClr val="tx1"/>
                </a:solidFill>
              </a:rPr>
              <a:t>카메라 핀</a:t>
            </a:r>
            <a:r>
              <a:rPr lang="en-US" altLang="ko-KR" b="1" dirty="0">
                <a:solidFill>
                  <a:schemeClr val="tx1"/>
                </a:solidFill>
              </a:rPr>
              <a:t> </a:t>
            </a:r>
            <a:r>
              <a:rPr lang="ko-KR" altLang="en-US" b="1" dirty="0">
                <a:solidFill>
                  <a:schemeClr val="tx1"/>
                </a:solidFill>
              </a:rPr>
              <a:t>및 환경 설정</a:t>
            </a:r>
          </a:p>
        </p:txBody>
      </p:sp>
      <p:pic>
        <p:nvPicPr>
          <p:cNvPr id="4" name="그림 3">
            <a:extLst>
              <a:ext uri="{FF2B5EF4-FFF2-40B4-BE49-F238E27FC236}">
                <a16:creationId xmlns:a16="http://schemas.microsoft.com/office/drawing/2014/main" id="{C3839157-288C-46CC-C694-842062152D8A}"/>
              </a:ext>
            </a:extLst>
          </p:cNvPr>
          <p:cNvPicPr>
            <a:picLocks noChangeAspect="1"/>
          </p:cNvPicPr>
          <p:nvPr/>
        </p:nvPicPr>
        <p:blipFill>
          <a:blip r:embed="rId2"/>
          <a:stretch>
            <a:fillRect/>
          </a:stretch>
        </p:blipFill>
        <p:spPr>
          <a:xfrm>
            <a:off x="-1" y="665017"/>
            <a:ext cx="4885151" cy="6198611"/>
          </a:xfrm>
          <a:prstGeom prst="rect">
            <a:avLst/>
          </a:prstGeom>
        </p:spPr>
      </p:pic>
    </p:spTree>
    <p:extLst>
      <p:ext uri="{BB962C8B-B14F-4D97-AF65-F5344CB8AC3E}">
        <p14:creationId xmlns:p14="http://schemas.microsoft.com/office/powerpoint/2010/main" val="100732675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F4DD-E637-C386-9648-3ED6125FB29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0ADFBBE-2C20-9C59-0502-A7B5EFF00C12}"/>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6/13 – </a:t>
            </a:r>
            <a:r>
              <a:rPr lang="ko-KR" altLang="en-US" b="1" dirty="0">
                <a:solidFill>
                  <a:schemeClr val="tx1"/>
                </a:solidFill>
              </a:rPr>
              <a:t>사진 크기 설정</a:t>
            </a:r>
            <a:r>
              <a:rPr lang="en-US" altLang="ko-KR" b="1" dirty="0">
                <a:solidFill>
                  <a:schemeClr val="tx1"/>
                </a:solidFill>
              </a:rPr>
              <a:t>, </a:t>
            </a:r>
            <a:r>
              <a:rPr lang="ko-KR" altLang="en-US" b="1" dirty="0">
                <a:solidFill>
                  <a:schemeClr val="tx1"/>
                </a:solidFill>
              </a:rPr>
              <a:t>저장을 위한 메모리 설정</a:t>
            </a:r>
          </a:p>
        </p:txBody>
      </p:sp>
      <p:pic>
        <p:nvPicPr>
          <p:cNvPr id="4" name="그림 3">
            <a:extLst>
              <a:ext uri="{FF2B5EF4-FFF2-40B4-BE49-F238E27FC236}">
                <a16:creationId xmlns:a16="http://schemas.microsoft.com/office/drawing/2014/main" id="{7176C65E-B387-BC40-7768-02654B0BF551}"/>
              </a:ext>
            </a:extLst>
          </p:cNvPr>
          <p:cNvPicPr>
            <a:picLocks noChangeAspect="1"/>
          </p:cNvPicPr>
          <p:nvPr/>
        </p:nvPicPr>
        <p:blipFill>
          <a:blip r:embed="rId2"/>
          <a:stretch>
            <a:fillRect/>
          </a:stretch>
        </p:blipFill>
        <p:spPr>
          <a:xfrm>
            <a:off x="0" y="665018"/>
            <a:ext cx="7002049" cy="6196504"/>
          </a:xfrm>
          <a:prstGeom prst="rect">
            <a:avLst/>
          </a:prstGeom>
        </p:spPr>
      </p:pic>
      <p:sp>
        <p:nvSpPr>
          <p:cNvPr id="5" name="TextBox 4">
            <a:extLst>
              <a:ext uri="{FF2B5EF4-FFF2-40B4-BE49-F238E27FC236}">
                <a16:creationId xmlns:a16="http://schemas.microsoft.com/office/drawing/2014/main" id="{57E39926-04D6-88F3-7888-1A419D528AD3}"/>
              </a:ext>
            </a:extLst>
          </p:cNvPr>
          <p:cNvSpPr txBox="1"/>
          <p:nvPr/>
        </p:nvSpPr>
        <p:spPr>
          <a:xfrm>
            <a:off x="4822520" y="1027134"/>
            <a:ext cx="1657826" cy="369332"/>
          </a:xfrm>
          <a:prstGeom prst="rect">
            <a:avLst/>
          </a:prstGeom>
          <a:noFill/>
        </p:spPr>
        <p:txBody>
          <a:bodyPr wrap="none" rtlCol="0">
            <a:spAutoFit/>
          </a:bodyPr>
          <a:lstStyle/>
          <a:p>
            <a:r>
              <a:rPr lang="en-US" altLang="ko-KR" b="1" dirty="0">
                <a:solidFill>
                  <a:srgbClr val="3A0DFB"/>
                </a:solidFill>
              </a:rPr>
              <a:t>// 1600x1200</a:t>
            </a:r>
            <a:endParaRPr lang="ko-KR" altLang="en-US" b="1" dirty="0">
              <a:solidFill>
                <a:srgbClr val="3A0DFB"/>
              </a:solidFill>
            </a:endParaRPr>
          </a:p>
        </p:txBody>
      </p:sp>
      <p:sp>
        <p:nvSpPr>
          <p:cNvPr id="6" name="TextBox 5">
            <a:extLst>
              <a:ext uri="{FF2B5EF4-FFF2-40B4-BE49-F238E27FC236}">
                <a16:creationId xmlns:a16="http://schemas.microsoft.com/office/drawing/2014/main" id="{C2C205A1-3B26-A5DD-6557-1D1B9862473B}"/>
              </a:ext>
            </a:extLst>
          </p:cNvPr>
          <p:cNvSpPr txBox="1"/>
          <p:nvPr/>
        </p:nvSpPr>
        <p:spPr>
          <a:xfrm>
            <a:off x="4787029" y="2181617"/>
            <a:ext cx="1391728" cy="369332"/>
          </a:xfrm>
          <a:prstGeom prst="rect">
            <a:avLst/>
          </a:prstGeom>
          <a:noFill/>
        </p:spPr>
        <p:txBody>
          <a:bodyPr wrap="none" rtlCol="0">
            <a:spAutoFit/>
          </a:bodyPr>
          <a:lstStyle/>
          <a:p>
            <a:r>
              <a:rPr lang="en-US" altLang="ko-KR" b="1" dirty="0">
                <a:solidFill>
                  <a:srgbClr val="3A0DFB"/>
                </a:solidFill>
              </a:rPr>
              <a:t>// 800x600</a:t>
            </a:r>
            <a:endParaRPr lang="ko-KR" altLang="en-US" b="1" dirty="0">
              <a:solidFill>
                <a:srgbClr val="3A0DFB"/>
              </a:solidFill>
            </a:endParaRPr>
          </a:p>
        </p:txBody>
      </p:sp>
    </p:spTree>
    <p:extLst>
      <p:ext uri="{BB962C8B-B14F-4D97-AF65-F5344CB8AC3E}">
        <p14:creationId xmlns:p14="http://schemas.microsoft.com/office/powerpoint/2010/main" val="382160968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65A7-F459-6B5C-4AF7-6C815CC2F61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49D6FA8-A2C5-F977-FC23-2113A13A5467}"/>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7/13  - </a:t>
            </a:r>
            <a:r>
              <a:rPr lang="ko-KR" altLang="en-US" b="1" dirty="0">
                <a:solidFill>
                  <a:schemeClr val="tx1"/>
                </a:solidFill>
              </a:rPr>
              <a:t>사진 캡처</a:t>
            </a:r>
            <a:r>
              <a:rPr lang="en-US" altLang="ko-KR" b="1" dirty="0">
                <a:solidFill>
                  <a:schemeClr val="tx1"/>
                </a:solidFill>
              </a:rPr>
              <a:t>, </a:t>
            </a:r>
            <a:r>
              <a:rPr lang="ko-KR" altLang="en-US" b="1" dirty="0">
                <a:solidFill>
                  <a:schemeClr val="tx1"/>
                </a:solidFill>
              </a:rPr>
              <a:t>저장 함수</a:t>
            </a:r>
          </a:p>
        </p:txBody>
      </p:sp>
      <p:pic>
        <p:nvPicPr>
          <p:cNvPr id="4" name="그림 3">
            <a:extLst>
              <a:ext uri="{FF2B5EF4-FFF2-40B4-BE49-F238E27FC236}">
                <a16:creationId xmlns:a16="http://schemas.microsoft.com/office/drawing/2014/main" id="{341B9CB7-800E-9C60-9AE7-068FDE781734}"/>
              </a:ext>
            </a:extLst>
          </p:cNvPr>
          <p:cNvPicPr>
            <a:picLocks noChangeAspect="1"/>
          </p:cNvPicPr>
          <p:nvPr/>
        </p:nvPicPr>
        <p:blipFill>
          <a:blip r:embed="rId2"/>
          <a:stretch>
            <a:fillRect/>
          </a:stretch>
        </p:blipFill>
        <p:spPr>
          <a:xfrm>
            <a:off x="0" y="665017"/>
            <a:ext cx="6237962" cy="6195671"/>
          </a:xfrm>
          <a:prstGeom prst="rect">
            <a:avLst/>
          </a:prstGeom>
        </p:spPr>
      </p:pic>
      <p:sp>
        <p:nvSpPr>
          <p:cNvPr id="5" name="TextBox 4">
            <a:extLst>
              <a:ext uri="{FF2B5EF4-FFF2-40B4-BE49-F238E27FC236}">
                <a16:creationId xmlns:a16="http://schemas.microsoft.com/office/drawing/2014/main" id="{A4931829-043F-5A79-7EC5-F90C1BEA1312}"/>
              </a:ext>
            </a:extLst>
          </p:cNvPr>
          <p:cNvSpPr txBox="1"/>
          <p:nvPr/>
        </p:nvSpPr>
        <p:spPr>
          <a:xfrm>
            <a:off x="6237962" y="1440494"/>
            <a:ext cx="5902578" cy="584775"/>
          </a:xfrm>
          <a:prstGeom prst="rect">
            <a:avLst/>
          </a:prstGeom>
          <a:noFill/>
        </p:spPr>
        <p:txBody>
          <a:bodyPr wrap="none" rtlCol="0">
            <a:spAutoFit/>
          </a:bodyPr>
          <a:lstStyle/>
          <a:p>
            <a:r>
              <a:rPr lang="en-US" altLang="ko-KR" sz="1600" dirty="0"/>
              <a:t>// </a:t>
            </a:r>
            <a:r>
              <a:rPr lang="ko-KR" altLang="en-US" sz="1600" dirty="0"/>
              <a:t>사진을 저장할 </a:t>
            </a:r>
            <a:r>
              <a:rPr lang="en-US" altLang="ko-KR" sz="1600" dirty="0"/>
              <a:t>frame buffer </a:t>
            </a:r>
            <a:r>
              <a:rPr lang="ko-KR" altLang="en-US" sz="1600" dirty="0"/>
              <a:t>변수</a:t>
            </a:r>
            <a:r>
              <a:rPr lang="en-US" altLang="ko-KR" sz="1600" dirty="0"/>
              <a:t> </a:t>
            </a:r>
            <a:r>
              <a:rPr lang="ko-KR" altLang="en-US" sz="1600" dirty="0"/>
              <a:t>생성 및 초기화</a:t>
            </a:r>
            <a:endParaRPr lang="en-US" altLang="ko-KR" sz="1600" dirty="0"/>
          </a:p>
          <a:p>
            <a:r>
              <a:rPr lang="en-US" altLang="ko-KR" sz="1600" dirty="0"/>
              <a:t>// </a:t>
            </a:r>
            <a:r>
              <a:rPr lang="ko-KR" altLang="en-US" sz="1600" dirty="0"/>
              <a:t>처음 찍는 사진은 품질이 좋지 않아 </a:t>
            </a:r>
            <a:r>
              <a:rPr lang="en-US" altLang="ko-KR" sz="1600" dirty="0"/>
              <a:t>3</a:t>
            </a:r>
            <a:r>
              <a:rPr lang="ko-KR" altLang="en-US" sz="1600" dirty="0"/>
              <a:t>번 찍어서 사진을 버림</a:t>
            </a:r>
          </a:p>
        </p:txBody>
      </p:sp>
      <p:sp>
        <p:nvSpPr>
          <p:cNvPr id="6" name="TextBox 5">
            <a:extLst>
              <a:ext uri="{FF2B5EF4-FFF2-40B4-BE49-F238E27FC236}">
                <a16:creationId xmlns:a16="http://schemas.microsoft.com/office/drawing/2014/main" id="{2EBCB2A7-B632-317D-C41C-579F4C93D3D0}"/>
              </a:ext>
            </a:extLst>
          </p:cNvPr>
          <p:cNvSpPr txBox="1"/>
          <p:nvPr/>
        </p:nvSpPr>
        <p:spPr>
          <a:xfrm>
            <a:off x="6237962" y="2215971"/>
            <a:ext cx="5553764" cy="1077218"/>
          </a:xfrm>
          <a:prstGeom prst="rect">
            <a:avLst/>
          </a:prstGeom>
          <a:noFill/>
        </p:spPr>
        <p:txBody>
          <a:bodyPr wrap="none" rtlCol="0">
            <a:spAutoFit/>
          </a:bodyPr>
          <a:lstStyle/>
          <a:p>
            <a:r>
              <a:rPr lang="en-US" altLang="ko-KR" sz="1600" dirty="0"/>
              <a:t>// </a:t>
            </a:r>
            <a:r>
              <a:rPr lang="ko-KR" altLang="en-US" sz="1600" dirty="0"/>
              <a:t>이미지 데이터를 캡처하여 </a:t>
            </a:r>
            <a:r>
              <a:rPr lang="en-US" altLang="ko-KR" sz="1600" dirty="0"/>
              <a:t>frame buffer</a:t>
            </a:r>
            <a:r>
              <a:rPr lang="ko-KR" altLang="en-US" sz="1600" dirty="0"/>
              <a:t>에 저장하고</a:t>
            </a:r>
            <a:r>
              <a:rPr lang="en-US" altLang="ko-KR" sz="1600" dirty="0"/>
              <a:t>, </a:t>
            </a:r>
            <a:br>
              <a:rPr lang="en-US" altLang="ko-KR" sz="1600" dirty="0"/>
            </a:br>
            <a:r>
              <a:rPr lang="en-US" altLang="ko-KR" sz="1600" dirty="0"/>
              <a:t>    </a:t>
            </a:r>
            <a:r>
              <a:rPr lang="ko-KR" altLang="en-US" sz="1600" dirty="0"/>
              <a:t>포인터를 반환</a:t>
            </a:r>
            <a:r>
              <a:rPr lang="en-US" altLang="ko-KR" sz="1600" dirty="0"/>
              <a:t>, fb</a:t>
            </a:r>
            <a:r>
              <a:rPr lang="ko-KR" altLang="en-US" sz="1600" dirty="0"/>
              <a:t>에 저장</a:t>
            </a:r>
            <a:r>
              <a:rPr lang="en-US" altLang="ko-KR" sz="1600" dirty="0"/>
              <a:t>, fb</a:t>
            </a:r>
            <a:r>
              <a:rPr lang="ko-KR" altLang="en-US" sz="1600" dirty="0"/>
              <a:t>는 저장된 이미지의 </a:t>
            </a:r>
            <a:r>
              <a:rPr lang="ko-KR" altLang="en-US" sz="1600" dirty="0" err="1"/>
              <a:t>주소값</a:t>
            </a:r>
            <a:endParaRPr lang="en-US" altLang="ko-KR" sz="1600" dirty="0"/>
          </a:p>
          <a:p>
            <a:r>
              <a:rPr lang="en-US" altLang="ko-KR" sz="1600" dirty="0"/>
              <a:t>// fb</a:t>
            </a:r>
            <a:r>
              <a:rPr lang="ko-KR" altLang="en-US" sz="1600" dirty="0"/>
              <a:t> 값을 </a:t>
            </a:r>
            <a:r>
              <a:rPr lang="en-US" altLang="ko-KR" sz="1600" dirty="0"/>
              <a:t>return</a:t>
            </a:r>
            <a:r>
              <a:rPr lang="ko-KR" altLang="en-US" sz="1600" dirty="0"/>
              <a:t>한다는 것은 저장된 </a:t>
            </a:r>
            <a:r>
              <a:rPr lang="ko-KR" altLang="en-US" sz="1600" dirty="0" err="1"/>
              <a:t>주소값</a:t>
            </a:r>
            <a:r>
              <a:rPr lang="ko-KR" altLang="en-US" sz="1600" dirty="0"/>
              <a:t> 삭제</a:t>
            </a:r>
            <a:endParaRPr lang="en-US" altLang="ko-KR" sz="1600" dirty="0"/>
          </a:p>
          <a:p>
            <a:r>
              <a:rPr lang="en-US" altLang="ko-KR" sz="1600" dirty="0"/>
              <a:t>   </a:t>
            </a:r>
            <a:r>
              <a:rPr lang="ko-KR" altLang="en-US" sz="1600" dirty="0"/>
              <a:t>사진을 지운다는 의미</a:t>
            </a:r>
          </a:p>
        </p:txBody>
      </p:sp>
      <p:sp>
        <p:nvSpPr>
          <p:cNvPr id="7" name="TextBox 6">
            <a:extLst>
              <a:ext uri="{FF2B5EF4-FFF2-40B4-BE49-F238E27FC236}">
                <a16:creationId xmlns:a16="http://schemas.microsoft.com/office/drawing/2014/main" id="{1CB362AC-8139-7E83-B257-FA5FA387F2C5}"/>
              </a:ext>
            </a:extLst>
          </p:cNvPr>
          <p:cNvSpPr txBox="1"/>
          <p:nvPr/>
        </p:nvSpPr>
        <p:spPr>
          <a:xfrm>
            <a:off x="6237962" y="3999720"/>
            <a:ext cx="4073872" cy="338554"/>
          </a:xfrm>
          <a:prstGeom prst="rect">
            <a:avLst/>
          </a:prstGeom>
          <a:noFill/>
        </p:spPr>
        <p:txBody>
          <a:bodyPr wrap="none" rtlCol="0">
            <a:spAutoFit/>
          </a:bodyPr>
          <a:lstStyle/>
          <a:p>
            <a:r>
              <a:rPr lang="en-US" altLang="ko-KR" sz="1600" dirty="0"/>
              <a:t>// </a:t>
            </a:r>
            <a:r>
              <a:rPr lang="ko-KR" altLang="en-US" sz="1600" dirty="0"/>
              <a:t>저장하고 이메일로 전송할 사진 </a:t>
            </a:r>
            <a:r>
              <a:rPr lang="en-US" altLang="ko-KR" sz="1600" dirty="0"/>
              <a:t>capture</a:t>
            </a:r>
            <a:endParaRPr lang="ko-KR" altLang="en-US" sz="1600" dirty="0"/>
          </a:p>
        </p:txBody>
      </p:sp>
      <p:sp>
        <p:nvSpPr>
          <p:cNvPr id="8" name="TextBox 7">
            <a:extLst>
              <a:ext uri="{FF2B5EF4-FFF2-40B4-BE49-F238E27FC236}">
                <a16:creationId xmlns:a16="http://schemas.microsoft.com/office/drawing/2014/main" id="{B5AAAEFB-C6A4-8315-4B06-C2FE3CEE378C}"/>
              </a:ext>
            </a:extLst>
          </p:cNvPr>
          <p:cNvSpPr txBox="1"/>
          <p:nvPr/>
        </p:nvSpPr>
        <p:spPr>
          <a:xfrm>
            <a:off x="6237962" y="6106310"/>
            <a:ext cx="3868688" cy="338554"/>
          </a:xfrm>
          <a:prstGeom prst="rect">
            <a:avLst/>
          </a:prstGeom>
          <a:noFill/>
        </p:spPr>
        <p:txBody>
          <a:bodyPr wrap="none" rtlCol="0">
            <a:spAutoFit/>
          </a:bodyPr>
          <a:lstStyle/>
          <a:p>
            <a:r>
              <a:rPr lang="en-US" altLang="ko-KR" sz="1600" dirty="0"/>
              <a:t>// capture</a:t>
            </a:r>
            <a:r>
              <a:rPr lang="ko-KR" altLang="en-US" sz="1600" dirty="0"/>
              <a:t>한 사진을 지정한 위치에 저장</a:t>
            </a:r>
          </a:p>
        </p:txBody>
      </p:sp>
    </p:spTree>
    <p:extLst>
      <p:ext uri="{BB962C8B-B14F-4D97-AF65-F5344CB8AC3E}">
        <p14:creationId xmlns:p14="http://schemas.microsoft.com/office/powerpoint/2010/main" val="9204157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86156-1B2D-2B60-FFCA-D9178E04E19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4FBDA46-F98C-E68E-04E4-C49E9D0A709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8/13</a:t>
            </a:r>
            <a:endParaRPr lang="ko-KR" altLang="en-US" b="1" dirty="0">
              <a:solidFill>
                <a:schemeClr val="tx1"/>
              </a:solidFill>
            </a:endParaRPr>
          </a:p>
        </p:txBody>
      </p:sp>
      <p:pic>
        <p:nvPicPr>
          <p:cNvPr id="4" name="그림 3">
            <a:extLst>
              <a:ext uri="{FF2B5EF4-FFF2-40B4-BE49-F238E27FC236}">
                <a16:creationId xmlns:a16="http://schemas.microsoft.com/office/drawing/2014/main" id="{CDF2ED9B-BFF6-BD58-9055-5C23A70EA79D}"/>
              </a:ext>
            </a:extLst>
          </p:cNvPr>
          <p:cNvPicPr>
            <a:picLocks noChangeAspect="1"/>
          </p:cNvPicPr>
          <p:nvPr/>
        </p:nvPicPr>
        <p:blipFill>
          <a:blip r:embed="rId2"/>
          <a:stretch>
            <a:fillRect/>
          </a:stretch>
        </p:blipFill>
        <p:spPr>
          <a:xfrm>
            <a:off x="0" y="665017"/>
            <a:ext cx="8115018" cy="4996747"/>
          </a:xfrm>
          <a:prstGeom prst="rect">
            <a:avLst/>
          </a:prstGeom>
        </p:spPr>
      </p:pic>
      <p:sp>
        <p:nvSpPr>
          <p:cNvPr id="5" name="TextBox 4">
            <a:extLst>
              <a:ext uri="{FF2B5EF4-FFF2-40B4-BE49-F238E27FC236}">
                <a16:creationId xmlns:a16="http://schemas.microsoft.com/office/drawing/2014/main" id="{82EC6547-912D-DF6A-8E55-1C8C50A87D8A}"/>
              </a:ext>
            </a:extLst>
          </p:cNvPr>
          <p:cNvSpPr txBox="1"/>
          <p:nvPr/>
        </p:nvSpPr>
        <p:spPr>
          <a:xfrm>
            <a:off x="7789341" y="1897565"/>
            <a:ext cx="4241867" cy="830997"/>
          </a:xfrm>
          <a:prstGeom prst="rect">
            <a:avLst/>
          </a:prstGeom>
          <a:noFill/>
        </p:spPr>
        <p:txBody>
          <a:bodyPr wrap="none" rtlCol="0">
            <a:spAutoFit/>
          </a:bodyPr>
          <a:lstStyle/>
          <a:p>
            <a:r>
              <a:rPr lang="en-US" altLang="ko-KR" sz="1600" dirty="0"/>
              <a:t>// </a:t>
            </a:r>
            <a:r>
              <a:rPr lang="ko-KR" altLang="en-US" sz="1600" dirty="0"/>
              <a:t>새로운 파일이 성공적으로 만들어졌다면</a:t>
            </a:r>
            <a:r>
              <a:rPr lang="en-US" altLang="ko-KR" sz="1600" dirty="0"/>
              <a:t>, </a:t>
            </a:r>
          </a:p>
          <a:p>
            <a:r>
              <a:rPr lang="en-US" altLang="ko-KR" sz="1600" dirty="0"/>
              <a:t>// </a:t>
            </a:r>
            <a:r>
              <a:rPr lang="ko-KR" altLang="en-US" sz="1600" dirty="0"/>
              <a:t>이미지 데이터를 파일로 저장</a:t>
            </a:r>
            <a:endParaRPr lang="en-US" altLang="ko-KR" sz="1600" dirty="0"/>
          </a:p>
          <a:p>
            <a:r>
              <a:rPr lang="en-US" altLang="ko-KR" sz="1600" dirty="0"/>
              <a:t>// </a:t>
            </a:r>
            <a:r>
              <a:rPr lang="ko-KR" altLang="en-US" sz="1600" dirty="0"/>
              <a:t>저장된 </a:t>
            </a:r>
            <a:r>
              <a:rPr lang="ko-KR" altLang="en-US" sz="1600" dirty="0" err="1"/>
              <a:t>주소값과</a:t>
            </a:r>
            <a:r>
              <a:rPr lang="ko-KR" altLang="en-US" sz="1600" dirty="0"/>
              <a:t> 크기를 전달</a:t>
            </a:r>
          </a:p>
        </p:txBody>
      </p:sp>
    </p:spTree>
    <p:extLst>
      <p:ext uri="{BB962C8B-B14F-4D97-AF65-F5344CB8AC3E}">
        <p14:creationId xmlns:p14="http://schemas.microsoft.com/office/powerpoint/2010/main" val="1475373911"/>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4066-0474-00DB-FD9F-884906278E9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BD3EC4A-0E42-4FED-EF40-8B9AEFEDC76D}"/>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9/13  - </a:t>
            </a:r>
            <a:r>
              <a:rPr lang="ko-KR" altLang="en-US" b="1" dirty="0">
                <a:solidFill>
                  <a:schemeClr val="tx1"/>
                </a:solidFill>
              </a:rPr>
              <a:t>사진 전송 함수</a:t>
            </a:r>
          </a:p>
        </p:txBody>
      </p:sp>
      <p:pic>
        <p:nvPicPr>
          <p:cNvPr id="4" name="그림 3">
            <a:extLst>
              <a:ext uri="{FF2B5EF4-FFF2-40B4-BE49-F238E27FC236}">
                <a16:creationId xmlns:a16="http://schemas.microsoft.com/office/drawing/2014/main" id="{D5BFAF8F-AF69-0F9F-8570-7559F4B99E0B}"/>
              </a:ext>
            </a:extLst>
          </p:cNvPr>
          <p:cNvPicPr>
            <a:picLocks noChangeAspect="1"/>
          </p:cNvPicPr>
          <p:nvPr/>
        </p:nvPicPr>
        <p:blipFill>
          <a:blip r:embed="rId2"/>
          <a:stretch>
            <a:fillRect/>
          </a:stretch>
        </p:blipFill>
        <p:spPr>
          <a:xfrm>
            <a:off x="0" y="665017"/>
            <a:ext cx="7540668" cy="6195282"/>
          </a:xfrm>
          <a:prstGeom prst="rect">
            <a:avLst/>
          </a:prstGeom>
        </p:spPr>
      </p:pic>
      <p:sp>
        <p:nvSpPr>
          <p:cNvPr id="5" name="TextBox 4">
            <a:extLst>
              <a:ext uri="{FF2B5EF4-FFF2-40B4-BE49-F238E27FC236}">
                <a16:creationId xmlns:a16="http://schemas.microsoft.com/office/drawing/2014/main" id="{F9F765F5-47EE-C576-2B81-6C9C7C5C5E38}"/>
              </a:ext>
            </a:extLst>
          </p:cNvPr>
          <p:cNvSpPr txBox="1"/>
          <p:nvPr/>
        </p:nvSpPr>
        <p:spPr>
          <a:xfrm>
            <a:off x="7540668" y="3832964"/>
            <a:ext cx="4315605" cy="738664"/>
          </a:xfrm>
          <a:prstGeom prst="rect">
            <a:avLst/>
          </a:prstGeom>
          <a:noFill/>
        </p:spPr>
        <p:txBody>
          <a:bodyPr wrap="none" rtlCol="0">
            <a:spAutoFit/>
          </a:bodyPr>
          <a:lstStyle/>
          <a:p>
            <a:r>
              <a:rPr lang="en-US" altLang="ko-KR" sz="1400" dirty="0"/>
              <a:t>// session </a:t>
            </a:r>
            <a:r>
              <a:rPr lang="ko-KR" altLang="en-US" sz="1400" dirty="0"/>
              <a:t>이란</a:t>
            </a:r>
            <a:r>
              <a:rPr lang="en-US" altLang="ko-KR" sz="1400" dirty="0"/>
              <a:t>, </a:t>
            </a:r>
            <a:r>
              <a:rPr lang="ko-KR" altLang="en-US" sz="1400" dirty="0"/>
              <a:t>통신에서 클라이언트와 서버 간의 </a:t>
            </a:r>
            <a:br>
              <a:rPr lang="en-US" altLang="ko-KR" sz="1400" dirty="0"/>
            </a:br>
            <a:r>
              <a:rPr lang="en-US" altLang="ko-KR" sz="1400" dirty="0"/>
              <a:t>  </a:t>
            </a:r>
            <a:r>
              <a:rPr lang="ko-KR" altLang="en-US" sz="1400" dirty="0"/>
              <a:t>연결 상태를 유지하는 단위를 말한다</a:t>
            </a:r>
            <a:r>
              <a:rPr lang="en-US" altLang="ko-KR" sz="1400" dirty="0"/>
              <a:t>. </a:t>
            </a:r>
          </a:p>
          <a:p>
            <a:r>
              <a:rPr lang="en-US" altLang="ko-KR" sz="1400" dirty="0"/>
              <a:t>// </a:t>
            </a:r>
            <a:r>
              <a:rPr lang="en-US" altLang="ko-KR" sz="1400" dirty="0" err="1"/>
              <a:t>Session_Config</a:t>
            </a:r>
            <a:r>
              <a:rPr lang="en-US" altLang="ko-KR" sz="1400" dirty="0"/>
              <a:t> </a:t>
            </a:r>
            <a:r>
              <a:rPr lang="ko-KR" altLang="en-US" sz="1400" dirty="0"/>
              <a:t>는 연결 상태 정보 설정한 구조체</a:t>
            </a:r>
          </a:p>
        </p:txBody>
      </p:sp>
      <p:sp>
        <p:nvSpPr>
          <p:cNvPr id="6" name="TextBox 5">
            <a:extLst>
              <a:ext uri="{FF2B5EF4-FFF2-40B4-BE49-F238E27FC236}">
                <a16:creationId xmlns:a16="http://schemas.microsoft.com/office/drawing/2014/main" id="{89D3DBFE-C624-A844-556F-3EEC8A6D6330}"/>
              </a:ext>
            </a:extLst>
          </p:cNvPr>
          <p:cNvSpPr txBox="1"/>
          <p:nvPr/>
        </p:nvSpPr>
        <p:spPr>
          <a:xfrm>
            <a:off x="6523734" y="5236645"/>
            <a:ext cx="5660204" cy="1600438"/>
          </a:xfrm>
          <a:prstGeom prst="rect">
            <a:avLst/>
          </a:prstGeom>
          <a:solidFill>
            <a:schemeClr val="bg1"/>
          </a:solidFill>
        </p:spPr>
        <p:txBody>
          <a:bodyPr wrap="none" rtlCol="0">
            <a:spAutoFit/>
          </a:bodyPr>
          <a:lstStyle/>
          <a:p>
            <a:r>
              <a:rPr lang="en-US" altLang="ko-KR" sz="1400" dirty="0"/>
              <a:t>// NTP(Network Time Protocol) </a:t>
            </a:r>
            <a:r>
              <a:rPr lang="ko-KR" altLang="en-US" sz="1400" dirty="0"/>
              <a:t>서버 사용을 위한</a:t>
            </a:r>
            <a:br>
              <a:rPr lang="en-US" altLang="ko-KR" sz="1400" dirty="0"/>
            </a:br>
            <a:r>
              <a:rPr lang="en-US" altLang="ko-KR" sz="1400" dirty="0"/>
              <a:t>  </a:t>
            </a:r>
            <a:r>
              <a:rPr lang="ko-KR" altLang="en-US" sz="1400" dirty="0"/>
              <a:t>시간 동기화 설정</a:t>
            </a:r>
            <a:endParaRPr lang="en-US" altLang="ko-KR" sz="1400" dirty="0"/>
          </a:p>
          <a:p>
            <a:r>
              <a:rPr lang="en-US" altLang="ko-KR" sz="1400" dirty="0"/>
              <a:t>// pool.ntp.org </a:t>
            </a:r>
            <a:r>
              <a:rPr lang="en-US" altLang="ko-KR" sz="1400" dirty="0">
                <a:sym typeface="Wingdings" panose="05000000000000000000" pitchFamily="2" charset="2"/>
              </a:rPr>
              <a:t> </a:t>
            </a:r>
            <a:r>
              <a:rPr lang="ko-KR" altLang="en-US" sz="1400" dirty="0">
                <a:sym typeface="Wingdings" panose="05000000000000000000" pitchFamily="2" charset="2"/>
              </a:rPr>
              <a:t>전 세계 공용 </a:t>
            </a:r>
            <a:r>
              <a:rPr lang="en-US" altLang="ko-KR" sz="1400" dirty="0">
                <a:sym typeface="Wingdings" panose="05000000000000000000" pitchFamily="2" charset="2"/>
              </a:rPr>
              <a:t>NTP </a:t>
            </a:r>
            <a:r>
              <a:rPr lang="ko-KR" altLang="en-US" sz="1400" dirty="0">
                <a:sym typeface="Wingdings" panose="05000000000000000000" pitchFamily="2" charset="2"/>
              </a:rPr>
              <a:t>서버</a:t>
            </a:r>
            <a:br>
              <a:rPr lang="en-US" altLang="ko-KR" sz="1400" dirty="0">
                <a:sym typeface="Wingdings" panose="05000000000000000000" pitchFamily="2" charset="2"/>
              </a:rPr>
            </a:br>
            <a:r>
              <a:rPr lang="en-US" altLang="ko-KR" sz="1400" dirty="0">
                <a:sym typeface="Wingdings" panose="05000000000000000000" pitchFamily="2" charset="2"/>
              </a:rPr>
              <a:t>// time.nist.gov  </a:t>
            </a:r>
            <a:r>
              <a:rPr lang="ko-KR" altLang="en-US" sz="1400" dirty="0">
                <a:sym typeface="Wingdings" panose="05000000000000000000" pitchFamily="2" charset="2"/>
              </a:rPr>
              <a:t>미국 국립표준기술연구소 서버</a:t>
            </a:r>
            <a:endParaRPr lang="en-US" altLang="ko-KR" sz="1400" dirty="0">
              <a:sym typeface="Wingdings" panose="05000000000000000000" pitchFamily="2" charset="2"/>
            </a:endParaRPr>
          </a:p>
          <a:p>
            <a:r>
              <a:rPr lang="en-US" altLang="ko-KR" sz="1400" dirty="0">
                <a:sym typeface="Wingdings" panose="05000000000000000000" pitchFamily="2" charset="2"/>
              </a:rPr>
              <a:t>// </a:t>
            </a:r>
            <a:r>
              <a:rPr lang="en-US" altLang="ko-KR" sz="1400" dirty="0" err="1">
                <a:sym typeface="Wingdings" panose="05000000000000000000" pitchFamily="2" charset="2"/>
              </a:rPr>
              <a:t>gmt</a:t>
            </a:r>
            <a:r>
              <a:rPr lang="en-US" altLang="ko-KR" sz="1400" dirty="0">
                <a:sym typeface="Wingdings" panose="05000000000000000000" pitchFamily="2" charset="2"/>
              </a:rPr>
              <a:t> </a:t>
            </a:r>
            <a:r>
              <a:rPr lang="ko-KR" altLang="en-US" sz="1400" dirty="0">
                <a:sym typeface="Wingdings" panose="05000000000000000000" pitchFamily="2" charset="2"/>
              </a:rPr>
              <a:t>시간은 영국 그리니치 표준시</a:t>
            </a:r>
            <a:r>
              <a:rPr lang="en-US" altLang="ko-KR" sz="1400" dirty="0">
                <a:sym typeface="Wingdings" panose="05000000000000000000" pitchFamily="2" charset="2"/>
              </a:rPr>
              <a:t>, </a:t>
            </a:r>
            <a:r>
              <a:rPr lang="ko-KR" altLang="en-US" sz="1400" dirty="0">
                <a:sym typeface="Wingdings" panose="05000000000000000000" pitchFamily="2" charset="2"/>
              </a:rPr>
              <a:t>한국은 </a:t>
            </a:r>
            <a:r>
              <a:rPr lang="en-US" altLang="ko-KR" sz="1400" dirty="0">
                <a:sym typeface="Wingdings" panose="05000000000000000000" pitchFamily="2" charset="2"/>
              </a:rPr>
              <a:t>9</a:t>
            </a:r>
            <a:r>
              <a:rPr lang="ko-KR" altLang="en-US" sz="1400" dirty="0">
                <a:sym typeface="Wingdings" panose="05000000000000000000" pitchFamily="2" charset="2"/>
              </a:rPr>
              <a:t>시간 차이</a:t>
            </a:r>
            <a:endParaRPr lang="en-US" altLang="ko-KR" sz="1400" dirty="0">
              <a:sym typeface="Wingdings" panose="05000000000000000000" pitchFamily="2" charset="2"/>
            </a:endParaRPr>
          </a:p>
          <a:p>
            <a:r>
              <a:rPr lang="en-US" altLang="ko-KR" sz="1400" dirty="0"/>
              <a:t>   </a:t>
            </a:r>
            <a:r>
              <a:rPr lang="en-US" altLang="ko-KR" sz="1400" dirty="0" err="1"/>
              <a:t>config.time.gmt_offset</a:t>
            </a:r>
            <a:r>
              <a:rPr lang="en-US" altLang="ko-KR" sz="1400" dirty="0"/>
              <a:t> = 9 * 3600;  // 9</a:t>
            </a:r>
            <a:r>
              <a:rPr lang="ko-KR" altLang="en-US" sz="1400" dirty="0"/>
              <a:t>시간 * </a:t>
            </a:r>
            <a:r>
              <a:rPr lang="en-US" altLang="ko-KR" sz="1400" dirty="0"/>
              <a:t>3600</a:t>
            </a:r>
            <a:r>
              <a:rPr lang="ko-KR" altLang="en-US" sz="1400" dirty="0"/>
              <a:t>초 </a:t>
            </a:r>
            <a:r>
              <a:rPr lang="en-US" altLang="ko-KR" sz="1400" dirty="0"/>
              <a:t>= 32400</a:t>
            </a:r>
            <a:r>
              <a:rPr lang="ko-KR" altLang="en-US" sz="1400" dirty="0"/>
              <a:t>초</a:t>
            </a:r>
            <a:endParaRPr lang="en-US" altLang="ko-KR" sz="1400" dirty="0"/>
          </a:p>
          <a:p>
            <a:r>
              <a:rPr lang="en-US" altLang="ko-KR" sz="1400" dirty="0"/>
              <a:t>// </a:t>
            </a:r>
            <a:r>
              <a:rPr lang="en-US" altLang="ko-KR" sz="1400" dirty="0" err="1"/>
              <a:t>day_light</a:t>
            </a:r>
            <a:r>
              <a:rPr lang="en-US" altLang="ko-KR" sz="1400" dirty="0"/>
              <a:t> </a:t>
            </a:r>
            <a:r>
              <a:rPr lang="en-US" altLang="ko-KR" sz="1400" dirty="0">
                <a:sym typeface="Wingdings" panose="05000000000000000000" pitchFamily="2" charset="2"/>
              </a:rPr>
              <a:t> </a:t>
            </a:r>
            <a:r>
              <a:rPr lang="ko-KR" altLang="en-US" sz="1400" dirty="0" err="1">
                <a:sym typeface="Wingdings" panose="05000000000000000000" pitchFamily="2" charset="2"/>
              </a:rPr>
              <a:t>서머</a:t>
            </a:r>
            <a:r>
              <a:rPr lang="ko-KR" altLang="en-US" sz="1400" dirty="0">
                <a:sym typeface="Wingdings" panose="05000000000000000000" pitchFamily="2" charset="2"/>
              </a:rPr>
              <a:t> 타임 적용하면 </a:t>
            </a:r>
            <a:r>
              <a:rPr lang="en-US" altLang="ko-KR" sz="1400" dirty="0">
                <a:sym typeface="Wingdings" panose="05000000000000000000" pitchFamily="2" charset="2"/>
              </a:rPr>
              <a:t>1, </a:t>
            </a:r>
            <a:r>
              <a:rPr lang="ko-KR" altLang="en-US" sz="1400" dirty="0">
                <a:sym typeface="Wingdings" panose="05000000000000000000" pitchFamily="2" charset="2"/>
              </a:rPr>
              <a:t>한국은 </a:t>
            </a:r>
            <a:r>
              <a:rPr lang="en-US" altLang="ko-KR" sz="1400" dirty="0">
                <a:sym typeface="Wingdings" panose="05000000000000000000" pitchFamily="2" charset="2"/>
              </a:rPr>
              <a:t>‘0’</a:t>
            </a:r>
            <a:endParaRPr lang="ko-KR" altLang="en-US" sz="1400" dirty="0"/>
          </a:p>
        </p:txBody>
      </p:sp>
    </p:spTree>
    <p:extLst>
      <p:ext uri="{BB962C8B-B14F-4D97-AF65-F5344CB8AC3E}">
        <p14:creationId xmlns:p14="http://schemas.microsoft.com/office/powerpoint/2010/main" val="364345031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F78E-BFB7-3B89-8C8B-8DFFB5F138D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AF7E79F-61F8-2E07-3860-6A60BE16C7F3}"/>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10/13 – SMTP </a:t>
            </a:r>
            <a:r>
              <a:rPr lang="ko-KR" altLang="en-US" b="1" dirty="0">
                <a:solidFill>
                  <a:schemeClr val="tx1"/>
                </a:solidFill>
              </a:rPr>
              <a:t>서버 설정</a:t>
            </a:r>
          </a:p>
        </p:txBody>
      </p:sp>
      <p:pic>
        <p:nvPicPr>
          <p:cNvPr id="4" name="그림 3">
            <a:extLst>
              <a:ext uri="{FF2B5EF4-FFF2-40B4-BE49-F238E27FC236}">
                <a16:creationId xmlns:a16="http://schemas.microsoft.com/office/drawing/2014/main" id="{FC44C280-C07F-EA9A-14A5-557B73B36D1A}"/>
              </a:ext>
            </a:extLst>
          </p:cNvPr>
          <p:cNvPicPr>
            <a:picLocks noChangeAspect="1"/>
          </p:cNvPicPr>
          <p:nvPr/>
        </p:nvPicPr>
        <p:blipFill>
          <a:blip r:embed="rId2"/>
          <a:stretch>
            <a:fillRect/>
          </a:stretch>
        </p:blipFill>
        <p:spPr>
          <a:xfrm>
            <a:off x="0" y="665016"/>
            <a:ext cx="7027645" cy="6192983"/>
          </a:xfrm>
          <a:prstGeom prst="rect">
            <a:avLst/>
          </a:prstGeom>
        </p:spPr>
      </p:pic>
      <p:sp>
        <p:nvSpPr>
          <p:cNvPr id="5" name="TextBox 4">
            <a:extLst>
              <a:ext uri="{FF2B5EF4-FFF2-40B4-BE49-F238E27FC236}">
                <a16:creationId xmlns:a16="http://schemas.microsoft.com/office/drawing/2014/main" id="{6A8E6326-99DA-1CCB-315B-37CC84BA9E8D}"/>
              </a:ext>
            </a:extLst>
          </p:cNvPr>
          <p:cNvSpPr txBox="1"/>
          <p:nvPr/>
        </p:nvSpPr>
        <p:spPr>
          <a:xfrm>
            <a:off x="5850199" y="3557391"/>
            <a:ext cx="6091732" cy="307777"/>
          </a:xfrm>
          <a:prstGeom prst="rect">
            <a:avLst/>
          </a:prstGeom>
          <a:solidFill>
            <a:schemeClr val="bg1"/>
          </a:solidFill>
        </p:spPr>
        <p:txBody>
          <a:bodyPr wrap="none" rtlCol="0">
            <a:spAutoFit/>
          </a:bodyPr>
          <a:lstStyle/>
          <a:p>
            <a:r>
              <a:rPr lang="en-US" altLang="ko-KR" sz="1400" dirty="0"/>
              <a:t>// SMTP </a:t>
            </a:r>
            <a:r>
              <a:rPr lang="ko-KR" altLang="en-US" sz="1400" dirty="0"/>
              <a:t>로 데이터를 보낼 때</a:t>
            </a:r>
            <a:r>
              <a:rPr lang="en-US" altLang="ko-KR" sz="1400" dirty="0"/>
              <a:t>,  </a:t>
            </a:r>
            <a:r>
              <a:rPr lang="ko-KR" altLang="en-US" sz="1400" dirty="0"/>
              <a:t>데이터를 작은 조각</a:t>
            </a:r>
            <a:r>
              <a:rPr lang="en-US" altLang="ko-KR" sz="1400" dirty="0"/>
              <a:t>(Chunk)</a:t>
            </a:r>
            <a:r>
              <a:rPr lang="ko-KR" altLang="en-US" sz="1400" dirty="0"/>
              <a:t>로 나누어 전송</a:t>
            </a:r>
          </a:p>
        </p:txBody>
      </p:sp>
      <p:pic>
        <p:nvPicPr>
          <p:cNvPr id="7" name="그림 6">
            <a:extLst>
              <a:ext uri="{FF2B5EF4-FFF2-40B4-BE49-F238E27FC236}">
                <a16:creationId xmlns:a16="http://schemas.microsoft.com/office/drawing/2014/main" id="{6DAC49D5-3079-D5AD-C7C2-CC11140B01F6}"/>
              </a:ext>
            </a:extLst>
          </p:cNvPr>
          <p:cNvPicPr>
            <a:picLocks noChangeAspect="1"/>
          </p:cNvPicPr>
          <p:nvPr/>
        </p:nvPicPr>
        <p:blipFill>
          <a:blip r:embed="rId3"/>
          <a:stretch>
            <a:fillRect/>
          </a:stretch>
        </p:blipFill>
        <p:spPr>
          <a:xfrm>
            <a:off x="5775587" y="4530073"/>
            <a:ext cx="5992061" cy="628738"/>
          </a:xfrm>
          <a:prstGeom prst="rect">
            <a:avLst/>
          </a:prstGeom>
          <a:ln>
            <a:solidFill>
              <a:srgbClr val="C00000"/>
            </a:solidFill>
          </a:ln>
        </p:spPr>
      </p:pic>
      <p:cxnSp>
        <p:nvCxnSpPr>
          <p:cNvPr id="9" name="연결선: 꺾임 8">
            <a:extLst>
              <a:ext uri="{FF2B5EF4-FFF2-40B4-BE49-F238E27FC236}">
                <a16:creationId xmlns:a16="http://schemas.microsoft.com/office/drawing/2014/main" id="{83E7F7BF-6DEE-54B9-4C89-2E0CC8C27245}"/>
              </a:ext>
            </a:extLst>
          </p:cNvPr>
          <p:cNvCxnSpPr>
            <a:endCxn id="7" idx="1"/>
          </p:cNvCxnSpPr>
          <p:nvPr/>
        </p:nvCxnSpPr>
        <p:spPr>
          <a:xfrm rot="5400000" flipH="1" flipV="1">
            <a:off x="4909182" y="4945672"/>
            <a:ext cx="967635" cy="765176"/>
          </a:xfrm>
          <a:prstGeom prst="bent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사각형: 둥근 모서리 9">
            <a:extLst>
              <a:ext uri="{FF2B5EF4-FFF2-40B4-BE49-F238E27FC236}">
                <a16:creationId xmlns:a16="http://schemas.microsoft.com/office/drawing/2014/main" id="{1E38E4A4-FA99-691D-D7CB-A1F82DEE4071}"/>
              </a:ext>
            </a:extLst>
          </p:cNvPr>
          <p:cNvSpPr/>
          <p:nvPr/>
        </p:nvSpPr>
        <p:spPr>
          <a:xfrm>
            <a:off x="7690981" y="4530073"/>
            <a:ext cx="3860194" cy="31436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EC0FCCFE-2469-C24D-179E-FE8B4866DB66}"/>
              </a:ext>
            </a:extLst>
          </p:cNvPr>
          <p:cNvSpPr txBox="1"/>
          <p:nvPr/>
        </p:nvSpPr>
        <p:spPr>
          <a:xfrm>
            <a:off x="7290148" y="5158811"/>
            <a:ext cx="2351926" cy="338554"/>
          </a:xfrm>
          <a:prstGeom prst="rect">
            <a:avLst/>
          </a:prstGeom>
          <a:noFill/>
        </p:spPr>
        <p:txBody>
          <a:bodyPr wrap="none" rtlCol="0">
            <a:spAutoFit/>
          </a:bodyPr>
          <a:lstStyle/>
          <a:p>
            <a:r>
              <a:rPr lang="en-US" altLang="ko-KR" sz="1600" dirty="0" err="1">
                <a:solidFill>
                  <a:srgbClr val="3A0DFB"/>
                </a:solidFill>
              </a:rPr>
              <a:t>gmail</a:t>
            </a:r>
            <a:r>
              <a:rPr lang="en-US" altLang="ko-KR" sz="1600" dirty="0">
                <a:solidFill>
                  <a:srgbClr val="3A0DFB"/>
                </a:solidFill>
              </a:rPr>
              <a:t> </a:t>
            </a:r>
            <a:r>
              <a:rPr lang="ko-KR" altLang="en-US" sz="1600" dirty="0">
                <a:solidFill>
                  <a:srgbClr val="3A0DFB"/>
                </a:solidFill>
              </a:rPr>
              <a:t>수신 제목에 표시</a:t>
            </a:r>
          </a:p>
        </p:txBody>
      </p:sp>
    </p:spTree>
    <p:extLst>
      <p:ext uri="{BB962C8B-B14F-4D97-AF65-F5344CB8AC3E}">
        <p14:creationId xmlns:p14="http://schemas.microsoft.com/office/powerpoint/2010/main" val="342075883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4B796-F314-FAD2-CE57-6F9CC8309AE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2876EA7-6B75-6E94-9858-26E39CB401ED}"/>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11/13  - </a:t>
            </a:r>
            <a:r>
              <a:rPr lang="ko-KR" altLang="en-US" b="1" dirty="0">
                <a:solidFill>
                  <a:schemeClr val="tx1"/>
                </a:solidFill>
              </a:rPr>
              <a:t>이메일 첨부 파일 객체 생성</a:t>
            </a:r>
          </a:p>
        </p:txBody>
      </p:sp>
      <p:pic>
        <p:nvPicPr>
          <p:cNvPr id="4" name="그림 3">
            <a:extLst>
              <a:ext uri="{FF2B5EF4-FFF2-40B4-BE49-F238E27FC236}">
                <a16:creationId xmlns:a16="http://schemas.microsoft.com/office/drawing/2014/main" id="{57D00077-9ABF-F8AF-C4B0-73A3827A970C}"/>
              </a:ext>
            </a:extLst>
          </p:cNvPr>
          <p:cNvPicPr>
            <a:picLocks noChangeAspect="1"/>
          </p:cNvPicPr>
          <p:nvPr/>
        </p:nvPicPr>
        <p:blipFill>
          <a:blip r:embed="rId2"/>
          <a:stretch>
            <a:fillRect/>
          </a:stretch>
        </p:blipFill>
        <p:spPr>
          <a:xfrm>
            <a:off x="0" y="665016"/>
            <a:ext cx="6818536" cy="6192983"/>
          </a:xfrm>
          <a:prstGeom prst="rect">
            <a:avLst/>
          </a:prstGeom>
        </p:spPr>
      </p:pic>
      <p:sp>
        <p:nvSpPr>
          <p:cNvPr id="5" name="TextBox 4">
            <a:extLst>
              <a:ext uri="{FF2B5EF4-FFF2-40B4-BE49-F238E27FC236}">
                <a16:creationId xmlns:a16="http://schemas.microsoft.com/office/drawing/2014/main" id="{05D10CCF-1F5F-BE60-9429-D047855059C7}"/>
              </a:ext>
            </a:extLst>
          </p:cNvPr>
          <p:cNvSpPr txBox="1"/>
          <p:nvPr/>
        </p:nvSpPr>
        <p:spPr>
          <a:xfrm>
            <a:off x="5954240" y="864296"/>
            <a:ext cx="3706464" cy="338554"/>
          </a:xfrm>
          <a:prstGeom prst="rect">
            <a:avLst/>
          </a:prstGeom>
          <a:noFill/>
        </p:spPr>
        <p:txBody>
          <a:bodyPr wrap="none" rtlCol="0">
            <a:spAutoFit/>
          </a:bodyPr>
          <a:lstStyle/>
          <a:p>
            <a:r>
              <a:rPr lang="en-US" altLang="ko-KR" sz="1600" dirty="0"/>
              <a:t>// </a:t>
            </a:r>
            <a:r>
              <a:rPr lang="ko-KR" altLang="en-US" sz="1600" dirty="0"/>
              <a:t>이메일 첨부 파일 객체</a:t>
            </a:r>
            <a:r>
              <a:rPr lang="en-US" altLang="ko-KR" sz="1600" dirty="0"/>
              <a:t>(</a:t>
            </a:r>
            <a:r>
              <a:rPr lang="ko-KR" altLang="en-US" sz="1600" dirty="0"/>
              <a:t>구조체</a:t>
            </a:r>
            <a:r>
              <a:rPr lang="en-US" altLang="ko-KR" sz="1600" dirty="0"/>
              <a:t>)</a:t>
            </a:r>
            <a:r>
              <a:rPr lang="ko-KR" altLang="en-US" sz="1600" dirty="0"/>
              <a:t> 생성</a:t>
            </a:r>
          </a:p>
        </p:txBody>
      </p:sp>
      <p:sp>
        <p:nvSpPr>
          <p:cNvPr id="6" name="TextBox 5">
            <a:extLst>
              <a:ext uri="{FF2B5EF4-FFF2-40B4-BE49-F238E27FC236}">
                <a16:creationId xmlns:a16="http://schemas.microsoft.com/office/drawing/2014/main" id="{5CBEFE3A-9979-6546-C1C2-1003D0F2E777}"/>
              </a:ext>
            </a:extLst>
          </p:cNvPr>
          <p:cNvSpPr txBox="1"/>
          <p:nvPr/>
        </p:nvSpPr>
        <p:spPr>
          <a:xfrm>
            <a:off x="6818536" y="5012499"/>
            <a:ext cx="2116285" cy="338554"/>
          </a:xfrm>
          <a:prstGeom prst="rect">
            <a:avLst/>
          </a:prstGeom>
          <a:noFill/>
        </p:spPr>
        <p:txBody>
          <a:bodyPr wrap="none" rtlCol="0">
            <a:spAutoFit/>
          </a:bodyPr>
          <a:lstStyle/>
          <a:p>
            <a:r>
              <a:rPr lang="en-US" altLang="ko-KR" sz="1600" dirty="0"/>
              <a:t>// SMTP </a:t>
            </a:r>
            <a:r>
              <a:rPr lang="ko-KR" altLang="en-US" sz="1600" dirty="0"/>
              <a:t>서버에 연결</a:t>
            </a:r>
          </a:p>
        </p:txBody>
      </p:sp>
      <p:sp>
        <p:nvSpPr>
          <p:cNvPr id="7" name="TextBox 6">
            <a:extLst>
              <a:ext uri="{FF2B5EF4-FFF2-40B4-BE49-F238E27FC236}">
                <a16:creationId xmlns:a16="http://schemas.microsoft.com/office/drawing/2014/main" id="{B0C24D60-FF43-DDDD-A650-0C3AE0515EFC}"/>
              </a:ext>
            </a:extLst>
          </p:cNvPr>
          <p:cNvSpPr txBox="1"/>
          <p:nvPr/>
        </p:nvSpPr>
        <p:spPr>
          <a:xfrm>
            <a:off x="6818536" y="5993704"/>
            <a:ext cx="2803973" cy="338554"/>
          </a:xfrm>
          <a:prstGeom prst="rect">
            <a:avLst/>
          </a:prstGeom>
          <a:noFill/>
        </p:spPr>
        <p:txBody>
          <a:bodyPr wrap="none" rtlCol="0">
            <a:spAutoFit/>
          </a:bodyPr>
          <a:lstStyle/>
          <a:p>
            <a:r>
              <a:rPr lang="en-US" altLang="ko-KR" sz="1600" dirty="0"/>
              <a:t>// SMTP </a:t>
            </a:r>
            <a:r>
              <a:rPr lang="ko-KR" altLang="en-US" sz="1600" dirty="0"/>
              <a:t>서버로 메시지 전송</a:t>
            </a:r>
          </a:p>
        </p:txBody>
      </p:sp>
    </p:spTree>
    <p:extLst>
      <p:ext uri="{BB962C8B-B14F-4D97-AF65-F5344CB8AC3E}">
        <p14:creationId xmlns:p14="http://schemas.microsoft.com/office/powerpoint/2010/main" val="2960139715"/>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681C-870F-B9AD-0F4C-217AFE0609F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5434E50F-7A4B-F7D8-954A-1555F5B849C8}"/>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12/13  - SMTP </a:t>
            </a:r>
            <a:r>
              <a:rPr lang="ko-KR" altLang="en-US" b="1" dirty="0">
                <a:solidFill>
                  <a:schemeClr val="tx1"/>
                </a:solidFill>
              </a:rPr>
              <a:t>콜백함수</a:t>
            </a:r>
          </a:p>
        </p:txBody>
      </p:sp>
      <p:pic>
        <p:nvPicPr>
          <p:cNvPr id="5" name="그림 4">
            <a:extLst>
              <a:ext uri="{FF2B5EF4-FFF2-40B4-BE49-F238E27FC236}">
                <a16:creationId xmlns:a16="http://schemas.microsoft.com/office/drawing/2014/main" id="{48A66C7D-2D47-00AA-F6AF-7C7676B0139C}"/>
              </a:ext>
            </a:extLst>
          </p:cNvPr>
          <p:cNvPicPr>
            <a:picLocks noChangeAspect="1"/>
          </p:cNvPicPr>
          <p:nvPr/>
        </p:nvPicPr>
        <p:blipFill>
          <a:blip r:embed="rId2"/>
          <a:stretch>
            <a:fillRect/>
          </a:stretch>
        </p:blipFill>
        <p:spPr>
          <a:xfrm>
            <a:off x="0" y="665017"/>
            <a:ext cx="8209726" cy="5823465"/>
          </a:xfrm>
          <a:prstGeom prst="rect">
            <a:avLst/>
          </a:prstGeom>
        </p:spPr>
      </p:pic>
    </p:spTree>
    <p:extLst>
      <p:ext uri="{BB962C8B-B14F-4D97-AF65-F5344CB8AC3E}">
        <p14:creationId xmlns:p14="http://schemas.microsoft.com/office/powerpoint/2010/main" val="55367730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0392-AC84-A383-68D4-2223294F512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2EB145B-2B30-C99B-6420-372860B95DA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13/13 – SMTP  </a:t>
            </a:r>
            <a:r>
              <a:rPr lang="ko-KR" altLang="en-US" b="1" dirty="0" err="1">
                <a:solidFill>
                  <a:schemeClr val="tx1"/>
                </a:solidFill>
              </a:rPr>
              <a:t>콜백</a:t>
            </a:r>
            <a:r>
              <a:rPr lang="ko-KR" altLang="en-US" b="1" dirty="0">
                <a:solidFill>
                  <a:schemeClr val="tx1"/>
                </a:solidFill>
              </a:rPr>
              <a:t> 함수</a:t>
            </a:r>
          </a:p>
        </p:txBody>
      </p:sp>
      <p:pic>
        <p:nvPicPr>
          <p:cNvPr id="4" name="그림 3">
            <a:extLst>
              <a:ext uri="{FF2B5EF4-FFF2-40B4-BE49-F238E27FC236}">
                <a16:creationId xmlns:a16="http://schemas.microsoft.com/office/drawing/2014/main" id="{A526AB18-4130-B68A-F0AA-599228B91FD5}"/>
              </a:ext>
            </a:extLst>
          </p:cNvPr>
          <p:cNvPicPr>
            <a:picLocks noChangeAspect="1"/>
          </p:cNvPicPr>
          <p:nvPr/>
        </p:nvPicPr>
        <p:blipFill>
          <a:blip r:embed="rId2"/>
          <a:stretch>
            <a:fillRect/>
          </a:stretch>
        </p:blipFill>
        <p:spPr>
          <a:xfrm>
            <a:off x="0" y="665016"/>
            <a:ext cx="7766137" cy="5075685"/>
          </a:xfrm>
          <a:prstGeom prst="rect">
            <a:avLst/>
          </a:prstGeom>
        </p:spPr>
      </p:pic>
      <p:pic>
        <p:nvPicPr>
          <p:cNvPr id="6" name="그림 5">
            <a:extLst>
              <a:ext uri="{FF2B5EF4-FFF2-40B4-BE49-F238E27FC236}">
                <a16:creationId xmlns:a16="http://schemas.microsoft.com/office/drawing/2014/main" id="{434D9880-E820-8881-B15B-FBA086EB3D58}"/>
              </a:ext>
            </a:extLst>
          </p:cNvPr>
          <p:cNvPicPr>
            <a:picLocks noChangeAspect="1"/>
          </p:cNvPicPr>
          <p:nvPr/>
        </p:nvPicPr>
        <p:blipFill>
          <a:blip r:embed="rId3"/>
          <a:stretch>
            <a:fillRect/>
          </a:stretch>
        </p:blipFill>
        <p:spPr>
          <a:xfrm>
            <a:off x="7881022" y="1237871"/>
            <a:ext cx="4196093" cy="2695301"/>
          </a:xfrm>
          <a:prstGeom prst="rect">
            <a:avLst/>
          </a:prstGeom>
        </p:spPr>
      </p:pic>
      <p:cxnSp>
        <p:nvCxnSpPr>
          <p:cNvPr id="8" name="직선 연결선 7">
            <a:extLst>
              <a:ext uri="{FF2B5EF4-FFF2-40B4-BE49-F238E27FC236}">
                <a16:creationId xmlns:a16="http://schemas.microsoft.com/office/drawing/2014/main" id="{8BD4BA77-F274-5643-92D7-DC07C8F1DEC1}"/>
              </a:ext>
            </a:extLst>
          </p:cNvPr>
          <p:cNvCxnSpPr/>
          <p:nvPr/>
        </p:nvCxnSpPr>
        <p:spPr>
          <a:xfrm>
            <a:off x="7991605" y="3165280"/>
            <a:ext cx="304382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5F16952-EADC-210D-5373-9A6DDFE68CF6}"/>
              </a:ext>
            </a:extLst>
          </p:cNvPr>
          <p:cNvSpPr txBox="1"/>
          <p:nvPr/>
        </p:nvSpPr>
        <p:spPr>
          <a:xfrm>
            <a:off x="7881022" y="3993952"/>
            <a:ext cx="3329758" cy="584775"/>
          </a:xfrm>
          <a:prstGeom prst="rect">
            <a:avLst/>
          </a:prstGeom>
          <a:noFill/>
        </p:spPr>
        <p:txBody>
          <a:bodyPr wrap="none" rtlCol="0">
            <a:spAutoFit/>
          </a:bodyPr>
          <a:lstStyle/>
          <a:p>
            <a:r>
              <a:rPr lang="en-US" altLang="ko-KR" sz="1600" dirty="0">
                <a:solidFill>
                  <a:srgbClr val="3A0DFB"/>
                </a:solidFill>
              </a:rPr>
              <a:t>GMT </a:t>
            </a:r>
            <a:r>
              <a:rPr lang="ko-KR" altLang="en-US" sz="1600" dirty="0">
                <a:solidFill>
                  <a:srgbClr val="3A0DFB"/>
                </a:solidFill>
              </a:rPr>
              <a:t>시간 보정하지 않으면</a:t>
            </a:r>
            <a:r>
              <a:rPr lang="en-US" altLang="ko-KR" sz="1600" dirty="0">
                <a:solidFill>
                  <a:srgbClr val="3A0DFB"/>
                </a:solidFill>
              </a:rPr>
              <a:t>, 9</a:t>
            </a:r>
            <a:r>
              <a:rPr lang="ko-KR" altLang="en-US" sz="1600" dirty="0">
                <a:solidFill>
                  <a:srgbClr val="3A0DFB"/>
                </a:solidFill>
              </a:rPr>
              <a:t>시간</a:t>
            </a:r>
            <a:br>
              <a:rPr lang="en-US" altLang="ko-KR" sz="1600" dirty="0">
                <a:solidFill>
                  <a:srgbClr val="3A0DFB"/>
                </a:solidFill>
              </a:rPr>
            </a:br>
            <a:r>
              <a:rPr lang="ko-KR" altLang="en-US" sz="1600" dirty="0">
                <a:solidFill>
                  <a:srgbClr val="3A0DFB"/>
                </a:solidFill>
              </a:rPr>
              <a:t>빠른 시간으로 표시됨</a:t>
            </a:r>
          </a:p>
        </p:txBody>
      </p:sp>
    </p:spTree>
    <p:extLst>
      <p:ext uri="{BB962C8B-B14F-4D97-AF65-F5344CB8AC3E}">
        <p14:creationId xmlns:p14="http://schemas.microsoft.com/office/powerpoint/2010/main" val="280401383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DE108-11F5-C074-A398-A4E317FB8CA2}"/>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365912A-93FB-5634-FAE7-22E001D0A657}"/>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동작 결과</a:t>
            </a:r>
          </a:p>
        </p:txBody>
      </p:sp>
      <p:pic>
        <p:nvPicPr>
          <p:cNvPr id="8" name="그림 7">
            <a:extLst>
              <a:ext uri="{FF2B5EF4-FFF2-40B4-BE49-F238E27FC236}">
                <a16:creationId xmlns:a16="http://schemas.microsoft.com/office/drawing/2014/main" id="{85F04856-F3D7-7568-8363-75BA2D7CE8AC}"/>
              </a:ext>
            </a:extLst>
          </p:cNvPr>
          <p:cNvPicPr>
            <a:picLocks noChangeAspect="1"/>
          </p:cNvPicPr>
          <p:nvPr/>
        </p:nvPicPr>
        <p:blipFill>
          <a:blip r:embed="rId2"/>
          <a:stretch>
            <a:fillRect/>
          </a:stretch>
        </p:blipFill>
        <p:spPr>
          <a:xfrm>
            <a:off x="290193" y="665017"/>
            <a:ext cx="4151266" cy="6192983"/>
          </a:xfrm>
          <a:prstGeom prst="rect">
            <a:avLst/>
          </a:prstGeom>
        </p:spPr>
      </p:pic>
      <p:pic>
        <p:nvPicPr>
          <p:cNvPr id="10" name="그림 9">
            <a:extLst>
              <a:ext uri="{FF2B5EF4-FFF2-40B4-BE49-F238E27FC236}">
                <a16:creationId xmlns:a16="http://schemas.microsoft.com/office/drawing/2014/main" id="{9D0B50DD-2CC5-9F3F-C218-883490C5CBCF}"/>
              </a:ext>
            </a:extLst>
          </p:cNvPr>
          <p:cNvPicPr>
            <a:picLocks noChangeAspect="1"/>
          </p:cNvPicPr>
          <p:nvPr/>
        </p:nvPicPr>
        <p:blipFill>
          <a:blip r:embed="rId3"/>
          <a:stretch>
            <a:fillRect/>
          </a:stretch>
        </p:blipFill>
        <p:spPr>
          <a:xfrm>
            <a:off x="5724962" y="843366"/>
            <a:ext cx="5877745" cy="762106"/>
          </a:xfrm>
          <a:prstGeom prst="rect">
            <a:avLst/>
          </a:prstGeom>
        </p:spPr>
      </p:pic>
      <p:pic>
        <p:nvPicPr>
          <p:cNvPr id="12" name="그림 11">
            <a:extLst>
              <a:ext uri="{FF2B5EF4-FFF2-40B4-BE49-F238E27FC236}">
                <a16:creationId xmlns:a16="http://schemas.microsoft.com/office/drawing/2014/main" id="{6F631DF3-70C9-8718-406C-4C8819E9B8BE}"/>
              </a:ext>
            </a:extLst>
          </p:cNvPr>
          <p:cNvPicPr>
            <a:picLocks noChangeAspect="1"/>
          </p:cNvPicPr>
          <p:nvPr/>
        </p:nvPicPr>
        <p:blipFill>
          <a:blip r:embed="rId4"/>
          <a:stretch>
            <a:fillRect/>
          </a:stretch>
        </p:blipFill>
        <p:spPr>
          <a:xfrm>
            <a:off x="5862114" y="1762469"/>
            <a:ext cx="6039693" cy="3467584"/>
          </a:xfrm>
          <a:prstGeom prst="rect">
            <a:avLst/>
          </a:prstGeom>
        </p:spPr>
      </p:pic>
    </p:spTree>
    <p:extLst>
      <p:ext uri="{BB962C8B-B14F-4D97-AF65-F5344CB8AC3E}">
        <p14:creationId xmlns:p14="http://schemas.microsoft.com/office/powerpoint/2010/main" val="41202821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042621D0-7C19-0CE8-1340-608C576D90BD}"/>
              </a:ext>
            </a:extLst>
          </p:cNvPr>
          <p:cNvSpPr/>
          <p:nvPr/>
        </p:nvSpPr>
        <p:spPr>
          <a:xfrm>
            <a:off x="0" y="-1"/>
            <a:ext cx="12192000" cy="2581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4000" b="1" i="0" dirty="0">
                <a:solidFill>
                  <a:schemeClr val="bg1"/>
                </a:solidFill>
                <a:effectLst/>
                <a:latin typeface="Helvetica" panose="020B0604020202020204" pitchFamily="34" charset="0"/>
              </a:rPr>
              <a:t>ESP32-CAM Web Server with OpenCV.js: </a:t>
            </a:r>
          </a:p>
          <a:p>
            <a:pPr algn="ctr"/>
            <a:r>
              <a:rPr lang="en-US" altLang="ko-KR" sz="4000" b="1" i="0" dirty="0">
                <a:solidFill>
                  <a:schemeClr val="bg1"/>
                </a:solidFill>
                <a:effectLst/>
                <a:latin typeface="Helvetica" panose="020B0604020202020204" pitchFamily="34" charset="0"/>
              </a:rPr>
              <a:t>Color Detection and Tracking</a:t>
            </a:r>
            <a:endParaRPr lang="ko-KR" altLang="en-US" sz="2800" dirty="0"/>
          </a:p>
        </p:txBody>
      </p:sp>
      <p:sp>
        <p:nvSpPr>
          <p:cNvPr id="5" name="직사각형 4">
            <a:extLst>
              <a:ext uri="{FF2B5EF4-FFF2-40B4-BE49-F238E27FC236}">
                <a16:creationId xmlns:a16="http://schemas.microsoft.com/office/drawing/2014/main" id="{7495426C-0A48-A9D9-C245-CA90434E1DC8}"/>
              </a:ext>
            </a:extLst>
          </p:cNvPr>
          <p:cNvSpPr/>
          <p:nvPr/>
        </p:nvSpPr>
        <p:spPr>
          <a:xfrm>
            <a:off x="0" y="2581154"/>
            <a:ext cx="4251767" cy="4276846"/>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36575" indent="-361950">
              <a:lnSpc>
                <a:spcPts val="3000"/>
              </a:lnSpc>
              <a:buFont typeface="Wingdings" panose="05000000000000000000" pitchFamily="2" charset="2"/>
              <a:buChar char="§"/>
            </a:pPr>
            <a:r>
              <a:rPr lang="en-US" altLang="ko-KR" sz="2000">
                <a:solidFill>
                  <a:schemeClr val="bg1"/>
                </a:solidFill>
                <a:hlinkClick r:id="rId2">
                  <a:extLst>
                    <a:ext uri="{A12FA001-AC4F-418D-AE19-62706E023703}">
                      <ahyp:hlinkClr xmlns:ahyp="http://schemas.microsoft.com/office/drawing/2018/hyperlinkcolor" val="tx"/>
                    </a:ext>
                  </a:extLst>
                </a:hlinkClick>
              </a:rPr>
              <a:t>ESP32-CAM Web Server with OpenCV.js: Color Detection and Tracking | Random Nerd Tutorials</a:t>
            </a:r>
            <a:endParaRPr lang="ko-KR" altLang="en-US" sz="2000" b="1" dirty="0">
              <a:solidFill>
                <a:schemeClr val="bg1"/>
              </a:solidFill>
            </a:endParaRPr>
          </a:p>
        </p:txBody>
      </p:sp>
      <p:pic>
        <p:nvPicPr>
          <p:cNvPr id="6" name="그림 5">
            <a:extLst>
              <a:ext uri="{FF2B5EF4-FFF2-40B4-BE49-F238E27FC236}">
                <a16:creationId xmlns:a16="http://schemas.microsoft.com/office/drawing/2014/main" id="{F8836BDB-8F96-0431-FF84-D3384131EA38}"/>
              </a:ext>
            </a:extLst>
          </p:cNvPr>
          <p:cNvPicPr>
            <a:picLocks noChangeAspect="1"/>
          </p:cNvPicPr>
          <p:nvPr/>
        </p:nvPicPr>
        <p:blipFill>
          <a:blip r:embed="rId3"/>
          <a:stretch>
            <a:fillRect/>
          </a:stretch>
        </p:blipFill>
        <p:spPr>
          <a:xfrm>
            <a:off x="4251767" y="2581154"/>
            <a:ext cx="7940233" cy="4277960"/>
          </a:xfrm>
          <a:prstGeom prst="rect">
            <a:avLst/>
          </a:prstGeom>
        </p:spPr>
      </p:pic>
      <p:sp>
        <p:nvSpPr>
          <p:cNvPr id="7" name="TextBox 6">
            <a:extLst>
              <a:ext uri="{FF2B5EF4-FFF2-40B4-BE49-F238E27FC236}">
                <a16:creationId xmlns:a16="http://schemas.microsoft.com/office/drawing/2014/main" id="{3E5B342B-CC62-8C3D-B41C-65A15C62CA17}"/>
              </a:ext>
            </a:extLst>
          </p:cNvPr>
          <p:cNvSpPr txBox="1"/>
          <p:nvPr/>
        </p:nvSpPr>
        <p:spPr>
          <a:xfrm>
            <a:off x="1324429" y="2027713"/>
            <a:ext cx="10316028" cy="369332"/>
          </a:xfrm>
          <a:prstGeom prst="rect">
            <a:avLst/>
          </a:prstGeom>
          <a:noFill/>
        </p:spPr>
        <p:txBody>
          <a:bodyPr wrap="square">
            <a:spAutoFit/>
          </a:bodyPr>
          <a:lstStyle/>
          <a:p>
            <a:r>
              <a:rPr lang="en-US" altLang="ko-KR" dirty="0">
                <a:solidFill>
                  <a:schemeClr val="bg1"/>
                </a:solidFill>
                <a:hlinkClick r:id="rId2">
                  <a:extLst>
                    <a:ext uri="{A12FA001-AC4F-418D-AE19-62706E023703}">
                      <ahyp:hlinkClr xmlns:ahyp="http://schemas.microsoft.com/office/drawing/2018/hyperlinkcolor" val="tx"/>
                    </a:ext>
                  </a:extLst>
                </a:hlinkClick>
              </a:rPr>
              <a:t>ESP32-CAM Web Server with OpenCV.js: Color Detection and Tracking | Random Nerd Tutorials</a:t>
            </a:r>
            <a:endParaRPr lang="ko-KR" altLang="en-US" dirty="0">
              <a:solidFill>
                <a:schemeClr val="bg1"/>
              </a:solidFill>
            </a:endParaRPr>
          </a:p>
        </p:txBody>
      </p:sp>
    </p:spTree>
    <p:extLst>
      <p:ext uri="{BB962C8B-B14F-4D97-AF65-F5344CB8AC3E}">
        <p14:creationId xmlns:p14="http://schemas.microsoft.com/office/powerpoint/2010/main" val="371927236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602D-67B6-1D21-6208-06E6F32809A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39589B5F-0786-CBE4-5066-17F9BE4DEEF9}"/>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OpenCV.js</a:t>
            </a:r>
            <a:endParaRPr lang="ko-KR" altLang="en-US" b="1" dirty="0">
              <a:solidFill>
                <a:schemeClr val="tx1"/>
              </a:solidFill>
            </a:endParaRPr>
          </a:p>
        </p:txBody>
      </p:sp>
      <p:sp>
        <p:nvSpPr>
          <p:cNvPr id="9" name="TextBox 8">
            <a:extLst>
              <a:ext uri="{FF2B5EF4-FFF2-40B4-BE49-F238E27FC236}">
                <a16:creationId xmlns:a16="http://schemas.microsoft.com/office/drawing/2014/main" id="{E05ED158-CCC5-0C7E-006D-F90D75040F23}"/>
              </a:ext>
            </a:extLst>
          </p:cNvPr>
          <p:cNvSpPr txBox="1"/>
          <p:nvPr/>
        </p:nvSpPr>
        <p:spPr>
          <a:xfrm>
            <a:off x="247135" y="753763"/>
            <a:ext cx="11139460" cy="1537280"/>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en-US" altLang="ko-KR" dirty="0"/>
              <a:t>OpenCV.js</a:t>
            </a:r>
            <a:r>
              <a:rPr lang="ko-KR" altLang="en-US" dirty="0"/>
              <a:t>는 웹 플랫폼을 위한 </a:t>
            </a:r>
            <a:r>
              <a:rPr lang="en-US" altLang="ko-KR" dirty="0"/>
              <a:t>OpenCV </a:t>
            </a:r>
            <a:r>
              <a:rPr lang="ko-KR" altLang="en-US" dirty="0"/>
              <a:t>기능을 사용할 수 있는 </a:t>
            </a:r>
            <a:r>
              <a:rPr lang="en-US" altLang="ko-KR" dirty="0"/>
              <a:t>JavaScript Binding</a:t>
            </a:r>
            <a:r>
              <a:rPr lang="ko-KR" altLang="en-US" dirty="0"/>
              <a:t>이다</a:t>
            </a:r>
            <a:r>
              <a:rPr lang="en-US" altLang="ko-KR" dirty="0"/>
              <a:t>. </a:t>
            </a:r>
          </a:p>
          <a:p>
            <a:pPr marL="285750" indent="-285750">
              <a:lnSpc>
                <a:spcPts val="2900"/>
              </a:lnSpc>
              <a:buFont typeface="Arial" panose="020B0604020202020204" pitchFamily="34" charset="0"/>
              <a:buChar char="•"/>
            </a:pPr>
            <a:r>
              <a:rPr lang="en-US" altLang="ko-KR" dirty="0"/>
              <a:t>LLVM-to-JavaScript </a:t>
            </a:r>
            <a:r>
              <a:rPr lang="ko-KR" altLang="en-US" dirty="0"/>
              <a:t>컴파일러인 </a:t>
            </a:r>
            <a:r>
              <a:rPr lang="en-US" altLang="ko-KR" dirty="0" err="1"/>
              <a:t>Emscripten</a:t>
            </a:r>
            <a:r>
              <a:rPr lang="ko-KR" altLang="en-US" dirty="0"/>
              <a:t>을 사용하여 </a:t>
            </a:r>
            <a:r>
              <a:rPr lang="en-US" altLang="ko-KR" dirty="0"/>
              <a:t>OpenCV </a:t>
            </a:r>
            <a:r>
              <a:rPr lang="ko-KR" altLang="en-US" dirty="0"/>
              <a:t>기능을 </a:t>
            </a:r>
            <a:r>
              <a:rPr lang="en-US" altLang="ko-KR" dirty="0"/>
              <a:t>API </a:t>
            </a:r>
            <a:r>
              <a:rPr lang="ko-KR" altLang="en-US" dirty="0"/>
              <a:t>라이브러리로 컴파일한다</a:t>
            </a:r>
            <a:r>
              <a:rPr lang="en-US" altLang="ko-KR" dirty="0"/>
              <a:t>. </a:t>
            </a:r>
          </a:p>
          <a:p>
            <a:pPr marL="285750" indent="-285750">
              <a:lnSpc>
                <a:spcPts val="2900"/>
              </a:lnSpc>
              <a:buFont typeface="Arial" panose="020B0604020202020204" pitchFamily="34" charset="0"/>
              <a:buChar char="•"/>
            </a:pPr>
            <a:r>
              <a:rPr lang="en-US" altLang="ko-KR" dirty="0"/>
              <a:t>OpenCV.js</a:t>
            </a:r>
            <a:r>
              <a:rPr lang="ko-KR" altLang="en-US" dirty="0"/>
              <a:t>는 브라우저에서 실행되므로 </a:t>
            </a:r>
            <a:r>
              <a:rPr lang="en-US" altLang="ko-KR" dirty="0"/>
              <a:t>HTML</a:t>
            </a:r>
            <a:r>
              <a:rPr lang="ko-KR" altLang="en-US" dirty="0"/>
              <a:t>과 </a:t>
            </a:r>
            <a:r>
              <a:rPr lang="en-US" altLang="ko-KR" dirty="0"/>
              <a:t>JavaScript</a:t>
            </a:r>
            <a:r>
              <a:rPr lang="ko-KR" altLang="en-US" dirty="0"/>
              <a:t>에 대한 기본 지식만으로</a:t>
            </a:r>
            <a:br>
              <a:rPr lang="en-US" altLang="ko-KR" dirty="0"/>
            </a:br>
            <a:r>
              <a:rPr lang="en-US" altLang="ko-KR" dirty="0"/>
              <a:t>OpenCV </a:t>
            </a:r>
            <a:r>
              <a:rPr lang="ko-KR" altLang="en-US" dirty="0"/>
              <a:t>기능을 빠르게 실험해볼 수 있다</a:t>
            </a:r>
            <a:r>
              <a:rPr lang="en-US" altLang="ko-KR" dirty="0"/>
              <a:t>. </a:t>
            </a:r>
            <a:endParaRPr lang="ko-KR" altLang="en-US" dirty="0"/>
          </a:p>
        </p:txBody>
      </p:sp>
      <p:sp>
        <p:nvSpPr>
          <p:cNvPr id="11" name="TextBox 10">
            <a:extLst>
              <a:ext uri="{FF2B5EF4-FFF2-40B4-BE49-F238E27FC236}">
                <a16:creationId xmlns:a16="http://schemas.microsoft.com/office/drawing/2014/main" id="{F1BBDBCE-47E4-67F0-A4FF-64106318AB9B}"/>
              </a:ext>
            </a:extLst>
          </p:cNvPr>
          <p:cNvSpPr txBox="1"/>
          <p:nvPr/>
        </p:nvSpPr>
        <p:spPr>
          <a:xfrm>
            <a:off x="605481" y="2478215"/>
            <a:ext cx="6104238" cy="369332"/>
          </a:xfrm>
          <a:prstGeom prst="rect">
            <a:avLst/>
          </a:prstGeom>
          <a:noFill/>
        </p:spPr>
        <p:txBody>
          <a:bodyPr wrap="square">
            <a:spAutoFit/>
          </a:bodyPr>
          <a:lstStyle/>
          <a:p>
            <a:r>
              <a:rPr lang="ko-KR" altLang="en-US" dirty="0">
                <a:hlinkClick r:id="rId2"/>
              </a:rPr>
              <a:t>https://docs.opencv.org/4.x/</a:t>
            </a:r>
            <a:endParaRPr lang="ko-KR" altLang="en-US" dirty="0"/>
          </a:p>
        </p:txBody>
      </p:sp>
      <p:pic>
        <p:nvPicPr>
          <p:cNvPr id="13" name="그림 12">
            <a:extLst>
              <a:ext uri="{FF2B5EF4-FFF2-40B4-BE49-F238E27FC236}">
                <a16:creationId xmlns:a16="http://schemas.microsoft.com/office/drawing/2014/main" id="{9F3A58D7-9FA6-DEDC-BFF6-5A319E094E10}"/>
              </a:ext>
            </a:extLst>
          </p:cNvPr>
          <p:cNvPicPr>
            <a:picLocks noChangeAspect="1"/>
          </p:cNvPicPr>
          <p:nvPr/>
        </p:nvPicPr>
        <p:blipFill>
          <a:blip r:embed="rId3"/>
          <a:stretch>
            <a:fillRect/>
          </a:stretch>
        </p:blipFill>
        <p:spPr>
          <a:xfrm>
            <a:off x="714153" y="2847547"/>
            <a:ext cx="6858957" cy="3753374"/>
          </a:xfrm>
          <a:prstGeom prst="rect">
            <a:avLst/>
          </a:prstGeom>
        </p:spPr>
      </p:pic>
    </p:spTree>
    <p:extLst>
      <p:ext uri="{BB962C8B-B14F-4D97-AF65-F5344CB8AC3E}">
        <p14:creationId xmlns:p14="http://schemas.microsoft.com/office/powerpoint/2010/main" val="148224884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F654-2885-3E88-9979-BE570B80B7BB}"/>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EC3D729-7C73-88FC-CE8D-80149B4EFD3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Project Overview</a:t>
            </a:r>
            <a:endParaRPr lang="ko-KR" altLang="en-US" b="1" dirty="0">
              <a:solidFill>
                <a:schemeClr val="tx1"/>
              </a:solidFill>
            </a:endParaRPr>
          </a:p>
        </p:txBody>
      </p:sp>
      <p:pic>
        <p:nvPicPr>
          <p:cNvPr id="4" name="그림 3">
            <a:extLst>
              <a:ext uri="{FF2B5EF4-FFF2-40B4-BE49-F238E27FC236}">
                <a16:creationId xmlns:a16="http://schemas.microsoft.com/office/drawing/2014/main" id="{4CFE388C-7223-786C-BFE8-452B86F87D9D}"/>
              </a:ext>
            </a:extLst>
          </p:cNvPr>
          <p:cNvPicPr>
            <a:picLocks noChangeAspect="1"/>
          </p:cNvPicPr>
          <p:nvPr/>
        </p:nvPicPr>
        <p:blipFill>
          <a:blip r:embed="rId2"/>
          <a:stretch>
            <a:fillRect/>
          </a:stretch>
        </p:blipFill>
        <p:spPr>
          <a:xfrm>
            <a:off x="1025455" y="775818"/>
            <a:ext cx="9924196" cy="5818783"/>
          </a:xfrm>
          <a:prstGeom prst="rect">
            <a:avLst/>
          </a:prstGeom>
        </p:spPr>
      </p:pic>
    </p:spTree>
    <p:extLst>
      <p:ext uri="{BB962C8B-B14F-4D97-AF65-F5344CB8AC3E}">
        <p14:creationId xmlns:p14="http://schemas.microsoft.com/office/powerpoint/2010/main" val="3135064874"/>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D001-8DBB-68B2-6CDC-6B25242FC95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5EDFCF4-CD68-F4FB-A3C1-438047ABC35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 : ESP32-CAM with OpenCV.js</a:t>
            </a:r>
            <a:endParaRPr lang="ko-KR" altLang="en-US" b="1" dirty="0">
              <a:solidFill>
                <a:schemeClr val="tx1"/>
              </a:solidFill>
            </a:endParaRPr>
          </a:p>
        </p:txBody>
      </p:sp>
      <p:sp>
        <p:nvSpPr>
          <p:cNvPr id="3" name="TextBox 2">
            <a:extLst>
              <a:ext uri="{FF2B5EF4-FFF2-40B4-BE49-F238E27FC236}">
                <a16:creationId xmlns:a16="http://schemas.microsoft.com/office/drawing/2014/main" id="{07B5F5F2-47DA-85B8-AA89-9851D602ADEA}"/>
              </a:ext>
            </a:extLst>
          </p:cNvPr>
          <p:cNvSpPr txBox="1"/>
          <p:nvPr/>
        </p:nvSpPr>
        <p:spPr>
          <a:xfrm>
            <a:off x="83364" y="821803"/>
            <a:ext cx="12108636" cy="2281074"/>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ko-KR" altLang="en-US" dirty="0"/>
              <a:t>프로그램은 </a:t>
            </a:r>
            <a:r>
              <a:rPr lang="en-US" altLang="ko-KR" dirty="0"/>
              <a:t>2</a:t>
            </a:r>
            <a:r>
              <a:rPr lang="ko-KR" altLang="en-US" dirty="0"/>
              <a:t>개로 구성되어 있다</a:t>
            </a:r>
            <a:r>
              <a:rPr lang="en-US" altLang="ko-KR" dirty="0"/>
              <a:t>. </a:t>
            </a:r>
            <a:br>
              <a:rPr lang="en-US" altLang="ko-KR" dirty="0"/>
            </a:br>
            <a:r>
              <a:rPr lang="en-US" altLang="ko-KR" dirty="0">
                <a:sym typeface="Wingdings" panose="05000000000000000000" pitchFamily="2" charset="2"/>
              </a:rPr>
              <a:t>  ESP32 </a:t>
            </a:r>
            <a:r>
              <a:rPr lang="ko-KR" altLang="en-US" dirty="0">
                <a:sym typeface="Wingdings" panose="05000000000000000000" pitchFamily="2" charset="2"/>
              </a:rPr>
              <a:t>카메라에서 동작하는 서버 프로그램</a:t>
            </a:r>
            <a:br>
              <a:rPr lang="en-US" altLang="ko-KR" dirty="0">
                <a:sym typeface="Wingdings" panose="05000000000000000000" pitchFamily="2" charset="2"/>
              </a:rPr>
            </a:br>
            <a:r>
              <a:rPr lang="en-US" altLang="ko-KR" dirty="0">
                <a:sym typeface="Wingdings" panose="05000000000000000000" pitchFamily="2" charset="2"/>
              </a:rPr>
              <a:t> Chrome browser</a:t>
            </a:r>
            <a:r>
              <a:rPr lang="ko-KR" altLang="en-US" dirty="0">
                <a:sym typeface="Wingdings" panose="05000000000000000000" pitchFamily="2" charset="2"/>
              </a:rPr>
              <a:t>에서 동작하는 클라이언트 프로그램</a:t>
            </a:r>
            <a:endParaRPr lang="en-US" altLang="ko-KR" dirty="0">
              <a:sym typeface="Wingdings" panose="05000000000000000000" pitchFamily="2" charset="2"/>
            </a:endParaRPr>
          </a:p>
          <a:p>
            <a:pPr marL="285750" indent="-285750">
              <a:lnSpc>
                <a:spcPts val="2900"/>
              </a:lnSpc>
              <a:buFont typeface="Arial" panose="020B0604020202020204" pitchFamily="34" charset="0"/>
              <a:buChar char="•"/>
            </a:pPr>
            <a:endParaRPr lang="en-US" altLang="ko-KR" dirty="0">
              <a:sym typeface="Wingdings" panose="05000000000000000000" pitchFamily="2" charset="2"/>
            </a:endParaRPr>
          </a:p>
          <a:p>
            <a:pPr marL="285750" indent="-285750">
              <a:lnSpc>
                <a:spcPts val="2900"/>
              </a:lnSpc>
              <a:buFont typeface="Arial" panose="020B0604020202020204" pitchFamily="34" charset="0"/>
              <a:buChar char="•"/>
            </a:pPr>
            <a:r>
              <a:rPr lang="ko-KR" altLang="en-US" dirty="0"/>
              <a:t>프로그램은 서버 프로그램을 포함하는 </a:t>
            </a:r>
            <a:r>
              <a:rPr lang="en-US" altLang="ko-KR" dirty="0" err="1"/>
              <a:t>OCV_ColorTrack_P.ino</a:t>
            </a:r>
            <a:r>
              <a:rPr lang="en-US" altLang="ko-KR" dirty="0"/>
              <a:t> </a:t>
            </a:r>
            <a:r>
              <a:rPr lang="ko-KR" altLang="en-US" dirty="0"/>
              <a:t>파일과</a:t>
            </a:r>
            <a:endParaRPr lang="en-US" altLang="ko-KR" dirty="0"/>
          </a:p>
          <a:p>
            <a:pPr marL="285750" indent="-285750">
              <a:lnSpc>
                <a:spcPts val="2900"/>
              </a:lnSpc>
              <a:buFont typeface="Arial" panose="020B0604020202020204" pitchFamily="34" charset="0"/>
              <a:buChar char="•"/>
            </a:pPr>
            <a:r>
              <a:rPr lang="en-US" altLang="ko-KR" dirty="0"/>
              <a:t>HTML, CSS, JavaScript with OpenCV.js </a:t>
            </a:r>
            <a:r>
              <a:rPr lang="ko-KR" altLang="en-US" dirty="0"/>
              <a:t>로 구성된 클라이언트 프로그램인 </a:t>
            </a:r>
            <a:r>
              <a:rPr lang="en-US" altLang="ko-KR" dirty="0" err="1"/>
              <a:t>index_OCV_ColorTrack.h</a:t>
            </a:r>
            <a:r>
              <a:rPr lang="en-US" altLang="ko-KR" dirty="0"/>
              <a:t> </a:t>
            </a:r>
            <a:r>
              <a:rPr lang="ko-KR" altLang="en-US" dirty="0"/>
              <a:t>로 나누어진다</a:t>
            </a:r>
            <a:r>
              <a:rPr lang="en-US" altLang="ko-KR" dirty="0"/>
              <a:t>.</a:t>
            </a:r>
            <a:endParaRPr lang="ko-KR" altLang="en-US" dirty="0"/>
          </a:p>
        </p:txBody>
      </p:sp>
    </p:spTree>
    <p:extLst>
      <p:ext uri="{BB962C8B-B14F-4D97-AF65-F5344CB8AC3E}">
        <p14:creationId xmlns:p14="http://schemas.microsoft.com/office/powerpoint/2010/main" val="1371074160"/>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EFE3-772E-7FAD-1599-5A9E0420235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1797D42-DBBE-FB38-117F-3FA05913A67C}"/>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dirty="0">
                <a:solidFill>
                  <a:schemeClr val="tx1"/>
                </a:solidFill>
              </a:rPr>
              <a:t>실행 결과 </a:t>
            </a:r>
            <a:r>
              <a:rPr lang="en-US" altLang="ko-KR" b="1" dirty="0">
                <a:solidFill>
                  <a:schemeClr val="tx1"/>
                </a:solidFill>
                <a:sym typeface="Wingdings" panose="05000000000000000000" pitchFamily="2" charset="2"/>
              </a:rPr>
              <a:t>: Arduino monitor</a:t>
            </a:r>
            <a:endParaRPr lang="ko-KR" altLang="en-US" b="1" dirty="0">
              <a:solidFill>
                <a:schemeClr val="tx1"/>
              </a:solidFill>
            </a:endParaRPr>
          </a:p>
        </p:txBody>
      </p:sp>
      <p:pic>
        <p:nvPicPr>
          <p:cNvPr id="4" name="그림 3">
            <a:extLst>
              <a:ext uri="{FF2B5EF4-FFF2-40B4-BE49-F238E27FC236}">
                <a16:creationId xmlns:a16="http://schemas.microsoft.com/office/drawing/2014/main" id="{4EF618B7-0054-08AB-1114-28D52BC62889}"/>
              </a:ext>
            </a:extLst>
          </p:cNvPr>
          <p:cNvPicPr>
            <a:picLocks noChangeAspect="1"/>
          </p:cNvPicPr>
          <p:nvPr/>
        </p:nvPicPr>
        <p:blipFill>
          <a:blip r:embed="rId2"/>
          <a:stretch>
            <a:fillRect/>
          </a:stretch>
        </p:blipFill>
        <p:spPr>
          <a:xfrm>
            <a:off x="236178" y="901644"/>
            <a:ext cx="8937319" cy="5331335"/>
          </a:xfrm>
          <a:prstGeom prst="rect">
            <a:avLst/>
          </a:prstGeom>
          <a:ln>
            <a:solidFill>
              <a:schemeClr val="tx1">
                <a:lumMod val="50000"/>
                <a:lumOff val="50000"/>
              </a:schemeClr>
            </a:solidFill>
          </a:ln>
        </p:spPr>
      </p:pic>
    </p:spTree>
    <p:extLst>
      <p:ext uri="{BB962C8B-B14F-4D97-AF65-F5344CB8AC3E}">
        <p14:creationId xmlns:p14="http://schemas.microsoft.com/office/powerpoint/2010/main" val="4192149885"/>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4006A-AC56-E558-AEFC-816C3FFB2A86}"/>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9C330AD-DC54-CBE7-5580-3D11916601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dirty="0">
                <a:solidFill>
                  <a:schemeClr val="tx1"/>
                </a:solidFill>
              </a:rPr>
              <a:t>실행 결과 </a:t>
            </a:r>
            <a:r>
              <a:rPr lang="en-US" altLang="ko-KR" b="1" dirty="0">
                <a:solidFill>
                  <a:schemeClr val="tx1"/>
                </a:solidFill>
                <a:sym typeface="Wingdings" panose="05000000000000000000" pitchFamily="2" charset="2"/>
              </a:rPr>
              <a:t>: Arduino monitor</a:t>
            </a:r>
            <a:endParaRPr lang="ko-KR" altLang="en-US" b="1" dirty="0">
              <a:solidFill>
                <a:schemeClr val="tx1"/>
              </a:solidFill>
            </a:endParaRPr>
          </a:p>
        </p:txBody>
      </p:sp>
      <p:pic>
        <p:nvPicPr>
          <p:cNvPr id="5" name="그림 4">
            <a:extLst>
              <a:ext uri="{FF2B5EF4-FFF2-40B4-BE49-F238E27FC236}">
                <a16:creationId xmlns:a16="http://schemas.microsoft.com/office/drawing/2014/main" id="{D25552DE-C8FE-2C67-E936-8239AE9BBE6A}"/>
              </a:ext>
            </a:extLst>
          </p:cNvPr>
          <p:cNvPicPr>
            <a:picLocks noChangeAspect="1"/>
          </p:cNvPicPr>
          <p:nvPr/>
        </p:nvPicPr>
        <p:blipFill>
          <a:blip r:embed="rId2"/>
          <a:stretch>
            <a:fillRect/>
          </a:stretch>
        </p:blipFill>
        <p:spPr>
          <a:xfrm>
            <a:off x="664311" y="781665"/>
            <a:ext cx="8788871" cy="6076335"/>
          </a:xfrm>
          <a:prstGeom prst="rect">
            <a:avLst/>
          </a:prstGeom>
        </p:spPr>
      </p:pic>
    </p:spTree>
    <p:extLst>
      <p:ext uri="{BB962C8B-B14F-4D97-AF65-F5344CB8AC3E}">
        <p14:creationId xmlns:p14="http://schemas.microsoft.com/office/powerpoint/2010/main" val="414474469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ko-KR" altLang="en-US" sz="4800" b="1">
                <a:solidFill>
                  <a:schemeClr val="tx1"/>
                </a:solidFill>
              </a:rPr>
              <a:t>학습 사이트</a:t>
            </a:r>
          </a:p>
        </p:txBody>
      </p:sp>
    </p:spTree>
    <p:extLst>
      <p:ext uri="{BB962C8B-B14F-4D97-AF65-F5344CB8AC3E}">
        <p14:creationId xmlns:p14="http://schemas.microsoft.com/office/powerpoint/2010/main" val="417610646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hlinkClick r:id="rId2"/>
              </a:rPr>
              <a:t>LearnESP32</a:t>
            </a:r>
            <a:endParaRPr lang="ko-KR" altLang="en-US" b="1">
              <a:solidFill>
                <a:schemeClr val="tx1"/>
              </a:solidFill>
            </a:endParaRPr>
          </a:p>
        </p:txBody>
      </p:sp>
      <p:sp>
        <p:nvSpPr>
          <p:cNvPr id="4" name="직사각형 3">
            <a:extLst>
              <a:ext uri="{FF2B5EF4-FFF2-40B4-BE49-F238E27FC236}">
                <a16:creationId xmlns:a16="http://schemas.microsoft.com/office/drawing/2014/main" id="{455BCC3F-FEEB-4D3A-B6F9-7739E1FB339A}"/>
              </a:ext>
            </a:extLst>
          </p:cNvPr>
          <p:cNvSpPr/>
          <p:nvPr/>
        </p:nvSpPr>
        <p:spPr>
          <a:xfrm>
            <a:off x="3344134" y="147842"/>
            <a:ext cx="8004371" cy="369332"/>
          </a:xfrm>
          <a:prstGeom prst="rect">
            <a:avLst/>
          </a:prstGeom>
        </p:spPr>
        <p:txBody>
          <a:bodyPr wrap="none">
            <a:spAutoFit/>
          </a:bodyPr>
          <a:lstStyle/>
          <a:p>
            <a:r>
              <a:rPr lang="en-US" altLang="ko-KR">
                <a:hlinkClick r:id="rId3"/>
              </a:rPr>
              <a:t>Random Nerd Tutorials | Learn ESP32, ESP8266, Arduino, and Raspberry Pi</a:t>
            </a:r>
            <a:endParaRPr lang="ko-KR" altLang="en-US"/>
          </a:p>
        </p:txBody>
      </p:sp>
      <p:pic>
        <p:nvPicPr>
          <p:cNvPr id="5" name="그림 4">
            <a:extLst>
              <a:ext uri="{FF2B5EF4-FFF2-40B4-BE49-F238E27FC236}">
                <a16:creationId xmlns:a16="http://schemas.microsoft.com/office/drawing/2014/main" id="{7DEC1A76-07F3-488F-95B5-A725887E07C3}"/>
              </a:ext>
            </a:extLst>
          </p:cNvPr>
          <p:cNvPicPr>
            <a:picLocks noChangeAspect="1"/>
          </p:cNvPicPr>
          <p:nvPr/>
        </p:nvPicPr>
        <p:blipFill>
          <a:blip r:embed="rId4"/>
          <a:stretch>
            <a:fillRect/>
          </a:stretch>
        </p:blipFill>
        <p:spPr>
          <a:xfrm>
            <a:off x="975411" y="782538"/>
            <a:ext cx="9072598" cy="6075461"/>
          </a:xfrm>
          <a:prstGeom prst="rect">
            <a:avLst/>
          </a:prstGeom>
        </p:spPr>
      </p:pic>
    </p:spTree>
    <p:extLst>
      <p:ext uri="{BB962C8B-B14F-4D97-AF65-F5344CB8AC3E}">
        <p14:creationId xmlns:p14="http://schemas.microsoft.com/office/powerpoint/2010/main" val="305822123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hlinkClick r:id="rId2"/>
              </a:rPr>
              <a:t>LearnESP32</a:t>
            </a:r>
            <a:endParaRPr lang="ko-KR" altLang="en-US" b="1">
              <a:solidFill>
                <a:schemeClr val="tx1"/>
              </a:solidFill>
            </a:endParaRPr>
          </a:p>
        </p:txBody>
      </p:sp>
      <p:sp>
        <p:nvSpPr>
          <p:cNvPr id="4" name="직사각형 3">
            <a:extLst>
              <a:ext uri="{FF2B5EF4-FFF2-40B4-BE49-F238E27FC236}">
                <a16:creationId xmlns:a16="http://schemas.microsoft.com/office/drawing/2014/main" id="{455BCC3F-FEEB-4D3A-B6F9-7739E1FB339A}"/>
              </a:ext>
            </a:extLst>
          </p:cNvPr>
          <p:cNvSpPr/>
          <p:nvPr/>
        </p:nvSpPr>
        <p:spPr>
          <a:xfrm>
            <a:off x="4123452" y="147842"/>
            <a:ext cx="2670475" cy="369332"/>
          </a:xfrm>
          <a:prstGeom prst="rect">
            <a:avLst/>
          </a:prstGeom>
        </p:spPr>
        <p:txBody>
          <a:bodyPr wrap="none">
            <a:spAutoFit/>
          </a:bodyPr>
          <a:lstStyle/>
          <a:p>
            <a:r>
              <a:rPr lang="ko-KR" altLang="en-US"/>
              <a:t>https://learnesp32.com/</a:t>
            </a:r>
          </a:p>
        </p:txBody>
      </p:sp>
      <p:pic>
        <p:nvPicPr>
          <p:cNvPr id="3" name="그림 2">
            <a:extLst>
              <a:ext uri="{FF2B5EF4-FFF2-40B4-BE49-F238E27FC236}">
                <a16:creationId xmlns:a16="http://schemas.microsoft.com/office/drawing/2014/main" id="{C4F9026A-F9A2-405A-948E-B6AE2EF12BBD}"/>
              </a:ext>
            </a:extLst>
          </p:cNvPr>
          <p:cNvPicPr>
            <a:picLocks noChangeAspect="1"/>
          </p:cNvPicPr>
          <p:nvPr/>
        </p:nvPicPr>
        <p:blipFill>
          <a:blip r:embed="rId3"/>
          <a:stretch>
            <a:fillRect/>
          </a:stretch>
        </p:blipFill>
        <p:spPr>
          <a:xfrm>
            <a:off x="753020" y="925552"/>
            <a:ext cx="6740863" cy="5533665"/>
          </a:xfrm>
          <a:prstGeom prst="rect">
            <a:avLst/>
          </a:prstGeom>
        </p:spPr>
      </p:pic>
    </p:spTree>
    <p:extLst>
      <p:ext uri="{BB962C8B-B14F-4D97-AF65-F5344CB8AC3E}">
        <p14:creationId xmlns:p14="http://schemas.microsoft.com/office/powerpoint/2010/main" val="98409000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A495-9F5B-10A3-C416-20D9DCB41CF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C6231E2-EF11-10F7-93B2-079D6D2344C9}"/>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tx1"/>
                </a:solidFill>
              </a:rPr>
              <a:t>RANDOM NERD TUTORIALS LAB</a:t>
            </a:r>
            <a:endParaRPr lang="ko-KR" altLang="en-US" b="1" dirty="0">
              <a:solidFill>
                <a:schemeClr val="tx1"/>
              </a:solidFill>
            </a:endParaRPr>
          </a:p>
        </p:txBody>
      </p:sp>
      <p:sp>
        <p:nvSpPr>
          <p:cNvPr id="6" name="TextBox 5">
            <a:extLst>
              <a:ext uri="{FF2B5EF4-FFF2-40B4-BE49-F238E27FC236}">
                <a16:creationId xmlns:a16="http://schemas.microsoft.com/office/drawing/2014/main" id="{35BC7DBE-ED95-27A2-7E13-3FAB06C7C750}"/>
              </a:ext>
            </a:extLst>
          </p:cNvPr>
          <p:cNvSpPr txBox="1"/>
          <p:nvPr/>
        </p:nvSpPr>
        <p:spPr>
          <a:xfrm>
            <a:off x="5014763" y="147842"/>
            <a:ext cx="2598820" cy="369332"/>
          </a:xfrm>
          <a:prstGeom prst="rect">
            <a:avLst/>
          </a:prstGeom>
          <a:noFill/>
        </p:spPr>
        <p:txBody>
          <a:bodyPr wrap="square">
            <a:spAutoFit/>
          </a:bodyPr>
          <a:lstStyle/>
          <a:p>
            <a:r>
              <a:rPr lang="ko-KR" altLang="en-US" dirty="0">
                <a:hlinkClick r:id="rId2"/>
              </a:rPr>
              <a:t>https://rntlab.com/</a:t>
            </a:r>
            <a:endParaRPr lang="ko-KR" altLang="en-US" dirty="0"/>
          </a:p>
        </p:txBody>
      </p:sp>
      <p:pic>
        <p:nvPicPr>
          <p:cNvPr id="8" name="그림 7">
            <a:extLst>
              <a:ext uri="{FF2B5EF4-FFF2-40B4-BE49-F238E27FC236}">
                <a16:creationId xmlns:a16="http://schemas.microsoft.com/office/drawing/2014/main" id="{18B82D94-37BB-9096-CF3B-56DFBF1B9154}"/>
              </a:ext>
            </a:extLst>
          </p:cNvPr>
          <p:cNvPicPr>
            <a:picLocks noChangeAspect="1"/>
          </p:cNvPicPr>
          <p:nvPr/>
        </p:nvPicPr>
        <p:blipFill>
          <a:blip r:embed="rId3"/>
          <a:stretch>
            <a:fillRect/>
          </a:stretch>
        </p:blipFill>
        <p:spPr>
          <a:xfrm>
            <a:off x="490537" y="812859"/>
            <a:ext cx="11210926" cy="6045142"/>
          </a:xfrm>
          <a:prstGeom prst="rect">
            <a:avLst/>
          </a:prstGeom>
        </p:spPr>
      </p:pic>
    </p:spTree>
    <p:extLst>
      <p:ext uri="{BB962C8B-B14F-4D97-AF65-F5344CB8AC3E}">
        <p14:creationId xmlns:p14="http://schemas.microsoft.com/office/powerpoint/2010/main" val="151500401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8215</TotalTime>
  <Words>25118</Words>
  <Application>Microsoft Office PowerPoint</Application>
  <PresentationFormat>와이드스크린</PresentationFormat>
  <Paragraphs>2418</Paragraphs>
  <Slides>282</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282</vt:i4>
      </vt:variant>
    </vt:vector>
  </HeadingPairs>
  <TitlesOfParts>
    <vt:vector size="291" baseType="lpstr">
      <vt:lpstr>Arial Unicode MS</vt:lpstr>
      <vt:lpstr>맑은 고딕</vt:lpstr>
      <vt:lpstr>함초롬바탕</vt:lpstr>
      <vt:lpstr>Arial</vt:lpstr>
      <vt:lpstr>Consolas</vt:lpstr>
      <vt:lpstr>Helvetica</vt:lpstr>
      <vt:lpstr>Roboto</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Dev DW</dc:creator>
  <cp:lastModifiedBy>Dev DW</cp:lastModifiedBy>
  <cp:revision>398</cp:revision>
  <dcterms:created xsi:type="dcterms:W3CDTF">2024-12-18T06:51:20Z</dcterms:created>
  <dcterms:modified xsi:type="dcterms:W3CDTF">2025-04-11T02:12:53Z</dcterms:modified>
</cp:coreProperties>
</file>