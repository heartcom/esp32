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3" r:id="rId14"/>
    <p:sldId id="272" r:id="rId15"/>
    <p:sldId id="274" r:id="rId16"/>
    <p:sldId id="277" r:id="rId17"/>
    <p:sldId id="278" r:id="rId18"/>
    <p:sldId id="275" r:id="rId19"/>
    <p:sldId id="276" r:id="rId20"/>
    <p:sldId id="279" r:id="rId21"/>
    <p:sldId id="290" r:id="rId22"/>
    <p:sldId id="280" r:id="rId23"/>
    <p:sldId id="281" r:id="rId24"/>
    <p:sldId id="282" r:id="rId25"/>
    <p:sldId id="291" r:id="rId26"/>
    <p:sldId id="292" r:id="rId27"/>
    <p:sldId id="283" r:id="rId28"/>
    <p:sldId id="293" r:id="rId29"/>
    <p:sldId id="284" r:id="rId30"/>
    <p:sldId id="298" r:id="rId31"/>
    <p:sldId id="299" r:id="rId32"/>
    <p:sldId id="300" r:id="rId33"/>
    <p:sldId id="301" r:id="rId34"/>
    <p:sldId id="302" r:id="rId35"/>
    <p:sldId id="285" r:id="rId36"/>
    <p:sldId id="286" r:id="rId37"/>
    <p:sldId id="294" r:id="rId38"/>
    <p:sldId id="295" r:id="rId39"/>
    <p:sldId id="296" r:id="rId40"/>
    <p:sldId id="297" r:id="rId41"/>
    <p:sldId id="303" r:id="rId42"/>
    <p:sldId id="304" r:id="rId43"/>
    <p:sldId id="305" r:id="rId4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0D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98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0C0BBC-979E-471E-A1A1-27BB3B2B1B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11BD0C-CEE3-4F16-9393-5EB19C7000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7C10BE-36DB-4B79-B2F3-DDEC4255C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9EE978-F50B-483A-BD2E-1F8D32262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02128A-4D1C-456E-9028-28D00E68C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563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5884F-480F-45AA-B717-D19A889F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8754FB-5281-4518-9646-7F9CB4CDB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50E18D-4286-4592-9CB0-CAA53C558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8AE6D5-3274-4060-ACFD-07CD513BF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24092A-6AF6-46DE-8E8D-F9F222B6E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7674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126A4A-C8DE-4495-B8A0-31C6F3F64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E7C5D1-631A-4CA7-9C89-F8DC10C97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02E6E9-2499-4872-B0DF-0B593305C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52AD36-B78C-45DE-8DB1-8163BECB5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3254DE-E73E-45F3-A3FD-B6D65205D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146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5E008E-7AD0-446C-873C-1AAEBE5C4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7618E4-B189-4AD2-82AE-3BE9507E2F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0B3DAA-040C-4B1A-AA84-80312A7C1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6DB932-1E2A-4AA9-82C9-BB0D32BD4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02CDE8-6C21-4256-9212-B72958E67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C2EF9E-904F-41BF-BD6E-FA467461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990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CD6907-1A75-42C6-808C-A09CFB4C0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D835F7-1436-49AD-ADF6-C33D7D6F7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024AC-D4E1-43A5-8F4C-7879EED03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B50D2A6-6991-49A9-8A6C-28936827F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E2FE32F-CFA1-4EC4-8F6B-8F4AD5F159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B932738-C1DC-4C0B-9B7D-91666FD0D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A379B8F-6168-47DA-8C09-86AD7AD4A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1BA300F-6336-43A9-B927-1D45939BC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969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9D97F7-111C-46C6-8598-678B7A722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BE122AE-F433-4957-A694-15C3CAAA3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1AA457-3E32-431C-AD47-F5B868289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194D9D-9B48-44DE-9315-FEDD6D510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158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7DE037-4C50-4BDA-BED0-97EE2F8B9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FB656E6-CD1B-4B9C-B7F6-3EBD4EACD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5D7158-85B0-4EB6-9E13-8D2B51A7A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400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721832-3D79-4224-8915-9F5072205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01BD56-C28D-4D22-B695-BA7F3FBB3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0C6591-78F9-46A0-8867-DFF5AE12F5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3280B8-AE34-4BFE-AC31-F09E55CE4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5F0564-791A-4929-8BDC-298AF11CB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B6DF46-5927-4FC7-AFA8-5283D4CA5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4225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A3010-A35B-4388-AC1A-E14D6C3AD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014A5A-4950-47C6-B890-C7E38E17FE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C20E9A-7E65-4956-8721-879C6B2C1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04BF14-8C7A-4C28-9699-5FB3A628A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261DE6-201A-4893-A9AC-68CE4302F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2E2CD8-F2E2-4A48-BB11-37A59E5B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18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C52729-3BBB-44BA-9A3D-2303BF8D4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AF2B26-C83A-4FE2-BD1B-92BA051E41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B85EF1-940E-4A2C-9FB7-CFAA48B00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05EB6D-0024-48B0-A54D-0A6AFBDDF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A319E6-8BDC-4222-9EAD-D2164A1C0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7959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3754F94-5E0F-44E3-9E1E-28AD8D23DD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1D9C8D-FA20-40D8-B906-0C5AF08DC3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13232C-CAAC-480C-9B9D-52A40BB9E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0941F2-2A72-4791-9D8C-634E88505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61ED03-AA66-44CD-BC70-904626078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206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E6EA67C-AA85-4004-8588-A069AE47B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9C7961-BAA4-4C7B-8A05-C9831226E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9D6EFE-2EF9-41BA-A6A9-C209CB7B76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E8C75-54C4-4C7D-BC35-797E0B944DAB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E81FE8-8EA8-4097-862E-517AC42F59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134120-198A-4D1E-BAC5-E8E7F7DDEE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314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artcom/ESP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qlitebrowser.org/dl/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mailto:g@com" TargetMode="External"/><Relationship Id="rId3" Type="http://schemas.openxmlformats.org/officeDocument/2006/relationships/hyperlink" Target="mailto:b@com" TargetMode="External"/><Relationship Id="rId7" Type="http://schemas.openxmlformats.org/officeDocument/2006/relationships/hyperlink" Target="mailto:f@com" TargetMode="External"/><Relationship Id="rId2" Type="http://schemas.openxmlformats.org/officeDocument/2006/relationships/hyperlink" Target="mailto:a@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e@com" TargetMode="External"/><Relationship Id="rId5" Type="http://schemas.openxmlformats.org/officeDocument/2006/relationships/hyperlink" Target="mailto:d@com" TargetMode="External"/><Relationship Id="rId10" Type="http://schemas.openxmlformats.org/officeDocument/2006/relationships/hyperlink" Target="mailto:i@com" TargetMode="External"/><Relationship Id="rId4" Type="http://schemas.openxmlformats.org/officeDocument/2006/relationships/hyperlink" Target="mailto:c@com" TargetMode="External"/><Relationship Id="rId9" Type="http://schemas.openxmlformats.org/officeDocument/2006/relationships/hyperlink" Target="mailto:h@com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565089B-F8C5-47EE-A7E1-7CAAD0CBD537}"/>
              </a:ext>
            </a:extLst>
          </p:cNvPr>
          <p:cNvSpPr/>
          <p:nvPr/>
        </p:nvSpPr>
        <p:spPr>
          <a:xfrm>
            <a:off x="0" y="0"/>
            <a:ext cx="12192000" cy="272415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b="1" dirty="0">
                <a:solidFill>
                  <a:schemeClr val="bg1">
                    <a:lumMod val="75000"/>
                  </a:schemeClr>
                </a:solidFill>
              </a:rPr>
              <a:t>ESP32 Insert Data into  Database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ED334E-4268-DC4A-C351-201BCF94D0B5}"/>
              </a:ext>
            </a:extLst>
          </p:cNvPr>
          <p:cNvSpPr txBox="1"/>
          <p:nvPr/>
        </p:nvSpPr>
        <p:spPr>
          <a:xfrm>
            <a:off x="1132332" y="5326039"/>
            <a:ext cx="10130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3A0DFB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https://github.com/heartcom/ESP32</a:t>
            </a:r>
            <a:endParaRPr lang="ko-KR" altLang="en-US" sz="4400" b="1" dirty="0">
              <a:solidFill>
                <a:srgbClr val="3A0DF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5839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15EA0-9D98-163E-4B95-0B3BF0CD5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F12D191-BE06-5451-8AA1-BA2E02445AC8}"/>
              </a:ext>
            </a:extLst>
          </p:cNvPr>
          <p:cNvSpPr/>
          <p:nvPr/>
        </p:nvSpPr>
        <p:spPr>
          <a:xfrm>
            <a:off x="0" y="1"/>
            <a:ext cx="12192000" cy="38702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975" algn="ctr">
              <a:defRPr/>
            </a:pPr>
            <a:r>
              <a:rPr lang="en-US" altLang="ko-KR" sz="6000" b="1" dirty="0">
                <a:solidFill>
                  <a:schemeClr val="tx1"/>
                </a:solidFill>
                <a:latin typeface="+mn-ea"/>
              </a:rPr>
              <a:t>using SQLite3</a:t>
            </a:r>
          </a:p>
          <a:p>
            <a:pPr marL="180975" algn="ctr">
              <a:defRPr/>
            </a:pPr>
            <a:endParaRPr lang="en-US" altLang="ko-KR" sz="3600" b="1" dirty="0">
              <a:solidFill>
                <a:schemeClr val="tx1"/>
              </a:solidFill>
              <a:latin typeface="+mn-ea"/>
            </a:endParaRPr>
          </a:p>
          <a:p>
            <a:pPr marL="180975" algn="ctr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+mn-ea"/>
              </a:rPr>
              <a:t>save Sensing Data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4935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69C1C-24CF-799A-F189-1EA2C8547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32CD80F-6B0D-595F-FA2B-FE322460BFC1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SQLite3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특징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F538280-F955-108A-5011-EA784EC0D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247608"/>
              </p:ext>
            </p:extLst>
          </p:nvPr>
        </p:nvGraphicFramePr>
        <p:xfrm>
          <a:off x="469900" y="1024466"/>
          <a:ext cx="11264900" cy="50842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60600">
                  <a:extLst>
                    <a:ext uri="{9D8B030D-6E8A-4147-A177-3AD203B41FA5}">
                      <a16:colId xmlns:a16="http://schemas.microsoft.com/office/drawing/2014/main" val="2628362351"/>
                    </a:ext>
                  </a:extLst>
                </a:gridCol>
                <a:gridCol w="9004300">
                  <a:extLst>
                    <a:ext uri="{9D8B030D-6E8A-4147-A177-3AD203B41FA5}">
                      <a16:colId xmlns:a16="http://schemas.microsoft.com/office/drawing/2014/main" val="3710183927"/>
                    </a:ext>
                  </a:extLst>
                </a:gridCol>
              </a:tblGrid>
              <a:tr h="7024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항 목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내  용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45178"/>
                  </a:ext>
                </a:extLst>
              </a:tr>
              <a:tr h="7024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종류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/>
                        <a:t>관계형 데이터베이스 </a:t>
                      </a:r>
                      <a:r>
                        <a:rPr lang="en-US" altLang="ko-KR" sz="1600" dirty="0"/>
                        <a:t>(RDBMS)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325541"/>
                  </a:ext>
                </a:extLst>
              </a:tr>
              <a:tr h="9080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형식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/>
                        <a:t>서버가 필요 없으며 실행 파일이 데이터베이스이다</a:t>
                      </a:r>
                      <a:r>
                        <a:rPr lang="en-US" altLang="ko-KR" sz="1600" dirty="0"/>
                        <a:t>.</a:t>
                      </a: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/>
                        <a:t>앱에서 직접 </a:t>
                      </a:r>
                      <a:r>
                        <a:rPr lang="en-US" altLang="ko-KR" sz="1600" dirty="0"/>
                        <a:t>sqlite3.db </a:t>
                      </a:r>
                      <a:r>
                        <a:rPr lang="ko-KR" altLang="en-US" sz="1600" dirty="0"/>
                        <a:t>파일을 읽고 쓴다</a:t>
                      </a:r>
                      <a:r>
                        <a:rPr lang="en-US" altLang="ko-KR" sz="1600" dirty="0"/>
                        <a:t>.</a:t>
                      </a: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dirty="0"/>
                        <a:t>.</a:t>
                      </a:r>
                      <a:r>
                        <a:rPr lang="en-US" altLang="ko-KR" sz="1600" dirty="0" err="1"/>
                        <a:t>db</a:t>
                      </a: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파일 하나만 있으면 전체 데이터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스키마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인덱스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트리거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뷰 등이 저장된다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3121674"/>
                  </a:ext>
                </a:extLst>
              </a:tr>
              <a:tr h="6928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SQL </a:t>
                      </a:r>
                      <a:r>
                        <a:rPr lang="ko-KR" altLang="en-US" sz="1600" dirty="0"/>
                        <a:t>지원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/>
                        <a:t>표준 </a:t>
                      </a:r>
                      <a:r>
                        <a:rPr lang="en-US" altLang="ko-KR" sz="1600" dirty="0"/>
                        <a:t>SQL-92 </a:t>
                      </a:r>
                      <a:r>
                        <a:rPr lang="ko-KR" altLang="en-US" sz="1600" dirty="0"/>
                        <a:t>대부분 지원</a:t>
                      </a:r>
                      <a:r>
                        <a:rPr lang="en-US" altLang="ko-KR" sz="1600" dirty="0"/>
                        <a:t>(SELECT, INSERT, JOIN, WHERE, GROUP BY </a:t>
                      </a:r>
                      <a:r>
                        <a:rPr lang="ko-KR" altLang="en-US" sz="1600" dirty="0"/>
                        <a:t>등</a:t>
                      </a:r>
                      <a:r>
                        <a:rPr lang="en-US" altLang="ko-KR" sz="1600" dirty="0"/>
                        <a:t>)</a:t>
                      </a: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/>
                        <a:t>트랜잭션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인덱스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뷰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트리거 등 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3715"/>
                  </a:ext>
                </a:extLst>
              </a:tr>
              <a:tr h="6928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지원 언어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dirty="0"/>
                        <a:t>Python, C/C++, Java, PHP, Rust, Go </a:t>
                      </a:r>
                      <a:r>
                        <a:rPr lang="ko-KR" altLang="en-US" sz="1600" dirty="0"/>
                        <a:t>등 대부분 언어 지원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2360053"/>
                  </a:ext>
                </a:extLst>
              </a:tr>
              <a:tr h="6928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비용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/>
                        <a:t>무료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174638"/>
                  </a:ext>
                </a:extLst>
              </a:tr>
              <a:tr h="6928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성능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/>
                        <a:t>단일 사용자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임베디드 환경에서 매우 빠름</a:t>
                      </a:r>
                      <a:endParaRPr lang="en-US" altLang="ko-KR" sz="1600" dirty="0"/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/>
                        <a:t>다중 사용자 동시접속이나 고부하 상황에서 사용이 어려움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368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7252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C6F18-9C25-5F26-6161-30A23B90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40A4A6C-F6B3-2AB3-15D2-177940C661CF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SQLite Browser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설치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1C469-C59F-F072-09EC-443902450A3C}"/>
              </a:ext>
            </a:extLst>
          </p:cNvPr>
          <p:cNvSpPr txBox="1"/>
          <p:nvPr/>
        </p:nvSpPr>
        <p:spPr>
          <a:xfrm>
            <a:off x="4892675" y="143580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hlinkClick r:id="rId2"/>
              </a:rPr>
              <a:t>Downloads - DB Browser for SQLite</a:t>
            </a:r>
            <a:endParaRPr lang="ko-KR" altLang="en-US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A303D5F-1F83-6385-A3B0-17AB27BF1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351" y="899722"/>
            <a:ext cx="8754697" cy="559195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FFF4707-7B8C-69D1-A651-C9B9FF575D97}"/>
              </a:ext>
            </a:extLst>
          </p:cNvPr>
          <p:cNvSpPr/>
          <p:nvPr/>
        </p:nvSpPr>
        <p:spPr>
          <a:xfrm>
            <a:off x="2197100" y="5422900"/>
            <a:ext cx="6324600" cy="2794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657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FD2AB-E0EF-6D1F-9B18-5D21F176E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453ECB5-DEB2-B052-E9DE-BAB4C6AB345C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SQLite3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: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module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 함수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0E21EB3-0CAD-0F8C-AE25-B840CA938F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475905"/>
              </p:ext>
            </p:extLst>
          </p:nvPr>
        </p:nvGraphicFramePr>
        <p:xfrm>
          <a:off x="723267" y="1039362"/>
          <a:ext cx="9961434" cy="423409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80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0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44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함 수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기 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2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sqlite3.connect(database</a:t>
                      </a:r>
                    </a:p>
                    <a:p>
                      <a:pPr latinLnBrk="1"/>
                      <a:r>
                        <a:rPr lang="en-US" altLang="ko-KR" sz="1600" b="1" dirty="0"/>
                        <a:t> [timeout, </a:t>
                      </a:r>
                      <a:r>
                        <a:rPr lang="en-US" altLang="ko-KR" sz="1600" b="1" dirty="0" err="1"/>
                        <a:t>isolation_level</a:t>
                      </a:r>
                      <a:r>
                        <a:rPr lang="en-US" altLang="ko-KR" sz="1600" b="1" dirty="0"/>
                        <a:t>,</a:t>
                      </a:r>
                      <a:r>
                        <a:rPr lang="en-US" altLang="ko-KR" sz="1600" b="1" baseline="0" dirty="0"/>
                        <a:t> </a:t>
                      </a:r>
                      <a:r>
                        <a:rPr lang="en-US" altLang="ko-KR" sz="1600" b="1" baseline="0" dirty="0" err="1"/>
                        <a:t>detect_types</a:t>
                      </a:r>
                      <a:r>
                        <a:rPr lang="en-US" altLang="ko-KR" sz="1600" b="1" baseline="0" dirty="0"/>
                        <a:t>, factory])</a:t>
                      </a:r>
                      <a:endParaRPr lang="ko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63525" indent="-263525" latinLnBrk="1">
                        <a:lnSpc>
                          <a:spcPts val="24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600" b="1" dirty="0"/>
                        <a:t> SQLite3 DB</a:t>
                      </a:r>
                      <a:r>
                        <a:rPr lang="ko-KR" altLang="en-US" sz="1600" b="1" dirty="0"/>
                        <a:t>에 연결</a:t>
                      </a:r>
                      <a:endParaRPr lang="en-US" altLang="ko-KR" sz="1600" b="1" dirty="0"/>
                    </a:p>
                    <a:p>
                      <a:pPr marL="263525" indent="-263525" latinLnBrk="1">
                        <a:lnSpc>
                          <a:spcPts val="24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600" b="1" dirty="0"/>
                        <a:t> DB </a:t>
                      </a:r>
                      <a:r>
                        <a:rPr lang="ko-KR" altLang="en-US" sz="1600" b="1" dirty="0"/>
                        <a:t>가 없으면 새로 만듬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2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sqlite3.complete_statement(</a:t>
                      </a:r>
                      <a:r>
                        <a:rPr lang="en-US" altLang="ko-KR" sz="1600" b="1" dirty="0" err="1"/>
                        <a:t>sql</a:t>
                      </a:r>
                      <a:r>
                        <a:rPr lang="en-US" altLang="ko-KR" sz="1600" b="1" dirty="0"/>
                        <a:t>)</a:t>
                      </a:r>
                      <a:endParaRPr lang="ko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ts val="2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b="1" dirty="0"/>
                        <a:t>SQL</a:t>
                      </a:r>
                      <a:r>
                        <a:rPr lang="en-US" altLang="ko-KR" sz="1600" b="1" baseline="0" dirty="0"/>
                        <a:t> </a:t>
                      </a:r>
                      <a:r>
                        <a:rPr lang="ko-KR" altLang="en-US" sz="1600" b="1" baseline="0" dirty="0"/>
                        <a:t>문장이 완전한 </a:t>
                      </a:r>
                      <a:r>
                        <a:rPr lang="en-US" altLang="ko-KR" sz="1600" b="1" baseline="0" dirty="0"/>
                        <a:t>SQL </a:t>
                      </a:r>
                      <a:r>
                        <a:rPr lang="ko-KR" altLang="en-US" sz="1600" b="1" baseline="0" dirty="0"/>
                        <a:t>문이면 </a:t>
                      </a:r>
                      <a:r>
                        <a:rPr lang="en-US" altLang="ko-KR" sz="1600" b="1" baseline="0" dirty="0"/>
                        <a:t>True </a:t>
                      </a:r>
                      <a:r>
                        <a:rPr lang="ko-KR" altLang="en-US" sz="1600" b="1" baseline="0" dirty="0"/>
                        <a:t>반환</a:t>
                      </a:r>
                      <a:endParaRPr lang="en-US" altLang="ko-KR" sz="1600" b="1" baseline="0" dirty="0"/>
                    </a:p>
                    <a:p>
                      <a:pPr marL="285750" indent="-285750" latinLnBrk="1">
                        <a:lnSpc>
                          <a:spcPts val="2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1" baseline="0" dirty="0"/>
                        <a:t>여러 줄 </a:t>
                      </a:r>
                      <a:r>
                        <a:rPr lang="en-US" altLang="ko-KR" sz="1600" b="1" baseline="0" dirty="0"/>
                        <a:t>SQL </a:t>
                      </a:r>
                      <a:r>
                        <a:rPr lang="ko-KR" altLang="en-US" sz="1600" b="1" baseline="0" dirty="0"/>
                        <a:t>문장을 </a:t>
                      </a:r>
                      <a:r>
                        <a:rPr lang="ko-KR" altLang="en-US" sz="1600" b="1" baseline="0" dirty="0" err="1"/>
                        <a:t>입력받을</a:t>
                      </a:r>
                      <a:r>
                        <a:rPr lang="ko-KR" altLang="en-US" sz="1600" b="1" baseline="0" dirty="0"/>
                        <a:t> 때 문장 </a:t>
                      </a:r>
                      <a:r>
                        <a:rPr lang="en-US" altLang="ko-KR" sz="1600" b="1" baseline="0" dirty="0"/>
                        <a:t>Check </a:t>
                      </a:r>
                      <a:endParaRPr lang="ko-KR" altLang="en-US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2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sqlite3.register_adapter(</a:t>
                      </a:r>
                      <a:r>
                        <a:rPr lang="en-US" altLang="ko-KR" sz="1600" b="1" dirty="0" err="1"/>
                        <a:t>python_type</a:t>
                      </a:r>
                      <a:r>
                        <a:rPr lang="en-US" altLang="ko-KR" sz="1600" b="1" dirty="0"/>
                        <a:t>, callable)</a:t>
                      </a:r>
                      <a:endParaRPr lang="ko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1" dirty="0"/>
                        <a:t>사용자 정의 파이썬 자료형을 </a:t>
                      </a:r>
                      <a:r>
                        <a:rPr lang="en-US" altLang="ko-KR" sz="1600" b="1" dirty="0"/>
                        <a:t>SQLite3</a:t>
                      </a:r>
                      <a:r>
                        <a:rPr lang="ko-KR" altLang="en-US" sz="1600" b="1" dirty="0"/>
                        <a:t>에서 사용할 수 있는 형식으로 저장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2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sqlite3.register_converter(</a:t>
                      </a:r>
                      <a:r>
                        <a:rPr lang="en-US" altLang="ko-KR" sz="1600" b="1" dirty="0" err="1"/>
                        <a:t>typename</a:t>
                      </a:r>
                      <a:r>
                        <a:rPr lang="en-US" altLang="ko-KR" sz="1600" b="1" dirty="0"/>
                        <a:t>, callable)</a:t>
                      </a:r>
                      <a:endParaRPr lang="ko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b="1" dirty="0"/>
                        <a:t>SQLite3</a:t>
                      </a:r>
                      <a:r>
                        <a:rPr lang="ko-KR" altLang="en-US" sz="1600" b="1" dirty="0"/>
                        <a:t>에서 </a:t>
                      </a:r>
                      <a:r>
                        <a:rPr lang="en-US" altLang="ko-KR" sz="1600" b="1" dirty="0"/>
                        <a:t>SELECT</a:t>
                      </a:r>
                      <a:r>
                        <a:rPr lang="ko-KR" altLang="en-US" sz="1600" b="1" dirty="0"/>
                        <a:t>로 가져온 데이터를 특정 </a:t>
                      </a:r>
                      <a:r>
                        <a:rPr lang="en-US" altLang="ko-KR" sz="1600" b="1" dirty="0"/>
                        <a:t>Python </a:t>
                      </a:r>
                      <a:r>
                        <a:rPr lang="ko-KR" altLang="en-US" sz="1600" b="1" dirty="0"/>
                        <a:t>타입으로 변환할 때 사용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8183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0A5BE-3632-EE5F-B0AF-9B063D723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1A3CAB0-4B93-F38C-07BF-231C0488C9C4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SQLite3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: Class - Connection</a:t>
            </a:r>
            <a:endParaRPr lang="ko-KR" altLang="en-US" sz="2000" b="1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D16810F-BA16-3489-91E5-6239F70A56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141705"/>
              </p:ext>
            </p:extLst>
          </p:nvPr>
        </p:nvGraphicFramePr>
        <p:xfrm>
          <a:off x="506994" y="1063469"/>
          <a:ext cx="10990907" cy="438472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498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26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9470">
                  <a:extLst>
                    <a:ext uri="{9D8B030D-6E8A-4147-A177-3AD203B41FA5}">
                      <a16:colId xmlns:a16="http://schemas.microsoft.com/office/drawing/2014/main" val="1345108521"/>
                    </a:ext>
                  </a:extLst>
                </a:gridCol>
              </a:tblGrid>
              <a:tr h="5682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Methode</a:t>
                      </a:r>
                      <a:r>
                        <a:rPr lang="ko-KR" altLang="en-US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기 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형 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32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Connection.cursor</a:t>
                      </a:r>
                      <a:r>
                        <a:rPr lang="en-US" altLang="ko-KR" sz="1400" dirty="0"/>
                        <a:t>()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indent="-180975" latinLnBrk="1">
                        <a:buFont typeface="Arial" pitchFamily="34" charset="0"/>
                        <a:buChar char="•"/>
                      </a:pPr>
                      <a:r>
                        <a:rPr lang="en-US" altLang="ko-KR" sz="1400" dirty="0"/>
                        <a:t>Cursor </a:t>
                      </a:r>
                      <a:r>
                        <a:rPr lang="ko-KR" altLang="en-US" sz="1400" dirty="0"/>
                        <a:t>객체 생성</a:t>
                      </a:r>
                      <a:endParaRPr lang="en-US" altLang="ko-KR" sz="1400" dirty="0"/>
                    </a:p>
                    <a:p>
                      <a:pPr marL="180975" indent="-180975" latinLnBrk="1">
                        <a:buFont typeface="Arial" pitchFamily="34" charset="0"/>
                        <a:buChar char="•"/>
                      </a:pPr>
                      <a:r>
                        <a:rPr lang="en-US" altLang="ko-KR" sz="1400" dirty="0"/>
                        <a:t>Cursor</a:t>
                      </a:r>
                      <a:r>
                        <a:rPr lang="ko-KR" altLang="en-US" sz="1400" dirty="0"/>
                        <a:t>는 프로그램과 </a:t>
                      </a:r>
                      <a:r>
                        <a:rPr lang="en-US" altLang="ko-KR" sz="1400" dirty="0"/>
                        <a:t>DB</a:t>
                      </a:r>
                      <a:r>
                        <a:rPr lang="ko-KR" altLang="en-US" sz="1400" dirty="0"/>
                        <a:t>를 연결하는 역할</a:t>
                      </a:r>
                      <a:endParaRPr lang="en-US" altLang="ko-KR" sz="1400" dirty="0"/>
                    </a:p>
                    <a:p>
                      <a:pPr marL="180975" indent="-180975" latinLnBrk="1">
                        <a:buFont typeface="Arial" pitchFamily="34" charset="0"/>
                        <a:buChar char="•"/>
                      </a:pPr>
                      <a:r>
                        <a:rPr lang="en-US" altLang="ko-KR" sz="1400" dirty="0"/>
                        <a:t>DB</a:t>
                      </a:r>
                      <a:r>
                        <a:rPr lang="ko-KR" altLang="en-US" sz="1400" dirty="0"/>
                        <a:t>의 모든 처리는 </a:t>
                      </a:r>
                      <a:r>
                        <a:rPr lang="en-US" altLang="ko-KR" sz="1400" dirty="0"/>
                        <a:t>cursor</a:t>
                      </a:r>
                      <a:r>
                        <a:rPr lang="ko-KR" altLang="en-US" sz="1400" dirty="0"/>
                        <a:t>를 통해 수행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itchFamily="34" charset="0"/>
                        <a:buNone/>
                      </a:pPr>
                      <a:r>
                        <a:rPr lang="en-US" altLang="ko-KR" sz="1400" dirty="0"/>
                        <a:t>conn = sqlite3.connect(“</a:t>
                      </a:r>
                      <a:r>
                        <a:rPr lang="en-US" altLang="ko-KR" sz="1400" dirty="0" err="1"/>
                        <a:t>mydata.db</a:t>
                      </a:r>
                      <a:r>
                        <a:rPr lang="en-US" altLang="ko-KR" sz="1400" dirty="0"/>
                        <a:t>”)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32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Connection.commit</a:t>
                      </a:r>
                      <a:r>
                        <a:rPr lang="en-US" altLang="ko-KR" sz="1400" dirty="0"/>
                        <a:t>()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indent="-1809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현재 트랜잭션의 변경 내역을 </a:t>
                      </a:r>
                      <a:r>
                        <a:rPr lang="en-US" altLang="ko-KR" sz="1400" dirty="0"/>
                        <a:t>DB</a:t>
                      </a:r>
                      <a:r>
                        <a:rPr lang="ko-KR" altLang="en-US" sz="1400" dirty="0"/>
                        <a:t>에 반영</a:t>
                      </a:r>
                      <a:r>
                        <a:rPr lang="en-US" altLang="ko-KR" sz="1400" dirty="0"/>
                        <a:t>(Commit)</a:t>
                      </a:r>
                      <a:r>
                        <a:rPr lang="ko-KR" altLang="en-US" sz="1400" dirty="0"/>
                        <a:t>함</a:t>
                      </a:r>
                      <a:endParaRPr lang="en-US" altLang="ko-KR" sz="1400" dirty="0"/>
                    </a:p>
                    <a:p>
                      <a:pPr marL="180975" indent="-1809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변경 사항을 실제 저장하는 함수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conn.commit</a:t>
                      </a:r>
                      <a:r>
                        <a:rPr lang="en-US" altLang="ko-KR" sz="1400" dirty="0"/>
                        <a:t>()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32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Connection.rollback</a:t>
                      </a:r>
                      <a:r>
                        <a:rPr lang="en-US" altLang="ko-KR" sz="1400" dirty="0"/>
                        <a:t>()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indent="-1809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최근 </a:t>
                      </a:r>
                      <a:r>
                        <a:rPr lang="en-US" altLang="ko-KR" sz="1400" dirty="0"/>
                        <a:t>commit() </a:t>
                      </a:r>
                      <a:r>
                        <a:rPr lang="ko-KR" altLang="en-US" sz="1400" dirty="0"/>
                        <a:t>이후 작업한 내용에 대해서 되돌림</a:t>
                      </a:r>
                      <a:endParaRPr lang="en-US" altLang="ko-KR" sz="1400" dirty="0"/>
                    </a:p>
                    <a:p>
                      <a:pPr marL="180975" indent="-18097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/>
                        <a:t>Insert, update, delete </a:t>
                      </a:r>
                      <a:r>
                        <a:rPr lang="ko-KR" altLang="en-US" sz="1400" dirty="0"/>
                        <a:t>작업 도중 문제 발생시 데이터 </a:t>
                      </a:r>
                      <a:br>
                        <a:rPr lang="en-US" altLang="ko-KR" sz="1400" dirty="0"/>
                      </a:br>
                      <a:r>
                        <a:rPr lang="ko-KR" altLang="en-US" sz="1400" dirty="0"/>
                        <a:t>무결성을 해칠 수 있으므로 </a:t>
                      </a:r>
                      <a:r>
                        <a:rPr lang="en-US" altLang="ko-KR" sz="1400" dirty="0"/>
                        <a:t>rollback() </a:t>
                      </a:r>
                      <a:r>
                        <a:rPr lang="ko-KR" altLang="en-US" sz="1400" dirty="0"/>
                        <a:t>필요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conn.rollback</a:t>
                      </a:r>
                      <a:r>
                        <a:rPr lang="en-US" altLang="ko-KR" sz="1400" dirty="0"/>
                        <a:t>()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32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Connection.close</a:t>
                      </a:r>
                      <a:r>
                        <a:rPr lang="en-US" altLang="ko-KR" sz="1400" dirty="0"/>
                        <a:t>()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indent="-18097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/>
                        <a:t>DB </a:t>
                      </a:r>
                      <a:r>
                        <a:rPr lang="ko-KR" altLang="en-US" sz="1400" dirty="0"/>
                        <a:t>연결을 종료</a:t>
                      </a:r>
                      <a:endParaRPr lang="en-US" altLang="ko-KR" sz="1400" dirty="0"/>
                    </a:p>
                    <a:p>
                      <a:pPr marL="180975" indent="-1809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리소스를 정리하고 파일이나 메모리 닫는 마지막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conn.close</a:t>
                      </a:r>
                      <a:r>
                        <a:rPr lang="en-US" altLang="ko-KR" sz="1400" dirty="0"/>
                        <a:t>()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32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Connection.isolation_level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indent="-1809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트랜잭션의 격리 수준</a:t>
                      </a:r>
                      <a:r>
                        <a:rPr lang="en-US" altLang="ko-KR" sz="1400" dirty="0"/>
                        <a:t>(Isolation</a:t>
                      </a:r>
                      <a:r>
                        <a:rPr lang="en-US" altLang="ko-KR" sz="1400" baseline="0" dirty="0"/>
                        <a:t> level) </a:t>
                      </a:r>
                      <a:r>
                        <a:rPr lang="ko-KR" altLang="en-US" sz="1400" baseline="0" dirty="0"/>
                        <a:t>확인</a:t>
                      </a:r>
                      <a:r>
                        <a:rPr lang="en-US" altLang="ko-KR" sz="1400" baseline="0" dirty="0"/>
                        <a:t>/</a:t>
                      </a:r>
                      <a:r>
                        <a:rPr lang="ko-KR" altLang="en-US" sz="1400" baseline="0" dirty="0"/>
                        <a:t>설정</a:t>
                      </a:r>
                      <a:endParaRPr lang="en-US" altLang="ko-KR" sz="1400" baseline="0" dirty="0"/>
                    </a:p>
                    <a:p>
                      <a:pPr marL="180975" indent="-18097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baseline="0" dirty="0"/>
                        <a:t>‘DEFERRED’, ‘IMMEDIATE’, ‘EXCLUSIVE’, ‘None’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conn.isolation_level</a:t>
                      </a:r>
                      <a:r>
                        <a:rPr lang="en-US" altLang="ko-KR" sz="1400" dirty="0"/>
                        <a:t> = 'IMMEDIATE'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685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50462-08B4-225C-FB20-ABA3B7FD1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3B20F9C-10AA-C4B6-8E13-4C1E76CC6718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SQLite3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: version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확인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9F75F5-D574-EE81-D184-CA15DBC5D95C}"/>
              </a:ext>
            </a:extLst>
          </p:cNvPr>
          <p:cNvSpPr txBox="1"/>
          <p:nvPr/>
        </p:nvSpPr>
        <p:spPr>
          <a:xfrm>
            <a:off x="479834" y="1074583"/>
            <a:ext cx="8392562" cy="19791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sqlite3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3000"/>
              </a:lnSpc>
              <a:buNone/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sqlite3 version print('sqlite3.version:', sqlite3.version)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30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sqlite3 engine version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3000"/>
              </a:lnSpc>
            </a:pP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'sqlite3.sqlite_version:'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sqlite3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sqlite_version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6629B7E-F434-611E-03B0-D53504BC2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34" y="3804286"/>
            <a:ext cx="8392562" cy="87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571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87918-CA86-9B25-F0A3-EA2EA9044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D6D5324-478A-8FA7-5BD0-CECA33D88B27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SQLite3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현재 시간 읽어오기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C8874B-3371-F51F-E68F-7A62EB26ADD5}"/>
              </a:ext>
            </a:extLst>
          </p:cNvPr>
          <p:cNvSpPr txBox="1"/>
          <p:nvPr/>
        </p:nvSpPr>
        <p:spPr>
          <a:xfrm>
            <a:off x="664781" y="883822"/>
            <a:ext cx="7154916" cy="214263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sqlite3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7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700"/>
              </a:lnSpc>
              <a:buNone/>
            </a:pP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'now time ='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)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strftime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'%Y-%m-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%H:%M:%S'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'now time ='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7A5544F-02C2-91CE-932D-173A23D82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81" y="3358055"/>
            <a:ext cx="7154916" cy="118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057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3DC21-679D-E416-0A92-336981F88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21EB757-5E88-D884-7271-ADD624E12FD6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SQLite3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: Auto commit</a:t>
            </a:r>
            <a:endParaRPr lang="ko-KR" altLang="en-US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3FDDC9-5B9D-FEF8-8AF5-EEBD065D494E}"/>
              </a:ext>
            </a:extLst>
          </p:cNvPr>
          <p:cNvSpPr txBox="1"/>
          <p:nvPr/>
        </p:nvSpPr>
        <p:spPr>
          <a:xfrm>
            <a:off x="409328" y="853551"/>
            <a:ext cx="9172905" cy="113915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sqlite3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800"/>
              </a:lnSpc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sqlite3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testdb.db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isolation_level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0E5C3D6-BE2A-8BA8-986E-9EB650EC1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28" y="2420977"/>
            <a:ext cx="2586120" cy="151494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6BC0B1-763C-6C7D-6E20-73B0F9003ED7}"/>
              </a:ext>
            </a:extLst>
          </p:cNvPr>
          <p:cNvSpPr txBox="1"/>
          <p:nvPr/>
        </p:nvSpPr>
        <p:spPr>
          <a:xfrm>
            <a:off x="3121573" y="3338612"/>
            <a:ext cx="49503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python </a:t>
            </a:r>
            <a:r>
              <a:rPr lang="ko-KR" altLang="en-US" sz="1600" dirty="0"/>
              <a:t>작업 폴더 안에 </a:t>
            </a:r>
            <a:r>
              <a:rPr lang="en-US" altLang="ko-KR" sz="1600" dirty="0"/>
              <a:t>.</a:t>
            </a:r>
            <a:r>
              <a:rPr lang="en-US" altLang="ko-KR" sz="1600" dirty="0" err="1"/>
              <a:t>db</a:t>
            </a:r>
            <a:r>
              <a:rPr lang="en-US" altLang="ko-KR" sz="1600" dirty="0"/>
              <a:t> </a:t>
            </a:r>
            <a:r>
              <a:rPr lang="ko-KR" altLang="en-US" sz="1600" dirty="0"/>
              <a:t>파일 만들어짐</a:t>
            </a:r>
          </a:p>
        </p:txBody>
      </p:sp>
    </p:spTree>
    <p:extLst>
      <p:ext uri="{BB962C8B-B14F-4D97-AF65-F5344CB8AC3E}">
        <p14:creationId xmlns:p14="http://schemas.microsoft.com/office/powerpoint/2010/main" val="3909269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F04D3-27E0-5EE6-B170-A7AF0F798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9635A9B-D464-4592-B712-35CBF755A8C7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SQLite3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:   Table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생성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2D104C-F41D-7B7F-3DEA-035527263A3C}"/>
              </a:ext>
            </a:extLst>
          </p:cNvPr>
          <p:cNvSpPr txBox="1"/>
          <p:nvPr/>
        </p:nvSpPr>
        <p:spPr>
          <a:xfrm>
            <a:off x="0" y="656492"/>
            <a:ext cx="12192000" cy="26137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79388"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sqlite3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179388">
              <a:lnSpc>
                <a:spcPts val="2200"/>
              </a:lnSpc>
              <a:buNone/>
            </a:pPr>
            <a:b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sqlite3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testdb.db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isolation_level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179388"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cursor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생성</a:t>
            </a:r>
            <a:endParaRPr lang="ko-KR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179388"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cursor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179388"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테이블 생성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자료형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TEXT, NUMERIC, INTEGER, REAL, BLOB(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파일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))</a:t>
            </a:r>
            <a:endParaRPr lang="ko-KR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179388">
              <a:lnSpc>
                <a:spcPts val="2200"/>
              </a:lnSpc>
              <a:buNone/>
            </a:pP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"CREATE TABLE IF NOT EXISTS users(</a:t>
            </a:r>
          </a:p>
          <a:p>
            <a:pPr marL="179388">
              <a:lnSpc>
                <a:spcPts val="2200"/>
              </a:lnSpc>
              <a:buNone/>
            </a:pPr>
            <a:r>
              <a:rPr lang="en-US" altLang="ko-KR" sz="1600" dirty="0">
                <a:solidFill>
                  <a:srgbClr val="CE9178"/>
                </a:solidFill>
                <a:latin typeface="Consolas" panose="020B0609020204030204" pitchFamily="49" charset="0"/>
              </a:rPr>
              <a:t>                  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id INTEGER PRIMARY KEY, 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179388">
              <a:lnSpc>
                <a:spcPts val="2200"/>
              </a:lnSpc>
            </a:pP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                  username TEXT, email TEXT, phone TEXT, web TEXT, 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regdate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TEXT)"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8A9243-5BFE-5F0B-C3ED-37F4D2CB3FCC}"/>
              </a:ext>
            </a:extLst>
          </p:cNvPr>
          <p:cNvSpPr txBox="1"/>
          <p:nvPr/>
        </p:nvSpPr>
        <p:spPr>
          <a:xfrm>
            <a:off x="115614" y="4040502"/>
            <a:ext cx="64206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users </a:t>
            </a:r>
            <a:r>
              <a:rPr lang="ko-KR" altLang="en-US" sz="1600" dirty="0"/>
              <a:t>라는 테이블이 없으면 생성한다</a:t>
            </a:r>
            <a:r>
              <a:rPr lang="en-US" altLang="ko-KR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id,</a:t>
            </a:r>
            <a:r>
              <a:rPr lang="ko-KR" altLang="en-US" sz="1600" dirty="0"/>
              <a:t> </a:t>
            </a:r>
            <a:r>
              <a:rPr lang="en-US" altLang="ko-KR" sz="1600" dirty="0"/>
              <a:t>username,</a:t>
            </a:r>
            <a:r>
              <a:rPr lang="ko-KR" altLang="en-US" sz="1600" dirty="0"/>
              <a:t> </a:t>
            </a:r>
            <a:r>
              <a:rPr lang="en-US" altLang="ko-KR" sz="1600" dirty="0"/>
              <a:t>email,</a:t>
            </a:r>
            <a:r>
              <a:rPr lang="ko-KR" altLang="en-US" sz="1600" dirty="0"/>
              <a:t> </a:t>
            </a:r>
            <a:r>
              <a:rPr lang="en-US" altLang="ko-KR" sz="1600" dirty="0"/>
              <a:t>phone,</a:t>
            </a:r>
            <a:r>
              <a:rPr lang="ko-KR" altLang="en-US" sz="1600" dirty="0"/>
              <a:t> </a:t>
            </a:r>
            <a:r>
              <a:rPr lang="en-US" altLang="ko-KR" sz="1600" dirty="0"/>
              <a:t>web,</a:t>
            </a:r>
            <a:r>
              <a:rPr lang="ko-KR" altLang="en-US" sz="1600" dirty="0"/>
              <a:t> </a:t>
            </a:r>
            <a:r>
              <a:rPr lang="en-US" altLang="ko-KR" sz="1600" dirty="0"/>
              <a:t>reg</a:t>
            </a:r>
            <a:r>
              <a:rPr lang="ko-KR" altLang="en-US" sz="1600" dirty="0"/>
              <a:t> </a:t>
            </a:r>
            <a:r>
              <a:rPr lang="en-US" altLang="ko-KR" sz="1600" dirty="0"/>
              <a:t>date </a:t>
            </a:r>
            <a:r>
              <a:rPr lang="en-US" altLang="ko-KR" sz="1600" dirty="0">
                <a:sym typeface="Wingdings" panose="05000000000000000000" pitchFamily="2" charset="2"/>
              </a:rPr>
              <a:t> Column(field) </a:t>
            </a:r>
            <a:r>
              <a:rPr lang="ko-KR" altLang="en-US" sz="1600" dirty="0">
                <a:sym typeface="Wingdings" panose="05000000000000000000" pitchFamily="2" charset="2"/>
              </a:rPr>
              <a:t>생성</a:t>
            </a:r>
            <a:endParaRPr lang="ko-KR" altLang="en-US" sz="16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3D71575-0E32-84B9-F24A-FCA227739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0875" y="3869907"/>
            <a:ext cx="5728904" cy="291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714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D36E4-08E2-98CA-4EAE-05B8F672C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DB55D6C-D479-3359-12F5-C7ACE45B055E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SQLite3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: 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데이터 삽입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C67037-7638-0926-21A2-F5F65223016C}"/>
              </a:ext>
            </a:extLst>
          </p:cNvPr>
          <p:cNvSpPr txBox="1"/>
          <p:nvPr/>
        </p:nvSpPr>
        <p:spPr>
          <a:xfrm>
            <a:off x="0" y="656492"/>
            <a:ext cx="12192000" cy="567546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sqlite3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b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'now time ='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)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strftime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'%Y-%m-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%H:%M:%S'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'now time ='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,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300"/>
              </a:lnSpc>
              <a:buNone/>
            </a:pPr>
            <a:b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sqlite3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testdb.db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isolation_level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300"/>
              </a:lnSpc>
              <a:buNone/>
            </a:pPr>
            <a:b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cursor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생성</a:t>
            </a:r>
            <a:endParaRPr lang="ko-KR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cursor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테이블 생성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자료형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TEXT, NUMERIC, INTEGER, REAL, BLOB(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파일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))</a:t>
            </a:r>
            <a:endParaRPr lang="ko-KR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"CREATE TABLE IF NOT EXISTS users(id INTEGER PRIMARY KEY,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\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     username TEXT, email TEXT, phone TEXT, web TEXT, 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regdate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TEXT)"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300"/>
              </a:lnSpc>
              <a:buNone/>
            </a:pPr>
            <a:b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데이터 삽입</a:t>
            </a:r>
            <a:endParaRPr lang="ko-KR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"INSERT INTO users VALUES(1, 'Son', 'son@naver.com',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\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</a:pP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'010-1111-2222', 'www.son.co.kr', ?)"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,)) </a:t>
            </a:r>
          </a:p>
        </p:txBody>
      </p:sp>
    </p:spTree>
    <p:extLst>
      <p:ext uri="{BB962C8B-B14F-4D97-AF65-F5344CB8AC3E}">
        <p14:creationId xmlns:p14="http://schemas.microsoft.com/office/powerpoint/2010/main" val="1923714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15995-6D70-DCB6-BC6C-6EFDB93CE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47CE389-F729-B355-4869-A24C9DACE348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SQLite3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데이터 삽입 실행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3B724F5-BFA9-8C21-3E70-BD4EED532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49" y="971577"/>
            <a:ext cx="9452296" cy="3095926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A52D350-0312-F487-C86B-17342279EBF5}"/>
              </a:ext>
            </a:extLst>
          </p:cNvPr>
          <p:cNvSpPr/>
          <p:nvPr/>
        </p:nvSpPr>
        <p:spPr>
          <a:xfrm>
            <a:off x="2375338" y="2091559"/>
            <a:ext cx="1713186" cy="430924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276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474FD-B734-B3D9-0B97-BFA9AD56E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7E33B7B-BCB4-A19D-F729-68913E619452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SQLite3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데이터 하나 더 삽입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C928F2-6F4F-09B0-7903-73C59A0EB645}"/>
              </a:ext>
            </a:extLst>
          </p:cNvPr>
          <p:cNvSpPr txBox="1"/>
          <p:nvPr/>
        </p:nvSpPr>
        <p:spPr>
          <a:xfrm>
            <a:off x="103221" y="765437"/>
            <a:ext cx="74542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ko-KR" sz="1400" dirty="0">
                <a:solidFill>
                  <a:srgbClr val="0000FF"/>
                </a:solidFill>
                <a:latin typeface="+mn-ea"/>
              </a:rPr>
              <a:t># 2</a:t>
            </a:r>
            <a:r>
              <a:rPr lang="ko-KR" altLang="en-US" sz="1400" dirty="0">
                <a:solidFill>
                  <a:srgbClr val="0000FF"/>
                </a:solidFill>
                <a:latin typeface="+mn-ea"/>
              </a:rPr>
              <a:t>번째 데이터를 삽입하기 위해 </a:t>
            </a:r>
            <a:r>
              <a:rPr lang="en-US" altLang="ko-KR" sz="1400" dirty="0">
                <a:solidFill>
                  <a:srgbClr val="0000FF"/>
                </a:solidFill>
                <a:latin typeface="+mn-ea"/>
              </a:rPr>
              <a:t>id 2 </a:t>
            </a:r>
            <a:r>
              <a:rPr lang="ko-KR" altLang="en-US" sz="1400" dirty="0">
                <a:solidFill>
                  <a:srgbClr val="0000FF"/>
                </a:solidFill>
                <a:latin typeface="+mn-ea"/>
              </a:rPr>
              <a:t>번으로 설정하고 </a:t>
            </a:r>
            <a:r>
              <a:rPr lang="en-US" altLang="ko-KR" sz="1400" dirty="0">
                <a:solidFill>
                  <a:srgbClr val="0000FF"/>
                </a:solidFill>
                <a:latin typeface="+mn-ea"/>
              </a:rPr>
              <a:t>id1</a:t>
            </a:r>
            <a:r>
              <a:rPr lang="ko-KR" altLang="en-US" sz="1400" dirty="0">
                <a:solidFill>
                  <a:srgbClr val="0000FF"/>
                </a:solidFill>
                <a:latin typeface="+mn-ea"/>
              </a:rPr>
              <a:t>번에서 삽입한 것은 주석 처리함</a:t>
            </a:r>
            <a:endParaRPr lang="en-US" altLang="ko-KR" sz="140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79A398-8D1A-0981-6DE6-5B439C29EFD6}"/>
              </a:ext>
            </a:extLst>
          </p:cNvPr>
          <p:cNvSpPr txBox="1"/>
          <p:nvPr/>
        </p:nvSpPr>
        <p:spPr>
          <a:xfrm>
            <a:off x="233855" y="1165547"/>
            <a:ext cx="10034751" cy="253037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데이터 삽입</a:t>
            </a:r>
            <a:endParaRPr lang="ko-KR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#cur.execute("INSERT INTO users VALUES(1, 'Son', 'son@naver.com', \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 '010-1111-2222', 'www.son.co.kr', ?)", (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,)) 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  <a:buNone/>
            </a:pPr>
            <a:b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key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값을 정의하고 </a:t>
            </a:r>
            <a:r>
              <a:rPr lang="ko-KR" altLang="en-US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튜플로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값을 넣음</a:t>
            </a:r>
            <a:endParaRPr lang="ko-KR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"INSERT INTO users(id, username, email, phone, web, 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regdate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\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VALUES (?, ?, ?, ?, ?, ?)"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'Kim'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'kim@naver.com'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'010-333-4444'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\</a:t>
            </a:r>
          </a:p>
          <a:p>
            <a:pPr>
              <a:lnSpc>
                <a:spcPts val="2400"/>
              </a:lnSpc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'www.kim.com'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,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)  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3FC798F-06D1-964B-D5CB-609074892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54" y="3892866"/>
            <a:ext cx="6747659" cy="2530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016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0ACBC-9AB1-FC4B-F2BC-E41F65927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FB48D79-FB54-7B2F-6395-9468803D5C64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SQLite3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: 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다수 데이터 입력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F72070-6363-3EF9-03D8-2A1D3D50CA75}"/>
              </a:ext>
            </a:extLst>
          </p:cNvPr>
          <p:cNvSpPr txBox="1"/>
          <p:nvPr/>
        </p:nvSpPr>
        <p:spPr>
          <a:xfrm>
            <a:off x="-1" y="656492"/>
            <a:ext cx="12191999" cy="283814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endParaRPr lang="en-US" altLang="ko-KR" sz="16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많은 데이터를 한번에 삽입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튜플내에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튜플로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데이터 정리</a:t>
            </a:r>
            <a:endParaRPr lang="ko-KR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userList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'Jang'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'jang@naver.com'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'010-111-1111'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'lee.com'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'choi'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'choi@daum.net'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'010-222-2222'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'choi.com'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'kang'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'kang@daum.net'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'010-777-7777'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'kang.com'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executemany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"INSERT INTO users(id, username, email, phone, web, 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regdate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 VALUES (?,?,?,?,?,?)"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userList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4D8B067-C82C-419E-8268-EE2585666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89" y="3670211"/>
            <a:ext cx="5973009" cy="283884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54566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63477-4C19-59D0-9415-3F4D669DE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CD7EE83-6ED3-F771-7426-380F8BECDFBC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SQLite3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: Excel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데이터를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DB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에 저장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93C229C-647E-5E46-3ACA-3C0A5CC63F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200437"/>
              </p:ext>
            </p:extLst>
          </p:nvPr>
        </p:nvGraphicFramePr>
        <p:xfrm>
          <a:off x="394359" y="1278198"/>
          <a:ext cx="4508500" cy="24248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01700">
                  <a:extLst>
                    <a:ext uri="{9D8B030D-6E8A-4147-A177-3AD203B41FA5}">
                      <a16:colId xmlns:a16="http://schemas.microsoft.com/office/drawing/2014/main" val="1481983362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313494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027558177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1292418369"/>
                    </a:ext>
                  </a:extLst>
                </a:gridCol>
              </a:tblGrid>
              <a:tr h="2424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username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email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phone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49687613"/>
                  </a:ext>
                </a:extLst>
              </a:tr>
              <a:tr h="2424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aaa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sng" strike="noStrike">
                          <a:effectLst/>
                          <a:hlinkClick r:id="rId2"/>
                        </a:rPr>
                        <a:t>a@com</a:t>
                      </a:r>
                      <a:endParaRPr lang="en-US" sz="1100" b="0" i="0" u="sng" strike="noStrike">
                        <a:solidFill>
                          <a:srgbClr val="0563C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11-111-1111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59148074"/>
                  </a:ext>
                </a:extLst>
              </a:tr>
              <a:tr h="2424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bbb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sng" strike="noStrike">
                          <a:effectLst/>
                          <a:hlinkClick r:id="rId3"/>
                        </a:rPr>
                        <a:t>b@com</a:t>
                      </a:r>
                      <a:endParaRPr lang="en-US" sz="1100" b="0" i="0" u="sng" strike="noStrike">
                        <a:solidFill>
                          <a:srgbClr val="0563C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22-222-2222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60692720"/>
                  </a:ext>
                </a:extLst>
              </a:tr>
              <a:tr h="2424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ccc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sng" strike="noStrike">
                          <a:effectLst/>
                          <a:hlinkClick r:id="rId4"/>
                        </a:rPr>
                        <a:t>c@com</a:t>
                      </a:r>
                      <a:endParaRPr lang="en-US" sz="1100" b="0" i="0" u="sng" strike="noStrike">
                        <a:solidFill>
                          <a:srgbClr val="0563C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33-333-3333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30085632"/>
                  </a:ext>
                </a:extLst>
              </a:tr>
              <a:tr h="2424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ddd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sng" strike="noStrike">
                          <a:effectLst/>
                          <a:hlinkClick r:id="rId5"/>
                        </a:rPr>
                        <a:t>d@com</a:t>
                      </a:r>
                      <a:endParaRPr lang="en-US" sz="1100" b="0" i="0" u="sng" strike="noStrike">
                        <a:solidFill>
                          <a:srgbClr val="0563C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44-444-4444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521834397"/>
                  </a:ext>
                </a:extLst>
              </a:tr>
              <a:tr h="2424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eee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sng" strike="noStrike">
                          <a:effectLst/>
                          <a:hlinkClick r:id="rId6"/>
                        </a:rPr>
                        <a:t>e@com</a:t>
                      </a:r>
                      <a:endParaRPr lang="en-US" sz="1100" b="0" i="0" u="sng" strike="noStrike">
                        <a:solidFill>
                          <a:srgbClr val="0563C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55-555-5555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21292920"/>
                  </a:ext>
                </a:extLst>
              </a:tr>
              <a:tr h="2424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fff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sng" strike="noStrike">
                          <a:effectLst/>
                          <a:hlinkClick r:id="rId7"/>
                        </a:rPr>
                        <a:t>f@com</a:t>
                      </a:r>
                      <a:endParaRPr lang="en-US" sz="1100" b="0" i="0" u="sng" strike="noStrike">
                        <a:solidFill>
                          <a:srgbClr val="0563C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66-666-6666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56216621"/>
                  </a:ext>
                </a:extLst>
              </a:tr>
              <a:tr h="2424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ggg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sng" strike="noStrike">
                          <a:effectLst/>
                          <a:hlinkClick r:id="rId8"/>
                        </a:rPr>
                        <a:t>g@com</a:t>
                      </a:r>
                      <a:endParaRPr lang="en-US" sz="1100" b="0" i="0" u="sng" strike="noStrike">
                        <a:solidFill>
                          <a:srgbClr val="0563C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77-777-7777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95195167"/>
                  </a:ext>
                </a:extLst>
              </a:tr>
              <a:tr h="2424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hhh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sng" strike="noStrike">
                          <a:effectLst/>
                          <a:hlinkClick r:id="rId9"/>
                        </a:rPr>
                        <a:t>h@com</a:t>
                      </a:r>
                      <a:endParaRPr lang="en-US" sz="1100" b="0" i="0" u="sng" strike="noStrike">
                        <a:solidFill>
                          <a:srgbClr val="0563C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88-888-8888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57991084"/>
                  </a:ext>
                </a:extLst>
              </a:tr>
              <a:tr h="2424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iii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sng" strike="noStrike">
                          <a:effectLst/>
                          <a:hlinkClick r:id="rId10"/>
                        </a:rPr>
                        <a:t>i@com</a:t>
                      </a:r>
                      <a:endParaRPr lang="en-US" sz="1100" b="0" i="0" u="sng" strike="noStrike">
                        <a:solidFill>
                          <a:srgbClr val="0563C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99-999-9999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8420747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52DEBF0-6FAC-2D11-EC8B-3235F815C681}"/>
              </a:ext>
            </a:extLst>
          </p:cNvPr>
          <p:cNvSpPr txBox="1"/>
          <p:nvPr/>
        </p:nvSpPr>
        <p:spPr>
          <a:xfrm>
            <a:off x="394359" y="798068"/>
            <a:ext cx="33200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3A0DFB"/>
                </a:solidFill>
              </a:rPr>
              <a:t>작업 폴더에 </a:t>
            </a:r>
            <a:r>
              <a:rPr lang="en-US" altLang="ko-KR" sz="1600" dirty="0">
                <a:solidFill>
                  <a:srgbClr val="3A0DFB"/>
                </a:solidFill>
              </a:rPr>
              <a:t>users.xlsx  </a:t>
            </a:r>
            <a:r>
              <a:rPr lang="ko-KR" altLang="en-US" sz="1600" dirty="0">
                <a:solidFill>
                  <a:srgbClr val="3A0DFB"/>
                </a:solidFill>
              </a:rPr>
              <a:t>파일  생성</a:t>
            </a:r>
          </a:p>
        </p:txBody>
      </p:sp>
    </p:spTree>
    <p:extLst>
      <p:ext uri="{BB962C8B-B14F-4D97-AF65-F5344CB8AC3E}">
        <p14:creationId xmlns:p14="http://schemas.microsoft.com/office/powerpoint/2010/main" val="3148042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8E6BF-9538-154C-E16B-AD49141B2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E3851D1-588C-90B8-B0FA-DD7134C13881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SQLite3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: Excel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데이터를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DB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에 저장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222807-6EC9-F3AB-9F85-F56857183496}"/>
              </a:ext>
            </a:extLst>
          </p:cNvPr>
          <p:cNvSpPr txBox="1"/>
          <p:nvPr/>
        </p:nvSpPr>
        <p:spPr>
          <a:xfrm>
            <a:off x="0" y="656492"/>
            <a:ext cx="12192000" cy="56339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pandas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sqlite3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read_excel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"users.xlsx"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</a:p>
          <a:p>
            <a:pPr>
              <a:lnSpc>
                <a:spcPts val="1800"/>
              </a:lnSpc>
              <a:buNone/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sqlite3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myDB.db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cursor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800"/>
              </a:lnSpc>
              <a:buNone/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'''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CREATE TABLE IF NOT EXISTS users (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id INTEGER PRIMARY KEY,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username TEXT,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email TEXT,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phone TEXT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)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'''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iterrows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INSERT INTO users (id, username, email, phone)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VALUES (?, ?, ?, ? )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"""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'id'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'username'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'email'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'phone'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]))</a:t>
            </a:r>
          </a:p>
          <a:p>
            <a:pPr>
              <a:lnSpc>
                <a:spcPts val="1800"/>
              </a:lnSpc>
              <a:buNone/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commit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800"/>
              </a:lnSpc>
            </a:pP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795625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05C76-C44F-BADD-36D8-CA257ED16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67E4751-3DF6-F758-14A4-E977167E3CC3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SQLite3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: Excel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데이터를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DB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에 저장 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-  </a:t>
            </a:r>
            <a:r>
              <a:rPr lang="en-US" altLang="ko-KR" sz="2000" b="1" dirty="0" err="1">
                <a:solidFill>
                  <a:schemeClr val="tx1"/>
                </a:solidFill>
                <a:latin typeface="+mn-ea"/>
              </a:rPr>
              <a:t>myDB.db</a:t>
            </a:r>
            <a:endParaRPr lang="ko-KR" altLang="en-US" sz="20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6FBDBF8-5367-027A-4944-CA8EA786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9757"/>
            <a:ext cx="2023068" cy="65649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D4BE6D5-E67C-7F19-657F-C61C1C219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929" y="1878134"/>
            <a:ext cx="5503312" cy="4434162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41945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B6D5F-D094-956A-19FF-9D3A17464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2A072F2-DFD3-94B2-68DE-5DECDC4A8649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SQLite3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:  commit(), rollback()</a:t>
            </a:r>
            <a:endParaRPr lang="ko-KR" altLang="en-US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B20802-606D-991C-C791-32E2C36E5B51}"/>
              </a:ext>
            </a:extLst>
          </p:cNvPr>
          <p:cNvSpPr/>
          <p:nvPr/>
        </p:nvSpPr>
        <p:spPr>
          <a:xfrm>
            <a:off x="415922" y="896834"/>
            <a:ext cx="8256906" cy="31700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ko-KR" sz="1400" dirty="0">
                <a:solidFill>
                  <a:srgbClr val="C00000"/>
                </a:solidFill>
              </a:rPr>
              <a:t> # </a:t>
            </a:r>
            <a:r>
              <a:rPr lang="en-US" altLang="ko-KR" sz="1400" dirty="0" err="1">
                <a:solidFill>
                  <a:srgbClr val="C00000"/>
                </a:solidFill>
              </a:rPr>
              <a:t>db</a:t>
            </a:r>
            <a:r>
              <a:rPr lang="en-US" altLang="ko-KR" sz="1400" dirty="0">
                <a:solidFill>
                  <a:srgbClr val="C00000"/>
                </a:solidFill>
              </a:rPr>
              <a:t> </a:t>
            </a:r>
            <a:r>
              <a:rPr lang="ko-KR" altLang="en-US" sz="1400" dirty="0">
                <a:solidFill>
                  <a:srgbClr val="C00000"/>
                </a:solidFill>
              </a:rPr>
              <a:t>생성할</a:t>
            </a:r>
            <a:r>
              <a:rPr lang="en-US" altLang="ko-KR" sz="1400" dirty="0">
                <a:solidFill>
                  <a:srgbClr val="C00000"/>
                </a:solidFill>
              </a:rPr>
              <a:t> </a:t>
            </a:r>
            <a:r>
              <a:rPr lang="ko-KR" altLang="en-US" sz="1400" dirty="0">
                <a:solidFill>
                  <a:srgbClr val="C00000"/>
                </a:solidFill>
              </a:rPr>
              <a:t>때 </a:t>
            </a:r>
            <a:r>
              <a:rPr lang="en-US" altLang="ko-KR" sz="1400" dirty="0" err="1">
                <a:solidFill>
                  <a:srgbClr val="C00000"/>
                </a:solidFill>
              </a:rPr>
              <a:t>isolation_level</a:t>
            </a:r>
            <a:r>
              <a:rPr lang="en-US" altLang="ko-KR" sz="1400" dirty="0">
                <a:solidFill>
                  <a:srgbClr val="C00000"/>
                </a:solidFill>
              </a:rPr>
              <a:t>=None</a:t>
            </a:r>
            <a:r>
              <a:rPr lang="ko-KR" altLang="en-US" sz="1400" dirty="0">
                <a:solidFill>
                  <a:srgbClr val="C00000"/>
                </a:solidFill>
              </a:rPr>
              <a:t>을 추가하지 않았다면</a:t>
            </a:r>
            <a:br>
              <a:rPr lang="en-US" altLang="ko-KR" sz="1600" dirty="0"/>
            </a:br>
            <a:r>
              <a:rPr lang="en-US" altLang="ko-KR" sz="1600" dirty="0"/>
              <a:t>conn = sqlite3.connect('</a:t>
            </a:r>
            <a:r>
              <a:rPr lang="en-US" altLang="ko-KR" sz="1600" dirty="0" err="1"/>
              <a:t>testdb.db</a:t>
            </a:r>
            <a:r>
              <a:rPr lang="en-US" altLang="ko-KR" sz="1600" dirty="0"/>
              <a:t>',</a:t>
            </a:r>
            <a:r>
              <a:rPr lang="en-US" altLang="ko-KR" sz="1600" b="1" dirty="0">
                <a:solidFill>
                  <a:srgbClr val="0000FF"/>
                </a:solidFill>
              </a:rPr>
              <a:t> </a:t>
            </a:r>
            <a:r>
              <a:rPr lang="en-US" altLang="ko-KR" sz="1600" b="1" dirty="0" err="1">
                <a:solidFill>
                  <a:srgbClr val="0000FF"/>
                </a:solidFill>
              </a:rPr>
              <a:t>isolation_level</a:t>
            </a:r>
            <a:r>
              <a:rPr lang="en-US" altLang="ko-KR" sz="1600" b="1" dirty="0">
                <a:solidFill>
                  <a:srgbClr val="0000FF"/>
                </a:solidFill>
              </a:rPr>
              <a:t>=None</a:t>
            </a:r>
            <a:r>
              <a:rPr lang="en-US" altLang="ko-KR" sz="1600" dirty="0"/>
              <a:t>)</a:t>
            </a:r>
          </a:p>
          <a:p>
            <a:pPr>
              <a:lnSpc>
                <a:spcPts val="2400"/>
              </a:lnSpc>
            </a:pPr>
            <a:endParaRPr lang="en-US" altLang="ko-KR" sz="1400" dirty="0"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cur.executemany("INSERT INTO users(id, username, email, phone, web, </a:t>
            </a:r>
            <a:r>
              <a:rPr lang="en-US" altLang="ko-KR" sz="1400" dirty="0" err="1">
                <a:latin typeface="Consolas" panose="020B0609020204030204" pitchFamily="49" charset="0"/>
              </a:rPr>
              <a:t>regdate</a:t>
            </a:r>
            <a:r>
              <a:rPr lang="en-US" altLang="ko-KR" sz="1400" dirty="0">
                <a:latin typeface="Consolas" panose="020B0609020204030204" pitchFamily="49" charset="0"/>
              </a:rPr>
              <a:t>) \</a:t>
            </a:r>
          </a:p>
          <a:p>
            <a:pPr>
              <a:lnSpc>
                <a:spcPts val="24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    VALUES (?,?,?,?,?,?)", </a:t>
            </a:r>
            <a:r>
              <a:rPr lang="en-US" altLang="ko-KR" sz="1400" dirty="0" err="1">
                <a:latin typeface="Consolas" panose="020B0609020204030204" pitchFamily="49" charset="0"/>
              </a:rPr>
              <a:t>userList</a:t>
            </a:r>
            <a:r>
              <a:rPr lang="en-US" altLang="ko-KR" sz="1400" dirty="0"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400"/>
              </a:lnSpc>
            </a:pPr>
            <a:r>
              <a:rPr lang="en-US" altLang="ko-KR" sz="1400" dirty="0">
                <a:solidFill>
                  <a:srgbClr val="C00000"/>
                </a:solidFill>
                <a:latin typeface="Consolas" panose="020B0609020204030204" pitchFamily="49" charset="0"/>
              </a:rPr>
              <a:t># </a:t>
            </a:r>
            <a:r>
              <a:rPr lang="en-US" altLang="ko-KR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db</a:t>
            </a:r>
            <a:r>
              <a:rPr lang="ko-KR" alt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에 저장을 위해서는 </a:t>
            </a:r>
            <a:r>
              <a:rPr lang="en-US" altLang="ko-KR" sz="1400" dirty="0">
                <a:solidFill>
                  <a:srgbClr val="C00000"/>
                </a:solidFill>
                <a:latin typeface="Consolas" panose="020B0609020204030204" pitchFamily="49" charset="0"/>
              </a:rPr>
              <a:t>commit </a:t>
            </a:r>
            <a:r>
              <a:rPr lang="ko-KR" alt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을 해 주어야 함</a:t>
            </a:r>
            <a:endParaRPr lang="en-US" altLang="ko-KR" sz="14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ko-KR" sz="1400" dirty="0" err="1">
                <a:latin typeface="Consolas" panose="020B0609020204030204" pitchFamily="49" charset="0"/>
              </a:rPr>
              <a:t>conn.commit</a:t>
            </a:r>
            <a:r>
              <a:rPr lang="en-US" altLang="ko-KR" sz="1400" dirty="0"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2400"/>
              </a:lnSpc>
            </a:pPr>
            <a:r>
              <a:rPr lang="en-US" altLang="ko-KR" sz="1400" dirty="0" err="1">
                <a:latin typeface="Consolas" panose="020B0609020204030204" pitchFamily="49" charset="0"/>
              </a:rPr>
              <a:t>conn.rollback</a:t>
            </a:r>
            <a:r>
              <a:rPr lang="en-US" altLang="ko-KR" sz="1400" dirty="0">
                <a:latin typeface="Consolas" panose="020B0609020204030204" pitchFamily="49" charset="0"/>
              </a:rPr>
              <a:t>()    </a:t>
            </a:r>
          </a:p>
          <a:p>
            <a:pPr>
              <a:lnSpc>
                <a:spcPts val="2400"/>
              </a:lnSpc>
            </a:pPr>
            <a:r>
              <a:rPr lang="en-US" altLang="ko-KR" sz="1400" dirty="0">
                <a:solidFill>
                  <a:srgbClr val="C00000"/>
                </a:solidFill>
                <a:latin typeface="Consolas" panose="020B0609020204030204" pitchFamily="49" charset="0"/>
              </a:rPr>
              <a:t> # DB </a:t>
            </a:r>
            <a:r>
              <a:rPr lang="ko-KR" alt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접속 해제</a:t>
            </a:r>
            <a:endParaRPr lang="en-US" altLang="ko-KR" sz="14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ko-KR" sz="1400" dirty="0" err="1">
                <a:latin typeface="Consolas" panose="020B0609020204030204" pitchFamily="49" charset="0"/>
              </a:rPr>
              <a:t>conn.close</a:t>
            </a:r>
            <a:r>
              <a:rPr lang="en-US" altLang="ko-KR" sz="1400" dirty="0"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0862262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9C175-2368-E8D3-D76E-8FAF3E583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EE88F89-E397-13A7-F034-091774377E32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SQLite3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:  DB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데이터 조회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D8E230-9F80-7B73-AC02-C99DF424E45E}"/>
              </a:ext>
            </a:extLst>
          </p:cNvPr>
          <p:cNvSpPr txBox="1"/>
          <p:nvPr/>
        </p:nvSpPr>
        <p:spPr>
          <a:xfrm>
            <a:off x="0" y="656492"/>
            <a:ext cx="12192000" cy="33141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sqlite3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sqlite3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myDB.db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cursor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모든 데이터 조회</a:t>
            </a:r>
            <a:endParaRPr lang="ko-KR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"SELECT * FROM users"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출력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커서는 다음 위치로 자동 이동</a:t>
            </a:r>
            <a:endParaRPr lang="ko-KR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'1.</a:t>
            </a:r>
            <a:r>
              <a:rPr lang="en-US" altLang="ko-KR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fetchone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          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첫번째 데이터 출력</a:t>
            </a:r>
            <a:endParaRPr lang="ko-KR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'2.</a:t>
            </a:r>
            <a:r>
              <a:rPr lang="en-US" altLang="ko-KR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fetchone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          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커서는 두번째 데이터로 이동</a:t>
            </a:r>
            <a:endParaRPr lang="ko-KR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'3.</a:t>
            </a:r>
            <a:r>
              <a:rPr lang="en-US" altLang="ko-KR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fetchmany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두 개 데이터 출력</a:t>
            </a:r>
            <a:endParaRPr lang="ko-KR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'4.</a:t>
            </a:r>
            <a:r>
              <a:rPr lang="en-US" altLang="ko-KR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fetchall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          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전체 데이터 출력</a:t>
            </a:r>
            <a:endParaRPr lang="ko-KR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</a:pP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'5.</a:t>
            </a:r>
            <a:r>
              <a:rPr lang="en-US" altLang="ko-KR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fetchall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          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모든 데이터 출력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커서 위치</a:t>
            </a:r>
            <a:endParaRPr lang="ko-KR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1392335-8695-662C-FF01-8546111A2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23" y="4188413"/>
            <a:ext cx="7992590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712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D4269-F416-022C-91F7-99C704B13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8EC2F12-9929-4079-88CA-8532977E967C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SQLite3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:  DB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데이터 읽어오기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0893987-4EFA-35F8-B23B-3A161B5C399D}"/>
              </a:ext>
            </a:extLst>
          </p:cNvPr>
          <p:cNvSpPr/>
          <p:nvPr/>
        </p:nvSpPr>
        <p:spPr>
          <a:xfrm>
            <a:off x="291157" y="797510"/>
            <a:ext cx="9187380" cy="52629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Consolas" panose="020B0609020204030204" pitchFamily="49" charset="0"/>
              </a:rPr>
              <a:t># </a:t>
            </a:r>
            <a:r>
              <a:rPr lang="ko-KR" altLang="en-US" sz="1600" dirty="0">
                <a:latin typeface="Consolas" panose="020B0609020204030204" pitchFamily="49" charset="0"/>
              </a:rPr>
              <a:t>첫 번째 방법  </a:t>
            </a:r>
            <a:r>
              <a:rPr lang="en-US" altLang="ko-KR" sz="1600" dirty="0">
                <a:latin typeface="Consolas" panose="020B0609020204030204" pitchFamily="49" charset="0"/>
                <a:sym typeface="Wingdings" panose="05000000000000000000" pitchFamily="2" charset="2"/>
              </a:rPr>
              <a:t> DB </a:t>
            </a:r>
            <a:r>
              <a:rPr lang="ko-KR" altLang="en-US" sz="1600" dirty="0">
                <a:latin typeface="Consolas" panose="020B0609020204030204" pitchFamily="49" charset="0"/>
                <a:sym typeface="Wingdings" panose="05000000000000000000" pitchFamily="2" charset="2"/>
              </a:rPr>
              <a:t>데이터</a:t>
            </a:r>
            <a:r>
              <a:rPr lang="en-US" altLang="ko-KR" sz="1600" dirty="0">
                <a:latin typeface="Consolas" panose="020B0609020204030204" pitchFamily="49" charset="0"/>
                <a:sym typeface="Wingdings" panose="05000000000000000000" pitchFamily="2" charset="2"/>
              </a:rPr>
              <a:t>,</a:t>
            </a:r>
            <a:r>
              <a:rPr lang="ko-KR" altLang="en-US" sz="1600" dirty="0">
                <a:latin typeface="Consolas" panose="020B0609020204030204" pitchFamily="49" charset="0"/>
                <a:sym typeface="Wingdings" panose="05000000000000000000" pitchFamily="2" charset="2"/>
              </a:rPr>
              <a:t> 변수로 저장 후 출력</a:t>
            </a:r>
            <a:endParaRPr lang="en-US" altLang="ko-KR" sz="1600" dirty="0">
              <a:latin typeface="Consolas" panose="020B0609020204030204" pitchFamily="49" charset="0"/>
            </a:endParaRPr>
          </a:p>
          <a:p>
            <a:r>
              <a:rPr lang="en-US" altLang="ko-KR" sz="1600" dirty="0">
                <a:latin typeface="Consolas" panose="020B0609020204030204" pitchFamily="49" charset="0"/>
              </a:rPr>
              <a:t>rows = </a:t>
            </a:r>
            <a:r>
              <a:rPr lang="en-US" altLang="ko-KR" sz="1600" dirty="0" err="1">
                <a:latin typeface="Consolas" panose="020B0609020204030204" pitchFamily="49" charset="0"/>
              </a:rPr>
              <a:t>cur.fetchall</a:t>
            </a:r>
            <a:r>
              <a:rPr lang="en-US" altLang="ko-KR" sz="1600" dirty="0"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dirty="0">
                <a:latin typeface="Consolas" panose="020B0609020204030204" pitchFamily="49" charset="0"/>
              </a:rPr>
              <a:t>for row in rows:</a:t>
            </a:r>
          </a:p>
          <a:p>
            <a:r>
              <a:rPr lang="en-US" altLang="ko-KR" sz="1600" dirty="0">
                <a:latin typeface="Consolas" panose="020B0609020204030204" pitchFamily="49" charset="0"/>
              </a:rPr>
              <a:t>    print('Read-1 :', row)</a:t>
            </a:r>
          </a:p>
          <a:p>
            <a:endParaRPr lang="en-US" altLang="ko-KR" sz="1600" dirty="0">
              <a:latin typeface="Consolas" panose="020B0609020204030204" pitchFamily="49" charset="0"/>
            </a:endParaRPr>
          </a:p>
          <a:p>
            <a:endParaRPr lang="en-US" altLang="ko-KR" sz="1600" dirty="0">
              <a:latin typeface="Consolas" panose="020B0609020204030204" pitchFamily="49" charset="0"/>
            </a:endParaRPr>
          </a:p>
          <a:p>
            <a:endParaRPr lang="en-US" altLang="ko-KR" sz="1600" dirty="0">
              <a:latin typeface="Consolas" panose="020B0609020204030204" pitchFamily="49" charset="0"/>
            </a:endParaRPr>
          </a:p>
          <a:p>
            <a:endParaRPr lang="en-US" altLang="ko-KR" sz="1600" dirty="0">
              <a:latin typeface="Consolas" panose="020B0609020204030204" pitchFamily="49" charset="0"/>
            </a:endParaRPr>
          </a:p>
          <a:p>
            <a:endParaRPr lang="en-US" altLang="ko-KR" sz="1600" dirty="0">
              <a:latin typeface="Consolas" panose="020B0609020204030204" pitchFamily="49" charset="0"/>
            </a:endParaRPr>
          </a:p>
          <a:p>
            <a:endParaRPr lang="en-US" altLang="ko-KR" sz="1600" dirty="0">
              <a:latin typeface="Consolas" panose="020B0609020204030204" pitchFamily="49" charset="0"/>
            </a:endParaRPr>
          </a:p>
          <a:p>
            <a:endParaRPr lang="en-US" altLang="ko-KR" sz="1600" dirty="0">
              <a:latin typeface="Consolas" panose="020B0609020204030204" pitchFamily="49" charset="0"/>
            </a:endParaRPr>
          </a:p>
          <a:p>
            <a:r>
              <a:rPr lang="en-US" altLang="ko-KR" sz="1600" dirty="0">
                <a:latin typeface="Consolas" panose="020B0609020204030204" pitchFamily="49" charset="0"/>
              </a:rPr>
              <a:t># </a:t>
            </a:r>
            <a:r>
              <a:rPr lang="ko-KR" altLang="en-US" sz="1600" dirty="0">
                <a:latin typeface="Consolas" panose="020B0609020204030204" pitchFamily="49" charset="0"/>
              </a:rPr>
              <a:t>두 번째 방법  </a:t>
            </a:r>
            <a:r>
              <a:rPr lang="en-US" altLang="ko-KR" sz="1600" dirty="0"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latin typeface="Consolas" panose="020B0609020204030204" pitchFamily="49" charset="0"/>
                <a:sym typeface="Wingdings" panose="05000000000000000000" pitchFamily="2" charset="2"/>
              </a:rPr>
              <a:t>함수 리턴 값으로 출력</a:t>
            </a:r>
            <a:br>
              <a:rPr lang="en-US" altLang="ko-KR" sz="1600" dirty="0">
                <a:latin typeface="Consolas" panose="020B0609020204030204" pitchFamily="49" charset="0"/>
              </a:rPr>
            </a:br>
            <a:r>
              <a:rPr lang="en-US" altLang="ko-KR" sz="1600" dirty="0">
                <a:latin typeface="Consolas" panose="020B0609020204030204" pitchFamily="49" charset="0"/>
              </a:rPr>
              <a:t>for row in </a:t>
            </a:r>
            <a:r>
              <a:rPr lang="en-US" altLang="ko-KR" sz="1600" dirty="0" err="1">
                <a:latin typeface="Consolas" panose="020B0609020204030204" pitchFamily="49" charset="0"/>
              </a:rPr>
              <a:t>cur.fetchall</a:t>
            </a:r>
            <a:r>
              <a:rPr lang="en-US" altLang="ko-KR" sz="1600" dirty="0"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sz="1600" dirty="0">
                <a:latin typeface="Consolas" panose="020B0609020204030204" pitchFamily="49" charset="0"/>
              </a:rPr>
              <a:t>    print('Fetch-2 :', row)</a:t>
            </a:r>
          </a:p>
          <a:p>
            <a:endParaRPr lang="en-US" altLang="ko-KR" sz="1600" dirty="0">
              <a:latin typeface="Consolas" panose="020B0609020204030204" pitchFamily="49" charset="0"/>
            </a:endParaRPr>
          </a:p>
          <a:p>
            <a:endParaRPr lang="en-US" altLang="ko-KR" sz="1600" dirty="0">
              <a:latin typeface="Consolas" panose="020B0609020204030204" pitchFamily="49" charset="0"/>
            </a:endParaRPr>
          </a:p>
          <a:p>
            <a:endParaRPr lang="en-US" altLang="ko-KR" sz="1600" dirty="0">
              <a:latin typeface="Consolas" panose="020B0609020204030204" pitchFamily="49" charset="0"/>
            </a:endParaRPr>
          </a:p>
          <a:p>
            <a:endParaRPr lang="en-US" altLang="ko-KR" sz="1600" dirty="0">
              <a:latin typeface="Consolas" panose="020B0609020204030204" pitchFamily="49" charset="0"/>
            </a:endParaRPr>
          </a:p>
          <a:p>
            <a:endParaRPr lang="en-US" altLang="ko-KR" sz="1600" dirty="0">
              <a:latin typeface="Consolas" panose="020B0609020204030204" pitchFamily="49" charset="0"/>
            </a:endParaRPr>
          </a:p>
          <a:p>
            <a:endParaRPr lang="en-US" altLang="ko-KR" sz="1600" dirty="0">
              <a:latin typeface="Consolas" panose="020B0609020204030204" pitchFamily="49" charset="0"/>
            </a:endParaRPr>
          </a:p>
          <a:p>
            <a:endParaRPr lang="en-US" altLang="ko-KR" sz="1600" dirty="0">
              <a:latin typeface="Consolas" panose="020B0609020204030204" pitchFamily="49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76223F4-8E50-8B1F-7102-209E9724A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35" y="2058014"/>
            <a:ext cx="8125150" cy="110960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5AA4C4A-9AD3-C155-6E43-986542EF0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87" y="4647514"/>
            <a:ext cx="8170536" cy="109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16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B82CC-8BA6-592A-993D-9C8186468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102CAE8-974E-AAD5-6D43-DE6A86FE2B4C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SQLite3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:  where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조건을 지정해서 특정 데이터만 선택하거나 변경</a:t>
            </a:r>
            <a:endParaRPr lang="ko-KR" altLang="en-US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6326B5-5D0F-60A7-A3C0-01B22FCBF7E9}"/>
              </a:ext>
            </a:extLst>
          </p:cNvPr>
          <p:cNvSpPr txBox="1"/>
          <p:nvPr/>
        </p:nvSpPr>
        <p:spPr>
          <a:xfrm>
            <a:off x="154744" y="1388013"/>
            <a:ext cx="10197618" cy="284475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sqlite3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400"/>
              </a:lnSpc>
              <a:buNone/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sqlite3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myDB.db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cursor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2400"/>
              </a:lnSpc>
              <a:buNone/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param1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,)   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튜플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변수 선언</a:t>
            </a:r>
            <a:endParaRPr lang="ko-KR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'SELECT * FROM users WHERE id=?'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param1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'param1'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fetchone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2400"/>
              </a:lnSpc>
            </a:pP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'param1'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fetchall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D120CDD-4C1C-B706-2B5D-D6E0E3511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3" y="4708257"/>
            <a:ext cx="5666555" cy="6564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CB4678-77D6-2591-E8BC-8103E5944E6A}"/>
              </a:ext>
            </a:extLst>
          </p:cNvPr>
          <p:cNvSpPr txBox="1"/>
          <p:nvPr/>
        </p:nvSpPr>
        <p:spPr>
          <a:xfrm>
            <a:off x="213523" y="5793348"/>
            <a:ext cx="10649005" cy="703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첫번째 </a:t>
            </a:r>
            <a:r>
              <a:rPr lang="en-US" altLang="ko-KR" dirty="0"/>
              <a:t>print </a:t>
            </a:r>
            <a:r>
              <a:rPr lang="ko-KR" altLang="en-US" dirty="0"/>
              <a:t>에서는  </a:t>
            </a:r>
            <a:r>
              <a:rPr lang="en-US" altLang="ko-KR" dirty="0"/>
              <a:t>id 3</a:t>
            </a:r>
            <a:r>
              <a:rPr lang="ko-KR" altLang="en-US" dirty="0"/>
              <a:t>번만 출력된다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두번째 </a:t>
            </a:r>
            <a:r>
              <a:rPr lang="en-US" altLang="ko-KR" dirty="0"/>
              <a:t>print </a:t>
            </a:r>
            <a:r>
              <a:rPr lang="ko-KR" altLang="en-US" dirty="0"/>
              <a:t>에서는 출력될 것이 없다</a:t>
            </a:r>
            <a:r>
              <a:rPr lang="en-US" altLang="ko-KR" dirty="0"/>
              <a:t>. (</a:t>
            </a:r>
            <a:r>
              <a:rPr lang="ko-KR" altLang="en-US" dirty="0"/>
              <a:t>전체 </a:t>
            </a:r>
            <a:r>
              <a:rPr lang="en-US" altLang="ko-KR" dirty="0"/>
              <a:t>param1 </a:t>
            </a:r>
            <a:r>
              <a:rPr lang="ko-KR" altLang="en-US" dirty="0"/>
              <a:t>데이터를 첫번째 </a:t>
            </a:r>
            <a:r>
              <a:rPr lang="en-US" altLang="ko-KR" dirty="0"/>
              <a:t>print </a:t>
            </a:r>
            <a:r>
              <a:rPr lang="ko-KR" altLang="en-US" dirty="0"/>
              <a:t>에서 출력 하였으므로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B0C2ED-F110-25B4-40EA-5CCC5368D2E8}"/>
              </a:ext>
            </a:extLst>
          </p:cNvPr>
          <p:cNvSpPr txBox="1"/>
          <p:nvPr/>
        </p:nvSpPr>
        <p:spPr>
          <a:xfrm>
            <a:off x="213523" y="837586"/>
            <a:ext cx="315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Tuple  </a:t>
            </a:r>
            <a:r>
              <a:rPr lang="ko-KR" altLang="en-US" b="1" dirty="0"/>
              <a:t>형식으로 읽어오기</a:t>
            </a:r>
          </a:p>
        </p:txBody>
      </p:sp>
    </p:spTree>
    <p:extLst>
      <p:ext uri="{BB962C8B-B14F-4D97-AF65-F5344CB8AC3E}">
        <p14:creationId xmlns:p14="http://schemas.microsoft.com/office/powerpoint/2010/main" val="873672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C45C5-2787-D7F4-F042-E507D7186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F686F0D-63D9-4CCA-F4FE-F85FCCDCEB71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SQLite3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:  where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조건을 지정해서 특정 데이터만 선택하거나 변경</a:t>
            </a:r>
            <a:endParaRPr lang="ko-KR" altLang="en-US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5CDDD8-D5E3-4B1D-50E4-76D7D71C7643}"/>
              </a:ext>
            </a:extLst>
          </p:cNvPr>
          <p:cNvSpPr txBox="1"/>
          <p:nvPr/>
        </p:nvSpPr>
        <p:spPr>
          <a:xfrm>
            <a:off x="213523" y="837586"/>
            <a:ext cx="338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Dictionary </a:t>
            </a:r>
            <a:r>
              <a:rPr lang="ko-KR" altLang="en-US" b="1" dirty="0"/>
              <a:t>현태로 읽어오기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1EC87B-E4BE-4ABC-34A1-51F1093DC065}"/>
              </a:ext>
            </a:extLst>
          </p:cNvPr>
          <p:cNvSpPr txBox="1"/>
          <p:nvPr/>
        </p:nvSpPr>
        <p:spPr>
          <a:xfrm>
            <a:off x="534572" y="1365151"/>
            <a:ext cx="8806376" cy="243759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sqlite3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300"/>
              </a:lnSpc>
              <a:buNone/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sqlite3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myDB.db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cursor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2300"/>
              </a:lnSpc>
              <a:buNone/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'SELECT * FROM users WHERE id=:Id'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,{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'param3'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fetchone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2300"/>
              </a:lnSpc>
            </a:pP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'param3'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fetchall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42F7A61-2217-4956-C10B-A3041A2A3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" y="4201313"/>
            <a:ext cx="6046678" cy="62017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E2B0EA9-B271-66DE-9CDE-5B451701CF4F}"/>
              </a:ext>
            </a:extLst>
          </p:cNvPr>
          <p:cNvSpPr txBox="1"/>
          <p:nvPr/>
        </p:nvSpPr>
        <p:spPr>
          <a:xfrm>
            <a:off x="534572" y="5140989"/>
            <a:ext cx="5583965" cy="3831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tuple</a:t>
            </a:r>
            <a:r>
              <a:rPr lang="ko-KR" altLang="en-US" dirty="0"/>
              <a:t>로 읽든 </a:t>
            </a:r>
            <a:r>
              <a:rPr lang="en-US" altLang="ko-KR" dirty="0"/>
              <a:t>dictionary</a:t>
            </a:r>
            <a:r>
              <a:rPr lang="ko-KR" altLang="en-US" dirty="0"/>
              <a:t>로 읽든 결과는 동일하다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874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7A343-15A6-7620-1DD2-B05807304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B189B31-BFDE-D2F8-8D9A-758AF09B506B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SQLite3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: where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2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개 이상 값을 읽어 오는 방법</a:t>
            </a:r>
            <a:endParaRPr lang="ko-KR" altLang="en-US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E95B81-FB8C-C939-787F-D4953CCAC708}"/>
              </a:ext>
            </a:extLst>
          </p:cNvPr>
          <p:cNvSpPr txBox="1"/>
          <p:nvPr/>
        </p:nvSpPr>
        <p:spPr>
          <a:xfrm>
            <a:off x="182879" y="819764"/>
            <a:ext cx="8271804" cy="243759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sqlite3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300"/>
              </a:lnSpc>
              <a:buNone/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sqlite3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myDB.db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cursor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2300"/>
              </a:lnSpc>
              <a:buNone/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param4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'SELECT * FROM users WHERE id IN(?,?)'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param4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300"/>
              </a:lnSpc>
            </a:pP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'param4'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fetchall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82B5BAC-C8E5-F812-9F92-F63821406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" y="3799771"/>
            <a:ext cx="9283587" cy="3361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C3533C-BB31-302C-E51E-61A1DA3902A1}"/>
              </a:ext>
            </a:extLst>
          </p:cNvPr>
          <p:cNvSpPr txBox="1"/>
          <p:nvPr/>
        </p:nvSpPr>
        <p:spPr>
          <a:xfrm>
            <a:off x="182879" y="4295200"/>
            <a:ext cx="6383479" cy="703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하나의 리스트 안에 </a:t>
            </a:r>
            <a:r>
              <a:rPr lang="en-US" altLang="ko-KR" dirty="0"/>
              <a:t>2</a:t>
            </a:r>
            <a:r>
              <a:rPr lang="ko-KR" altLang="en-US" dirty="0"/>
              <a:t>개의 </a:t>
            </a:r>
            <a:r>
              <a:rPr lang="ko-KR" altLang="en-US" dirty="0" err="1"/>
              <a:t>튜플</a:t>
            </a:r>
            <a:r>
              <a:rPr lang="ko-KR" altLang="en-US" dirty="0"/>
              <a:t> 형태 데이터로 출력된다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위 예제에서는 </a:t>
            </a:r>
            <a:r>
              <a:rPr lang="en-US" altLang="ko-KR" dirty="0"/>
              <a:t>id 1, 5 </a:t>
            </a:r>
            <a:r>
              <a:rPr lang="ko-KR" altLang="en-US" dirty="0"/>
              <a:t>번 </a:t>
            </a:r>
            <a:r>
              <a:rPr lang="en-US" altLang="ko-KR" dirty="0"/>
              <a:t>2</a:t>
            </a:r>
            <a:r>
              <a:rPr lang="ko-KR" altLang="en-US" dirty="0"/>
              <a:t>개가 출력된다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87151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7FF8C-E8AF-38E2-C444-E4345EED7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F262ED2-764F-BAC3-1488-5C4FA39C5217}"/>
              </a:ext>
            </a:extLst>
          </p:cNvPr>
          <p:cNvSpPr/>
          <p:nvPr/>
        </p:nvSpPr>
        <p:spPr>
          <a:xfrm>
            <a:off x="0" y="0"/>
            <a:ext cx="12192000" cy="7037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SQLite3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:  Dump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DB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복사</a:t>
            </a:r>
            <a:endParaRPr lang="ko-KR" altLang="en-US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DD7212-1DF8-1FE7-3C35-430DA8540840}"/>
              </a:ext>
            </a:extLst>
          </p:cNvPr>
          <p:cNvSpPr txBox="1"/>
          <p:nvPr/>
        </p:nvSpPr>
        <p:spPr>
          <a:xfrm>
            <a:off x="211014" y="979779"/>
            <a:ext cx="10456709" cy="703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DUMP</a:t>
            </a:r>
            <a:r>
              <a:rPr lang="ko-KR" altLang="en-US" dirty="0"/>
              <a:t>는 </a:t>
            </a:r>
            <a:r>
              <a:rPr lang="en-US" altLang="ko-KR" dirty="0"/>
              <a:t>DB </a:t>
            </a:r>
            <a:r>
              <a:rPr lang="ko-KR" altLang="en-US" dirty="0"/>
              <a:t>구조와 데이터를 파일로 저장하거나</a:t>
            </a:r>
            <a:r>
              <a:rPr lang="en-US" altLang="ko-KR" dirty="0"/>
              <a:t>, </a:t>
            </a:r>
            <a:r>
              <a:rPr lang="ko-KR" altLang="en-US" dirty="0"/>
              <a:t>다른 곳에 복구할 수 있도록 내보내는 것이다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SQLite </a:t>
            </a:r>
            <a:r>
              <a:rPr lang="ko-KR" altLang="en-US" dirty="0"/>
              <a:t>에서는 전체 </a:t>
            </a:r>
            <a:r>
              <a:rPr lang="en-US" altLang="ko-KR" dirty="0"/>
              <a:t>DB </a:t>
            </a:r>
            <a:r>
              <a:rPr lang="ko-KR" altLang="en-US" dirty="0"/>
              <a:t>내용을 </a:t>
            </a:r>
            <a:r>
              <a:rPr lang="en-US" altLang="ko-KR" dirty="0"/>
              <a:t>SQL </a:t>
            </a:r>
            <a:r>
              <a:rPr lang="ko-KR" altLang="en-US" dirty="0"/>
              <a:t>문 형태로 출력한다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203CE7-E192-0D3B-A070-5A6FE9C605EC}"/>
              </a:ext>
            </a:extLst>
          </p:cNvPr>
          <p:cNvSpPr txBox="1"/>
          <p:nvPr/>
        </p:nvSpPr>
        <p:spPr>
          <a:xfrm>
            <a:off x="436098" y="1836705"/>
            <a:ext cx="10818056" cy="290246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sqlite3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200"/>
              </a:lnSpc>
              <a:buNone/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sqlite3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myDB.db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  <a:buNone/>
            </a:pP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cursor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2200"/>
              </a:lnSpc>
              <a:buNone/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22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myDB_dump.sql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'w'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      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생성 파일 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myDB_dump.sql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iterdump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22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ko-KR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'Dump print complete.'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8BE84C-916D-3396-927A-58DAD003B261}"/>
              </a:ext>
            </a:extLst>
          </p:cNvPr>
          <p:cNvSpPr txBox="1"/>
          <p:nvPr/>
        </p:nvSpPr>
        <p:spPr>
          <a:xfrm>
            <a:off x="229494" y="4892373"/>
            <a:ext cx="5422575" cy="3831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work </a:t>
            </a:r>
            <a:r>
              <a:rPr lang="ko-KR" altLang="en-US" dirty="0"/>
              <a:t>폴더에 </a:t>
            </a:r>
            <a:r>
              <a:rPr lang="en-US" altLang="ko-KR" dirty="0" err="1"/>
              <a:t>myDB_dump.sql</a:t>
            </a:r>
            <a:r>
              <a:rPr lang="en-US" altLang="ko-KR" dirty="0"/>
              <a:t> </a:t>
            </a:r>
            <a:r>
              <a:rPr lang="ko-KR" altLang="en-US" dirty="0"/>
              <a:t>파일이 생성된다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026FD13-96AF-5AA1-EFAE-DDCE39B47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572" y="3218942"/>
            <a:ext cx="4858428" cy="36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4389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AE663-2ED1-25B3-8B9B-650B9BE50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4248528-A568-60E2-44CA-F80BD09589B2}"/>
              </a:ext>
            </a:extLst>
          </p:cNvPr>
          <p:cNvSpPr/>
          <p:nvPr/>
        </p:nvSpPr>
        <p:spPr>
          <a:xfrm>
            <a:off x="0" y="0"/>
            <a:ext cx="12192000" cy="7037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SQLite3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:  .</a:t>
            </a:r>
            <a:r>
              <a:rPr lang="en-US" altLang="ko-KR" sz="2000" b="1" dirty="0" err="1">
                <a:solidFill>
                  <a:schemeClr val="tx1"/>
                </a:solidFill>
                <a:latin typeface="+mn-ea"/>
              </a:rPr>
              <a:t>sql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 을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.</a:t>
            </a:r>
            <a:r>
              <a:rPr lang="en-US" altLang="ko-KR" sz="2000" b="1" dirty="0" err="1">
                <a:solidFill>
                  <a:schemeClr val="tx1"/>
                </a:solidFill>
                <a:latin typeface="+mn-ea"/>
              </a:rPr>
              <a:t>db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로 변환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A6C556-4B9E-ECD9-F0AA-012486444A10}"/>
              </a:ext>
            </a:extLst>
          </p:cNvPr>
          <p:cNvSpPr txBox="1"/>
          <p:nvPr/>
        </p:nvSpPr>
        <p:spPr>
          <a:xfrm>
            <a:off x="211014" y="810966"/>
            <a:ext cx="10172978" cy="1024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DB Browser </a:t>
            </a:r>
            <a:r>
              <a:rPr lang="ko-KR" altLang="en-US" dirty="0"/>
              <a:t>프로그램을 실행한다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파일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새 데이터베이스</a:t>
            </a:r>
            <a:r>
              <a:rPr lang="en-US" altLang="ko-KR" dirty="0">
                <a:sym typeface="Wingdings" panose="05000000000000000000" pitchFamily="2" charset="2"/>
              </a:rPr>
              <a:t>(N) </a:t>
            </a:r>
            <a:r>
              <a:rPr lang="ko-KR" altLang="en-US" dirty="0">
                <a:sym typeface="Wingdings" panose="05000000000000000000" pitchFamily="2" charset="2"/>
              </a:rPr>
              <a:t>실행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새 데이터베이스 저장 위치와 이름 저장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en-US" altLang="ko-KR" dirty="0" err="1">
                <a:sym typeface="Wingdings" panose="05000000000000000000" pitchFamily="2" charset="2"/>
              </a:rPr>
              <a:t>myDB_dump.db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ym typeface="Wingdings" panose="05000000000000000000" pitchFamily="2" charset="2"/>
              </a:rPr>
              <a:t>SQL </a:t>
            </a:r>
            <a:r>
              <a:rPr lang="ko-KR" altLang="en-US" dirty="0">
                <a:sym typeface="Wingdings" panose="05000000000000000000" pitchFamily="2" charset="2"/>
              </a:rPr>
              <a:t>스크립트 가져오기 </a:t>
            </a:r>
            <a:r>
              <a:rPr lang="en-US" altLang="ko-KR" dirty="0">
                <a:sym typeface="Wingdings" panose="05000000000000000000" pitchFamily="2" charset="2"/>
              </a:rPr>
              <a:t>( </a:t>
            </a:r>
            <a:r>
              <a:rPr lang="ko-KR" altLang="en-US" dirty="0">
                <a:sym typeface="Wingdings" panose="05000000000000000000" pitchFamily="2" charset="2"/>
              </a:rPr>
              <a:t>파일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가져오기 </a:t>
            </a:r>
            <a:r>
              <a:rPr lang="en-US" altLang="ko-KR" dirty="0">
                <a:sym typeface="Wingdings" panose="05000000000000000000" pitchFamily="2" charset="2"/>
              </a:rPr>
              <a:t> SQL </a:t>
            </a:r>
            <a:r>
              <a:rPr lang="ko-KR" altLang="en-US" dirty="0">
                <a:sym typeface="Wingdings" panose="05000000000000000000" pitchFamily="2" charset="2"/>
              </a:rPr>
              <a:t>파일로부터 데이터베이스 가져오기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5D8C3C5-9FF1-4A03-A571-44521329F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02" y="1894782"/>
            <a:ext cx="7401958" cy="496321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654773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B90F1-FE70-6730-5980-B6F4F81A1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541B78F-60CD-E5F0-BC6C-23B04787F30E}"/>
              </a:ext>
            </a:extLst>
          </p:cNvPr>
          <p:cNvSpPr/>
          <p:nvPr/>
        </p:nvSpPr>
        <p:spPr>
          <a:xfrm>
            <a:off x="0" y="0"/>
            <a:ext cx="12192000" cy="7037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SQLite3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:  .</a:t>
            </a:r>
            <a:r>
              <a:rPr lang="en-US" altLang="ko-KR" sz="2000" b="1" dirty="0" err="1">
                <a:solidFill>
                  <a:schemeClr val="tx1"/>
                </a:solidFill>
                <a:latin typeface="+mn-ea"/>
              </a:rPr>
              <a:t>sql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 을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.</a:t>
            </a:r>
            <a:r>
              <a:rPr lang="en-US" altLang="ko-KR" sz="2000" b="1" dirty="0" err="1">
                <a:solidFill>
                  <a:schemeClr val="tx1"/>
                </a:solidFill>
                <a:latin typeface="+mn-ea"/>
              </a:rPr>
              <a:t>db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로 변환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D88C3B-04E9-3D08-DC84-6DCAAFE098A6}"/>
              </a:ext>
            </a:extLst>
          </p:cNvPr>
          <p:cNvSpPr txBox="1"/>
          <p:nvPr/>
        </p:nvSpPr>
        <p:spPr>
          <a:xfrm>
            <a:off x="211014" y="810966"/>
            <a:ext cx="3924472" cy="384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SQL </a:t>
            </a:r>
            <a:r>
              <a:rPr lang="ko-KR" altLang="en-US" dirty="0"/>
              <a:t>실행 </a:t>
            </a:r>
            <a:r>
              <a:rPr lang="en-US" altLang="ko-KR" dirty="0">
                <a:sym typeface="Wingdings" panose="05000000000000000000" pitchFamily="2" charset="2"/>
              </a:rPr>
              <a:t> RUN  </a:t>
            </a:r>
            <a:r>
              <a:rPr lang="ko-KR" altLang="en-US" dirty="0">
                <a:sym typeface="Wingdings" panose="05000000000000000000" pitchFamily="2" charset="2"/>
              </a:rPr>
              <a:t>데이터 탐색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26C53D6-D731-7BA1-4DBB-75E40A0A3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827" y="1303189"/>
            <a:ext cx="7007576" cy="1985860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F471502-1E12-132B-EBAE-6914A1B2E6A5}"/>
              </a:ext>
            </a:extLst>
          </p:cNvPr>
          <p:cNvSpPr/>
          <p:nvPr/>
        </p:nvSpPr>
        <p:spPr>
          <a:xfrm>
            <a:off x="4684542" y="2096086"/>
            <a:ext cx="1223889" cy="323557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EF73BAF-E351-0434-0E0D-AA79696806D1}"/>
              </a:ext>
            </a:extLst>
          </p:cNvPr>
          <p:cNvSpPr/>
          <p:nvPr/>
        </p:nvSpPr>
        <p:spPr>
          <a:xfrm>
            <a:off x="4722587" y="1801303"/>
            <a:ext cx="261257" cy="241160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BD8D965-6092-5248-A0E0-A96CD8910BB6}"/>
              </a:ext>
            </a:extLst>
          </p:cNvPr>
          <p:cNvSpPr/>
          <p:nvPr/>
        </p:nvSpPr>
        <p:spPr>
          <a:xfrm>
            <a:off x="2144028" y="2042463"/>
            <a:ext cx="1223889" cy="323557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6E62818-1DF7-E0AB-C61C-7E0BD7488A08}"/>
              </a:ext>
            </a:extLst>
          </p:cNvPr>
          <p:cNvSpPr/>
          <p:nvPr/>
        </p:nvSpPr>
        <p:spPr>
          <a:xfrm>
            <a:off x="2182073" y="1747680"/>
            <a:ext cx="261257" cy="241160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18FD60D-274B-A4CD-B035-FEC2B7E94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25" y="3568952"/>
            <a:ext cx="3419952" cy="3162741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8F7F5C8-732D-8576-361F-689C0A895102}"/>
              </a:ext>
            </a:extLst>
          </p:cNvPr>
          <p:cNvSpPr txBox="1"/>
          <p:nvPr/>
        </p:nvSpPr>
        <p:spPr>
          <a:xfrm>
            <a:off x="4244853" y="4227071"/>
            <a:ext cx="6441187" cy="3831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myDB</a:t>
            </a:r>
            <a:r>
              <a:rPr lang="en-US" altLang="ko-KR" dirty="0"/>
              <a:t> </a:t>
            </a:r>
            <a:r>
              <a:rPr lang="ko-KR" altLang="en-US" dirty="0"/>
              <a:t>테이블과 데이터가 </a:t>
            </a:r>
            <a:r>
              <a:rPr lang="en-US" altLang="ko-KR" dirty="0"/>
              <a:t>Dump </a:t>
            </a:r>
            <a:r>
              <a:rPr lang="ko-KR" altLang="en-US" dirty="0"/>
              <a:t>된 것을 확인할 수 있다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3742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B7866-7F17-F80E-CAE7-935D2371F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2370000-EDD6-4406-88B7-D42D8430BA0B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SQLite3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: DB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데이터 수정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1B1364-695A-E8ED-8831-260ACEFAE5D6}"/>
              </a:ext>
            </a:extLst>
          </p:cNvPr>
          <p:cNvSpPr txBox="1"/>
          <p:nvPr/>
        </p:nvSpPr>
        <p:spPr>
          <a:xfrm>
            <a:off x="84405" y="762800"/>
            <a:ext cx="11938781" cy="450225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sqlite3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300"/>
              </a:lnSpc>
              <a:buNone/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sqlite3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myDB.db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cursor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2300"/>
              </a:lnSpc>
              <a:buNone/>
            </a:pP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Tuple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형태로 </a:t>
            </a:r>
            <a:r>
              <a:rPr lang="ko-KR" alt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수정정</a:t>
            </a:r>
            <a:endParaRPr lang="ko-KR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"UPDATE users SET username= ? WHERE id= ?"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'sky'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Dictionary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형태로 수정</a:t>
            </a:r>
            <a:endParaRPr lang="ko-KR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"UPDATE users SET username = :name1 WHERE id = :id"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{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"name1"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'sea'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String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으로 수정</a:t>
            </a:r>
            <a:endParaRPr lang="ko-KR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"UPDATE users SET username = '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 WHERE id = '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anny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"SELECT * FROM users"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300"/>
              </a:lnSpc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commit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8051333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9D290-272F-A3DF-F4DC-C93AF0ACB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B2CF11F-6ED4-B485-D102-301302F3AD4D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SQLite3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: DB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데이터 수정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FF049C1-031B-A94F-CC1A-B774F6A86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26" y="908652"/>
            <a:ext cx="6157022" cy="3452331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7EB757D-5F6A-B732-2106-3D53A63E8F50}"/>
              </a:ext>
            </a:extLst>
          </p:cNvPr>
          <p:cNvCxnSpPr/>
          <p:nvPr/>
        </p:nvCxnSpPr>
        <p:spPr>
          <a:xfrm>
            <a:off x="984739" y="1322362"/>
            <a:ext cx="914400" cy="0"/>
          </a:xfrm>
          <a:prstGeom prst="line">
            <a:avLst/>
          </a:prstGeom>
          <a:ln w="254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A715E15-96CA-AE19-2491-63E6490CD8A9}"/>
              </a:ext>
            </a:extLst>
          </p:cNvPr>
          <p:cNvCxnSpPr/>
          <p:nvPr/>
        </p:nvCxnSpPr>
        <p:spPr>
          <a:xfrm>
            <a:off x="984739" y="2079673"/>
            <a:ext cx="914400" cy="0"/>
          </a:xfrm>
          <a:prstGeom prst="line">
            <a:avLst/>
          </a:prstGeom>
          <a:ln w="254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27A165B-169D-B723-7718-812ED95033B8}"/>
              </a:ext>
            </a:extLst>
          </p:cNvPr>
          <p:cNvCxnSpPr/>
          <p:nvPr/>
        </p:nvCxnSpPr>
        <p:spPr>
          <a:xfrm>
            <a:off x="984739" y="2780713"/>
            <a:ext cx="914400" cy="0"/>
          </a:xfrm>
          <a:prstGeom prst="line">
            <a:avLst/>
          </a:prstGeom>
          <a:ln w="254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75606D7C-8DF8-0E1C-B04A-99322DCFA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761" y="908652"/>
            <a:ext cx="4166156" cy="495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297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CF1E9-DDD2-F7FA-FEC1-3D52B0CC7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8C61752-A8F0-BEE8-8C85-3E1345879147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SQLite3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: DB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데이터 삭제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0CAB53-BF70-9398-4B36-AF49003D6DC8}"/>
              </a:ext>
            </a:extLst>
          </p:cNvPr>
          <p:cNvSpPr txBox="1"/>
          <p:nvPr/>
        </p:nvSpPr>
        <p:spPr>
          <a:xfrm>
            <a:off x="211015" y="892753"/>
            <a:ext cx="11830929" cy="47972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sqlite3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300"/>
              </a:lnSpc>
              <a:buNone/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sqlite3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myDB.db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cursor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2300"/>
              </a:lnSpc>
              <a:buNone/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</a:t>
            </a:r>
            <a:r>
              <a:rPr lang="ko-KR" alt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튜플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형태로 삭제</a:t>
            </a:r>
            <a:endParaRPr lang="ko-KR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"DELETE FROM users WHERE id= ?"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,))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Dictionary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형태로 삭제</a:t>
            </a:r>
            <a:endParaRPr lang="ko-KR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"DELETE FROM users WHERE id = :id"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{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String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으로 삭제</a:t>
            </a:r>
            <a:endParaRPr lang="ko-KR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"DELETE FROM users WHERE id = '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,))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"SELECT * FROM users"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300"/>
              </a:lnSpc>
              <a:buNone/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commit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2300"/>
              </a:lnSpc>
            </a:pP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B9ABBF8-9175-5528-D8D0-62844F463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5413" y="3429000"/>
            <a:ext cx="4396588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9058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D602A-C096-4587-BD25-23A0C1737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BF671FB-24DE-B609-1BDF-B346E0D90A98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DB Browser for SQLite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프로그램에서 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data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query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연습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0951B67-3D06-96D5-7CC1-EFEDC546E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51" y="847364"/>
            <a:ext cx="9840698" cy="5163271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2DED83-BF73-8181-A67B-1ED16F498E7D}"/>
              </a:ext>
            </a:extLst>
          </p:cNvPr>
          <p:cNvSpPr txBox="1"/>
          <p:nvPr/>
        </p:nvSpPr>
        <p:spPr>
          <a:xfrm>
            <a:off x="2405575" y="2574388"/>
            <a:ext cx="140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3A0DFB"/>
                </a:solidFill>
              </a:rPr>
              <a:t>Query </a:t>
            </a:r>
            <a:r>
              <a:rPr lang="ko-KR" altLang="en-US" b="1" dirty="0">
                <a:solidFill>
                  <a:srgbClr val="3A0DFB"/>
                </a:solidFill>
              </a:rPr>
              <a:t>입력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480638-24BC-219A-08E3-E26FAF1906BA}"/>
              </a:ext>
            </a:extLst>
          </p:cNvPr>
          <p:cNvSpPr txBox="1"/>
          <p:nvPr/>
        </p:nvSpPr>
        <p:spPr>
          <a:xfrm>
            <a:off x="1516966" y="3729615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3A0DFB"/>
                </a:solidFill>
              </a:rPr>
              <a:t>조회 창</a:t>
            </a:r>
            <a:endParaRPr lang="ko-KR" altLang="en-US" b="1" dirty="0">
              <a:solidFill>
                <a:srgbClr val="3A0DFB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5A7B5B-3365-4122-884D-E332769C5120}"/>
              </a:ext>
            </a:extLst>
          </p:cNvPr>
          <p:cNvSpPr txBox="1"/>
          <p:nvPr/>
        </p:nvSpPr>
        <p:spPr>
          <a:xfrm>
            <a:off x="1446658" y="5218446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3A0DFB"/>
                </a:solidFill>
              </a:rPr>
              <a:t>결과 창</a:t>
            </a:r>
          </a:p>
        </p:txBody>
      </p:sp>
    </p:spTree>
    <p:extLst>
      <p:ext uri="{BB962C8B-B14F-4D97-AF65-F5344CB8AC3E}">
        <p14:creationId xmlns:p14="http://schemas.microsoft.com/office/powerpoint/2010/main" val="33979283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9900F-E435-3779-AA2F-66D5E7747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DF2777E-658B-DE47-5453-A60F0CFBCD4D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Query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종류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5B94243-0390-99C7-8807-3BF85AB57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715981"/>
              </p:ext>
            </p:extLst>
          </p:nvPr>
        </p:nvGraphicFramePr>
        <p:xfrm>
          <a:off x="498621" y="986953"/>
          <a:ext cx="10586721" cy="5090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090">
                  <a:extLst>
                    <a:ext uri="{9D8B030D-6E8A-4147-A177-3AD203B41FA5}">
                      <a16:colId xmlns:a16="http://schemas.microsoft.com/office/drawing/2014/main" val="2516184180"/>
                    </a:ext>
                  </a:extLst>
                </a:gridCol>
                <a:gridCol w="3699803">
                  <a:extLst>
                    <a:ext uri="{9D8B030D-6E8A-4147-A177-3AD203B41FA5}">
                      <a16:colId xmlns:a16="http://schemas.microsoft.com/office/drawing/2014/main" val="1142212865"/>
                    </a:ext>
                  </a:extLst>
                </a:gridCol>
                <a:gridCol w="4951828">
                  <a:extLst>
                    <a:ext uri="{9D8B030D-6E8A-4147-A177-3AD203B41FA5}">
                      <a16:colId xmlns:a16="http://schemas.microsoft.com/office/drawing/2014/main" val="2995586403"/>
                    </a:ext>
                  </a:extLst>
                </a:gridCol>
              </a:tblGrid>
              <a:tr h="7271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Query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설 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예 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685586"/>
                  </a:ext>
                </a:extLst>
              </a:tr>
              <a:tr h="7271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SELECT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 조회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검색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 SELECT * FROM users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1094283"/>
                  </a:ext>
                </a:extLst>
              </a:tr>
              <a:tr h="7271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INSERT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데이터 추가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입력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 INSERT INTO users VALUES(…)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9130697"/>
                  </a:ext>
                </a:extLst>
              </a:tr>
              <a:tr h="7271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UPDATE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데이터 수정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변경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 UPDATE users SET name=‘son’ WHERE id=1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4909171"/>
                  </a:ext>
                </a:extLst>
              </a:tr>
              <a:tr h="7271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DELETE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 데이터 삭제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 DELETE FROM users WHERE id=1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2641841"/>
                  </a:ext>
                </a:extLst>
              </a:tr>
              <a:tr h="7271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CREATE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테이블 또는 데이터베이스 생성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 CREATE TABLE users (…)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8081475"/>
                  </a:ext>
                </a:extLst>
              </a:tr>
              <a:tr h="7271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DROP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테이블 또는 데이터베이스 삭제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 DROP TABLE users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1154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6267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890C3-9ABD-BAAA-3986-155E02F3A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F796016-9751-98B8-DC4C-A32432FF3C01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Query : SELECT</a:t>
            </a:r>
            <a:endParaRPr lang="ko-KR" altLang="en-US" sz="20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C7985D1-1067-3B55-46DE-7E9E690DF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23" y="951823"/>
            <a:ext cx="5487166" cy="557290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1709C8-603D-D7B9-7658-4D1AA94F4481}"/>
              </a:ext>
            </a:extLst>
          </p:cNvPr>
          <p:cNvSpPr txBox="1"/>
          <p:nvPr/>
        </p:nvSpPr>
        <p:spPr>
          <a:xfrm>
            <a:off x="5834747" y="1375385"/>
            <a:ext cx="6357253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SELECT * FROM users;</a:t>
            </a:r>
          </a:p>
          <a:p>
            <a:endParaRPr lang="en-US" altLang="ko-KR" sz="1600" dirty="0"/>
          </a:p>
          <a:p>
            <a:r>
              <a:rPr lang="en-US" altLang="ko-KR" sz="1600" dirty="0"/>
              <a:t>SELECT username, phone FROM users;</a:t>
            </a:r>
          </a:p>
          <a:p>
            <a:endParaRPr lang="en-US" altLang="ko-KR" sz="1600" dirty="0"/>
          </a:p>
          <a:p>
            <a:r>
              <a:rPr lang="en-US" altLang="ko-KR" sz="1600" dirty="0"/>
              <a:t>SELECT username, phone FROM users LIMIT 3;</a:t>
            </a:r>
          </a:p>
          <a:p>
            <a:endParaRPr lang="en-US" altLang="ko-KR" sz="1600" dirty="0"/>
          </a:p>
          <a:p>
            <a:r>
              <a:rPr lang="en-US" altLang="ko-KR" sz="1600" dirty="0"/>
              <a:t>SELECT username, phone FROM users ORDER BY username;</a:t>
            </a:r>
          </a:p>
          <a:p>
            <a:endParaRPr lang="en-US" altLang="ko-KR" sz="1600" dirty="0"/>
          </a:p>
          <a:p>
            <a:r>
              <a:rPr lang="en-US" altLang="ko-KR" sz="1600" dirty="0"/>
              <a:t>SELECT username, phone FROM users ORDER BY username DESC;</a:t>
            </a:r>
            <a:endParaRPr lang="ko-KR" altLang="en-US" sz="1600" dirty="0"/>
          </a:p>
          <a:p>
            <a:endParaRPr lang="ko-KR" altLang="en-US" sz="16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1318B08-A040-9AAB-D178-8EE9CF06FCB5}"/>
              </a:ext>
            </a:extLst>
          </p:cNvPr>
          <p:cNvSpPr/>
          <p:nvPr/>
        </p:nvSpPr>
        <p:spPr>
          <a:xfrm>
            <a:off x="1387367" y="1881352"/>
            <a:ext cx="273269" cy="252248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68586042-E794-7658-1D2F-A083BB69C430}"/>
              </a:ext>
            </a:extLst>
          </p:cNvPr>
          <p:cNvCxnSpPr/>
          <p:nvPr/>
        </p:nvCxnSpPr>
        <p:spPr>
          <a:xfrm flipH="1">
            <a:off x="1587064" y="1587062"/>
            <a:ext cx="168166" cy="294290"/>
          </a:xfrm>
          <a:prstGeom prst="straightConnector1">
            <a:avLst/>
          </a:prstGeom>
          <a:ln w="38100">
            <a:solidFill>
              <a:srgbClr val="3A0DF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6257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C365C-B679-3885-77A0-07E6873E2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7A29A0A-ECA6-1FDE-A206-C1A1E38BFC4E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Query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: INSERT</a:t>
            </a:r>
            <a:endParaRPr lang="ko-KR" altLang="en-US" sz="20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F1A5E90-B034-60B1-D665-0732AC894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40" y="1145005"/>
            <a:ext cx="3541037" cy="2451487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07BAB62-ABAA-0F32-E87B-BDF2C3F2C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263" y="1145005"/>
            <a:ext cx="5287113" cy="4210638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FDD1EE-9FEE-B302-FEB1-7B01302F58BE}"/>
              </a:ext>
            </a:extLst>
          </p:cNvPr>
          <p:cNvSpPr txBox="1"/>
          <p:nvPr/>
        </p:nvSpPr>
        <p:spPr>
          <a:xfrm>
            <a:off x="2963917" y="5474824"/>
            <a:ext cx="6674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INSERT INTO users VALUES(‘1’, ‘</a:t>
            </a:r>
            <a:r>
              <a:rPr lang="en-US" altLang="ko-KR" dirty="0" err="1"/>
              <a:t>aaa</a:t>
            </a:r>
            <a:r>
              <a:rPr lang="en-US" altLang="ko-KR" dirty="0"/>
              <a:t>’, ‘</a:t>
            </a:r>
            <a:r>
              <a:rPr lang="en-US" altLang="ko-KR" dirty="0" err="1"/>
              <a:t>a@com</a:t>
            </a:r>
            <a:r>
              <a:rPr lang="en-US" altLang="ko-KR" dirty="0"/>
              <a:t>’, ‘11-111-1111’);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7D53173-F69A-F30F-9B6A-E205F797C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862" y="1145005"/>
            <a:ext cx="2893806" cy="2670250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BFF9216-3547-732A-39B1-BB8C88902995}"/>
              </a:ext>
            </a:extLst>
          </p:cNvPr>
          <p:cNvSpPr/>
          <p:nvPr/>
        </p:nvSpPr>
        <p:spPr>
          <a:xfrm>
            <a:off x="9217862" y="1566041"/>
            <a:ext cx="2889398" cy="357352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6554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D7B39-8DC0-9F56-8AA8-A9762740B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22EB27A-5DBA-8C96-C107-D1A985575D77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Query : UPDATE</a:t>
            </a:r>
            <a:endParaRPr lang="ko-KR" altLang="en-US" sz="20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BFDB45-DA6A-63C4-7A4B-577B91BB5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99" y="1039901"/>
            <a:ext cx="2893806" cy="2670250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5E36183-13A3-A94F-2891-E3313D783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631" y="1039901"/>
            <a:ext cx="5039428" cy="4172532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A0A6CA4-3744-A9B6-D837-6B00F9740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226" y="1039901"/>
            <a:ext cx="2893806" cy="2720672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6AA3AAF-B17E-49D2-024E-C806D29D5D42}"/>
              </a:ext>
            </a:extLst>
          </p:cNvPr>
          <p:cNvSpPr/>
          <p:nvPr/>
        </p:nvSpPr>
        <p:spPr>
          <a:xfrm>
            <a:off x="9133779" y="1566041"/>
            <a:ext cx="630331" cy="357352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9141AE-6E96-B0BF-A0E7-113A4DF72777}"/>
              </a:ext>
            </a:extLst>
          </p:cNvPr>
          <p:cNvSpPr txBox="1"/>
          <p:nvPr/>
        </p:nvSpPr>
        <p:spPr>
          <a:xfrm>
            <a:off x="3418631" y="5411176"/>
            <a:ext cx="5276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UPDATE users SET username=‘son’ WHERE id=1;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87765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0A9D2-3E93-C4DB-E90A-169EB3624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6D239BA-F6A4-FDD1-5E94-DD1CD9D38E1A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6212" algn="ctr"/>
            <a:r>
              <a:rPr lang="en-US" altLang="ko-KR" sz="3600" b="1" dirty="0">
                <a:solidFill>
                  <a:schemeClr val="bg1"/>
                </a:solidFill>
                <a:latin typeface="+mn-ea"/>
              </a:rPr>
              <a:t>ESP32</a:t>
            </a:r>
            <a:r>
              <a:rPr lang="ko-KR" altLang="en-US" sz="360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  <a:latin typeface="+mn-ea"/>
              </a:rPr>
              <a:t>Sensor</a:t>
            </a:r>
            <a:r>
              <a:rPr lang="ko-KR" altLang="en-US" sz="360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  <a:latin typeface="+mn-ea"/>
              </a:rPr>
              <a:t>data</a:t>
            </a:r>
            <a:r>
              <a:rPr lang="ko-KR" altLang="en-US" sz="3600" b="1" dirty="0">
                <a:solidFill>
                  <a:schemeClr val="bg1"/>
                </a:solidFill>
                <a:latin typeface="+mn-ea"/>
              </a:rPr>
              <a:t>를 </a:t>
            </a:r>
            <a:r>
              <a:rPr lang="en-US" altLang="ko-KR" sz="3600" b="1" dirty="0">
                <a:solidFill>
                  <a:schemeClr val="bg1"/>
                </a:solidFill>
                <a:latin typeface="+mn-ea"/>
              </a:rPr>
              <a:t>DB</a:t>
            </a:r>
            <a:r>
              <a:rPr lang="ko-KR" altLang="en-US" sz="3600" b="1" dirty="0">
                <a:solidFill>
                  <a:schemeClr val="bg1"/>
                </a:solidFill>
                <a:latin typeface="+mn-ea"/>
              </a:rPr>
              <a:t>에 저장해보자</a:t>
            </a:r>
          </a:p>
        </p:txBody>
      </p:sp>
    </p:spTree>
    <p:extLst>
      <p:ext uri="{BB962C8B-B14F-4D97-AF65-F5344CB8AC3E}">
        <p14:creationId xmlns:p14="http://schemas.microsoft.com/office/powerpoint/2010/main" val="13057922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726C2-6F7C-9C54-84F2-DEDFD9F51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49A17A6-8F21-6401-3B23-7EF97BB319C3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Sensor data DB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저장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4B0971-37F0-65B3-1D58-06F8454857E0}"/>
              </a:ext>
            </a:extLst>
          </p:cNvPr>
          <p:cNvSpPr txBox="1"/>
          <p:nvPr/>
        </p:nvSpPr>
        <p:spPr>
          <a:xfrm>
            <a:off x="1837620" y="4829294"/>
            <a:ext cx="9219555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800" dirty="0"/>
              <a:t>Serial Protocol :  </a:t>
            </a:r>
            <a:r>
              <a:rPr lang="en-US" altLang="ko-KR" sz="3600" b="1" dirty="0"/>
              <a:t>&lt;0x02&gt;,00.0,00.0,000,&lt;0x03&gt;</a:t>
            </a:r>
            <a:br>
              <a:rPr lang="en-US" altLang="ko-KR" sz="3600" b="1" dirty="0"/>
            </a:br>
            <a:r>
              <a:rPr lang="en-US" altLang="ko-KR" sz="2400" b="1" dirty="0"/>
              <a:t>                 </a:t>
            </a:r>
            <a:r>
              <a:rPr lang="ko-KR" altLang="en-US" sz="2400" b="1" dirty="0"/>
              <a:t>온도    습도   조도</a:t>
            </a:r>
            <a:endParaRPr lang="en-US" altLang="ko-KR" sz="28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F38A2DB-8B15-95C1-B6DE-309B8C12201D}"/>
              </a:ext>
            </a:extLst>
          </p:cNvPr>
          <p:cNvSpPr/>
          <p:nvPr/>
        </p:nvSpPr>
        <p:spPr>
          <a:xfrm>
            <a:off x="293891" y="1638669"/>
            <a:ext cx="3041206" cy="2529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6" descr="삼성전자, 갤럭시 북 3종·노트북 플러스 2 출시 - 전자부품 전문 미디어 디일렉">
            <a:extLst>
              <a:ext uri="{FF2B5EF4-FFF2-40B4-BE49-F238E27FC236}">
                <a16:creationId xmlns:a16="http://schemas.microsoft.com/office/drawing/2014/main" id="{3DA59FFF-4712-6A37-CC42-596EFBEEA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303" y="1638669"/>
            <a:ext cx="4253841" cy="2828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97CF35-E9BC-C381-AAE8-3EB89D88B5A7}"/>
              </a:ext>
            </a:extLst>
          </p:cNvPr>
          <p:cNvSpPr txBox="1"/>
          <p:nvPr/>
        </p:nvSpPr>
        <p:spPr>
          <a:xfrm>
            <a:off x="1134825" y="1879449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개발 보드</a:t>
            </a:r>
          </a:p>
        </p:txBody>
      </p:sp>
      <p:sp>
        <p:nvSpPr>
          <p:cNvPr id="8" name="왼쪽/오른쪽 화살표 26">
            <a:extLst>
              <a:ext uri="{FF2B5EF4-FFF2-40B4-BE49-F238E27FC236}">
                <a16:creationId xmlns:a16="http://schemas.microsoft.com/office/drawing/2014/main" id="{98F9B160-7AB5-0E38-9B91-D037825154CE}"/>
              </a:ext>
            </a:extLst>
          </p:cNvPr>
          <p:cNvSpPr/>
          <p:nvPr/>
        </p:nvSpPr>
        <p:spPr>
          <a:xfrm>
            <a:off x="6344584" y="2885349"/>
            <a:ext cx="1047082" cy="19757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145E30-5C43-AA09-F10D-71F90B7E5311}"/>
              </a:ext>
            </a:extLst>
          </p:cNvPr>
          <p:cNvSpPr txBox="1"/>
          <p:nvPr/>
        </p:nvSpPr>
        <p:spPr>
          <a:xfrm>
            <a:off x="6586336" y="2533840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USB</a:t>
            </a:r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B701BAB-E971-B46C-E41D-91B2C7189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709" y="2316844"/>
            <a:ext cx="836652" cy="13681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50E1F36-E426-C973-42B9-4641B0380ED0}"/>
              </a:ext>
            </a:extLst>
          </p:cNvPr>
          <p:cNvSpPr txBox="1"/>
          <p:nvPr/>
        </p:nvSpPr>
        <p:spPr>
          <a:xfrm>
            <a:off x="684740" y="3754813"/>
            <a:ext cx="1152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/>
              <a:t>온</a:t>
            </a:r>
            <a:r>
              <a:rPr lang="en-US" altLang="ko-KR" sz="1400" b="1"/>
              <a:t>/</a:t>
            </a:r>
            <a:r>
              <a:rPr lang="ko-KR" altLang="en-US" sz="1400" b="1"/>
              <a:t>습도센서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DF33831-F029-5543-B83A-388B147D0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9447" y="2374459"/>
            <a:ext cx="943107" cy="10574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5F7123B-3AD2-0CB3-B811-F9D608CDED09}"/>
              </a:ext>
            </a:extLst>
          </p:cNvPr>
          <p:cNvSpPr txBox="1"/>
          <p:nvPr/>
        </p:nvSpPr>
        <p:spPr>
          <a:xfrm>
            <a:off x="2144711" y="374004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/>
              <a:t>조도센서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358B297-4DE3-0D05-FFD3-C2225FBAF4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8024" y="1476208"/>
            <a:ext cx="1705213" cy="2991267"/>
          </a:xfrm>
          <a:prstGeom prst="rect">
            <a:avLst/>
          </a:prstGeom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802C42D3-1D8B-5F66-D829-19C0932DE034}"/>
              </a:ext>
            </a:extLst>
          </p:cNvPr>
          <p:cNvSpPr/>
          <p:nvPr/>
        </p:nvSpPr>
        <p:spPr>
          <a:xfrm>
            <a:off x="3401134" y="2769699"/>
            <a:ext cx="718516" cy="1975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8BE70EA-1B92-A18E-5F55-74140F759B80}"/>
              </a:ext>
            </a:extLst>
          </p:cNvPr>
          <p:cNvSpPr/>
          <p:nvPr/>
        </p:nvSpPr>
        <p:spPr>
          <a:xfrm>
            <a:off x="172654" y="1193180"/>
            <a:ext cx="5923346" cy="3445727"/>
          </a:xfrm>
          <a:prstGeom prst="rect">
            <a:avLst/>
          </a:prstGeom>
          <a:noFill/>
          <a:ln w="635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C7A4B3D-E34F-0775-C567-C8DFBE1F4ACF}"/>
              </a:ext>
            </a:extLst>
          </p:cNvPr>
          <p:cNvSpPr/>
          <p:nvPr/>
        </p:nvSpPr>
        <p:spPr>
          <a:xfrm>
            <a:off x="8173329" y="1772529"/>
            <a:ext cx="2883846" cy="165647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DB </a:t>
            </a:r>
            <a:r>
              <a:rPr lang="ko-KR" altLang="en-US" b="1" dirty="0"/>
              <a:t>저장</a:t>
            </a:r>
          </a:p>
        </p:txBody>
      </p:sp>
    </p:spTree>
    <p:extLst>
      <p:ext uri="{BB962C8B-B14F-4D97-AF65-F5344CB8AC3E}">
        <p14:creationId xmlns:p14="http://schemas.microsoft.com/office/powerpoint/2010/main" val="6065934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38011-353B-3EBA-A838-1DB38C053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2C6B073-AB13-98F9-EB57-8E5B49677D61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동작 결과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8901A24-ED09-A4BB-02B4-C5DD06C40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101" y="764617"/>
            <a:ext cx="5809896" cy="594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0679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C0EF3-3AA6-33B6-F0B2-9AB4F8C70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920D610-E770-2B0D-7A85-113CC3BDC99C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Python code :  1/3</a:t>
            </a:r>
            <a:endParaRPr lang="ko-KR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5E70C6-E41E-4CF5-14CC-EA2794EDBD0C}"/>
              </a:ext>
            </a:extLst>
          </p:cNvPr>
          <p:cNvSpPr txBox="1"/>
          <p:nvPr/>
        </p:nvSpPr>
        <p:spPr>
          <a:xfrm>
            <a:off x="0" y="656492"/>
            <a:ext cx="8820442" cy="34778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buNone/>
            </a:pPr>
            <a:r>
              <a:rPr lang="en-US" altLang="ko-KR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threading</a:t>
            </a:r>
            <a:endParaRPr lang="en-US" altLang="ko-K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</a:t>
            </a:r>
            <a:endParaRPr lang="en-US" altLang="ko-K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time</a:t>
            </a:r>
            <a:endParaRPr lang="en-US" altLang="ko-K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sqlite3</a:t>
            </a:r>
            <a:endParaRPr lang="en-US" altLang="ko-K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</a:t>
            </a:r>
            <a:endParaRPr lang="en-US" altLang="ko-K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b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altLang="ko-KR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'COM4'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2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baudrate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115200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2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parity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altLang="ko-KR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PARITY_NONE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2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stopbits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altLang="ko-KR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STOPBITS_ONE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2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bytesize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altLang="ko-KR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EIGHTBITS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200"/>
              </a:lnSpc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timeout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137293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19C49-D32C-B001-B7EC-48CC0300D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7CFCE7A-6A11-DAC5-9236-D697696BA83E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Python code :  2/3</a:t>
            </a:r>
            <a:endParaRPr lang="ko-KR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8949A9-8517-D144-3CB6-42DD41238C18}"/>
              </a:ext>
            </a:extLst>
          </p:cNvPr>
          <p:cNvSpPr txBox="1"/>
          <p:nvPr/>
        </p:nvSpPr>
        <p:spPr>
          <a:xfrm>
            <a:off x="0" y="656492"/>
            <a:ext cx="12192000" cy="64274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Receive_data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    </a:t>
            </a:r>
          </a:p>
          <a:p>
            <a:pPr>
              <a:lnSpc>
                <a:spcPts val="19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sqlite3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SensorData.db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9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cursor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9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"""CREATE TABLE IF NOT EXISTS Sensor(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900"/>
              </a:lnSpc>
              <a:buNone/>
            </a:pP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Temp REAL, 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900"/>
              </a:lnSpc>
              <a:buNone/>
            </a:pP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Humi REAL, 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900"/>
              </a:lnSpc>
              <a:buNone/>
            </a:pP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CdS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INTEGER,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900"/>
              </a:lnSpc>
              <a:buNone/>
            </a:pP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Time TEXT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900"/>
              </a:lnSpc>
              <a:buNone/>
            </a:pP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);"""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9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rxdata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.readline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().decode(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'utf-8'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).strip()</a:t>
            </a:r>
          </a:p>
          <a:p>
            <a:pPr>
              <a:lnSpc>
                <a:spcPts val="19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rxdata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9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rxdata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9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parts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rxdata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.split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','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parts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9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9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parts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9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humif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parts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9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cdsi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parts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9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strftime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'%Y-%m-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%H:%M:%S'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9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"INSERT INTO Sensor (Temp, Humi, 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CdS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Time) VALUES(?, ?, ?, ?)"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19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    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humif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cdsi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9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commit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9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ValueError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900"/>
              </a:lnSpc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Wrong packet :"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parts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903416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A4809-1D60-D070-7479-F5C7128CE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F487606-18AE-A29B-7663-DE463F46D091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Python code :  3/3</a:t>
            </a:r>
            <a:endParaRPr lang="ko-KR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8687A4-7E6A-DB49-F2C2-7B6202CE1A1B}"/>
              </a:ext>
            </a:extLst>
          </p:cNvPr>
          <p:cNvSpPr txBox="1"/>
          <p:nvPr/>
        </p:nvSpPr>
        <p:spPr>
          <a:xfrm>
            <a:off x="0" y="796990"/>
            <a:ext cx="9158067" cy="23704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buNone/>
            </a:pPr>
            <a:r>
              <a:rPr lang="en-US" altLang="ko-KR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'__main__'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30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threading</a:t>
            </a:r>
            <a:r>
              <a:rPr lang="en-US" altLang="ko-KR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Receive_data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,))</a:t>
            </a:r>
          </a:p>
          <a:p>
            <a:pPr>
              <a:lnSpc>
                <a:spcPts val="30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US" altLang="ko-KR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daemon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altLang="ko-K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30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US" altLang="ko-KR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3000"/>
              </a:lnSpc>
            </a:pPr>
            <a:b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"Press Enter to exit...</a:t>
            </a:r>
            <a:r>
              <a:rPr lang="en-US" altLang="ko-KR" sz="2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858023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A22E6-EC14-C0E5-A2AD-CD3207E83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EC70962-981D-B555-1292-49186CC3A33D}"/>
              </a:ext>
            </a:extLst>
          </p:cNvPr>
          <p:cNvSpPr/>
          <p:nvPr/>
        </p:nvSpPr>
        <p:spPr>
          <a:xfrm>
            <a:off x="0" y="0"/>
            <a:ext cx="12192000" cy="201798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6212" algn="ctr"/>
            <a:r>
              <a:rPr lang="en-US" altLang="ko-KR" sz="3600" b="1" dirty="0">
                <a:solidFill>
                  <a:schemeClr val="bg1"/>
                </a:solidFill>
                <a:latin typeface="+mn-ea"/>
              </a:rPr>
              <a:t>DB </a:t>
            </a:r>
            <a:r>
              <a:rPr lang="ko-KR" altLang="en-US" sz="3600" b="1" dirty="0">
                <a:solidFill>
                  <a:schemeClr val="bg1"/>
                </a:solidFill>
                <a:latin typeface="+mn-ea"/>
              </a:rPr>
              <a:t>파일을 </a:t>
            </a:r>
            <a:r>
              <a:rPr lang="en-US" altLang="ko-KR" sz="3600" b="1" dirty="0">
                <a:solidFill>
                  <a:schemeClr val="bg1"/>
                </a:solidFill>
                <a:latin typeface="+mn-ea"/>
              </a:rPr>
              <a:t>Excel</a:t>
            </a:r>
            <a:r>
              <a:rPr lang="ko-KR" altLang="en-US" sz="3600" b="1" dirty="0">
                <a:solidFill>
                  <a:schemeClr val="bg1"/>
                </a:solidFill>
                <a:latin typeface="+mn-ea"/>
              </a:rPr>
              <a:t>로 변환해 보자</a:t>
            </a:r>
            <a:r>
              <a:rPr lang="en-US" altLang="ko-KR" sz="3600" b="1" dirty="0">
                <a:solidFill>
                  <a:schemeClr val="bg1"/>
                </a:solidFill>
                <a:latin typeface="+mn-ea"/>
              </a:rPr>
              <a:t>.</a:t>
            </a:r>
            <a:endParaRPr lang="ko-KR" altLang="en-US" sz="3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D7319E-08B5-4801-935F-D65D93D049DB}"/>
              </a:ext>
            </a:extLst>
          </p:cNvPr>
          <p:cNvSpPr txBox="1"/>
          <p:nvPr/>
        </p:nvSpPr>
        <p:spPr>
          <a:xfrm flipH="1">
            <a:off x="3987099" y="2522482"/>
            <a:ext cx="40638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/>
              <a:t>.</a:t>
            </a:r>
            <a:r>
              <a:rPr lang="en-US" altLang="ko-KR" sz="4400" dirty="0" err="1"/>
              <a:t>db</a:t>
            </a:r>
            <a:r>
              <a:rPr lang="en-US" altLang="ko-KR" sz="4400" dirty="0"/>
              <a:t>  </a:t>
            </a:r>
            <a:r>
              <a:rPr lang="en-US" altLang="ko-KR" sz="4400" dirty="0">
                <a:sym typeface="Wingdings" panose="05000000000000000000" pitchFamily="2" charset="2"/>
              </a:rPr>
              <a:t> .xlsx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9291356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1E93D-DFF2-B19E-6113-41F68B625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BE38557-D776-E763-6D47-AB9187274CE8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Code</a:t>
            </a:r>
            <a:endParaRPr lang="ko-KR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15AE7B-30A1-4BF0-DBC2-9919040ECFAE}"/>
              </a:ext>
            </a:extLst>
          </p:cNvPr>
          <p:cNvSpPr txBox="1"/>
          <p:nvPr/>
        </p:nvSpPr>
        <p:spPr>
          <a:xfrm>
            <a:off x="296917" y="965323"/>
            <a:ext cx="9740463" cy="34667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sqlite3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pandas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SQLite DB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파일 연결</a:t>
            </a:r>
            <a:endParaRPr lang="ko-KR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sqlite3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SensorData.db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  <a:buNone/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read_sql_query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"SELECT * FROM sensor"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  <a:buNone/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Excel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로 저장</a:t>
            </a:r>
            <a:endParaRPr lang="ko-KR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to_excel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"SensorData.xlsx"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engine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openpyxl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8042388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83DFC-E717-1AAF-91E4-1C88746D9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2CC24D2-1EB4-798F-26E0-A58EEAA5C559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9112" indent="-34290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동작 결과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8790F79-B081-2D28-7AE8-C0F60ADCB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96" y="840192"/>
            <a:ext cx="1982754" cy="781085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9920EB5-7BD5-19C7-0B37-D96BE4E99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841" y="840192"/>
            <a:ext cx="4676745" cy="601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193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8689</TotalTime>
  <Words>2823</Words>
  <Application>Microsoft Office PowerPoint</Application>
  <PresentationFormat>와이드스크린</PresentationFormat>
  <Paragraphs>415</Paragraphs>
  <Slides>43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48" baseType="lpstr">
      <vt:lpstr>맑은 고딕</vt:lpstr>
      <vt:lpstr>Arial</vt:lpstr>
      <vt:lpstr>Consolas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Dev DW</dc:creator>
  <cp:lastModifiedBy>Dev DW</cp:lastModifiedBy>
  <cp:revision>412</cp:revision>
  <dcterms:created xsi:type="dcterms:W3CDTF">2024-12-18T06:51:20Z</dcterms:created>
  <dcterms:modified xsi:type="dcterms:W3CDTF">2025-04-08T13:03:29Z</dcterms:modified>
</cp:coreProperties>
</file>